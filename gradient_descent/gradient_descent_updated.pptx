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charts/chart10.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1.xml" ContentType="application/vnd.openxmlformats-officedocument.drawingml.chart+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02278"/>
          <c:y val="0.0432978"/>
          <c:w val="0.892722"/>
          <c:h val="0.806182"/>
        </c:manualLayout>
      </c:layout>
      <c:scatterChart>
        <c:scatterStyle val="smoothMarker"/>
        <c:varyColors val="0"/>
        <c:ser>
          <c:idx val="0"/>
          <c:order val="0"/>
          <c:tx>
            <c:strRef>
              <c:f>Sheet1!$B$1</c:f>
              <c:strCache>
                <c:ptCount val="1"/>
                <c:pt idx="0">
                  <c:v>L = −log(ŷ)</c:v>
                </c:pt>
              </c:strCache>
            </c:strRef>
          </c:tx>
          <c:spPr>
            <a:noFill/>
            <a:ln w="23813" cap="flat">
              <a:solidFill>
                <a:srgbClr val="277A95"/>
              </a:solidFill>
              <a:prstDash val="solid"/>
              <a:round/>
            </a:ln>
            <a:effectLst/>
          </c:spPr>
          <c:marker>
            <c:symbol val="none"/>
            <c:size val="4"/>
            <c:spPr>
              <a:noFill/>
              <a:ln w="23813"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Sheet1!$B$2:$B$51</c:f>
              <c:numCache>
                <c:ptCount val="50"/>
                <c:pt idx="0">
                  <c:v>0.050000</c:v>
                </c:pt>
                <c:pt idx="1">
                  <c:v>0.069388</c:v>
                </c:pt>
                <c:pt idx="2">
                  <c:v>0.088776</c:v>
                </c:pt>
                <c:pt idx="3">
                  <c:v>0.108163</c:v>
                </c:pt>
                <c:pt idx="4">
                  <c:v>0.127551</c:v>
                </c:pt>
                <c:pt idx="5">
                  <c:v>0.146939</c:v>
                </c:pt>
                <c:pt idx="6">
                  <c:v>0.166327</c:v>
                </c:pt>
                <c:pt idx="7">
                  <c:v>0.185714</c:v>
                </c:pt>
                <c:pt idx="8">
                  <c:v>0.205102</c:v>
                </c:pt>
                <c:pt idx="9">
                  <c:v>0.224490</c:v>
                </c:pt>
                <c:pt idx="10">
                  <c:v>0.243878</c:v>
                </c:pt>
                <c:pt idx="11">
                  <c:v>0.263265</c:v>
                </c:pt>
                <c:pt idx="12">
                  <c:v>0.282653</c:v>
                </c:pt>
                <c:pt idx="13">
                  <c:v>0.302041</c:v>
                </c:pt>
                <c:pt idx="14">
                  <c:v>0.321429</c:v>
                </c:pt>
                <c:pt idx="15">
                  <c:v>0.340816</c:v>
                </c:pt>
                <c:pt idx="16">
                  <c:v>0.360204</c:v>
                </c:pt>
                <c:pt idx="17">
                  <c:v>0.379592</c:v>
                </c:pt>
                <c:pt idx="18">
                  <c:v>0.398980</c:v>
                </c:pt>
                <c:pt idx="19">
                  <c:v>0.418367</c:v>
                </c:pt>
                <c:pt idx="20">
                  <c:v>0.437755</c:v>
                </c:pt>
                <c:pt idx="21">
                  <c:v>0.457143</c:v>
                </c:pt>
                <c:pt idx="22">
                  <c:v>0.476531</c:v>
                </c:pt>
                <c:pt idx="23">
                  <c:v>0.495918</c:v>
                </c:pt>
                <c:pt idx="24">
                  <c:v>0.515306</c:v>
                </c:pt>
                <c:pt idx="25">
                  <c:v>0.534694</c:v>
                </c:pt>
                <c:pt idx="26">
                  <c:v>0.554082</c:v>
                </c:pt>
                <c:pt idx="27">
                  <c:v>0.573469</c:v>
                </c:pt>
                <c:pt idx="28">
                  <c:v>0.592857</c:v>
                </c:pt>
                <c:pt idx="29">
                  <c:v>0.612245</c:v>
                </c:pt>
                <c:pt idx="30">
                  <c:v>0.631633</c:v>
                </c:pt>
                <c:pt idx="31">
                  <c:v>0.651020</c:v>
                </c:pt>
                <c:pt idx="32">
                  <c:v>0.670408</c:v>
                </c:pt>
                <c:pt idx="33">
                  <c:v>0.689796</c:v>
                </c:pt>
                <c:pt idx="34">
                  <c:v>0.709184</c:v>
                </c:pt>
                <c:pt idx="35">
                  <c:v>0.728571</c:v>
                </c:pt>
                <c:pt idx="36">
                  <c:v>0.747959</c:v>
                </c:pt>
                <c:pt idx="37">
                  <c:v>0.767347</c:v>
                </c:pt>
                <c:pt idx="38">
                  <c:v>0.786735</c:v>
                </c:pt>
                <c:pt idx="39">
                  <c:v>0.806122</c:v>
                </c:pt>
                <c:pt idx="40">
                  <c:v>0.825510</c:v>
                </c:pt>
                <c:pt idx="41">
                  <c:v>0.844898</c:v>
                </c:pt>
                <c:pt idx="42">
                  <c:v>0.864286</c:v>
                </c:pt>
                <c:pt idx="43">
                  <c:v>0.883673</c:v>
                </c:pt>
                <c:pt idx="44">
                  <c:v>0.903061</c:v>
                </c:pt>
                <c:pt idx="45">
                  <c:v>0.922449</c:v>
                </c:pt>
                <c:pt idx="46">
                  <c:v>0.941837</c:v>
                </c:pt>
                <c:pt idx="47">
                  <c:v>0.961224</c:v>
                </c:pt>
                <c:pt idx="48">
                  <c:v>0.980612</c:v>
                </c:pt>
                <c:pt idx="49">
                  <c:v>1.000000</c:v>
                </c:pt>
              </c:numCache>
            </c:numRef>
          </c:xVal>
          <c:yVal>
            <c:numRef>
              <c:f>Sheet1!$C$2:$C$51</c:f>
              <c:numCache>
                <c:ptCount val="50"/>
                <c:pt idx="0">
                  <c:v>2.995732</c:v>
                </c:pt>
                <c:pt idx="1">
                  <c:v>2.668045</c:v>
                </c:pt>
                <c:pt idx="2">
                  <c:v>2.421644</c:v>
                </c:pt>
                <c:pt idx="3">
                  <c:v>2.224113</c:v>
                </c:pt>
                <c:pt idx="4">
                  <c:v>2.059239</c:v>
                </c:pt>
                <c:pt idx="5">
                  <c:v>1.917739</c:v>
                </c:pt>
                <c:pt idx="6">
                  <c:v>1.793802</c:v>
                </c:pt>
                <c:pt idx="7">
                  <c:v>1.683546</c:v>
                </c:pt>
                <c:pt idx="8">
                  <c:v>1.584248</c:v>
                </c:pt>
                <c:pt idx="9">
                  <c:v>1.493925</c:v>
                </c:pt>
                <c:pt idx="10">
                  <c:v>1.411089</c:v>
                </c:pt>
                <c:pt idx="11">
                  <c:v>1.334593</c:v>
                </c:pt>
                <c:pt idx="12">
                  <c:v>1.263535</c:v>
                </c:pt>
                <c:pt idx="13">
                  <c:v>1.197193</c:v>
                </c:pt>
                <c:pt idx="14">
                  <c:v>1.134980</c:v>
                </c:pt>
                <c:pt idx="15">
                  <c:v>1.076412</c:v>
                </c:pt>
                <c:pt idx="16">
                  <c:v>1.021085</c:v>
                </c:pt>
                <c:pt idx="17">
                  <c:v>0.968659</c:v>
                </c:pt>
                <c:pt idx="18">
                  <c:v>0.918845</c:v>
                </c:pt>
                <c:pt idx="19">
                  <c:v>0.871395</c:v>
                </c:pt>
                <c:pt idx="20">
                  <c:v>0.826096</c:v>
                </c:pt>
                <c:pt idx="21">
                  <c:v>0.782759</c:v>
                </c:pt>
                <c:pt idx="22">
                  <c:v>0.741223</c:v>
                </c:pt>
                <c:pt idx="23">
                  <c:v>0.701344</c:v>
                </c:pt>
                <c:pt idx="24">
                  <c:v>0.662994</c:v>
                </c:pt>
                <c:pt idx="25">
                  <c:v>0.626061</c:v>
                </c:pt>
                <c:pt idx="26">
                  <c:v>0.590443</c:v>
                </c:pt>
                <c:pt idx="27">
                  <c:v>0.556051</c:v>
                </c:pt>
                <c:pt idx="28">
                  <c:v>0.522802</c:v>
                </c:pt>
                <c:pt idx="29">
                  <c:v>0.490623</c:v>
                </c:pt>
                <c:pt idx="30">
                  <c:v>0.459447</c:v>
                </c:pt>
                <c:pt idx="31">
                  <c:v>0.429214</c:v>
                </c:pt>
                <c:pt idx="32">
                  <c:v>0.399869</c:v>
                </c:pt>
                <c:pt idx="33">
                  <c:v>0.371359</c:v>
                </c:pt>
                <c:pt idx="34">
                  <c:v>0.343641</c:v>
                </c:pt>
                <c:pt idx="35">
                  <c:v>0.316670</c:v>
                </c:pt>
                <c:pt idx="36">
                  <c:v>0.290407</c:v>
                </c:pt>
                <c:pt idx="37">
                  <c:v>0.264816</c:v>
                </c:pt>
                <c:pt idx="38">
                  <c:v>0.239864</c:v>
                </c:pt>
                <c:pt idx="39">
                  <c:v>0.215520</c:v>
                </c:pt>
                <c:pt idx="40">
                  <c:v>0.191754</c:v>
                </c:pt>
                <c:pt idx="41">
                  <c:v>0.168539</c:v>
                </c:pt>
                <c:pt idx="42">
                  <c:v>0.145852</c:v>
                </c:pt>
                <c:pt idx="43">
                  <c:v>0.123668</c:v>
                </c:pt>
                <c:pt idx="44">
                  <c:v>0.101965</c:v>
                </c:pt>
                <c:pt idx="45">
                  <c:v>0.080723</c:v>
                </c:pt>
                <c:pt idx="46">
                  <c:v>0.059923</c:v>
                </c:pt>
                <c:pt idx="47">
                  <c:v>0.039547</c:v>
                </c:pt>
                <c:pt idx="48">
                  <c:v>0.019578</c:v>
                </c:pt>
                <c:pt idx="49">
                  <c:v>0.000000</c:v>
                </c:pt>
              </c:numCache>
            </c:numRef>
          </c:yVal>
          <c:smooth val="1"/>
        </c:ser>
        <c:ser>
          <c:idx val="1"/>
          <c:order val="1"/>
          <c:tx>
            <c:strRef>
              <c:f>Sheet1!$C$1</c:f>
              <c:strCache>
                <c:ptCount val="1"/>
                <c:pt idx="0">
                  <c:v>Current prediction</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Sheet1!$D$2:$D$51</c:f>
              <c:numCache>
                <c:ptCount val="1"/>
                <c:pt idx="0">
                  <c:v>0.622459</c:v>
                </c:pt>
              </c:numCache>
            </c:numRef>
          </c:xVal>
          <c:yVal>
            <c:numRef>
              <c:f>Sheet1!$E$2:$E$51</c:f>
              <c:numCache>
                <c:ptCount val="1"/>
                <c:pt idx="0">
                  <c:v>0.474077</c:v>
                </c:pt>
              </c:numCache>
            </c:numRef>
          </c:yVal>
          <c:smooth val="0"/>
        </c:ser>
        <c:axId val="2094734552"/>
        <c:axId val="2094734553"/>
      </c:scatterChart>
      <c:valAx>
        <c:axId val="2094734552"/>
        <c:scaling>
          <c:orientation val="minMax"/>
          <c:max val="1"/>
          <c:min val="0"/>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Predicted probability ŷ</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autoZero"/>
        <c:crossBetween val="between"/>
        <c:majorUnit val="0.2"/>
        <c:minorUnit val="0.1"/>
      </c:valAx>
      <c:valAx>
        <c:axId val="2094734553"/>
        <c:scaling>
          <c:orientation val="minMax"/>
          <c:max val="3"/>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Loss 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0.5"/>
        <c:minorUnit val="0.2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64621"/>
          <c:y val="0.0512258"/>
          <c:w val="0.885532"/>
          <c:h val="0.79967"/>
        </c:manualLayout>
      </c:layout>
      <c:scatterChart>
        <c:scatterStyle val="smoothMarker"/>
        <c:varyColors val="0"/>
        <c:ser>
          <c:idx val="0"/>
          <c:order val="0"/>
          <c:tx>
            <c:strRef>
              <c:f>Sheet1!$B$1</c:f>
              <c:strCache>
                <c:ptCount val="1"/>
                <c:pt idx="0">
                  <c:v>L(w) = w²</c:v>
                </c:pt>
              </c:strCache>
            </c:strRef>
          </c:tx>
          <c:spPr>
            <a:noFill/>
            <a:ln w="28575" cap="flat">
              <a:solidFill>
                <a:srgbClr val="277A95"/>
              </a:solidFill>
              <a:prstDash val="solid"/>
              <a:round/>
            </a:ln>
            <a:effectLst/>
          </c:spPr>
          <c:marker>
            <c:symbol val="none"/>
            <c:size val="4"/>
            <c:spPr>
              <a:noFill/>
              <a:ln w="2857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Sheet1!$B$2:$B$42</c:f>
              <c:numCache>
                <c:ptCount val="41"/>
                <c:pt idx="0">
                  <c:v>-1.600000</c:v>
                </c:pt>
                <c:pt idx="1">
                  <c:v>-1.520000</c:v>
                </c:pt>
                <c:pt idx="2">
                  <c:v>-1.440000</c:v>
                </c:pt>
                <c:pt idx="3">
                  <c:v>-1.360000</c:v>
                </c:pt>
                <c:pt idx="4">
                  <c:v>-1.280000</c:v>
                </c:pt>
                <c:pt idx="5">
                  <c:v>-1.200000</c:v>
                </c:pt>
                <c:pt idx="6">
                  <c:v>-1.120000</c:v>
                </c:pt>
                <c:pt idx="7">
                  <c:v>-1.040000</c:v>
                </c:pt>
                <c:pt idx="8">
                  <c:v>-0.960000</c:v>
                </c:pt>
                <c:pt idx="9">
                  <c:v>-0.880000</c:v>
                </c:pt>
                <c:pt idx="10">
                  <c:v>-0.800000</c:v>
                </c:pt>
                <c:pt idx="11">
                  <c:v>-0.720000</c:v>
                </c:pt>
                <c:pt idx="12">
                  <c:v>-0.640000</c:v>
                </c:pt>
                <c:pt idx="13">
                  <c:v>-0.560000</c:v>
                </c:pt>
                <c:pt idx="14">
                  <c:v>-0.480000</c:v>
                </c:pt>
                <c:pt idx="15">
                  <c:v>-0.400000</c:v>
                </c:pt>
                <c:pt idx="16">
                  <c:v>-0.320000</c:v>
                </c:pt>
                <c:pt idx="17">
                  <c:v>-0.240000</c:v>
                </c:pt>
                <c:pt idx="18">
                  <c:v>-0.160000</c:v>
                </c:pt>
                <c:pt idx="19">
                  <c:v>-0.080000</c:v>
                </c:pt>
                <c:pt idx="20">
                  <c:v>0.000000</c:v>
                </c:pt>
                <c:pt idx="21">
                  <c:v>0.080000</c:v>
                </c:pt>
                <c:pt idx="22">
                  <c:v>0.160000</c:v>
                </c:pt>
                <c:pt idx="23">
                  <c:v>0.240000</c:v>
                </c:pt>
                <c:pt idx="24">
                  <c:v>0.320000</c:v>
                </c:pt>
                <c:pt idx="25">
                  <c:v>0.400000</c:v>
                </c:pt>
                <c:pt idx="26">
                  <c:v>0.480000</c:v>
                </c:pt>
                <c:pt idx="27">
                  <c:v>0.560000</c:v>
                </c:pt>
                <c:pt idx="28">
                  <c:v>0.640000</c:v>
                </c:pt>
                <c:pt idx="29">
                  <c:v>0.720000</c:v>
                </c:pt>
                <c:pt idx="30">
                  <c:v>0.800000</c:v>
                </c:pt>
                <c:pt idx="31">
                  <c:v>0.880000</c:v>
                </c:pt>
                <c:pt idx="32">
                  <c:v>0.960000</c:v>
                </c:pt>
                <c:pt idx="33">
                  <c:v>1.040000</c:v>
                </c:pt>
                <c:pt idx="34">
                  <c:v>1.120000</c:v>
                </c:pt>
                <c:pt idx="35">
                  <c:v>1.200000</c:v>
                </c:pt>
                <c:pt idx="36">
                  <c:v>1.280000</c:v>
                </c:pt>
                <c:pt idx="37">
                  <c:v>1.360000</c:v>
                </c:pt>
                <c:pt idx="38">
                  <c:v>1.440000</c:v>
                </c:pt>
                <c:pt idx="39">
                  <c:v>1.520000</c:v>
                </c:pt>
                <c:pt idx="40">
                  <c:v>1.600000</c:v>
                </c:pt>
              </c:numCache>
            </c:numRef>
          </c:xVal>
          <c:yVal>
            <c:numRef>
              <c:f>Sheet1!$C$2:$C$42</c:f>
              <c:numCache>
                <c:ptCount val="41"/>
                <c:pt idx="0">
                  <c:v>2.560000</c:v>
                </c:pt>
                <c:pt idx="1">
                  <c:v>2.310400</c:v>
                </c:pt>
                <c:pt idx="2">
                  <c:v>2.073600</c:v>
                </c:pt>
                <c:pt idx="3">
                  <c:v>1.849600</c:v>
                </c:pt>
                <c:pt idx="4">
                  <c:v>1.638400</c:v>
                </c:pt>
                <c:pt idx="5">
                  <c:v>1.440000</c:v>
                </c:pt>
                <c:pt idx="6">
                  <c:v>1.254400</c:v>
                </c:pt>
                <c:pt idx="7">
                  <c:v>1.081600</c:v>
                </c:pt>
                <c:pt idx="8">
                  <c:v>0.921600</c:v>
                </c:pt>
                <c:pt idx="9">
                  <c:v>0.774400</c:v>
                </c:pt>
                <c:pt idx="10">
                  <c:v>0.640000</c:v>
                </c:pt>
                <c:pt idx="11">
                  <c:v>0.518400</c:v>
                </c:pt>
                <c:pt idx="12">
                  <c:v>0.409600</c:v>
                </c:pt>
                <c:pt idx="13">
                  <c:v>0.313600</c:v>
                </c:pt>
                <c:pt idx="14">
                  <c:v>0.230400</c:v>
                </c:pt>
                <c:pt idx="15">
                  <c:v>0.160000</c:v>
                </c:pt>
                <c:pt idx="16">
                  <c:v>0.102400</c:v>
                </c:pt>
                <c:pt idx="17">
                  <c:v>0.057600</c:v>
                </c:pt>
                <c:pt idx="18">
                  <c:v>0.025600</c:v>
                </c:pt>
                <c:pt idx="19">
                  <c:v>0.006400</c:v>
                </c:pt>
                <c:pt idx="20">
                  <c:v>0.000000</c:v>
                </c:pt>
                <c:pt idx="21">
                  <c:v>0.006400</c:v>
                </c:pt>
                <c:pt idx="22">
                  <c:v>0.025600</c:v>
                </c:pt>
                <c:pt idx="23">
                  <c:v>0.057600</c:v>
                </c:pt>
                <c:pt idx="24">
                  <c:v>0.102400</c:v>
                </c:pt>
                <c:pt idx="25">
                  <c:v>0.160000</c:v>
                </c:pt>
                <c:pt idx="26">
                  <c:v>0.230400</c:v>
                </c:pt>
                <c:pt idx="27">
                  <c:v>0.313600</c:v>
                </c:pt>
                <c:pt idx="28">
                  <c:v>0.409600</c:v>
                </c:pt>
                <c:pt idx="29">
                  <c:v>0.518400</c:v>
                </c:pt>
                <c:pt idx="30">
                  <c:v>0.640000</c:v>
                </c:pt>
                <c:pt idx="31">
                  <c:v>0.774400</c:v>
                </c:pt>
                <c:pt idx="32">
                  <c:v>0.921600</c:v>
                </c:pt>
                <c:pt idx="33">
                  <c:v>1.081600</c:v>
                </c:pt>
                <c:pt idx="34">
                  <c:v>1.254400</c:v>
                </c:pt>
                <c:pt idx="35">
                  <c:v>1.440000</c:v>
                </c:pt>
                <c:pt idx="36">
                  <c:v>1.638400</c:v>
                </c:pt>
                <c:pt idx="37">
                  <c:v>1.849600</c:v>
                </c:pt>
                <c:pt idx="38">
                  <c:v>2.073600</c:v>
                </c:pt>
                <c:pt idx="39">
                  <c:v>2.310400</c:v>
                </c:pt>
                <c:pt idx="40">
                  <c:v>2.560000</c:v>
                </c:pt>
              </c:numCache>
            </c:numRef>
          </c:yVal>
          <c:smooth val="1"/>
        </c:ser>
        <c:ser>
          <c:idx val="1"/>
          <c:order val="1"/>
          <c:tx>
            <c:strRef>
              <c:f>Sheet1!$C$1</c:f>
              <c:strCache>
                <c:ptCount val="1"/>
                <c:pt idx="0">
                  <c:v>Negative slope</c:v>
                </c:pt>
              </c:strCache>
            </c:strRef>
          </c:tx>
          <c:spPr>
            <a:noFill/>
            <a:ln w="28575" cap="flat">
              <a:solidFill>
                <a:srgbClr val="478B79"/>
              </a:solidFill>
              <a:prstDash val="solid"/>
              <a:round/>
            </a:ln>
            <a:effectLst/>
          </c:spPr>
          <c:marker>
            <c:symbol val="none"/>
            <c:size val="4"/>
            <c:spPr>
              <a:noFill/>
              <a:ln w="28575" cap="flat">
                <a:solidFill>
                  <a:srgbClr val="478B79"/>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Sheet1!$D$2:$D$42</c:f>
              <c:numCache>
                <c:ptCount val="2"/>
                <c:pt idx="0">
                  <c:v>-1.450000</c:v>
                </c:pt>
                <c:pt idx="1">
                  <c:v>-0.550000</c:v>
                </c:pt>
              </c:numCache>
            </c:numRef>
          </c:xVal>
          <c:yVal>
            <c:numRef>
              <c:f>Sheet1!$E$2:$E$42</c:f>
              <c:numCache>
                <c:ptCount val="2"/>
                <c:pt idx="0">
                  <c:v>1.900000</c:v>
                </c:pt>
                <c:pt idx="1">
                  <c:v>0.100000</c:v>
                </c:pt>
              </c:numCache>
            </c:numRef>
          </c:yVal>
          <c:smooth val="1"/>
        </c:ser>
        <c:ser>
          <c:idx val="2"/>
          <c:order val="2"/>
          <c:tx>
            <c:strRef>
              <c:f>Sheet1!$D$1</c:f>
              <c:strCache>
                <c:ptCount val="1"/>
                <c:pt idx="0">
                  <c:v>Positive slope</c:v>
                </c:pt>
              </c:strCache>
            </c:strRef>
          </c:tx>
          <c:spPr>
            <a:noFill/>
            <a:ln w="28575" cap="flat">
              <a:solidFill>
                <a:srgbClr val="A45E56"/>
              </a:solidFill>
              <a:prstDash val="solid"/>
              <a:round/>
            </a:ln>
            <a:effectLst/>
          </c:spPr>
          <c:marker>
            <c:symbol val="none"/>
            <c:size val="4"/>
            <c:spPr>
              <a:noFill/>
              <a:ln w="28575" cap="flat">
                <a:solidFill>
                  <a:srgbClr val="A45E56"/>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Sheet1!$F$2:$F$42</c:f>
              <c:numCache>
                <c:ptCount val="2"/>
                <c:pt idx="0">
                  <c:v>0.550000</c:v>
                </c:pt>
                <c:pt idx="1">
                  <c:v>1.450000</c:v>
                </c:pt>
              </c:numCache>
            </c:numRef>
          </c:xVal>
          <c:yVal>
            <c:numRef>
              <c:f>Sheet1!$G$2:$G$42</c:f>
              <c:numCache>
                <c:ptCount val="2"/>
                <c:pt idx="0">
                  <c:v>0.100000</c:v>
                </c:pt>
                <c:pt idx="1">
                  <c:v>1.900000</c:v>
                </c:pt>
              </c:numCache>
            </c:numRef>
          </c:yVal>
          <c:smooth val="1"/>
        </c:ser>
        <c:axId val="2094734552"/>
        <c:axId val="2094734553"/>
      </c:scatterChart>
      <c:valAx>
        <c:axId val="2094734552"/>
        <c:scaling>
          <c:orientation val="minMax"/>
          <c:max val="1.6"/>
          <c:min val="-1.6"/>
        </c:scaling>
        <c:delete val="0"/>
        <c:axPos val="b"/>
        <c:majorGridlines>
          <c:spPr>
            <a:ln w="12700" cap="flat">
              <a:solidFill>
                <a:srgbClr val="E4E0D9"/>
              </a:solidFill>
              <a:prstDash val="solid"/>
              <a:round/>
            </a:ln>
          </c:spPr>
        </c:majorGridlines>
        <c:title>
          <c:tx>
            <c:rich>
              <a:bodyPr rot="0"/>
              <a:lstStyle/>
              <a:p>
                <a:pPr>
                  <a:defRPr b="1" i="0" strike="noStrike" sz="1000" u="none">
                    <a:solidFill>
                      <a:srgbClr val="000000"/>
                    </a:solidFill>
                    <a:latin typeface="Arial"/>
                  </a:defRPr>
                </a:pPr>
                <a:r>
                  <a:rPr b="1" i="0" strike="noStrike" sz="1000" u="none">
                    <a:solidFill>
                      <a:srgbClr val="000000"/>
                    </a:solidFill>
                    <a:latin typeface="Arial"/>
                  </a:rPr>
                  <a:t>Weight w</a:t>
                </a:r>
              </a:p>
            </c:rich>
          </c:tx>
          <c:layout/>
          <c:overlay val="1"/>
        </c:title>
        <c:numFmt formatCode="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3"/>
        <c:crosses val="min"/>
        <c:crossBetween val="between"/>
        <c:majorUnit val="3.2"/>
        <c:minorUnit val="1.6"/>
      </c:valAx>
      <c:valAx>
        <c:axId val="2094734553"/>
        <c:scaling>
          <c:orientation val="minMax"/>
          <c:max val="2.8"/>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Loss</a:t>
                </a:r>
              </a:p>
            </c:rich>
          </c:tx>
          <c:layout/>
          <c:overlay val="1"/>
        </c:title>
        <c:numFmt formatCode="0.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2"/>
        <c:crosses val="autoZero"/>
        <c:crossBetween val="between"/>
        <c:majorUnit val="0.933333"/>
        <c:minorUnit val="0.466667"/>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5792"/>
          <c:y val="0.0436377"/>
          <c:w val="0.891734"/>
          <c:h val="0.804759"/>
        </c:manualLayout>
      </c:layout>
      <c:scatterChart>
        <c:scatterStyle val="smoothMarker"/>
        <c:varyColors val="0"/>
        <c:ser>
          <c:idx val="0"/>
          <c:order val="0"/>
          <c:tx>
            <c:strRef>
              <c:f>Sheet1!$B$1</c:f>
              <c:strCache>
                <c:ptCount val="1"/>
                <c:pt idx="0">
                  <c:v>L = w²</c:v>
                </c:pt>
              </c:strCache>
            </c:strRef>
          </c:tx>
          <c:spPr>
            <a:noFill/>
            <a:ln w="23813" cap="flat">
              <a:solidFill>
                <a:srgbClr val="277A95"/>
              </a:solidFill>
              <a:prstDash val="solid"/>
              <a:round/>
            </a:ln>
            <a:effectLst/>
          </c:spPr>
          <c:marker>
            <c:symbol val="none"/>
            <c:size val="4"/>
            <c:spPr>
              <a:noFill/>
              <a:ln w="23813"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-1.500000</c:v>
                </c:pt>
                <c:pt idx="1">
                  <c:v>-1.450000</c:v>
                </c:pt>
                <c:pt idx="2">
                  <c:v>-1.400000</c:v>
                </c:pt>
                <c:pt idx="3">
                  <c:v>-1.350000</c:v>
                </c:pt>
                <c:pt idx="4">
                  <c:v>-1.300000</c:v>
                </c:pt>
                <c:pt idx="5">
                  <c:v>-1.250000</c:v>
                </c:pt>
                <c:pt idx="6">
                  <c:v>-1.200000</c:v>
                </c:pt>
                <c:pt idx="7">
                  <c:v>-1.150000</c:v>
                </c:pt>
                <c:pt idx="8">
                  <c:v>-1.100000</c:v>
                </c:pt>
                <c:pt idx="9">
                  <c:v>-1.050000</c:v>
                </c:pt>
                <c:pt idx="10">
                  <c:v>-1.000000</c:v>
                </c:pt>
                <c:pt idx="11">
                  <c:v>-0.950000</c:v>
                </c:pt>
                <c:pt idx="12">
                  <c:v>-0.900000</c:v>
                </c:pt>
                <c:pt idx="13">
                  <c:v>-0.850000</c:v>
                </c:pt>
                <c:pt idx="14">
                  <c:v>-0.800000</c:v>
                </c:pt>
                <c:pt idx="15">
                  <c:v>-0.750000</c:v>
                </c:pt>
                <c:pt idx="16">
                  <c:v>-0.700000</c:v>
                </c:pt>
                <c:pt idx="17">
                  <c:v>-0.650000</c:v>
                </c:pt>
                <c:pt idx="18">
                  <c:v>-0.600000</c:v>
                </c:pt>
                <c:pt idx="19">
                  <c:v>-0.550000</c:v>
                </c:pt>
                <c:pt idx="20">
                  <c:v>-0.500000</c:v>
                </c:pt>
                <c:pt idx="21">
                  <c:v>-0.450000</c:v>
                </c:pt>
                <c:pt idx="22">
                  <c:v>-0.400000</c:v>
                </c:pt>
                <c:pt idx="23">
                  <c:v>-0.350000</c:v>
                </c:pt>
                <c:pt idx="24">
                  <c:v>-0.300000</c:v>
                </c:pt>
                <c:pt idx="25">
                  <c:v>-0.250000</c:v>
                </c:pt>
                <c:pt idx="26">
                  <c:v>-0.200000</c:v>
                </c:pt>
                <c:pt idx="27">
                  <c:v>-0.150000</c:v>
                </c:pt>
                <c:pt idx="28">
                  <c:v>-0.100000</c:v>
                </c:pt>
                <c:pt idx="29">
                  <c:v>-0.050000</c:v>
                </c:pt>
                <c:pt idx="30">
                  <c:v>0.000000</c:v>
                </c:pt>
                <c:pt idx="31">
                  <c:v>0.050000</c:v>
                </c:pt>
                <c:pt idx="32">
                  <c:v>0.100000</c:v>
                </c:pt>
                <c:pt idx="33">
                  <c:v>0.150000</c:v>
                </c:pt>
                <c:pt idx="34">
                  <c:v>0.200000</c:v>
                </c:pt>
                <c:pt idx="35">
                  <c:v>0.250000</c:v>
                </c:pt>
                <c:pt idx="36">
                  <c:v>0.300000</c:v>
                </c:pt>
                <c:pt idx="37">
                  <c:v>0.350000</c:v>
                </c:pt>
                <c:pt idx="38">
                  <c:v>0.400000</c:v>
                </c:pt>
                <c:pt idx="39">
                  <c:v>0.450000</c:v>
                </c:pt>
                <c:pt idx="40">
                  <c:v>0.500000</c:v>
                </c:pt>
                <c:pt idx="41">
                  <c:v>0.550000</c:v>
                </c:pt>
                <c:pt idx="42">
                  <c:v>0.600000</c:v>
                </c:pt>
                <c:pt idx="43">
                  <c:v>0.650000</c:v>
                </c:pt>
                <c:pt idx="44">
                  <c:v>0.700000</c:v>
                </c:pt>
                <c:pt idx="45">
                  <c:v>0.750000</c:v>
                </c:pt>
                <c:pt idx="46">
                  <c:v>0.800000</c:v>
                </c:pt>
                <c:pt idx="47">
                  <c:v>0.850000</c:v>
                </c:pt>
                <c:pt idx="48">
                  <c:v>0.900000</c:v>
                </c:pt>
                <c:pt idx="49">
                  <c:v>0.950000</c:v>
                </c:pt>
                <c:pt idx="50">
                  <c:v>1.000000</c:v>
                </c:pt>
                <c:pt idx="51">
                  <c:v>1.050000</c:v>
                </c:pt>
                <c:pt idx="52">
                  <c:v>1.100000</c:v>
                </c:pt>
                <c:pt idx="53">
                  <c:v>1.150000</c:v>
                </c:pt>
                <c:pt idx="54">
                  <c:v>1.200000</c:v>
                </c:pt>
                <c:pt idx="55">
                  <c:v>1.250000</c:v>
                </c:pt>
                <c:pt idx="56">
                  <c:v>1.300000</c:v>
                </c:pt>
                <c:pt idx="57">
                  <c:v>1.350000</c:v>
                </c:pt>
                <c:pt idx="58">
                  <c:v>1.400000</c:v>
                </c:pt>
                <c:pt idx="59">
                  <c:v>1.450000</c:v>
                </c:pt>
                <c:pt idx="60">
                  <c:v>1.500000</c:v>
                </c:pt>
              </c:numCache>
            </c:numRef>
          </c:xVal>
          <c:yVal>
            <c:numRef>
              <c:f>Sheet1!$C$2:$C$62</c:f>
              <c:numCache>
                <c:ptCount val="61"/>
                <c:pt idx="0">
                  <c:v>2.250000</c:v>
                </c:pt>
                <c:pt idx="1">
                  <c:v>2.102500</c:v>
                </c:pt>
                <c:pt idx="2">
                  <c:v>1.960000</c:v>
                </c:pt>
                <c:pt idx="3">
                  <c:v>1.822500</c:v>
                </c:pt>
                <c:pt idx="4">
                  <c:v>1.690000</c:v>
                </c:pt>
                <c:pt idx="5">
                  <c:v>1.562500</c:v>
                </c:pt>
                <c:pt idx="6">
                  <c:v>1.440000</c:v>
                </c:pt>
                <c:pt idx="7">
                  <c:v>1.322500</c:v>
                </c:pt>
                <c:pt idx="8">
                  <c:v>1.210000</c:v>
                </c:pt>
                <c:pt idx="9">
                  <c:v>1.102500</c:v>
                </c:pt>
                <c:pt idx="10">
                  <c:v>1.000000</c:v>
                </c:pt>
                <c:pt idx="11">
                  <c:v>0.902500</c:v>
                </c:pt>
                <c:pt idx="12">
                  <c:v>0.810000</c:v>
                </c:pt>
                <c:pt idx="13">
                  <c:v>0.722500</c:v>
                </c:pt>
                <c:pt idx="14">
                  <c:v>0.640000</c:v>
                </c:pt>
                <c:pt idx="15">
                  <c:v>0.562500</c:v>
                </c:pt>
                <c:pt idx="16">
                  <c:v>0.490000</c:v>
                </c:pt>
                <c:pt idx="17">
                  <c:v>0.422500</c:v>
                </c:pt>
                <c:pt idx="18">
                  <c:v>0.360000</c:v>
                </c:pt>
                <c:pt idx="19">
                  <c:v>0.302500</c:v>
                </c:pt>
                <c:pt idx="20">
                  <c:v>0.250000</c:v>
                </c:pt>
                <c:pt idx="21">
                  <c:v>0.202500</c:v>
                </c:pt>
                <c:pt idx="22">
                  <c:v>0.160000</c:v>
                </c:pt>
                <c:pt idx="23">
                  <c:v>0.122500</c:v>
                </c:pt>
                <c:pt idx="24">
                  <c:v>0.090000</c:v>
                </c:pt>
                <c:pt idx="25">
                  <c:v>0.062500</c:v>
                </c:pt>
                <c:pt idx="26">
                  <c:v>0.040000</c:v>
                </c:pt>
                <c:pt idx="27">
                  <c:v>0.022500</c:v>
                </c:pt>
                <c:pt idx="28">
                  <c:v>0.010000</c:v>
                </c:pt>
                <c:pt idx="29">
                  <c:v>0.002500</c:v>
                </c:pt>
                <c:pt idx="30">
                  <c:v>0.000000</c:v>
                </c:pt>
                <c:pt idx="31">
                  <c:v>0.002500</c:v>
                </c:pt>
                <c:pt idx="32">
                  <c:v>0.010000</c:v>
                </c:pt>
                <c:pt idx="33">
                  <c:v>0.022500</c:v>
                </c:pt>
                <c:pt idx="34">
                  <c:v>0.040000</c:v>
                </c:pt>
                <c:pt idx="35">
                  <c:v>0.062500</c:v>
                </c:pt>
                <c:pt idx="36">
                  <c:v>0.090000</c:v>
                </c:pt>
                <c:pt idx="37">
                  <c:v>0.122500</c:v>
                </c:pt>
                <c:pt idx="38">
                  <c:v>0.160000</c:v>
                </c:pt>
                <c:pt idx="39">
                  <c:v>0.202500</c:v>
                </c:pt>
                <c:pt idx="40">
                  <c:v>0.250000</c:v>
                </c:pt>
                <c:pt idx="41">
                  <c:v>0.302500</c:v>
                </c:pt>
                <c:pt idx="42">
                  <c:v>0.360000</c:v>
                </c:pt>
                <c:pt idx="43">
                  <c:v>0.422500</c:v>
                </c:pt>
                <c:pt idx="44">
                  <c:v>0.490000</c:v>
                </c:pt>
                <c:pt idx="45">
                  <c:v>0.562500</c:v>
                </c:pt>
                <c:pt idx="46">
                  <c:v>0.640000</c:v>
                </c:pt>
                <c:pt idx="47">
                  <c:v>0.722500</c:v>
                </c:pt>
                <c:pt idx="48">
                  <c:v>0.810000</c:v>
                </c:pt>
                <c:pt idx="49">
                  <c:v>0.902500</c:v>
                </c:pt>
                <c:pt idx="50">
                  <c:v>1.000000</c:v>
                </c:pt>
                <c:pt idx="51">
                  <c:v>1.102500</c:v>
                </c:pt>
                <c:pt idx="52">
                  <c:v>1.210000</c:v>
                </c:pt>
                <c:pt idx="53">
                  <c:v>1.322500</c:v>
                </c:pt>
                <c:pt idx="54">
                  <c:v>1.440000</c:v>
                </c:pt>
                <c:pt idx="55">
                  <c:v>1.562500</c:v>
                </c:pt>
                <c:pt idx="56">
                  <c:v>1.690000</c:v>
                </c:pt>
                <c:pt idx="57">
                  <c:v>1.822500</c:v>
                </c:pt>
                <c:pt idx="58">
                  <c:v>1.960000</c:v>
                </c:pt>
                <c:pt idx="59">
                  <c:v>2.102500</c:v>
                </c:pt>
                <c:pt idx="60">
                  <c:v>2.250000</c:v>
                </c:pt>
              </c:numCache>
            </c:numRef>
          </c:yVal>
          <c:smooth val="1"/>
        </c:ser>
        <c:ser>
          <c:idx val="1"/>
          <c:order val="1"/>
          <c:tx>
            <c:strRef>
              <c:f>Sheet1!$C$1</c:f>
              <c:strCache>
                <c:ptCount val="1"/>
                <c:pt idx="0">
                  <c:v>Negative gradient side</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1"/>
                <c:pt idx="0">
                  <c:v>-1.000000</c:v>
                </c:pt>
              </c:numCache>
            </c:numRef>
          </c:xVal>
          <c:yVal>
            <c:numRef>
              <c:f>Sheet1!$E$2:$E$62</c:f>
              <c:numCache>
                <c:ptCount val="1"/>
                <c:pt idx="0">
                  <c:v>1.000000</c:v>
                </c:pt>
              </c:numCache>
            </c:numRef>
          </c:yVal>
          <c:smooth val="0"/>
        </c:ser>
        <c:ser>
          <c:idx val="2"/>
          <c:order val="2"/>
          <c:tx>
            <c:strRef>
              <c:f>Sheet1!$D$1</c:f>
              <c:strCache>
                <c:ptCount val="1"/>
                <c:pt idx="0">
                  <c:v>Positive gradient side</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Sheet1!$F$2:$F$62</c:f>
              <c:numCache>
                <c:ptCount val="1"/>
                <c:pt idx="0">
                  <c:v>1.000000</c:v>
                </c:pt>
              </c:numCache>
            </c:numRef>
          </c:xVal>
          <c:yVal>
            <c:numRef>
              <c:f>Sheet1!$G$2:$G$62</c:f>
              <c:numCache>
                <c:ptCount val="1"/>
                <c:pt idx="0">
                  <c:v>1.000000</c:v>
                </c:pt>
              </c:numCache>
            </c:numRef>
          </c:yVal>
          <c:smooth val="0"/>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Weight 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1.5"/>
        <c:minorUnit val="0.75"/>
      </c:valAx>
      <c:valAx>
        <c:axId val="2094734553"/>
        <c:scaling>
          <c:orientation val="minMax"/>
          <c:max val="2.4"/>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Loss 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0.6"/>
        <c:minorUnit val="0.3"/>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277A95"/>
            </a:solidFill>
            <a:ln w="14288" cap="flat">
              <a:solidFill>
                <a:srgbClr val="277A95"/>
              </a:solidFill>
              <a:prstDash val="solid"/>
              <a:round/>
            </a:ln>
            <a:effectLst/>
          </c:spPr>
          <c:marker>
            <c:symbol val="circle"/>
            <c:size val="6"/>
            <c:spPr>
              <a:solidFill>
                <a:srgbClr val="277A95"/>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0.800000</c:v>
                </c:pt>
              </c:numCache>
            </c:numRef>
          </c:xVal>
          <c:yVal>
            <c:numRef>
              <c:f>Sheet1!$E$2:$E$62</c:f>
              <c:numCache>
                <c:ptCount val="2"/>
                <c:pt idx="0">
                  <c:v>1.000000</c:v>
                </c:pt>
                <c:pt idx="1">
                  <c:v>0.640000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277A95"/>
            </a:solidFill>
            <a:ln w="14288" cap="flat">
              <a:solidFill>
                <a:srgbClr val="277A95"/>
              </a:solidFill>
              <a:prstDash val="solid"/>
              <a:round/>
            </a:ln>
            <a:effectLst/>
          </c:spPr>
          <c:marker>
            <c:symbol val="circle"/>
            <c:size val="6"/>
            <c:spPr>
              <a:solidFill>
                <a:srgbClr val="277A95"/>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0.000000</c:v>
                </c:pt>
              </c:numCache>
            </c:numRef>
          </c:xVal>
          <c:yVal>
            <c:numRef>
              <c:f>Sheet1!$E$2:$E$62</c:f>
              <c:numCache>
                <c:ptCount val="2"/>
                <c:pt idx="0">
                  <c:v>1.000000</c:v>
                </c:pt>
                <c:pt idx="1">
                  <c:v>0.000000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A45E56"/>
            </a:solidFill>
            <a:ln w="14288" cap="flat">
              <a:solidFill>
                <a:srgbClr val="A45E56"/>
              </a:solidFill>
              <a:prstDash val="solid"/>
              <a:round/>
            </a:ln>
            <a:effectLst/>
          </c:spPr>
          <c:marker>
            <c:symbol val="circle"/>
            <c:size val="6"/>
            <c:spPr>
              <a:solidFill>
                <a:srgbClr val="A45E56"/>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-1.200000</c:v>
                </c:pt>
              </c:numCache>
            </c:numRef>
          </c:xVal>
          <c:yVal>
            <c:numRef>
              <c:f>Sheet1!$E$2:$E$62</c:f>
              <c:numCache>
                <c:ptCount val="2"/>
                <c:pt idx="0">
                  <c:v>1.000000</c:v>
                </c:pt>
                <c:pt idx="1">
                  <c:v>1.440000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8223"/>
          <c:y val="0.0547537"/>
          <c:w val="0.856777"/>
          <c:h val="0.688151"/>
        </c:manualLayout>
      </c:layout>
      <c:lineChart>
        <c:grouping val="standard"/>
        <c:varyColors val="0"/>
        <c:ser>
          <c:idx val="0"/>
          <c:order val="0"/>
          <c:tx>
            <c:strRef>
              <c:f>Sheet1!$B$1</c:f>
              <c:strCache>
                <c:ptCount val="1"/>
                <c:pt idx="0">
                  <c:v>η = 0.1</c:v>
                </c:pt>
              </c:strCache>
            </c:strRef>
          </c:tx>
          <c:spPr>
            <a:solidFill>
              <a:srgbClr val="277A95"/>
            </a:solidFill>
            <a:ln w="28575" cap="flat">
              <a:solidFill>
                <a:srgbClr val="277A95"/>
              </a:solidFill>
              <a:prstDash val="solid"/>
              <a:round/>
            </a:ln>
            <a:effectLst/>
          </c:spPr>
          <c:marker>
            <c:symbol val="circle"/>
            <c:size val="5"/>
            <c:spPr>
              <a:solidFill>
                <a:srgbClr val="277A95"/>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Sheet1!$A$2:$A$5</c:f>
              <c:strCache>
                <c:ptCount val="4"/>
                <c:pt idx="0">
                  <c:v>0</c:v>
                </c:pt>
                <c:pt idx="1">
                  <c:v>1</c:v>
                </c:pt>
                <c:pt idx="2">
                  <c:v>2</c:v>
                </c:pt>
                <c:pt idx="3">
                  <c:v>3</c:v>
                </c:pt>
              </c:strCache>
            </c:strRef>
          </c:cat>
          <c:val>
            <c:numRef>
              <c:f>Sheet1!$B$2:$B$5</c:f>
              <c:numCache>
                <c:ptCount val="4"/>
                <c:pt idx="0">
                  <c:v>1.000000</c:v>
                </c:pt>
                <c:pt idx="1">
                  <c:v>0.800000</c:v>
                </c:pt>
                <c:pt idx="2">
                  <c:v>0.640000</c:v>
                </c:pt>
                <c:pt idx="3">
                  <c:v>0.512000</c:v>
                </c:pt>
              </c:numCache>
            </c:numRef>
          </c:val>
          <c:smooth val="0"/>
        </c:ser>
        <c:ser>
          <c:idx val="1"/>
          <c:order val="1"/>
          <c:tx>
            <c:strRef>
              <c:f>Sheet1!$C$1</c:f>
              <c:strCache>
                <c:ptCount val="1"/>
                <c:pt idx="0">
                  <c:v>η = 0.5</c:v>
                </c:pt>
              </c:strCache>
            </c:strRef>
          </c:tx>
          <c:spPr>
            <a:solidFill>
              <a:srgbClr val="478B79"/>
            </a:solidFill>
            <a:ln w="28575" cap="flat">
              <a:solidFill>
                <a:srgbClr val="478B79"/>
              </a:solidFill>
              <a:prstDash val="solid"/>
              <a:round/>
            </a:ln>
            <a:effectLst/>
          </c:spPr>
          <c:marker>
            <c:symbol val="circle"/>
            <c:size val="5"/>
            <c:spPr>
              <a:solidFill>
                <a:srgbClr val="478B79"/>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Sheet1!$A$2:$A$5</c:f>
              <c:strCache>
                <c:ptCount val="4"/>
                <c:pt idx="0">
                  <c:v>0</c:v>
                </c:pt>
                <c:pt idx="1">
                  <c:v>1</c:v>
                </c:pt>
                <c:pt idx="2">
                  <c:v>2</c:v>
                </c:pt>
                <c:pt idx="3">
                  <c:v>3</c:v>
                </c:pt>
              </c:strCache>
            </c:strRef>
          </c:cat>
          <c:val>
            <c:numRef>
              <c:f>Sheet1!$C$2:$C$5</c:f>
              <c:numCache>
                <c:ptCount val="4"/>
                <c:pt idx="0">
                  <c:v>1.000000</c:v>
                </c:pt>
                <c:pt idx="1">
                  <c:v>0.000000</c:v>
                </c:pt>
                <c:pt idx="2">
                  <c:v>0.000000</c:v>
                </c:pt>
                <c:pt idx="3">
                  <c:v>0.000000</c:v>
                </c:pt>
              </c:numCache>
            </c:numRef>
          </c:val>
          <c:smooth val="0"/>
        </c:ser>
        <c:ser>
          <c:idx val="2"/>
          <c:order val="2"/>
          <c:tx>
            <c:strRef>
              <c:f>Sheet1!$D$1</c:f>
              <c:strCache>
                <c:ptCount val="1"/>
                <c:pt idx="0">
                  <c:v>η = 1.1</c:v>
                </c:pt>
              </c:strCache>
            </c:strRef>
          </c:tx>
          <c:spPr>
            <a:solidFill>
              <a:srgbClr val="A45E56"/>
            </a:solidFill>
            <a:ln w="28575" cap="flat">
              <a:solidFill>
                <a:srgbClr val="A45E56"/>
              </a:solidFill>
              <a:prstDash val="solid"/>
              <a:round/>
            </a:ln>
            <a:effectLst/>
          </c:spPr>
          <c:marker>
            <c:symbol val="circle"/>
            <c:size val="5"/>
            <c:spPr>
              <a:solidFill>
                <a:srgbClr val="A45E56"/>
              </a:solidFill>
              <a:ln w="12700" cap="flat">
                <a:solidFill>
                  <a:schemeClr val="accent3"/>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Sheet1!$A$2:$A$5</c:f>
              <c:strCache>
                <c:ptCount val="4"/>
                <c:pt idx="0">
                  <c:v>0</c:v>
                </c:pt>
                <c:pt idx="1">
                  <c:v>1</c:v>
                </c:pt>
                <c:pt idx="2">
                  <c:v>2</c:v>
                </c:pt>
                <c:pt idx="3">
                  <c:v>3</c:v>
                </c:pt>
              </c:strCache>
            </c:strRef>
          </c:cat>
          <c:val>
            <c:numRef>
              <c:f>Sheet1!$D$2:$D$5</c:f>
              <c:numCache>
                <c:ptCount val="4"/>
                <c:pt idx="0">
                  <c:v>1.000000</c:v>
                </c:pt>
                <c:pt idx="1">
                  <c:v>-1.200000</c:v>
                </c:pt>
                <c:pt idx="2">
                  <c:v>1.440000</c:v>
                </c:pt>
                <c:pt idx="3">
                  <c:v>-1.728000</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Update number</a:t>
                </a:r>
              </a:p>
            </c:rich>
          </c:tx>
          <c:layout/>
          <c:overlay val="1"/>
        </c:title>
        <c:numFmt formatCode="General" sourceLinked="0"/>
        <c:majorTickMark val="none"/>
        <c:minorTickMark val="none"/>
        <c:tickLblPos val="low"/>
        <c:spPr>
          <a:ln w="12700" cap="flat">
            <a:solidFill>
              <a:srgbClr val="B8B4AD"/>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2"/>
          <c:min val="-2"/>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Weight w</a:t>
                </a:r>
              </a:p>
            </c:rich>
          </c:tx>
          <c:layout/>
          <c:overlay val="1"/>
        </c:title>
        <c:numFmt formatCode="0.000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2"/>
        <c:crosses val="min"/>
        <c:crossBetween val="between"/>
        <c:majorUnit val="2"/>
        <c:minorUnit val="1"/>
      </c:valAx>
      <c:spPr>
        <a:solidFill>
          <a:srgbClr val="FCFBF8"/>
        </a:solidFill>
        <a:ln w="12700" cap="flat">
          <a:noFill/>
          <a:miter lim="400000"/>
        </a:ln>
        <a:effectLst/>
      </c:spPr>
    </c:plotArea>
    <c:legend>
      <c:legendPos val="b"/>
      <c:layout>
        <c:manualLayout>
          <c:xMode val="edge"/>
          <c:yMode val="edge"/>
          <c:x val="0.261273"/>
          <c:y val="0.932746"/>
          <c:w val="0.427349"/>
          <c:h val="0.0672537"/>
        </c:manualLayout>
      </c:layout>
      <c:overlay val="1"/>
      <c:spPr>
        <a:noFill/>
        <a:ln w="12700" cap="flat">
          <a:noFill/>
          <a:miter lim="400000"/>
        </a:ln>
        <a:effectLst/>
      </c:spPr>
      <c:txPr>
        <a:bodyPr rot="0"/>
        <a:lstStyle/>
        <a:p>
          <a:pPr>
            <a:defRPr b="0" i="0" strike="noStrike" sz="1300" u="none">
              <a:solidFill>
                <a:srgbClr val="272729"/>
              </a:solidFill>
              <a:latin typeface="Arial"/>
            </a:defRPr>
          </a:pPr>
        </a:p>
      </c:txPr>
    </c:legend>
    <c:plotVisOnly val="1"/>
    <c:dispBlanksAs val="gap"/>
  </c:chart>
  <c:spPr>
    <a:solidFill>
      <a:srgbClr val="FCFBF8"/>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64813"/>
          <c:y val="0.0578733"/>
          <c:w val="0.830187"/>
          <c:h val="0.777558"/>
        </c:manualLayout>
      </c:layout>
      <c:lineChart>
        <c:grouping val="standard"/>
        <c:varyColors val="0"/>
        <c:ser>
          <c:idx val="0"/>
          <c:order val="0"/>
          <c:tx>
            <c:strRef>
              <c:f>Sheet1!$B$1</c:f>
              <c:strCache>
                <c:ptCount val="1"/>
                <c:pt idx="0">
                  <c:v>Gradient magnitude</c:v>
                </c:pt>
              </c:strCache>
            </c:strRef>
          </c:tx>
          <c:spPr>
            <a:solidFill>
              <a:srgbClr val="287B95"/>
            </a:solidFill>
            <a:ln w="28575" cap="flat">
              <a:solidFill>
                <a:srgbClr val="287B95"/>
              </a:solidFill>
              <a:prstDash val="solid"/>
              <a:round/>
            </a:ln>
            <a:effectLst/>
          </c:spPr>
          <c:marker>
            <c:symbol val="circle"/>
            <c:size val="6"/>
            <c:spPr>
              <a:solidFill>
                <a:srgbClr val="287B95"/>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Sheet1!$A$2:$A$8</c:f>
              <c:strCache>
                <c:ptCount val="7"/>
                <c:pt idx="0">
                  <c:v>0</c:v>
                </c:pt>
                <c:pt idx="1">
                  <c:v>1</c:v>
                </c:pt>
                <c:pt idx="2">
                  <c:v>2</c:v>
                </c:pt>
                <c:pt idx="3">
                  <c:v>3</c:v>
                </c:pt>
                <c:pt idx="4">
                  <c:v>4</c:v>
                </c:pt>
                <c:pt idx="5">
                  <c:v>5</c:v>
                </c:pt>
                <c:pt idx="6">
                  <c:v>6</c:v>
                </c:pt>
              </c:strCache>
            </c:strRef>
          </c:cat>
          <c:val>
            <c:numRef>
              <c:f>Sheet1!$B$2:$B$8</c:f>
              <c:numCache>
                <c:ptCount val="7"/>
                <c:pt idx="0">
                  <c:v>1.000000</c:v>
                </c:pt>
                <c:pt idx="1">
                  <c:v>0.500000</c:v>
                </c:pt>
                <c:pt idx="2">
                  <c:v>0.250000</c:v>
                </c:pt>
                <c:pt idx="3">
                  <c:v>0.125000</c:v>
                </c:pt>
                <c:pt idx="4">
                  <c:v>0.062500</c:v>
                </c:pt>
                <c:pt idx="5">
                  <c:v>0.031250</c:v>
                </c:pt>
                <c:pt idx="6">
                  <c:v>0.015625</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Backward steps from the output</a:t>
                </a:r>
              </a:p>
            </c:rich>
          </c:tx>
          <c:layout/>
          <c:overlay val="1"/>
        </c:title>
        <c:numFmt formatCode="General" sourceLinked="0"/>
        <c:majorTickMark val="none"/>
        <c:minorTickMark val="none"/>
        <c:tickLblPos val="low"/>
        <c:spPr>
          <a:ln w="12700" cap="flat">
            <a:solidFill>
              <a:srgbClr val="D4D4D4"/>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1"/>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Gradient magnitude</a:t>
                </a:r>
              </a:p>
            </c:rich>
          </c:tx>
          <c:layout/>
          <c:overlay val="1"/>
        </c:title>
        <c:numFmt formatCode="0.00000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2"/>
        <c:crosses val="autoZero"/>
        <c:crossBetween val="between"/>
        <c:majorUnit val="0.25"/>
        <c:minorUnit val="0.12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7172"/>
          <c:y val="0.0543729"/>
          <c:w val="0.855017"/>
          <c:h val="0.78813"/>
        </c:manualLayout>
      </c:layout>
      <c:scatterChart>
        <c:scatterStyle val="smoothMarker"/>
        <c:varyColors val="0"/>
        <c:ser>
          <c:idx val="0"/>
          <c:order val="0"/>
          <c:tx>
            <c:strRef>
              <c:f>Sheet1!$B$1</c:f>
              <c:strCache>
                <c:ptCount val="1"/>
                <c:pt idx="0">
                  <c:v>Sigmoid derivative</c:v>
                </c:pt>
              </c:strCache>
            </c:strRef>
          </c:tx>
          <c:spPr>
            <a:noFill/>
            <a:ln w="28575" cap="flat">
              <a:solidFill>
                <a:srgbClr val="287B95"/>
              </a:solidFill>
              <a:prstDash val="solid"/>
              <a:round/>
            </a:ln>
            <a:effectLst/>
          </c:spPr>
          <c:marker>
            <c:symbol val="none"/>
            <c:size val="4"/>
            <c:spPr>
              <a:noFill/>
              <a:ln w="28575" cap="flat">
                <a:solidFill>
                  <a:srgbClr val="287B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Sheet1!$B$2:$B$42</c:f>
              <c:numCache>
                <c:ptCount val="41"/>
                <c:pt idx="0">
                  <c:v>-5.000000</c:v>
                </c:pt>
                <c:pt idx="1">
                  <c:v>-4.750000</c:v>
                </c:pt>
                <c:pt idx="2">
                  <c:v>-4.500000</c:v>
                </c:pt>
                <c:pt idx="3">
                  <c:v>-4.250000</c:v>
                </c:pt>
                <c:pt idx="4">
                  <c:v>-4.000000</c:v>
                </c:pt>
                <c:pt idx="5">
                  <c:v>-3.750000</c:v>
                </c:pt>
                <c:pt idx="6">
                  <c:v>-3.500000</c:v>
                </c:pt>
                <c:pt idx="7">
                  <c:v>-3.250000</c:v>
                </c:pt>
                <c:pt idx="8">
                  <c:v>-3.000000</c:v>
                </c:pt>
                <c:pt idx="9">
                  <c:v>-2.750000</c:v>
                </c:pt>
                <c:pt idx="10">
                  <c:v>-2.500000</c:v>
                </c:pt>
                <c:pt idx="11">
                  <c:v>-2.250000</c:v>
                </c:pt>
                <c:pt idx="12">
                  <c:v>-2.000000</c:v>
                </c:pt>
                <c:pt idx="13">
                  <c:v>-1.750000</c:v>
                </c:pt>
                <c:pt idx="14">
                  <c:v>-1.500000</c:v>
                </c:pt>
                <c:pt idx="15">
                  <c:v>-1.250000</c:v>
                </c:pt>
                <c:pt idx="16">
                  <c:v>-1.000000</c:v>
                </c:pt>
                <c:pt idx="17">
                  <c:v>-0.750000</c:v>
                </c:pt>
                <c:pt idx="18">
                  <c:v>-0.500000</c:v>
                </c:pt>
                <c:pt idx="19">
                  <c:v>-0.250000</c:v>
                </c:pt>
                <c:pt idx="20">
                  <c:v>0.000000</c:v>
                </c:pt>
                <c:pt idx="21">
                  <c:v>0.250000</c:v>
                </c:pt>
                <c:pt idx="22">
                  <c:v>0.500000</c:v>
                </c:pt>
                <c:pt idx="23">
                  <c:v>0.750000</c:v>
                </c:pt>
                <c:pt idx="24">
                  <c:v>1.000000</c:v>
                </c:pt>
                <c:pt idx="25">
                  <c:v>1.250000</c:v>
                </c:pt>
                <c:pt idx="26">
                  <c:v>1.500000</c:v>
                </c:pt>
                <c:pt idx="27">
                  <c:v>1.750000</c:v>
                </c:pt>
                <c:pt idx="28">
                  <c:v>2.000000</c:v>
                </c:pt>
                <c:pt idx="29">
                  <c:v>2.250000</c:v>
                </c:pt>
                <c:pt idx="30">
                  <c:v>2.500000</c:v>
                </c:pt>
                <c:pt idx="31">
                  <c:v>2.750000</c:v>
                </c:pt>
                <c:pt idx="32">
                  <c:v>3.000000</c:v>
                </c:pt>
                <c:pt idx="33">
                  <c:v>3.250000</c:v>
                </c:pt>
                <c:pt idx="34">
                  <c:v>3.500000</c:v>
                </c:pt>
                <c:pt idx="35">
                  <c:v>3.750000</c:v>
                </c:pt>
                <c:pt idx="36">
                  <c:v>4.000000</c:v>
                </c:pt>
                <c:pt idx="37">
                  <c:v>4.250000</c:v>
                </c:pt>
                <c:pt idx="38">
                  <c:v>4.500000</c:v>
                </c:pt>
                <c:pt idx="39">
                  <c:v>4.750000</c:v>
                </c:pt>
                <c:pt idx="40">
                  <c:v>5.000000</c:v>
                </c:pt>
              </c:numCache>
            </c:numRef>
          </c:xVal>
          <c:yVal>
            <c:numRef>
              <c:f>Sheet1!$C$2:$C$42</c:f>
              <c:numCache>
                <c:ptCount val="41"/>
                <c:pt idx="0">
                  <c:v>0.006648</c:v>
                </c:pt>
                <c:pt idx="1">
                  <c:v>0.008504</c:v>
                </c:pt>
                <c:pt idx="2">
                  <c:v>0.010866</c:v>
                </c:pt>
                <c:pt idx="3">
                  <c:v>0.013866</c:v>
                </c:pt>
                <c:pt idx="4">
                  <c:v>0.017663</c:v>
                </c:pt>
                <c:pt idx="5">
                  <c:v>0.022449</c:v>
                </c:pt>
                <c:pt idx="6">
                  <c:v>0.028453</c:v>
                </c:pt>
                <c:pt idx="7">
                  <c:v>0.035934</c:v>
                </c:pt>
                <c:pt idx="8">
                  <c:v>0.045177</c:v>
                </c:pt>
                <c:pt idx="9">
                  <c:v>0.056476</c:v>
                </c:pt>
                <c:pt idx="10">
                  <c:v>0.070104</c:v>
                </c:pt>
                <c:pt idx="11">
                  <c:v>0.086258</c:v>
                </c:pt>
                <c:pt idx="12">
                  <c:v>0.104994</c:v>
                </c:pt>
                <c:pt idx="13">
                  <c:v>0.126129</c:v>
                </c:pt>
                <c:pt idx="14">
                  <c:v>0.149146</c:v>
                </c:pt>
                <c:pt idx="15">
                  <c:v>0.173105</c:v>
                </c:pt>
                <c:pt idx="16">
                  <c:v>0.196612</c:v>
                </c:pt>
                <c:pt idx="17">
                  <c:v>0.217895</c:v>
                </c:pt>
                <c:pt idx="18">
                  <c:v>0.235004</c:v>
                </c:pt>
                <c:pt idx="19">
                  <c:v>0.246134</c:v>
                </c:pt>
                <c:pt idx="20">
                  <c:v>0.250000</c:v>
                </c:pt>
                <c:pt idx="21">
                  <c:v>0.246134</c:v>
                </c:pt>
                <c:pt idx="22">
                  <c:v>0.235004</c:v>
                </c:pt>
                <c:pt idx="23">
                  <c:v>0.217895</c:v>
                </c:pt>
                <c:pt idx="24">
                  <c:v>0.196612</c:v>
                </c:pt>
                <c:pt idx="25">
                  <c:v>0.173105</c:v>
                </c:pt>
                <c:pt idx="26">
                  <c:v>0.149146</c:v>
                </c:pt>
                <c:pt idx="27">
                  <c:v>0.126129</c:v>
                </c:pt>
                <c:pt idx="28">
                  <c:v>0.104994</c:v>
                </c:pt>
                <c:pt idx="29">
                  <c:v>0.086258</c:v>
                </c:pt>
                <c:pt idx="30">
                  <c:v>0.070104</c:v>
                </c:pt>
                <c:pt idx="31">
                  <c:v>0.056476</c:v>
                </c:pt>
                <c:pt idx="32">
                  <c:v>0.045177</c:v>
                </c:pt>
                <c:pt idx="33">
                  <c:v>0.035934</c:v>
                </c:pt>
                <c:pt idx="34">
                  <c:v>0.028453</c:v>
                </c:pt>
                <c:pt idx="35">
                  <c:v>0.022449</c:v>
                </c:pt>
                <c:pt idx="36">
                  <c:v>0.017663</c:v>
                </c:pt>
                <c:pt idx="37">
                  <c:v>0.013866</c:v>
                </c:pt>
                <c:pt idx="38">
                  <c:v>0.010866</c:v>
                </c:pt>
                <c:pt idx="39">
                  <c:v>0.008504</c:v>
                </c:pt>
                <c:pt idx="40">
                  <c:v>0.006648</c:v>
                </c:pt>
              </c:numCache>
            </c:numRef>
          </c:yVal>
          <c:smooth val="1"/>
        </c:ser>
        <c:axId val="2094734552"/>
        <c:axId val="2094734553"/>
      </c:scatterChart>
      <c:valAx>
        <c:axId val="2094734552"/>
        <c:scaling>
          <c:orientation val="minMax"/>
          <c:max val="5"/>
          <c:min val="-5"/>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Input z</a:t>
                </a:r>
              </a:p>
            </c:rich>
          </c:tx>
          <c:layout/>
          <c:overlay val="1"/>
        </c:title>
        <c:numFmt formatCode="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3"/>
        <c:crosses val="min"/>
        <c:crossBetween val="between"/>
        <c:majorUnit val="5"/>
        <c:minorUnit val="2.5"/>
      </c:valAx>
      <c:valAx>
        <c:axId val="2094734553"/>
        <c:scaling>
          <c:orientation val="minMax"/>
          <c:max val="0.3"/>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Derivative σ′(z)</a:t>
                </a:r>
              </a:p>
            </c:rich>
          </c:tx>
          <c:layout/>
          <c:overlay val="1"/>
        </c:title>
        <c:numFmt formatCode="0.000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2"/>
        <c:crosses val="autoZero"/>
        <c:crossBetween val="between"/>
        <c:majorUnit val="0.3"/>
        <c:minorUnit val="0.1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78438"/>
          <c:y val="0.0578733"/>
          <c:w val="0.816562"/>
          <c:h val="0.777558"/>
        </c:manualLayout>
      </c:layout>
      <c:lineChart>
        <c:grouping val="standard"/>
        <c:varyColors val="0"/>
        <c:ser>
          <c:idx val="0"/>
          <c:order val="0"/>
          <c:tx>
            <c:strRef>
              <c:f>Sheet1!$B$1</c:f>
              <c:strCache>
                <c:ptCount val="1"/>
                <c:pt idx="0">
                  <c:v>Gradient magnitude</c:v>
                </c:pt>
              </c:strCache>
            </c:strRef>
          </c:tx>
          <c:spPr>
            <a:solidFill>
              <a:srgbClr val="A45F57"/>
            </a:solidFill>
            <a:ln w="28575" cap="flat">
              <a:solidFill>
                <a:srgbClr val="A45F57"/>
              </a:solidFill>
              <a:prstDash val="solid"/>
              <a:round/>
            </a:ln>
            <a:effectLst/>
          </c:spPr>
          <c:marker>
            <c:symbol val="circle"/>
            <c:size val="6"/>
            <c:spPr>
              <a:solidFill>
                <a:srgbClr val="A45F57"/>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Sheet1!$A$2:$A$8</c:f>
              <c:strCache>
                <c:ptCount val="7"/>
                <c:pt idx="0">
                  <c:v>0</c:v>
                </c:pt>
                <c:pt idx="1">
                  <c:v>1</c:v>
                </c:pt>
                <c:pt idx="2">
                  <c:v>2</c:v>
                </c:pt>
                <c:pt idx="3">
                  <c:v>3</c:v>
                </c:pt>
                <c:pt idx="4">
                  <c:v>4</c:v>
                </c:pt>
                <c:pt idx="5">
                  <c:v>5</c:v>
                </c:pt>
                <c:pt idx="6">
                  <c:v>6</c:v>
                </c:pt>
              </c:strCache>
            </c:strRef>
          </c:cat>
          <c:val>
            <c:numRef>
              <c:f>Sheet1!$B$2:$B$8</c:f>
              <c:numCache>
                <c:ptCount val="7"/>
                <c:pt idx="0">
                  <c:v>1.000000</c:v>
                </c:pt>
                <c:pt idx="1">
                  <c:v>2.000000</c:v>
                </c:pt>
                <c:pt idx="2">
                  <c:v>4.000000</c:v>
                </c:pt>
                <c:pt idx="3">
                  <c:v>8.000000</c:v>
                </c:pt>
                <c:pt idx="4">
                  <c:v>16.000000</c:v>
                </c:pt>
                <c:pt idx="5">
                  <c:v>32.000000</c:v>
                </c:pt>
                <c:pt idx="6">
                  <c:v>64.000000</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Backward steps from the output</a:t>
                </a:r>
              </a:p>
            </c:rich>
          </c:tx>
          <c:layout/>
          <c:overlay val="1"/>
        </c:title>
        <c:numFmt formatCode="General" sourceLinked="0"/>
        <c:majorTickMark val="none"/>
        <c:minorTickMark val="none"/>
        <c:tickLblPos val="low"/>
        <c:spPr>
          <a:ln w="12700" cap="flat">
            <a:solidFill>
              <a:srgbClr val="D4D4D4"/>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64"/>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Gradient magnitude</a:t>
                </a:r>
              </a:p>
            </c:rich>
          </c:tx>
          <c:layout/>
          <c:overlay val="1"/>
        </c:title>
        <c:numFmt formatCode="0.00000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2"/>
        <c:crosses val="autoZero"/>
        <c:crossBetween val="between"/>
        <c:majorUnit val="16"/>
        <c:minorUnit val="8"/>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1502"/>
          <c:y val="0.0540305"/>
          <c:w val="0.863498"/>
          <c:h val="0.692105"/>
        </c:manualLayout>
      </c:layout>
      <c:lineChart>
        <c:grouping val="standard"/>
        <c:varyColors val="0"/>
        <c:ser>
          <c:idx val="0"/>
          <c:order val="0"/>
          <c:tx>
            <c:strRef>
              <c:f>Sheet1!$B$1</c:f>
              <c:strCache>
                <c:ptCount val="1"/>
                <c:pt idx="0">
                  <c:v>Training</c:v>
                </c:pt>
              </c:strCache>
            </c:strRef>
          </c:tx>
          <c:spPr>
            <a:solidFill>
              <a:srgbClr val="277A95"/>
            </a:solidFill>
            <a:ln w="28575" cap="flat">
              <a:solidFill>
                <a:srgbClr val="277A95"/>
              </a:solidFill>
              <a:prstDash val="solid"/>
              <a:round/>
            </a:ln>
            <a:effectLst/>
          </c:spPr>
          <c:marker>
            <c:symbol val="circle"/>
            <c:size val="5"/>
            <c:spPr>
              <a:solidFill>
                <a:srgbClr val="277A95"/>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Sheet1!$A$2:$A$9</c:f>
              <c:strCache>
                <c:ptCount val="8"/>
                <c:pt idx="0">
                  <c:v>1</c:v>
                </c:pt>
                <c:pt idx="1">
                  <c:v>2</c:v>
                </c:pt>
                <c:pt idx="2">
                  <c:v>3</c:v>
                </c:pt>
                <c:pt idx="3">
                  <c:v>4</c:v>
                </c:pt>
                <c:pt idx="4">
                  <c:v>5</c:v>
                </c:pt>
                <c:pt idx="5">
                  <c:v>6</c:v>
                </c:pt>
                <c:pt idx="6">
                  <c:v>7</c:v>
                </c:pt>
                <c:pt idx="7">
                  <c:v>8</c:v>
                </c:pt>
              </c:strCache>
            </c:strRef>
          </c:cat>
          <c:val>
            <c:numRef>
              <c:f>Sheet1!$B$2:$B$9</c:f>
              <c:numCache>
                <c:ptCount val="8"/>
                <c:pt idx="0">
                  <c:v>0.700000</c:v>
                </c:pt>
                <c:pt idx="1">
                  <c:v>0.560000</c:v>
                </c:pt>
                <c:pt idx="2">
                  <c:v>0.460000</c:v>
                </c:pt>
                <c:pt idx="3">
                  <c:v>0.380000</c:v>
                </c:pt>
                <c:pt idx="4">
                  <c:v>0.320000</c:v>
                </c:pt>
                <c:pt idx="5">
                  <c:v>0.270000</c:v>
                </c:pt>
                <c:pt idx="6">
                  <c:v>0.230000</c:v>
                </c:pt>
                <c:pt idx="7">
                  <c:v>0.200000</c:v>
                </c:pt>
              </c:numCache>
            </c:numRef>
          </c:val>
          <c:smooth val="0"/>
        </c:ser>
        <c:ser>
          <c:idx val="1"/>
          <c:order val="1"/>
          <c:tx>
            <c:strRef>
              <c:f>Sheet1!$C$1</c:f>
              <c:strCache>
                <c:ptCount val="1"/>
                <c:pt idx="0">
                  <c:v>Validation</c:v>
                </c:pt>
              </c:strCache>
            </c:strRef>
          </c:tx>
          <c:spPr>
            <a:solidFill>
              <a:srgbClr val="A45E56"/>
            </a:solidFill>
            <a:ln w="28575" cap="flat">
              <a:solidFill>
                <a:srgbClr val="A45E56"/>
              </a:solidFill>
              <a:prstDash val="solid"/>
              <a:round/>
            </a:ln>
            <a:effectLst/>
          </c:spPr>
          <c:marker>
            <c:symbol val="circle"/>
            <c:size val="5"/>
            <c:spPr>
              <a:solidFill>
                <a:srgbClr val="A45E56"/>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Sheet1!$A$2:$A$9</c:f>
              <c:strCache>
                <c:ptCount val="8"/>
                <c:pt idx="0">
                  <c:v>1</c:v>
                </c:pt>
                <c:pt idx="1">
                  <c:v>2</c:v>
                </c:pt>
                <c:pt idx="2">
                  <c:v>3</c:v>
                </c:pt>
                <c:pt idx="3">
                  <c:v>4</c:v>
                </c:pt>
                <c:pt idx="4">
                  <c:v>5</c:v>
                </c:pt>
                <c:pt idx="5">
                  <c:v>6</c:v>
                </c:pt>
                <c:pt idx="6">
                  <c:v>7</c:v>
                </c:pt>
                <c:pt idx="7">
                  <c:v>8</c:v>
                </c:pt>
              </c:strCache>
            </c:strRef>
          </c:cat>
          <c:val>
            <c:numRef>
              <c:f>Sheet1!$C$2:$C$9</c:f>
              <c:numCache>
                <c:ptCount val="8"/>
                <c:pt idx="0">
                  <c:v>0.740000</c:v>
                </c:pt>
                <c:pt idx="1">
                  <c:v>0.610000</c:v>
                </c:pt>
                <c:pt idx="2">
                  <c:v>0.530000</c:v>
                </c:pt>
                <c:pt idx="3">
                  <c:v>0.480000</c:v>
                </c:pt>
                <c:pt idx="4">
                  <c:v>0.460000</c:v>
                </c:pt>
                <c:pt idx="5">
                  <c:v>0.480000</c:v>
                </c:pt>
                <c:pt idx="6">
                  <c:v>0.520000</c:v>
                </c:pt>
                <c:pt idx="7">
                  <c:v>0.590000</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Epoch</a:t>
                </a:r>
              </a:p>
            </c:rich>
          </c:tx>
          <c:layout/>
          <c:overlay val="1"/>
        </c:title>
        <c:numFmt formatCode="General" sourceLinked="0"/>
        <c:majorTickMark val="none"/>
        <c:minorTickMark val="none"/>
        <c:tickLblPos val="low"/>
        <c:spPr>
          <a:ln w="12700" cap="flat">
            <a:solidFill>
              <a:srgbClr val="B8B4AD"/>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0.8"/>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Loss (illustrative)</a:t>
                </a:r>
              </a:p>
            </c:rich>
          </c:tx>
          <c:layout/>
          <c:overlay val="1"/>
        </c:title>
        <c:numFmt formatCode="0.000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2"/>
        <c:crosses val="autoZero"/>
        <c:crossBetween val="between"/>
        <c:majorUnit val="0.8"/>
        <c:minorUnit val="0.4"/>
      </c:valAx>
      <c:spPr>
        <a:solidFill>
          <a:srgbClr val="FCFBF8"/>
        </a:solidFill>
        <a:ln w="12700" cap="flat">
          <a:noFill/>
          <a:miter lim="400000"/>
        </a:ln>
        <a:effectLst/>
      </c:spPr>
    </c:plotArea>
    <c:legend>
      <c:legendPos val="b"/>
      <c:layout>
        <c:manualLayout>
          <c:xMode val="edge"/>
          <c:yMode val="edge"/>
          <c:x val="0.307621"/>
          <c:y val="0.933469"/>
          <c:w val="0.326464"/>
          <c:h val="0.0665305"/>
        </c:manualLayout>
      </c:layout>
      <c:overlay val="1"/>
      <c:spPr>
        <a:noFill/>
        <a:ln w="12700" cap="flat">
          <a:noFill/>
          <a:miter lim="400000"/>
        </a:ln>
        <a:effectLst/>
      </c:spPr>
      <c:txPr>
        <a:bodyPr rot="0"/>
        <a:lstStyle/>
        <a:p>
          <a:pPr>
            <a:defRPr b="0" i="0" strike="noStrike" sz="1300" u="none">
              <a:solidFill>
                <a:srgbClr val="272729"/>
              </a:solidFill>
              <a:latin typeface="Arial"/>
            </a:defRPr>
          </a:pPr>
        </a:p>
      </c:txPr>
    </c:legend>
    <c:plotVisOnly val="1"/>
    <c:dispBlanksAs val="gap"/>
  </c:chart>
  <c:spPr>
    <a:solidFill>
      <a:srgbClr val="FCFBF8"/>
    </a:solid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7" name="Shape 177"/>
          <p:cNvSpPr/>
          <p:nvPr>
            <p:ph type="sldImg"/>
          </p:nvPr>
        </p:nvSpPr>
        <p:spPr>
          <a:xfrm>
            <a:off x="1143000" y="685800"/>
            <a:ext cx="4572000" cy="3429000"/>
          </a:xfrm>
          <a:prstGeom prst="rect">
            <a:avLst/>
          </a:prstGeom>
        </p:spPr>
        <p:txBody>
          <a:bodyPr/>
          <a:lstStyle/>
          <a:p>
            <a:pPr/>
          </a:p>
        </p:txBody>
      </p:sp>
      <p:sp>
        <p:nvSpPr>
          <p:cNvPr id="178" name="Shape 17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defRPr sz="2500"/>
            </a:pPr>
            <a:r>
              <a:t>Opening: Today we will connect the neural network's prediction to the calculations that allow it to learn. We will see how every parameter, gradient, and update happens. Then we will examine what changes in deeper networks, including vanishing and exploding gradients.</a:t>
            </a:r>
          </a:p>
          <a:p>
            <a:pPr>
              <a:defRPr sz="2500"/>
            </a:pPr>
            <a:r>
              <a:t>Learning objectives: By the end, you should be able to explain the roles of the forward pass, the loss, backpropagation, and gradient descent.</a:t>
            </a:r>
          </a:p>
          <a:p>
            <a:pPr>
              <a:defRPr sz="2500"/>
            </a:pPr>
          </a:p>
          <a:p>
            <a:pPr>
              <a:defRPr sz="2500"/>
            </a:pPr>
            <a:r>
              <a:t>We will continue with the lab that we did in the last session, we will train the network that we build in the last session</a:t>
            </a:r>
          </a:p>
          <a:p>
            <a:pPr>
              <a:defRPr sz="2500"/>
            </a:pPr>
          </a:p>
          <a:p>
            <a:pPr>
              <a:defRPr sz="2500"/>
            </a:pPr>
            <a:r>
              <a:t>We will see how we use gradient descent and backpropagation to train a network and how they help a model to reduce its prediction error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Explain: In the earlier network, four input features feed layers with three neurons, then two neurons, then one output. Count the connections: four times three gives twelve weights, three times two gives six, and two times one gives two. That makes twenty weights. Each receiving neuron also has a bias, giving three plus two plus one, or six biases. These twenty-six parameters are the values training changes. Input features describe the email; they are not trainable parameters in this example.</a:t>
            </a:r>
          </a:p>
          <a:p>
            <a:pPr/>
            <a:r>
              <a:t>Audience question: Why do input nodes have no bias here? Answer: They simply supply the feature values to the first learned layer.</a:t>
            </a:r>
          </a:p>
          <a:p>
            <a:pPr/>
            <a:r>
              <a:t>Transition: Each receiving neuron performs the same basic calculation.</a:t>
            </a:r>
          </a:p>
          <a:p>
            <a:pPr/>
          </a:p>
          <a:p>
            <a:pPr/>
            <a:r>
              <a:t>Reference details</a:t>
            </a:r>
          </a:p>
          <a:p>
            <a:pPr/>
            <a:r>
              <a:t>Source: neural_networks.pptx, slides 4, 8–10 and 15–16. Weights scale inputs; biases shift each receiving neuron’s weighted sum. Diagram generated with the built-in image tool to illustrate the source architecture.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p>
            <a:pPr/>
            <a:r>
              <a:t>Explain: A neuron first multiplies each input by its weight and adds those contributions. It then adds a bias and applies an activation function. A weight controls how strongly one input contributes, while a bias shifts the weighted sum. In the earlier example, the weighted inputs total 2.6 and the bias is minus 0.5, so z equals 2.1. ReLU returns 2.1 because this value is positive. A sigmoid instead maps a finite score to a number between zero and one.</a:t>
            </a:r>
          </a:p>
          <a:p>
            <a:pPr/>
            <a:r>
              <a:t>Audience question: What would ReLU return for z equal to minus two? Answer: Zero.</a:t>
            </a:r>
          </a:p>
          <a:p>
            <a:pPr/>
            <a:r>
              <a:t>Transition: At the output, we interpret the sigmoid value as the model's spam probability.</a:t>
            </a:r>
          </a:p>
          <a:p>
            <a:pPr/>
          </a:p>
          <a:p>
            <a:pPr/>
            <a:r>
              <a:t>Reference details</a:t>
            </a:r>
          </a:p>
          <a:p>
            <a:pPr/>
            <a:r>
              <a:t>Source: neural_networks.pptx, slides 5–10 and 14. Diagram uses three generic inputs for readability; the earlier email example has four inputs. A finite sigmoid input produces a result strictly between 0 and 1. Image generated with the built-in image tool.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r>
              <a:t>Explain: We keep a fixed feature order when converting an email into numbers. The network uses its current parameters to calculate a probability, and a threshold turns that probability into a class decision. Training requires an additional piece of information: the true label. We compare the predicted probability with that label to calculate the loss. The earlier larger network gave a probability around 0.94. The smaller worked example that follows starts at 0.6225 because it uses different illustrative parameters.</a:t>
            </a:r>
          </a:p>
          <a:p>
            <a:pPr/>
            <a:r>
              <a:t>Audience question: Can we train just from the word “spam” produced by the threshold? Explain that the differentiable probability and loss provide the signal used by backpropagation.</a:t>
            </a:r>
          </a:p>
          <a:p>
            <a:pPr/>
            <a:r>
              <a:t>Transition: This separates prediction from the backward calculation.</a:t>
            </a:r>
          </a:p>
          <a:p>
            <a:pPr/>
          </a:p>
          <a:p>
            <a:pPr/>
            <a:r>
              <a:t>Reference details</a:t>
            </a:r>
          </a:p>
          <a:p>
            <a:pPr/>
            <a:r>
              <a:t>Source: neural_networks.pptx, slides 12–13 and 17–21. Fixed input feature order is [spam-like words, suspicious link, aggressive formatting, trusted sender]. Earlier output is sigmoid(2.75) ≈ 0.94, threshold 0.5, known label y=1. Training compares the unthresholded probability to its label. Image generated with the built-in image tool.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260"/>
          <p:cNvSpPr/>
          <p:nvPr>
            <p:ph type="sldImg"/>
          </p:nvPr>
        </p:nvSpPr>
        <p:spPr>
          <a:prstGeom prst="rect">
            <a:avLst/>
          </a:prstGeom>
        </p:spPr>
        <p:txBody>
          <a:bodyPr/>
          <a:lstStyle/>
          <a:p>
            <a:pPr/>
          </a:p>
        </p:txBody>
      </p:sp>
      <p:sp>
        <p:nvSpPr>
          <p:cNvPr id="261" name="Shape 261"/>
          <p:cNvSpPr/>
          <p:nvPr>
            <p:ph type="body" sz="quarter" idx="1"/>
          </p:nvPr>
        </p:nvSpPr>
        <p:spPr>
          <a:prstGeom prst="rect">
            <a:avLst/>
          </a:prstGeom>
        </p:spPr>
        <p:txBody>
          <a:bodyPr/>
          <a:lstStyle/>
          <a:p>
            <a:pPr>
              <a:defRPr sz="2500"/>
            </a:pPr>
            <a:r>
              <a:t>A forward pass computes a prediction and loss using the current weights and biases. Backpropagation applies the chain rule from the output toward earlier layers to compute the loss gradient for each parameter. These gradients describe how sensitive the loss is to small parameter changes.</a:t>
            </a:r>
          </a:p>
          <a:p>
            <a:pPr>
              <a:defRPr sz="2500"/>
            </a:pPr>
          </a:p>
          <a:p>
            <a:pPr>
              <a:defRPr sz="2500"/>
            </a:pPr>
            <a:r>
              <a:t>Gradient descent is a basic optimizer. For each weight or bias, the update is: new value = old value - learning rate times gradient. The negative gradient points downhill locally. A suitably small step can reduce loss, while an excessively large step may increase it. Mini-batch SGD estimates the gradient from a subset of training examples.</a:t>
            </a:r>
          </a:p>
          <a:p>
            <a:pPr>
              <a:defRPr sz="2500"/>
            </a:pPr>
          </a:p>
          <a:p>
            <a:pPr>
              <a:defRPr sz="2500"/>
            </a:pPr>
            <a:r>
              <a:t>Momentum accumulates a running direction from past gradients, which can reduce oscillation. Adam tracks moving averages of gradients and squared gradients to scale updates for individual parameters. These optimizers still use gradients from backpropagation. Their effectiveness depends on the problem and settings.</a:t>
            </a:r>
          </a:p>
          <a:p>
            <a:pPr>
              <a:defRPr sz="2500"/>
            </a:pPr>
          </a:p>
          <a:p>
            <a:pPr>
              <a:defRPr sz="2500"/>
            </a:pPr>
            <a:r>
              <a:t>Visual guide: The diagrams show backward gradient flow, a downhill gradient descent step, and schematic optimizer paths. The Momentum and Adam paths illustrate concepts, not measured performance. Illustration generated with the built-in image generation tool.</a:t>
            </a:r>
          </a:p>
          <a:p>
            <a:pPr>
              <a:defRPr sz="2500"/>
            </a:pPr>
          </a:p>
          <a:p>
            <a:pPr>
              <a:defRPr sz="2500"/>
            </a:pPr>
            <a:r>
              <a:t>Audience check: Which method computes gradients, and which changes the parameters? Backpropagation computes gradients. The optimizer changes parameters. Gradient descent is one optimizer.</a:t>
            </a:r>
          </a:p>
          <a:p>
            <a:pPr>
              <a:defRPr sz="2500"/>
            </a:pPr>
          </a:p>
          <a:p>
            <a:pPr>
              <a:defRPr sz="2500"/>
            </a:pPr>
            <a:r>
              <a:t>Transition: Next, we examine what a gradient tells us before working through the update step.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lvl1pPr>
              <a:defRPr sz="2500"/>
            </a:lvl1pPr>
          </a:lstStyle>
          <a:p>
            <a:pPr/>
            <a:r>
              <a:t>Follow the forward direction first. Inputs pass through weighted sums and activations until the network produces its prediction and loss. Backpropagation then works backward through those same operations to calculate how the loss changes with each parameter. The optimizer uses those derivatives to update the parameters. Backpropagation computes gradients; gradient descent uses them. Keeping these roles separate makes the training loop easier to understand.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hape 332"/>
          <p:cNvSpPr/>
          <p:nvPr>
            <p:ph type="sldImg"/>
          </p:nvPr>
        </p:nvSpPr>
        <p:spPr>
          <a:prstGeom prst="rect">
            <a:avLst/>
          </a:prstGeom>
        </p:spPr>
        <p:txBody>
          <a:bodyPr/>
          <a:lstStyle/>
          <a:p>
            <a:pPr/>
          </a:p>
        </p:txBody>
      </p:sp>
      <p:sp>
        <p:nvSpPr>
          <p:cNvPr id="333" name="Shape 333"/>
          <p:cNvSpPr/>
          <p:nvPr>
            <p:ph type="body" sz="quarter" idx="1"/>
          </p:nvPr>
        </p:nvSpPr>
        <p:spPr>
          <a:prstGeom prst="rect">
            <a:avLst/>
          </a:prstGeom>
        </p:spPr>
        <p:txBody>
          <a:bodyPr/>
          <a:lstStyle/>
          <a:p>
            <a:pPr>
              <a:defRPr sz="2500"/>
            </a:pPr>
            <a:r>
              <a:t>Walk through the calculation: Set x=1, w1=0.5, b1=0, w2=1, and b2=0. The hidden score is 0.5 times 1 plus zero, giving 0.5. ReLU leaves it unchanged, so h=0.5. The output score is 1 times 0.5 plus zero, also 0.5. Applying sigmoid gives approximately 0.6225. Because the true label is one, binary cross-entropy is minus the natural logarithm of this probability, approximately 0.4741.</a:t>
            </a:r>
          </a:p>
          <a:p>
            <a:pPr>
              <a:defRPr sz="2500"/>
            </a:pPr>
            <a:r>
              <a:t>Emphasize: Keep the intermediate values from this forward pass. Backpropagation will reuse them.</a:t>
            </a:r>
          </a:p>
          <a:p>
            <a:pPr>
              <a:defRPr sz="2500"/>
            </a:pPr>
            <a:r>
              <a:t>Audience question: Which quantities are parameters and which are intermediate results?</a:t>
            </a:r>
          </a:p>
          <a:p>
            <a:pPr>
              <a:defRPr sz="2500"/>
            </a:pPr>
            <a:r>
              <a:t>Transition: Let us examine why this loss rewards a better prediction.</a:t>
            </a:r>
          </a:p>
          <a:p>
            <a:pPr>
              <a:defRPr sz="2500"/>
            </a:pPr>
          </a:p>
          <a:p>
            <a:pPr>
              <a:defRPr sz="2500"/>
            </a:pPr>
            <a:r>
              <a:t>Reference details</a:t>
            </a:r>
          </a:p>
          <a:p>
            <a:pPr>
              <a:defRPr sz="2500"/>
            </a:pPr>
            <a:r>
              <a:t>w₁=.5,b₁=0,w₂=1,b₂=0,x=1. h=.5, z₂=.5, sigmoid(z₂)=.6224593312. BCE with y=1 is .4740769842.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Shape 367"/>
          <p:cNvSpPr/>
          <p:nvPr>
            <p:ph type="sldImg"/>
          </p:nvPr>
        </p:nvSpPr>
        <p:spPr>
          <a:prstGeom prst="rect">
            <a:avLst/>
          </a:prstGeom>
        </p:spPr>
        <p:txBody>
          <a:bodyPr/>
          <a:lstStyle/>
          <a:p>
            <a:pPr/>
          </a:p>
        </p:txBody>
      </p:sp>
      <p:sp>
        <p:nvSpPr>
          <p:cNvPr id="368" name="Shape 368"/>
          <p:cNvSpPr/>
          <p:nvPr>
            <p:ph type="body" sz="quarter" idx="1"/>
          </p:nvPr>
        </p:nvSpPr>
        <p:spPr>
          <a:prstGeom prst="rect">
            <a:avLst/>
          </a:prstGeom>
        </p:spPr>
        <p:txBody>
          <a:bodyPr/>
          <a:lstStyle/>
          <a:p>
            <a:pPr>
              <a:defRPr sz="2500"/>
            </a:pPr>
            <a:r>
              <a:t>Explain: Follow the output weight through the output score, the sigmoid prediction, and finally the loss. The chain rule multiplies the local derivatives along this path. For sigmoid paired with binary cross-entropy, the derivative of loss with respect to the output score simplifies to prediction minus label. Here that is 0.6225 minus 1, or approximately -0.3775. The derivative of the score with respect to w2 is the hidden activation, 0.5. Their product gives the output weight gradient, approximately -0.1888.</a:t>
            </a:r>
          </a:p>
          <a:p>
            <a:pPr>
              <a:defRPr sz="2500"/>
            </a:pPr>
            <a:r>
              <a:t>Audience question: What does the negative sign suggest? Answer: Increasing this weight slightly should reduce the loss locally.</a:t>
            </a:r>
          </a:p>
          <a:p>
            <a:pPr>
              <a:defRPr sz="2500"/>
            </a:pPr>
            <a:r>
              <a:t>Transition: The same error signal continues into the hidden layer.</a:t>
            </a:r>
          </a:p>
          <a:p>
            <a:pPr>
              <a:defRPr sz="2500"/>
            </a:pPr>
          </a:p>
          <a:p>
            <a:pPr>
              <a:defRPr sz="2500"/>
            </a:pPr>
            <a:r>
              <a:t>Reference details</a:t>
            </a:r>
          </a:p>
          <a:p>
            <a:pPr>
              <a:defRPr sz="2500"/>
            </a:pPr>
            <a:r>
              <a:t>For y=1, ∂L/∂ŷ=−1/ŷ. ∂ŷ/∂z₂=ŷ(1−ŷ), and ∂z₂/∂w₂=h. Output bias gradient ∂L/∂b₂=δ₂=−.3775406688. For general y, sigmoid plus BCE still gives δ₂=ŷ−y.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Shape 383"/>
          <p:cNvSpPr/>
          <p:nvPr>
            <p:ph type="sldImg"/>
          </p:nvPr>
        </p:nvSpPr>
        <p:spPr>
          <a:prstGeom prst="rect">
            <a:avLst/>
          </a:prstGeom>
        </p:spPr>
        <p:txBody>
          <a:bodyPr/>
          <a:lstStyle/>
          <a:p>
            <a:pPr/>
          </a:p>
        </p:txBody>
      </p:sp>
      <p:sp>
        <p:nvSpPr>
          <p:cNvPr id="384" name="Shape 384"/>
          <p:cNvSpPr/>
          <p:nvPr>
            <p:ph type="body" sz="quarter" idx="1"/>
          </p:nvPr>
        </p:nvSpPr>
        <p:spPr>
          <a:prstGeom prst="rect">
            <a:avLst/>
          </a:prstGeom>
        </p:spPr>
        <p:txBody>
          <a:bodyPr/>
          <a:lstStyle/>
          <a:p>
            <a:pPr>
              <a:defRPr sz="2500"/>
            </a:pPr>
            <a:r>
              <a:t>Explain: Binary cross-entropy measures how well the predicted probability agrees with a binary label. For this email the label is one, so the formula simplifies to minus log of the prediction. As the probability approaches one, the loss approaches zero. A probability near zero gives a large loss for this positive example. For a negative example, y=0, the formula becomes minus log of one minus the prediction, which rewards a low spam probability. These logarithms are natural logarithms.</a:t>
            </a:r>
          </a:p>
          <a:p>
            <a:pPr>
              <a:defRPr sz="2500"/>
            </a:pPr>
            <a:r>
              <a:t>Audience question: What happens to the loss if this spam probability rises from 0.6 to 0.8? Answer: It decreases.</a:t>
            </a:r>
          </a:p>
          <a:p>
            <a:pPr>
              <a:defRPr sz="2500"/>
            </a:pPr>
            <a:r>
              <a:t>Transition: The class decision can stay the same during that improvement.</a:t>
            </a:r>
          </a:p>
          <a:p>
            <a:pPr>
              <a:defRPr sz="2500"/>
            </a:pPr>
          </a:p>
          <a:p>
            <a:pPr>
              <a:defRPr sz="2500"/>
            </a:pPr>
            <a:r>
              <a:t>Reference details</a:t>
            </a:r>
          </a:p>
          <a:p>
            <a:pPr>
              <a:defRPr sz="2500"/>
            </a:pPr>
            <a:r>
              <a:t>Natural log. The chart plots the exact binary cross-entropy for y=1. As ŷ approaches 0, loss grows without bound.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Shape 400"/>
          <p:cNvSpPr/>
          <p:nvPr>
            <p:ph type="sldImg"/>
          </p:nvPr>
        </p:nvSpPr>
        <p:spPr>
          <a:prstGeom prst="rect">
            <a:avLst/>
          </a:prstGeom>
        </p:spPr>
        <p:txBody>
          <a:bodyPr/>
          <a:lstStyle/>
          <a:p>
            <a:pPr/>
          </a:p>
        </p:txBody>
      </p:sp>
      <p:sp>
        <p:nvSpPr>
          <p:cNvPr id="401" name="Shape 401"/>
          <p:cNvSpPr/>
          <p:nvPr>
            <p:ph type="body" sz="quarter" idx="1"/>
          </p:nvPr>
        </p:nvSpPr>
        <p:spPr>
          <a:prstGeom prst="rect">
            <a:avLst/>
          </a:prstGeom>
        </p:spPr>
        <p:txBody>
          <a:bodyPr/>
          <a:lstStyle/>
          <a:p>
            <a:pPr>
              <a:defRPr sz="2500"/>
            </a:pPr>
            <a:r>
              <a:t>Explain: The tangent represents the local slope of the loss with respect to a weight. A positive slope means a small increase in the weight would increase the loss, so a downhill step decreases the weight. A negative slope means a small increase in the weight would reduce the loss, so the update increases it. The gradient generalizes this idea to all parameters at once. The local approximation shown on the slide is most useful for small changes.</a:t>
            </a:r>
          </a:p>
          <a:p>
            <a:pPr>
              <a:defRPr sz="2500"/>
            </a:pPr>
            <a:r>
              <a:t>Audience question: If the gradient is negative, why do we increase the weight? Answer: The update subtracts a negative value.</a:t>
            </a:r>
          </a:p>
          <a:p>
            <a:pPr>
              <a:defRPr sz="2500"/>
            </a:pPr>
            <a:r>
              <a:t>Transition: The quadratic curve makes both directions easy to see.</a:t>
            </a:r>
          </a:p>
          <a:p>
            <a:pPr>
              <a:defRPr sz="2500"/>
            </a:pPr>
          </a:p>
          <a:p>
            <a:pPr>
              <a:defRPr sz="2500"/>
            </a:pPr>
            <a:r>
              <a:t>Reference details</a:t>
            </a:r>
          </a:p>
          <a:p>
            <a:pPr>
              <a:defRPr sz="2500"/>
            </a:pPr>
            <a:r>
              <a:t>Source: gradient_descent_backpropagation_visual_reformatted.pptx, slides 2–3 and 6–8. Chart data calculated from L(w)=w²; tangents at w=−1 and w=1 have slopes −2 and +2. Full gradient ∇L contains one derivative per parameter.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Shape 418"/>
          <p:cNvSpPr/>
          <p:nvPr>
            <p:ph type="sldImg"/>
          </p:nvPr>
        </p:nvSpPr>
        <p:spPr>
          <a:prstGeom prst="rect">
            <a:avLst/>
          </a:prstGeom>
        </p:spPr>
        <p:txBody>
          <a:bodyPr/>
          <a:lstStyle/>
          <a:p>
            <a:pPr/>
          </a:p>
        </p:txBody>
      </p:sp>
      <p:sp>
        <p:nvSpPr>
          <p:cNvPr id="419" name="Shape 419"/>
          <p:cNvSpPr/>
          <p:nvPr>
            <p:ph type="body" sz="quarter" idx="1"/>
          </p:nvPr>
        </p:nvSpPr>
        <p:spPr>
          <a:prstGeom prst="rect">
            <a:avLst/>
          </a:prstGeom>
        </p:spPr>
        <p:txBody>
          <a:bodyPr/>
          <a:lstStyle/>
          <a:p>
            <a:pPr>
              <a:defRPr sz="2500"/>
            </a:pPr>
            <a:r>
              <a:t>Explain: For L(w)=w squared, the derivative is 2w. At w=1 the derivative is positive two, and at w=-1 it is negative two. Subtracting a small multiple of either derivative moves the weight toward zero. The minimum of this particular loss is at zero. Neural-network losses involve many parameters and are usually more complicated, so this bowl is a teaching example rather than a complete picture of the optimization landscape.</a:t>
            </a:r>
          </a:p>
          <a:p>
            <a:pPr>
              <a:defRPr sz="2500"/>
            </a:pPr>
            <a:r>
              <a:t>Audience question: What is the derivative at the minimum? Answer: Zero. A zero derivative alone does not guarantee a minimum for every possible loss.</a:t>
            </a:r>
          </a:p>
          <a:p>
            <a:pPr>
              <a:defRPr sz="2500"/>
            </a:pPr>
            <a:r>
              <a:t>Transition: We now apply the same update idea to a tiny neural network.</a:t>
            </a:r>
          </a:p>
          <a:p>
            <a:pPr>
              <a:defRPr sz="2500"/>
            </a:pPr>
          </a:p>
          <a:p>
            <a:pPr>
              <a:defRPr sz="2500"/>
            </a:pPr>
            <a:r>
              <a:t>Reference details</a:t>
            </a:r>
          </a:p>
          <a:p>
            <a:pPr>
              <a:defRPr sz="2500"/>
            </a:pPr>
            <a:r>
              <a:t>Analytic chart of L(w)=w². Highlighted points are (−1,1) and (1,1). A zero gradient is not generally proof of a minimum.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Shape 438"/>
          <p:cNvSpPr/>
          <p:nvPr>
            <p:ph type="sldImg"/>
          </p:nvPr>
        </p:nvSpPr>
        <p:spPr>
          <a:prstGeom prst="rect">
            <a:avLst/>
          </a:prstGeom>
        </p:spPr>
        <p:txBody>
          <a:bodyPr/>
          <a:lstStyle/>
          <a:p>
            <a:pPr/>
          </a:p>
        </p:txBody>
      </p:sp>
      <p:sp>
        <p:nvSpPr>
          <p:cNvPr id="439" name="Shape 439"/>
          <p:cNvSpPr/>
          <p:nvPr>
            <p:ph type="body" sz="quarter" idx="1"/>
          </p:nvPr>
        </p:nvSpPr>
        <p:spPr>
          <a:prstGeom prst="rect">
            <a:avLst/>
          </a:prstGeom>
        </p:spPr>
        <p:txBody>
          <a:bodyPr/>
          <a:lstStyle/>
          <a:p>
            <a:pPr>
              <a:defRPr sz="2500"/>
            </a:pPr>
            <a:r>
              <a:t>Explain: Each case starts at the same point on L(w)=w squared, where the gradient is two. A learning rate of 0.1 gives w=0.8 and loss 0.64. A learning rate of 0.5 gives w=0 and reaches this simple minimum in one step. A learning rate of 1.1 gives w=-1.2 and loss 1.44, worse than the starting loss of one. The direction initially points downhill, but a large step can go too far.</a:t>
            </a:r>
          </a:p>
          <a:p>
            <a:pPr>
              <a:defRPr sz="2500"/>
            </a:pPr>
            <a:r>
              <a:t>Audience question: Does a larger learning rate always learn faster? Answer: No; it may overshoot and become unstable.</a:t>
            </a:r>
          </a:p>
          <a:p>
            <a:pPr>
              <a:defRPr sz="2500"/>
            </a:pPr>
            <a:r>
              <a:t>Transition: Repeating these updates reveals the longer-term behavior.</a:t>
            </a:r>
          </a:p>
          <a:p>
            <a:pPr>
              <a:defRPr sz="2500"/>
            </a:pPr>
          </a:p>
          <a:p>
            <a:pPr>
              <a:defRPr sz="2500"/>
            </a:pPr>
            <a:r>
              <a:t>Reference details</a:t>
            </a:r>
          </a:p>
          <a:p>
            <a:pPr>
              <a:defRPr sz="2500"/>
            </a:pPr>
            <a:r>
              <a:t>Analytic quadratic with derivative 2w. Colored segments connect successive iterates rather than tracing the loss surface between them. These learning-rate outcomes are specific to this example.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Shape 456"/>
          <p:cNvSpPr/>
          <p:nvPr>
            <p:ph type="sldImg"/>
          </p:nvPr>
        </p:nvSpPr>
        <p:spPr>
          <a:prstGeom prst="rect">
            <a:avLst/>
          </a:prstGeom>
        </p:spPr>
        <p:txBody>
          <a:bodyPr/>
          <a:lstStyle/>
          <a:p>
            <a:pPr/>
          </a:p>
        </p:txBody>
      </p:sp>
      <p:sp>
        <p:nvSpPr>
          <p:cNvPr id="457" name="Shape 457"/>
          <p:cNvSpPr/>
          <p:nvPr>
            <p:ph type="body" sz="quarter" idx="1"/>
          </p:nvPr>
        </p:nvSpPr>
        <p:spPr>
          <a:prstGeom prst="rect">
            <a:avLst/>
          </a:prstGeom>
        </p:spPr>
        <p:txBody>
          <a:bodyPr/>
          <a:lstStyle/>
          <a:p>
            <a:pPr/>
            <a:r>
              <a:t>Explain: Substituting the quadratic derivative into the update rule gives w at the next step equal to (1-2η) times the current w. Convergence from a nonzero start requires the magnitude of this multiplier to be less than one, which here gives 0&lt;η&lt;1. With η=0.1, the weight shrinks gradually. With η=0.5, it reaches zero immediately. With η=1.1, the multiplier is -1.2, so the sign alternates while the magnitude grows. This range applies to this exact loss, not to every neural network.</a:t>
            </a:r>
          </a:p>
          <a:p>
            <a:pPr/>
            <a:r>
              <a:t>Audience question: What happens at η=1? Answer: The weight alternates between 1 and -1 without approaching zero.</a:t>
            </a:r>
          </a:p>
          <a:p>
            <a:pPr/>
            <a:r>
              <a:t>Transition: Real training also combines information from multiple examples.</a:t>
            </a:r>
          </a:p>
          <a:p>
            <a:pPr/>
          </a:p>
          <a:p>
            <a:pPr/>
            <a:r>
              <a:t>Reference details</a:t>
            </a:r>
          </a:p>
          <a:p>
            <a:pPr/>
            <a:r>
              <a:t>Derived from the supplied gradient descent deck, slides 3 and 10. Exact data for steps 0,1,2,3: η=.1:[1,.8,.64,.512]; η=.5:[1,0,0,0]; η=1.1:[1,−1.2,1.44,−1.728]. The divergent path alternates sides and increases its distance from zero.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8" name="Shape 468"/>
          <p:cNvSpPr/>
          <p:nvPr>
            <p:ph type="sldImg"/>
          </p:nvPr>
        </p:nvSpPr>
        <p:spPr>
          <a:prstGeom prst="rect">
            <a:avLst/>
          </a:prstGeom>
        </p:spPr>
        <p:txBody>
          <a:bodyPr/>
          <a:lstStyle/>
          <a:p>
            <a:pPr/>
          </a:p>
        </p:txBody>
      </p:sp>
      <p:sp>
        <p:nvSpPr>
          <p:cNvPr id="469" name="Shape 469"/>
          <p:cNvSpPr/>
          <p:nvPr>
            <p:ph type="body" sz="quarter" idx="1"/>
          </p:nvPr>
        </p:nvSpPr>
        <p:spPr>
          <a:prstGeom prst="rect">
            <a:avLst/>
          </a:prstGeom>
        </p:spPr>
        <p:txBody>
          <a:bodyPr/>
          <a:lstStyle/>
          <a:p>
            <a:pPr>
              <a:defRPr sz="2500"/>
            </a:pPr>
            <a:r>
              <a:t>Backpropagation supplies gradients to every optimiser shown here. The optimiser defines the update rule.</a:t>
            </a:r>
          </a:p>
          <a:p>
            <a:pPr>
              <a:defRPr sz="2500"/>
            </a:pPr>
          </a:p>
          <a:p>
            <a:pPr>
              <a:defRPr sz="2500"/>
            </a:pPr>
            <a:r>
              <a:t>SGD means stochastic gradient descent. In mini-batch training, it subtracts the learning rate times the current batch gradient. It keeps no gradient history. Batch sampling introduces noise, and steep valleys can cause zigzagging. </a:t>
            </a:r>
          </a:p>
          <a:p>
            <a:pPr>
              <a:defRPr sz="2500"/>
            </a:pPr>
            <a:r>
              <a:t>Full-batch gradient descent uses the whole training set.</a:t>
            </a:r>
          </a:p>
          <a:p>
            <a:pPr>
              <a:defRPr sz="2500"/>
            </a:pPr>
          </a:p>
          <a:p>
            <a:pPr>
              <a:defRPr sz="2500"/>
            </a:pPr>
            <a:r>
              <a:t>Momentum adds a running direction from earlier gradients. It can accelerate consistent progress and reduce oscillation, but excessive momentum or learning rate can overshoot.</a:t>
            </a:r>
          </a:p>
          <a:p>
            <a:pPr>
              <a:defRPr sz="2500"/>
            </a:pPr>
          </a:p>
          <a:p>
            <a:pPr>
              <a:defRPr sz="2500"/>
            </a:pPr>
            <a:r>
              <a:t>RMSProp keeps an exponentially weighted average of squared gradients. Dividing by its square root, with a small stabilising constant, rescales each parameter's update.</a:t>
            </a:r>
          </a:p>
          <a:p>
            <a:pPr>
              <a:defRPr sz="2500"/>
            </a:pPr>
          </a:p>
          <a:p>
            <a:pPr>
              <a:defRPr sz="2500"/>
            </a:pPr>
            <a:r>
              <a:t>Adam combines an average of gradients with an average of squared gradients and corrects their initial bias. It uses direction history and adaptive scaling. It still needs learning-rate tuning.</a:t>
            </a:r>
          </a:p>
          <a:p>
            <a:pPr>
              <a:defRPr sz="2500"/>
            </a:pPr>
          </a:p>
          <a:p>
            <a:pPr>
              <a:defRPr sz="2500"/>
            </a:pPr>
            <a:r>
              <a:t>AdamW applies weight decay separately from Adam's adaptive gradient update. This separates regularisation from gradient scaling.</a:t>
            </a:r>
          </a:p>
          <a:p>
            <a:pPr>
              <a:defRPr sz="2500"/>
            </a:pPr>
          </a:p>
          <a:p>
            <a:pPr>
              <a:defRPr sz="2500"/>
            </a:pPr>
            <a:r>
              <a:t>Audience question: Which methods keep gradient history? Momentum, RMSProp and Adam. Plain SGD does not.</a:t>
            </a:r>
          </a:p>
          <a:p>
            <a:pPr>
              <a:defRPr sz="2500"/>
            </a:pPr>
          </a:p>
          <a:p>
            <a:pPr>
              <a:defRPr sz="2500"/>
            </a:pPr>
            <a:r>
              <a:t>Transition: Next, inspect what a gradient tells us, then work through a basic descent step.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Shape 486"/>
          <p:cNvSpPr/>
          <p:nvPr>
            <p:ph type="sldImg"/>
          </p:nvPr>
        </p:nvSpPr>
        <p:spPr>
          <a:prstGeom prst="rect">
            <a:avLst/>
          </a:prstGeom>
        </p:spPr>
        <p:txBody>
          <a:bodyPr/>
          <a:lstStyle/>
          <a:p>
            <a:pPr/>
          </a:p>
        </p:txBody>
      </p:sp>
      <p:sp>
        <p:nvSpPr>
          <p:cNvPr id="487" name="Shape 487"/>
          <p:cNvSpPr/>
          <p:nvPr>
            <p:ph type="body" sz="quarter" idx="1"/>
          </p:nvPr>
        </p:nvSpPr>
        <p:spPr>
          <a:prstGeom prst="rect">
            <a:avLst/>
          </a:prstGeom>
        </p:spPr>
        <p:txBody>
          <a:bodyPr/>
          <a:lstStyle>
            <a:lvl1pPr>
              <a:defRPr sz="2500"/>
            </a:lvl1pPr>
          </a:lstStyle>
          <a:p>
            <a:pPr/>
            <a:r>
              <a:t>Explain: Full-batch training computes a gradient using the whole training set for each update. Stochastic training uses one example per update. Mini-batch training uses a subset. With 1,000 training emails and batch size 100, one epoch contains ten updates when each email is used once. Smaller batches often provide noisier gradient estimates, while larger batches require more examples for each update. Batch size and learning rate are separate choices.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5" name="Shape 525"/>
          <p:cNvSpPr/>
          <p:nvPr>
            <p:ph type="sldImg"/>
          </p:nvPr>
        </p:nvSpPr>
        <p:spPr>
          <a:prstGeom prst="rect">
            <a:avLst/>
          </a:prstGeom>
        </p:spPr>
        <p:txBody>
          <a:bodyPr/>
          <a:lstStyle/>
          <a:p>
            <a:pPr/>
          </a:p>
        </p:txBody>
      </p:sp>
      <p:sp>
        <p:nvSpPr>
          <p:cNvPr id="526" name="Shape 526"/>
          <p:cNvSpPr/>
          <p:nvPr>
            <p:ph type="body" sz="quarter" idx="1"/>
          </p:nvPr>
        </p:nvSpPr>
        <p:spPr>
          <a:prstGeom prst="rect">
            <a:avLst/>
          </a:prstGeom>
        </p:spPr>
        <p:txBody>
          <a:bodyPr/>
          <a:lstStyle>
            <a:lvl1pPr>
              <a:defRPr sz="2500"/>
            </a:lvl1pPr>
          </a:lstStyle>
          <a:p>
            <a:pPr/>
            <a:r>
              <a:t>Explain: Each email supplies a gradient vector, with one entry for every parameter. For the mean batch loss, we average those vectors and take one update. Different examples may agree or disagree about how a weight should change. As an extra scalar example, gradients -0.6, +0.3, and -0.3 average to -0.2. At learning rate 0.1, that parameter increases by 0.02. This example illustrates averaging and is separate from the earlier four-parameter network.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4" name="Shape 554"/>
          <p:cNvSpPr/>
          <p:nvPr>
            <p:ph type="sldImg"/>
          </p:nvPr>
        </p:nvSpPr>
        <p:spPr>
          <a:prstGeom prst="rect">
            <a:avLst/>
          </a:prstGeom>
        </p:spPr>
        <p:txBody>
          <a:bodyPr/>
          <a:lstStyle/>
          <a:p>
            <a:pPr/>
          </a:p>
        </p:txBody>
      </p:sp>
      <p:sp>
        <p:nvSpPr>
          <p:cNvPr id="555" name="Shape 555"/>
          <p:cNvSpPr/>
          <p:nvPr>
            <p:ph type="body" sz="quarter" idx="1"/>
          </p:nvPr>
        </p:nvSpPr>
        <p:spPr>
          <a:prstGeom prst="rect">
            <a:avLst/>
          </a:prstGeom>
        </p:spPr>
        <p:txBody>
          <a:bodyPr/>
          <a:lstStyle>
            <a:lvl1pPr>
              <a:defRPr sz="2500"/>
            </a:lvl1pPr>
          </a:lstStyle>
          <a:p>
            <a:pPr/>
            <a:r>
              <a:t>Read the loop in order. First predict using the current parameters. Then compare the prediction with the label to compute the loss. Next, backpropagate to calculate gradients. Finally, let the optimizer update the parameters. The next pass uses these new parameter values. In common software, clear old accumulated gradients before computing a fresh batch unless gradient accumulation is intentional. If clipping is needed, it happens after the backward pass and before the optimizer step.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Shape 572"/>
          <p:cNvSpPr/>
          <p:nvPr>
            <p:ph type="sldImg"/>
          </p:nvPr>
        </p:nvSpPr>
        <p:spPr>
          <a:prstGeom prst="rect">
            <a:avLst/>
          </a:prstGeom>
        </p:spPr>
        <p:txBody>
          <a:bodyPr/>
          <a:lstStyle/>
          <a:p>
            <a:pPr/>
          </a:p>
        </p:txBody>
      </p:sp>
      <p:sp>
        <p:nvSpPr>
          <p:cNvPr id="573" name="Shape 573"/>
          <p:cNvSpPr/>
          <p:nvPr>
            <p:ph type="body" sz="quarter" idx="1"/>
          </p:nvPr>
        </p:nvSpPr>
        <p:spPr>
          <a:prstGeom prst="rect">
            <a:avLst/>
          </a:prstGeom>
        </p:spPr>
        <p:txBody>
          <a:bodyPr/>
          <a:lstStyle/>
          <a:p>
            <a:pPr>
              <a:defRPr sz="2500"/>
            </a:pPr>
            <a:r>
              <a:t>Explain: Along a scalar chain, the chain rule multiplies local derivatives. Each factor includes the effect of the relevant operation, such as a weight multiplication or an activation. If the repeated magnitudes are below one, the product can shrink. If they repeatedly exceed one, it can grow. In a full network we use Jacobian matrices and sum contributions across paths, but this scalar model isolates the basic mechanism.</a:t>
            </a:r>
          </a:p>
          <a:p>
            <a:pPr>
              <a:defRPr sz="2500"/>
            </a:pPr>
            <a:r>
              <a:t>Demonstrate: Begin with one and multiply by one-half several times. Then repeat with two. The contrast becomes larger as the chain gets longer.</a:t>
            </a:r>
          </a:p>
          <a:p>
            <a:pPr>
              <a:defRPr sz="2500"/>
            </a:pPr>
            <a:r>
              <a:t>Transition: We will first look at the shrinking case, which can make earlier layers learn very slowly.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8" name="Shape 588"/>
          <p:cNvSpPr/>
          <p:nvPr>
            <p:ph type="sldImg"/>
          </p:nvPr>
        </p:nvSpPr>
        <p:spPr>
          <a:prstGeom prst="rect">
            <a:avLst/>
          </a:prstGeom>
        </p:spPr>
        <p:txBody>
          <a:bodyPr/>
          <a:lstStyle/>
          <a:p>
            <a:pPr/>
          </a:p>
        </p:txBody>
      </p:sp>
      <p:sp>
        <p:nvSpPr>
          <p:cNvPr id="589" name="Shape 589"/>
          <p:cNvSpPr/>
          <p:nvPr>
            <p:ph type="body" sz="quarter" idx="1"/>
          </p:nvPr>
        </p:nvSpPr>
        <p:spPr>
          <a:prstGeom prst="rect">
            <a:avLst/>
          </a:prstGeom>
        </p:spPr>
        <p:txBody>
          <a:bodyPr/>
          <a:lstStyle>
            <a:lvl1pPr>
              <a:defRPr sz="2500"/>
            </a:lvl1pPr>
          </a:lstStyle>
          <a:p>
            <a:pPr/>
            <a:r>
              <a:t>The horizontal axis counts backward steps away from the output, not training epochs. Start with a gradient magnitude of one and multiply by 0.5 at each step. After six steps the magnitude is 0.015625, only one sixty-fourth of its original size. For plain gradient descent with learning rate 0.1, a parameter gradient of that size produces an update magnitude of 0.0015625. Very small early-layer gradients may slow learning even when later layers continue changing.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4" name="Shape 604"/>
          <p:cNvSpPr/>
          <p:nvPr>
            <p:ph type="sldImg"/>
          </p:nvPr>
        </p:nvSpPr>
        <p:spPr>
          <a:prstGeom prst="rect">
            <a:avLst/>
          </a:prstGeom>
        </p:spPr>
        <p:txBody>
          <a:bodyPr/>
          <a:lstStyle/>
          <a:p>
            <a:pPr/>
          </a:p>
        </p:txBody>
      </p:sp>
      <p:sp>
        <p:nvSpPr>
          <p:cNvPr id="605" name="Shape 605"/>
          <p:cNvSpPr/>
          <p:nvPr>
            <p:ph type="body" sz="quarter" idx="1"/>
          </p:nvPr>
        </p:nvSpPr>
        <p:spPr>
          <a:prstGeom prst="rect">
            <a:avLst/>
          </a:prstGeom>
        </p:spPr>
        <p:txBody>
          <a:bodyPr/>
          <a:lstStyle>
            <a:lvl1pPr>
              <a:defRPr sz="2500"/>
            </a:lvl1pPr>
          </a:lstStyle>
          <a:p>
            <a:pPr/>
            <a:r>
              <a:t>Explain: The sigmoid curve flattens when its input is strongly positive or negative. Backpropagation multiplies by the slope, so a nearly flat hidden activation passes back a much smaller gradient. Point to the centre of this derivative chart, where z=0 and the derivative is 0.25. At z=5 it is only about 0.0066. If weight factors are 1, multiplying six hidden sigmoid derivatives no larger than 0.25 gives at most 0.25^6, or 0.000244. Actual networks also multiply weights and sum over paths, so this is an illustration rather than a universal bound on the network gradient.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0" name="Shape 620"/>
          <p:cNvSpPr/>
          <p:nvPr>
            <p:ph type="sldImg"/>
          </p:nvPr>
        </p:nvSpPr>
        <p:spPr>
          <a:prstGeom prst="rect">
            <a:avLst/>
          </a:prstGeom>
        </p:spPr>
        <p:txBody>
          <a:bodyPr/>
          <a:lstStyle/>
          <a:p>
            <a:pPr/>
          </a:p>
        </p:txBody>
      </p:sp>
      <p:sp>
        <p:nvSpPr>
          <p:cNvPr id="621" name="Shape 621"/>
          <p:cNvSpPr/>
          <p:nvPr>
            <p:ph type="body" sz="quarter" idx="1"/>
          </p:nvPr>
        </p:nvSpPr>
        <p:spPr>
          <a:prstGeom prst="rect">
            <a:avLst/>
          </a:prstGeom>
        </p:spPr>
        <p:txBody>
          <a:bodyPr/>
          <a:lstStyle>
            <a:lvl1pPr>
              <a:defRPr sz="2500"/>
            </a:lvl1pPr>
          </a:lstStyle>
          <a:p>
            <a:pPr/>
            <a:r>
              <a:t>This graph uses the same backward-depth interpretation, but every local factor is now two. Starting from one, the magnitude becomes sixty-four after six steps. With plain gradient descent and learning rate 0.1, a scalar gradient of sixty-four changes the parameter by magnitude 6.4. This can send the model into a region with much higher loss. Very large values may also cause numerical overflow. The plot is calculated teaching data, not a measured training run.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9" name="Shape 639"/>
          <p:cNvSpPr/>
          <p:nvPr>
            <p:ph type="sldImg"/>
          </p:nvPr>
        </p:nvSpPr>
        <p:spPr>
          <a:prstGeom prst="rect">
            <a:avLst/>
          </a:prstGeom>
        </p:spPr>
        <p:txBody>
          <a:bodyPr/>
          <a:lstStyle/>
          <a:p>
            <a:pPr/>
          </a:p>
        </p:txBody>
      </p:sp>
      <p:sp>
        <p:nvSpPr>
          <p:cNvPr id="640" name="Shape 640"/>
          <p:cNvSpPr/>
          <p:nvPr>
            <p:ph type="body" sz="quarter" idx="1"/>
          </p:nvPr>
        </p:nvSpPr>
        <p:spPr>
          <a:prstGeom prst="rect">
            <a:avLst/>
          </a:prstGeom>
        </p:spPr>
        <p:txBody>
          <a:bodyPr/>
          <a:lstStyle/>
          <a:p>
            <a:pPr>
              <a:defRPr sz="2500"/>
            </a:pPr>
            <a:r>
              <a:t>Explain: For vanishing gradients, consider whether hidden activations are saturated and whether the initial weight scale suits the activation. ReLU has derivative one for positive inputs, though inactive units still have zero derivative. He initialization is designed for rectifiers, while Xavier initialization is a common choice for tanh. Residual connections provide another path for the backward signal. For large gradients, clipping can control their magnitude, while a smaller learning rate reduces the size of a plain gradient-descent step.</a:t>
            </a:r>
          </a:p>
          <a:p>
            <a:pPr>
              <a:defRPr sz="2500"/>
            </a:pPr>
            <a:r>
              <a:t>Emphasize: No single technique guarantees stable training. Monitor the loss and the gradients together, and avoid diagnosing the cause from one loss spike.</a:t>
            </a:r>
          </a:p>
          <a:p>
            <a:pPr>
              <a:defRPr sz="2500"/>
            </a:pPr>
            <a:r>
              <a:t>Transition: Let us look more closely at the additional path created by a residual connection.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Shape 652"/>
          <p:cNvSpPr/>
          <p:nvPr>
            <p:ph type="sldImg"/>
          </p:nvPr>
        </p:nvSpPr>
        <p:spPr>
          <a:prstGeom prst="rect">
            <a:avLst/>
          </a:prstGeom>
        </p:spPr>
        <p:txBody>
          <a:bodyPr/>
          <a:lstStyle/>
          <a:p>
            <a:pPr/>
          </a:p>
        </p:txBody>
      </p:sp>
      <p:sp>
        <p:nvSpPr>
          <p:cNvPr id="653" name="Shape 653"/>
          <p:cNvSpPr/>
          <p:nvPr>
            <p:ph type="body" sz="quarter" idx="1"/>
          </p:nvPr>
        </p:nvSpPr>
        <p:spPr>
          <a:prstGeom prst="rect">
            <a:avLst/>
          </a:prstGeom>
        </p:spPr>
        <p:txBody>
          <a:bodyPr/>
          <a:lstStyle/>
          <a:p>
            <a:pPr>
              <a:defRPr sz="2500"/>
            </a:pPr>
            <a:r>
              <a:t>This table is a starting point for investigation, not an automatic diagnosis. A small gradient may be appropriate near convergence, but very small early-layer gradients with stalled training can suggest poor signal flow. Check activations and initialization in that case. Very large gradients alongside loss spikes suggest checking the update size and considering clipping. If training loss improves while validation loss worsens, the problem may be overfitting rather than gradient propagation. Validation data should guide these decisions, while the test set remains reserved for the final evaluation.</a:t>
            </a:r>
          </a:p>
          <a:p>
            <a:pPr>
              <a:defRPr sz="2500"/>
            </a:pPr>
            <a:r>
              <a:t>Demonstrate: Compare gradient norms by layer and across successive batches. For layers with very different parameter counts, include a per-parameter scale such as the root-mean-square gradient, since raw norms depend on the number of parameters.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8" name="Shape 668"/>
          <p:cNvSpPr/>
          <p:nvPr>
            <p:ph type="sldImg"/>
          </p:nvPr>
        </p:nvSpPr>
        <p:spPr>
          <a:prstGeom prst="rect">
            <a:avLst/>
          </a:prstGeom>
        </p:spPr>
        <p:txBody>
          <a:bodyPr/>
          <a:lstStyle/>
          <a:p>
            <a:pPr/>
          </a:p>
        </p:txBody>
      </p:sp>
      <p:sp>
        <p:nvSpPr>
          <p:cNvPr id="669" name="Shape 669"/>
          <p:cNvSpPr/>
          <p:nvPr>
            <p:ph type="body" sz="quarter" idx="1"/>
          </p:nvPr>
        </p:nvSpPr>
        <p:spPr>
          <a:prstGeom prst="rect">
            <a:avLst/>
          </a:prstGeom>
        </p:spPr>
        <p:txBody>
          <a:bodyPr/>
          <a:lstStyle/>
          <a:p>
            <a:pPr>
              <a:defRPr sz="2500"/>
            </a:pPr>
            <a:r>
              <a:t>Explain: These curves are illustrative. Training loss keeps falling, but validation loss reaches its lowest shown value at epoch five and then rises. That divergence suggests the model is fitting the training data more closely without improving on unseen examples. Early stopping can save a checkpoint with good validation performance. In practice, allow for noise and use a suitable patience rule rather than assuming one upward point settles the decision. Use validation data for tuning and a separate test set for the final evaluation.</a:t>
            </a:r>
          </a:p>
          <a:p>
            <a:pPr>
              <a:defRPr sz="2500"/>
            </a:pPr>
            <a:r>
              <a:t>Audience question: Which checkpoint looks best on the validation values shown? Answer: Epoch five.</a:t>
            </a:r>
          </a:p>
          <a:p>
            <a:pPr>
              <a:defRPr sz="2500"/>
            </a:pPr>
            <a:r>
              <a:t>Transition: We will finish by checking the update calculations ourselves.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7" name="Shape 697"/>
          <p:cNvSpPr/>
          <p:nvPr>
            <p:ph type="sldImg"/>
          </p:nvPr>
        </p:nvSpPr>
        <p:spPr>
          <a:prstGeom prst="rect">
            <a:avLst/>
          </a:prstGeom>
        </p:spPr>
        <p:txBody>
          <a:bodyPr/>
          <a:lstStyle/>
          <a:p>
            <a:pPr/>
          </a:p>
        </p:txBody>
      </p:sp>
      <p:sp>
        <p:nvSpPr>
          <p:cNvPr id="698" name="Shape 698"/>
          <p:cNvSpPr/>
          <p:nvPr>
            <p:ph type="body" sz="quarter" idx="1"/>
          </p:nvPr>
        </p:nvSpPr>
        <p:spPr>
          <a:prstGeom prst="rect">
            <a:avLst/>
          </a:prstGeom>
        </p:spPr>
        <p:txBody>
          <a:bodyPr/>
          <a:lstStyle/>
          <a:p>
            <a:pPr>
              <a:defRPr sz="2500"/>
            </a:pPr>
            <a:r>
              <a:t>Closing explanation: We have connected the complete learning cycle. A forward pass produces a probability. The loss compares it with the true label. Backpropagation applies the chain rule to calculate parameter gradients. Gradient descent uses those gradients and a learning rate to update the parameters. </a:t>
            </a:r>
          </a:p>
          <a:p>
            <a:pPr>
              <a:defRPr sz="2500"/>
            </a:pPr>
          </a:p>
          <a:p>
            <a:pPr>
              <a:defRPr sz="2500"/>
            </a:pPr>
            <a:r>
              <a:t>In deep networks, repeated derivative products can vanish or explode. Initialization, activation choice, residual paths, and clipping address different parts of that problem. Validation checks whether learning also helps on unseen examples.</a:t>
            </a:r>
          </a:p>
          <a:p>
            <a:pPr>
              <a:defRPr sz="2500"/>
            </a:pPr>
          </a:p>
          <a:p>
            <a:pPr>
              <a:defRPr sz="2500"/>
            </a:pPr>
            <a:r>
              <a:t>Final audience check: Can you explain the difference between backpropagation and gradient descent, and name one observation that would prompt you to inspect the gradients?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97" name="Title Text"/>
          <p:cNvSpPr txBox="1"/>
          <p:nvPr>
            <p:ph type="title"/>
          </p:nvPr>
        </p:nvSpPr>
        <p:spPr>
          <a:prstGeom prst="rect">
            <a:avLst/>
          </a:prstGeom>
        </p:spPr>
        <p:txBody>
          <a:bodyPr/>
          <a:lstStyle/>
          <a:p>
            <a:pPr/>
            <a:r>
              <a:t>Title Text</a:t>
            </a:r>
          </a:p>
        </p:txBody>
      </p:sp>
      <p:sp>
        <p:nvSpPr>
          <p:cNvPr id="98"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3" name="Title Text"/>
          <p:cNvSpPr txBox="1"/>
          <p:nvPr>
            <p:ph type="title"/>
          </p:nvPr>
        </p:nvSpPr>
        <p:spPr>
          <a:prstGeom prst="rect">
            <a:avLst/>
          </a:prstGeom>
        </p:spPr>
        <p:txBody>
          <a:bodyPr/>
          <a:lstStyle/>
          <a:p>
            <a:pPr/>
            <a:r>
              <a:t>Title Text</a:t>
            </a:r>
          </a:p>
        </p:txBody>
      </p:sp>
      <p:sp>
        <p:nvSpPr>
          <p:cNvPr id="114"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chart" Target="../charts/chart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chart" Target="../charts/chart9.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chart" Target="../charts/chart10.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chart" Target="../charts/chart1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pic>
        <p:nvPicPr>
          <p:cNvPr id="180" name="Image 13" descr="Image 13"/>
          <p:cNvPicPr>
            <a:picLocks noChangeAspect="1"/>
          </p:cNvPicPr>
          <p:nvPr/>
        </p:nvPicPr>
        <p:blipFill>
          <a:blip r:embed="rId3">
            <a:extLst/>
          </a:blip>
          <a:stretch>
            <a:fillRect/>
          </a:stretch>
        </p:blipFill>
        <p:spPr>
          <a:xfrm>
            <a:off x="6267450" y="666750"/>
            <a:ext cx="5476875" cy="5476875"/>
          </a:xfrm>
          <a:prstGeom prst="rect">
            <a:avLst/>
          </a:prstGeom>
          <a:ln w="12700">
            <a:miter lim="400000"/>
          </a:ln>
        </p:spPr>
      </p:pic>
      <p:sp>
        <p:nvSpPr>
          <p:cNvPr id="181" name="Rectangle 4"/>
          <p:cNvSpPr txBox="1"/>
          <p:nvPr/>
        </p:nvSpPr>
        <p:spPr>
          <a:xfrm>
            <a:off x="685800" y="1866900"/>
            <a:ext cx="4953000" cy="1524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nSpc>
                <a:spcPct val="92000"/>
              </a:lnSpc>
              <a:defRPr b="1" sz="3800">
                <a:solidFill>
                  <a:srgbClr val="272729"/>
                </a:solidFill>
                <a:latin typeface="Chalkboard"/>
                <a:ea typeface="Chalkboard"/>
                <a:cs typeface="Chalkboard"/>
                <a:sym typeface="Chalkboard"/>
              </a:defRPr>
            </a:pPr>
            <a:r>
              <a:t>Gradient Descent</a:t>
            </a:r>
          </a:p>
          <a:p>
            <a:pPr>
              <a:lnSpc>
                <a:spcPct val="92000"/>
              </a:lnSpc>
              <a:defRPr b="1" sz="3800">
                <a:solidFill>
                  <a:srgbClr val="272729"/>
                </a:solidFill>
                <a:latin typeface="Chalkboard"/>
                <a:ea typeface="Chalkboard"/>
                <a:cs typeface="Chalkboard"/>
                <a:sym typeface="Chalkboard"/>
              </a:defRPr>
            </a:pPr>
            <a:r>
              <a:t>&amp; Backpropagation</a:t>
            </a:r>
          </a:p>
        </p:txBody>
      </p:sp>
      <p:sp>
        <p:nvSpPr>
          <p:cNvPr id="182" name="Rectangle 5"/>
          <p:cNvSpPr txBox="1"/>
          <p:nvPr/>
        </p:nvSpPr>
        <p:spPr>
          <a:xfrm>
            <a:off x="695325" y="3810000"/>
            <a:ext cx="4953000"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a:solidFill>
                  <a:srgbClr val="272729"/>
                </a:solidFill>
                <a:latin typeface="Arial"/>
                <a:ea typeface="Arial"/>
                <a:cs typeface="Arial"/>
                <a:sym typeface="Arial"/>
              </a:defRPr>
            </a:lvl1pPr>
          </a:lstStyle>
          <a:p>
            <a:pPr/>
            <a:r>
              <a:t>How neural networks learn from error</a:t>
            </a:r>
          </a:p>
        </p:txBody>
      </p:sp>
      <p:sp>
        <p:nvSpPr>
          <p:cNvPr id="183" name="cover-surface"/>
          <p:cNvSpPr/>
          <p:nvPr/>
        </p:nvSpPr>
        <p:spPr>
          <a:xfrm>
            <a:off x="209550" y="209550"/>
            <a:ext cx="11772900" cy="6438900"/>
          </a:xfrm>
          <a:prstGeom prst="roundRect">
            <a:avLst>
              <a:gd name="adj" fmla="val 2959"/>
            </a:avLst>
          </a:prstGeom>
          <a:ln>
            <a:solidFill>
              <a:srgbClr val="D8D2C8"/>
            </a:solidFill>
          </a:ln>
        </p:spPr>
        <p:txBody>
          <a:bodyPr lIns="45719" rIns="45719"/>
          <a:lstStyle/>
          <a:p>
            <a:pPr/>
          </a:p>
        </p:txBody>
      </p:sp>
      <p:sp>
        <p:nvSpPr>
          <p:cNvPr id="184" name="Connecteur droit 10"/>
          <p:cNvSpPr/>
          <p:nvPr/>
        </p:nvSpPr>
        <p:spPr>
          <a:xfrm>
            <a:off x="695325" y="3590925"/>
            <a:ext cx="3905250" cy="0"/>
          </a:xfrm>
          <a:prstGeom prst="line">
            <a:avLst/>
          </a:prstGeom>
          <a:ln w="11906">
            <a:solidFill>
              <a:srgbClr val="8E6F51"/>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8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18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190"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191"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192" name="Image 13" descr="Image 13"/>
          <p:cNvPicPr>
            <a:picLocks noChangeAspect="1"/>
          </p:cNvPicPr>
          <p:nvPr/>
        </p:nvPicPr>
        <p:blipFill>
          <a:blip r:embed="rId3">
            <a:extLst/>
          </a:blip>
          <a:stretch>
            <a:fillRect/>
          </a:stretch>
        </p:blipFill>
        <p:spPr>
          <a:xfrm>
            <a:off x="1579646" y="1752600"/>
            <a:ext cx="5630780" cy="3764280"/>
          </a:xfrm>
          <a:prstGeom prst="rect">
            <a:avLst/>
          </a:prstGeom>
          <a:ln w="12700">
            <a:miter lim="400000"/>
          </a:ln>
        </p:spPr>
      </p:pic>
      <p:sp>
        <p:nvSpPr>
          <p:cNvPr id="193" name="Rectangle 5"/>
          <p:cNvSpPr txBox="1"/>
          <p:nvPr/>
        </p:nvSpPr>
        <p:spPr>
          <a:xfrm>
            <a:off x="8523972" y="2150745"/>
            <a:ext cx="2435193" cy="51953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287B95"/>
                </a:solidFill>
                <a:latin typeface="Chalkboard"/>
                <a:ea typeface="Chalkboard"/>
                <a:cs typeface="Chalkboard"/>
                <a:sym typeface="Chalkboard"/>
              </a:defRPr>
            </a:lvl1pPr>
          </a:lstStyle>
          <a:p>
            <a:pPr/>
            <a:r>
              <a:t>Weights</a:t>
            </a:r>
          </a:p>
        </p:txBody>
      </p:sp>
      <p:sp>
        <p:nvSpPr>
          <p:cNvPr id="194" name="Rectangle 6"/>
          <p:cNvSpPr txBox="1"/>
          <p:nvPr/>
        </p:nvSpPr>
        <p:spPr>
          <a:xfrm>
            <a:off x="8523972" y="2666524"/>
            <a:ext cx="2615666"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Scale the influence</a:t>
            </a:r>
          </a:p>
          <a:p>
            <a:pPr>
              <a:defRPr sz="1700">
                <a:solidFill>
                  <a:srgbClr val="272729"/>
                </a:solidFill>
                <a:latin typeface="Arial"/>
                <a:ea typeface="Arial"/>
                <a:cs typeface="Arial"/>
                <a:sym typeface="Arial"/>
              </a:defRPr>
            </a:pPr>
            <a:r>
              <a:t>of each input.</a:t>
            </a:r>
          </a:p>
        </p:txBody>
      </p:sp>
      <p:sp>
        <p:nvSpPr>
          <p:cNvPr id="195" name="Rectangle 7"/>
          <p:cNvSpPr txBox="1"/>
          <p:nvPr/>
        </p:nvSpPr>
        <p:spPr>
          <a:xfrm>
            <a:off x="8523972" y="3815715"/>
            <a:ext cx="2435193" cy="51953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A45F57"/>
                </a:solidFill>
                <a:latin typeface="Chalkboard"/>
                <a:ea typeface="Chalkboard"/>
                <a:cs typeface="Chalkboard"/>
                <a:sym typeface="Chalkboard"/>
              </a:defRPr>
            </a:lvl1pPr>
          </a:lstStyle>
          <a:p>
            <a:pPr/>
            <a:r>
              <a:t>Biases</a:t>
            </a:r>
          </a:p>
        </p:txBody>
      </p:sp>
      <p:sp>
        <p:nvSpPr>
          <p:cNvPr id="196" name="Rectangle 8"/>
          <p:cNvSpPr txBox="1"/>
          <p:nvPr/>
        </p:nvSpPr>
        <p:spPr>
          <a:xfrm>
            <a:off x="8523972" y="4313396"/>
            <a:ext cx="2615666"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Shift each neuron’s</a:t>
            </a:r>
          </a:p>
          <a:p>
            <a:pPr>
              <a:defRPr sz="1700">
                <a:solidFill>
                  <a:srgbClr val="272729"/>
                </a:solidFill>
                <a:latin typeface="Arial"/>
                <a:ea typeface="Arial"/>
                <a:cs typeface="Arial"/>
                <a:sym typeface="Arial"/>
              </a:defRPr>
            </a:pPr>
            <a:r>
              <a:t>weighted sum.</a:t>
            </a:r>
          </a:p>
        </p:txBody>
      </p:sp>
      <p:sp>
        <p:nvSpPr>
          <p:cNvPr id="197"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the network and its parameters</a:t>
            </a:r>
          </a:p>
        </p:txBody>
      </p:sp>
      <p:sp>
        <p:nvSpPr>
          <p:cNvPr id="198"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earlier spam example used a multilayer perceptron (MLP).</a:t>
            </a:r>
          </a:p>
        </p:txBody>
      </p:sp>
      <p:sp>
        <p:nvSpPr>
          <p:cNvPr id="199"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20 weights + 6 biases = 26 trainable parameters. Input nodes have no bias.</a:t>
            </a:r>
          </a:p>
        </p:txBody>
      </p:sp>
      <p:sp>
        <p:nvSpPr>
          <p:cNvPr id="200"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01</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04"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05"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06"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07"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208" name="Image 13" descr="Image 13"/>
          <p:cNvPicPr>
            <a:picLocks noChangeAspect="1"/>
          </p:cNvPicPr>
          <p:nvPr/>
        </p:nvPicPr>
        <p:blipFill>
          <a:blip r:embed="rId3">
            <a:extLst/>
          </a:blip>
          <a:stretch>
            <a:fillRect/>
          </a:stretch>
        </p:blipFill>
        <p:spPr>
          <a:xfrm>
            <a:off x="1866147" y="1752600"/>
            <a:ext cx="4886328" cy="3266600"/>
          </a:xfrm>
          <a:prstGeom prst="rect">
            <a:avLst/>
          </a:prstGeom>
          <a:ln w="12700">
            <a:miter lim="400000"/>
          </a:ln>
        </p:spPr>
      </p:pic>
      <p:sp>
        <p:nvSpPr>
          <p:cNvPr id="209" name="Rectangle 5"/>
          <p:cNvSpPr txBox="1"/>
          <p:nvPr/>
        </p:nvSpPr>
        <p:spPr>
          <a:xfrm>
            <a:off x="8117906" y="2168842"/>
            <a:ext cx="2976614" cy="5310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200">
                <a:solidFill>
                  <a:srgbClr val="287B95"/>
                </a:solidFill>
                <a:latin typeface="Chalkboard"/>
                <a:ea typeface="Chalkboard"/>
                <a:cs typeface="Chalkboard"/>
                <a:sym typeface="Chalkboard"/>
              </a:defRPr>
            </a:pPr>
            <a:r>
              <a:t>z = Σ w</a:t>
            </a:r>
            <a:r>
              <a:rPr>
                <a:latin typeface="Arial"/>
                <a:ea typeface="Arial"/>
                <a:cs typeface="Arial"/>
                <a:sym typeface="Arial"/>
              </a:rPr>
              <a:t>ᵢ</a:t>
            </a:r>
            <a:r>
              <a:t>x</a:t>
            </a:r>
            <a:r>
              <a:rPr>
                <a:latin typeface="Arial"/>
                <a:ea typeface="Arial"/>
                <a:cs typeface="Arial"/>
                <a:sym typeface="Arial"/>
              </a:rPr>
              <a:t>ᵢ </a:t>
            </a:r>
            <a:r>
              <a:t>+ b</a:t>
            </a:r>
          </a:p>
        </p:txBody>
      </p:sp>
      <p:sp>
        <p:nvSpPr>
          <p:cNvPr id="210" name="Rectangle 6"/>
          <p:cNvSpPr txBox="1"/>
          <p:nvPr/>
        </p:nvSpPr>
        <p:spPr>
          <a:xfrm>
            <a:off x="8117906" y="3019425"/>
            <a:ext cx="2886377" cy="54476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300">
                <a:solidFill>
                  <a:srgbClr val="A45F57"/>
                </a:solidFill>
                <a:latin typeface="Chalkboard"/>
                <a:ea typeface="Chalkboard"/>
                <a:cs typeface="Chalkboard"/>
                <a:sym typeface="Chalkboard"/>
              </a:defRPr>
            </a:lvl1pPr>
          </a:lstStyle>
          <a:p>
            <a:pPr/>
            <a:r>
              <a:t>a = f(z)</a:t>
            </a:r>
          </a:p>
        </p:txBody>
      </p:sp>
      <p:sp>
        <p:nvSpPr>
          <p:cNvPr id="211" name="Rectangle 7"/>
          <p:cNvSpPr txBox="1"/>
          <p:nvPr/>
        </p:nvSpPr>
        <p:spPr>
          <a:xfrm>
            <a:off x="8117906" y="3888104"/>
            <a:ext cx="3066850"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ReLU: max(0, z)</a:t>
            </a:r>
          </a:p>
          <a:p>
            <a:pPr>
              <a:defRPr sz="1700">
                <a:solidFill>
                  <a:srgbClr val="272729"/>
                </a:solidFill>
                <a:latin typeface="Arial"/>
                <a:ea typeface="Arial"/>
                <a:cs typeface="Arial"/>
                <a:sym typeface="Arial"/>
              </a:defRPr>
            </a:pPr>
          </a:p>
          <a:p>
            <a:pPr>
              <a:defRPr sz="1700">
                <a:solidFill>
                  <a:srgbClr val="272729"/>
                </a:solidFill>
                <a:latin typeface="Arial"/>
                <a:ea typeface="Arial"/>
                <a:cs typeface="Arial"/>
                <a:sym typeface="Arial"/>
              </a:defRPr>
            </a:pPr>
            <a:r>
              <a:t>Sigmoid: 1 / (1 + e⁻ᶻ)</a:t>
            </a:r>
          </a:p>
        </p:txBody>
      </p:sp>
      <p:sp>
        <p:nvSpPr>
          <p:cNvPr id="212" name="Rectangle 8"/>
          <p:cNvSpPr txBox="1"/>
          <p:nvPr/>
        </p:nvSpPr>
        <p:spPr>
          <a:xfrm>
            <a:off x="926030" y="5154929"/>
            <a:ext cx="6766561"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87B95"/>
                </a:solidFill>
                <a:latin typeface="Arial"/>
                <a:ea typeface="Arial"/>
                <a:cs typeface="Arial"/>
                <a:sym typeface="Arial"/>
              </a:defRPr>
            </a:lvl1pPr>
          </a:lstStyle>
          <a:p>
            <a:pPr/>
            <a:r>
              <a:t>Hidden layers use ReLU. The binary output uses sigmoid.</a:t>
            </a:r>
          </a:p>
        </p:txBody>
      </p:sp>
      <p:sp>
        <p:nvSpPr>
          <p:cNvPr id="21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the calculation inside a neuron</a:t>
            </a:r>
          </a:p>
        </p:txBody>
      </p:sp>
      <p:sp>
        <p:nvSpPr>
          <p:cNvPr id="21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Each neuron combines its inputs, adds a bias, and applies an activation.</a:t>
            </a:r>
          </a:p>
        </p:txBody>
      </p:sp>
      <p:sp>
        <p:nvSpPr>
          <p:cNvPr id="215"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Example from the earlier deck: z = 2.6 − 0.5 = 2.1, so ReLU(z) = 2.1.</a:t>
            </a:r>
          </a:p>
        </p:txBody>
      </p:sp>
      <p:sp>
        <p:nvSpPr>
          <p:cNvPr id="21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02</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2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2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2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23"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224" name="Image 13" descr="Image 13"/>
          <p:cNvPicPr>
            <a:picLocks noChangeAspect="1"/>
          </p:cNvPicPr>
          <p:nvPr/>
        </p:nvPicPr>
        <p:blipFill>
          <a:blip r:embed="rId3">
            <a:extLst/>
          </a:blip>
          <a:stretch>
            <a:fillRect/>
          </a:stretch>
        </p:blipFill>
        <p:spPr>
          <a:xfrm>
            <a:off x="1439778" y="1752600"/>
            <a:ext cx="8933448" cy="2986087"/>
          </a:xfrm>
          <a:prstGeom prst="rect">
            <a:avLst/>
          </a:prstGeom>
          <a:ln w="12700">
            <a:miter lim="400000"/>
          </a:ln>
        </p:spPr>
      </p:pic>
      <p:sp>
        <p:nvSpPr>
          <p:cNvPr id="225" name="Rectangle 5"/>
          <p:cNvSpPr txBox="1"/>
          <p:nvPr/>
        </p:nvSpPr>
        <p:spPr>
          <a:xfrm>
            <a:off x="1034314" y="4802028"/>
            <a:ext cx="2435194"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Prediction</a:t>
            </a:r>
          </a:p>
        </p:txBody>
      </p:sp>
      <p:sp>
        <p:nvSpPr>
          <p:cNvPr id="226" name="Rectangle 6"/>
          <p:cNvSpPr txBox="1"/>
          <p:nvPr/>
        </p:nvSpPr>
        <p:spPr>
          <a:xfrm>
            <a:off x="1034314" y="5218271"/>
            <a:ext cx="4645995"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Use the current weights and biases.</a:t>
            </a:r>
          </a:p>
        </p:txBody>
      </p:sp>
      <p:sp>
        <p:nvSpPr>
          <p:cNvPr id="227" name="Rectangle 7"/>
          <p:cNvSpPr txBox="1"/>
          <p:nvPr/>
        </p:nvSpPr>
        <p:spPr>
          <a:xfrm>
            <a:off x="6367312" y="4802028"/>
            <a:ext cx="2615666"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A45F57"/>
                </a:solidFill>
                <a:latin typeface="Chalkboard"/>
                <a:ea typeface="Chalkboard"/>
                <a:cs typeface="Chalkboard"/>
                <a:sym typeface="Chalkboard"/>
              </a:defRPr>
            </a:lvl1pPr>
          </a:lstStyle>
          <a:p>
            <a:pPr/>
            <a:r>
              <a:t>Training</a:t>
            </a:r>
          </a:p>
        </p:txBody>
      </p:sp>
      <p:sp>
        <p:nvSpPr>
          <p:cNvPr id="228" name="Rectangle 8"/>
          <p:cNvSpPr txBox="1"/>
          <p:nvPr/>
        </p:nvSpPr>
        <p:spPr>
          <a:xfrm>
            <a:off x="6367312" y="5218271"/>
            <a:ext cx="460087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Compare with y = 1, then update parameters.</a:t>
            </a:r>
          </a:p>
        </p:txBody>
      </p:sp>
      <p:sp>
        <p:nvSpPr>
          <p:cNvPr id="22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prediction, decision, and learning</a:t>
            </a:r>
          </a:p>
        </p:txBody>
      </p:sp>
      <p:sp>
        <p:nvSpPr>
          <p:cNvPr id="23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same email representation supports prediction and training.</a:t>
            </a:r>
          </a:p>
        </p:txBody>
      </p:sp>
      <p:sp>
        <p:nvSpPr>
          <p:cNvPr id="231"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smaller training example starts at ŷ = 0.6225. It uses different illustrative parameters.</a:t>
            </a:r>
          </a:p>
        </p:txBody>
      </p:sp>
      <p:sp>
        <p:nvSpPr>
          <p:cNvPr id="23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03</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3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3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3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39"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240" name="recap-step-1"/>
          <p:cNvSpPr/>
          <p:nvPr/>
        </p:nvSpPr>
        <p:spPr>
          <a:xfrm>
            <a:off x="916405" y="2304574"/>
            <a:ext cx="2219826" cy="1610679"/>
          </a:xfrm>
          <a:prstGeom prst="roundRect">
            <a:avLst>
              <a:gd name="adj" fmla="val 11236"/>
            </a:avLst>
          </a:prstGeom>
          <a:solidFill>
            <a:srgbClr val="EAF3FA"/>
          </a:solidFill>
          <a:ln w="15240">
            <a:solidFill>
              <a:srgbClr val="345C83"/>
            </a:solidFill>
          </a:ln>
        </p:spPr>
        <p:txBody>
          <a:bodyPr lIns="45719" rIns="45719"/>
          <a:lstStyle/>
          <a:p>
            <a:pPr/>
          </a:p>
        </p:txBody>
      </p:sp>
      <p:sp>
        <p:nvSpPr>
          <p:cNvPr id="241" name="recap-step-1-title"/>
          <p:cNvSpPr txBox="1"/>
          <p:nvPr/>
        </p:nvSpPr>
        <p:spPr>
          <a:xfrm>
            <a:off x="1042737"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345C83"/>
                </a:solidFill>
                <a:latin typeface="Chalkboard"/>
                <a:ea typeface="Chalkboard"/>
                <a:cs typeface="Chalkboard"/>
                <a:sym typeface="Chalkboard"/>
              </a:defRPr>
            </a:lvl1pPr>
          </a:lstStyle>
          <a:p>
            <a:pPr/>
            <a:r>
              <a:t>Forward pass</a:t>
            </a:r>
          </a:p>
        </p:txBody>
      </p:sp>
      <p:sp>
        <p:nvSpPr>
          <p:cNvPr id="242" name="recap-step-1-detail"/>
          <p:cNvSpPr txBox="1"/>
          <p:nvPr/>
        </p:nvSpPr>
        <p:spPr>
          <a:xfrm>
            <a:off x="1078832"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Make a prediction</a:t>
            </a:r>
          </a:p>
          <a:p>
            <a:pPr algn="ctr">
              <a:defRPr sz="1000">
                <a:solidFill>
                  <a:srgbClr val="414447"/>
                </a:solidFill>
                <a:latin typeface="Arial"/>
                <a:ea typeface="Arial"/>
                <a:cs typeface="Arial"/>
                <a:sym typeface="Arial"/>
              </a:defRPr>
            </a:pPr>
            <a:r>
              <a:t>Calculate the loss</a:t>
            </a:r>
          </a:p>
        </p:txBody>
      </p:sp>
      <p:sp>
        <p:nvSpPr>
          <p:cNvPr id="243" name="recap-step-2"/>
          <p:cNvSpPr/>
          <p:nvPr/>
        </p:nvSpPr>
        <p:spPr>
          <a:xfrm>
            <a:off x="3533273" y="2304574"/>
            <a:ext cx="2219827" cy="1610679"/>
          </a:xfrm>
          <a:prstGeom prst="roundRect">
            <a:avLst>
              <a:gd name="adj" fmla="val 11236"/>
            </a:avLst>
          </a:prstGeom>
          <a:solidFill>
            <a:srgbClr val="F9E4E1"/>
          </a:solidFill>
          <a:ln w="15240">
            <a:solidFill>
              <a:srgbClr val="A45F57"/>
            </a:solidFill>
          </a:ln>
        </p:spPr>
        <p:txBody>
          <a:bodyPr lIns="45719" rIns="45719"/>
          <a:lstStyle/>
          <a:p>
            <a:pPr/>
          </a:p>
        </p:txBody>
      </p:sp>
      <p:sp>
        <p:nvSpPr>
          <p:cNvPr id="244" name="recap-step-2-title"/>
          <p:cNvSpPr txBox="1"/>
          <p:nvPr/>
        </p:nvSpPr>
        <p:spPr>
          <a:xfrm>
            <a:off x="3659604"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A45F57"/>
                </a:solidFill>
                <a:latin typeface="Chalkboard"/>
                <a:ea typeface="Chalkboard"/>
                <a:cs typeface="Chalkboard"/>
                <a:sym typeface="Chalkboard"/>
              </a:defRPr>
            </a:lvl1pPr>
          </a:lstStyle>
          <a:p>
            <a:pPr/>
            <a:r>
              <a:t>Backpropagation</a:t>
            </a:r>
          </a:p>
        </p:txBody>
      </p:sp>
      <p:sp>
        <p:nvSpPr>
          <p:cNvPr id="245" name="recap-step-2-detail"/>
          <p:cNvSpPr txBox="1"/>
          <p:nvPr/>
        </p:nvSpPr>
        <p:spPr>
          <a:xfrm>
            <a:off x="3695700"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Apply the chain rule</a:t>
            </a:r>
          </a:p>
          <a:p>
            <a:pPr algn="ctr">
              <a:defRPr sz="1000">
                <a:solidFill>
                  <a:srgbClr val="414447"/>
                </a:solidFill>
                <a:latin typeface="Arial"/>
                <a:ea typeface="Arial"/>
                <a:cs typeface="Arial"/>
                <a:sym typeface="Arial"/>
              </a:defRPr>
            </a:pPr>
            <a:r>
              <a:t>Compute gradients</a:t>
            </a:r>
          </a:p>
        </p:txBody>
      </p:sp>
      <p:sp>
        <p:nvSpPr>
          <p:cNvPr id="246" name="recap-step-3"/>
          <p:cNvSpPr/>
          <p:nvPr/>
        </p:nvSpPr>
        <p:spPr>
          <a:xfrm>
            <a:off x="6150142" y="2304574"/>
            <a:ext cx="2219826" cy="1610679"/>
          </a:xfrm>
          <a:prstGeom prst="roundRect">
            <a:avLst>
              <a:gd name="adj" fmla="val 11236"/>
            </a:avLst>
          </a:prstGeom>
          <a:solidFill>
            <a:srgbClr val="F0E8F6"/>
          </a:solidFill>
          <a:ln w="15240">
            <a:solidFill>
              <a:srgbClr val="9A54B3"/>
            </a:solidFill>
          </a:ln>
        </p:spPr>
        <p:txBody>
          <a:bodyPr lIns="45719" rIns="45719"/>
          <a:lstStyle/>
          <a:p>
            <a:pPr/>
          </a:p>
        </p:txBody>
      </p:sp>
      <p:sp>
        <p:nvSpPr>
          <p:cNvPr id="247" name="recap-step-3-title"/>
          <p:cNvSpPr txBox="1"/>
          <p:nvPr/>
        </p:nvSpPr>
        <p:spPr>
          <a:xfrm>
            <a:off x="6276473"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9A54B3"/>
                </a:solidFill>
                <a:latin typeface="Chalkboard"/>
                <a:ea typeface="Chalkboard"/>
                <a:cs typeface="Chalkboard"/>
                <a:sym typeface="Chalkboard"/>
              </a:defRPr>
            </a:lvl1pPr>
          </a:lstStyle>
          <a:p>
            <a:pPr/>
            <a:r>
              <a:t>Gradient descent</a:t>
            </a:r>
          </a:p>
        </p:txBody>
      </p:sp>
      <p:sp>
        <p:nvSpPr>
          <p:cNvPr id="248" name="recap-step-3-detail"/>
          <p:cNvSpPr txBox="1"/>
          <p:nvPr/>
        </p:nvSpPr>
        <p:spPr>
          <a:xfrm>
            <a:off x="6312568"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Step against the gradient</a:t>
            </a:r>
          </a:p>
          <a:p>
            <a:pPr algn="ctr">
              <a:defRPr sz="1000">
                <a:solidFill>
                  <a:srgbClr val="414447"/>
                </a:solidFill>
                <a:latin typeface="Arial"/>
                <a:ea typeface="Arial"/>
                <a:cs typeface="Arial"/>
                <a:sym typeface="Arial"/>
              </a:defRPr>
            </a:pPr>
            <a:r>
              <a:t>θnew = θold − η∇L</a:t>
            </a:r>
          </a:p>
        </p:txBody>
      </p:sp>
      <p:sp>
        <p:nvSpPr>
          <p:cNvPr id="249" name="recap-step-4"/>
          <p:cNvSpPr/>
          <p:nvPr/>
        </p:nvSpPr>
        <p:spPr>
          <a:xfrm>
            <a:off x="8767011" y="2304574"/>
            <a:ext cx="2219827" cy="1610679"/>
          </a:xfrm>
          <a:prstGeom prst="roundRect">
            <a:avLst>
              <a:gd name="adj" fmla="val 11236"/>
            </a:avLst>
          </a:prstGeom>
          <a:solidFill>
            <a:srgbClr val="E5F3EC"/>
          </a:solidFill>
          <a:ln w="15240">
            <a:solidFill>
              <a:srgbClr val="228778"/>
            </a:solidFill>
          </a:ln>
        </p:spPr>
        <p:txBody>
          <a:bodyPr lIns="45719" rIns="45719"/>
          <a:lstStyle/>
          <a:p>
            <a:pPr/>
          </a:p>
        </p:txBody>
      </p:sp>
      <p:sp>
        <p:nvSpPr>
          <p:cNvPr id="250" name="recap-step-4-title"/>
          <p:cNvSpPr txBox="1"/>
          <p:nvPr/>
        </p:nvSpPr>
        <p:spPr>
          <a:xfrm>
            <a:off x="8893341"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228778"/>
                </a:solidFill>
                <a:latin typeface="Chalkboard"/>
                <a:ea typeface="Chalkboard"/>
                <a:cs typeface="Chalkboard"/>
                <a:sym typeface="Chalkboard"/>
              </a:defRPr>
            </a:lvl1pPr>
          </a:lstStyle>
          <a:p>
            <a:pPr/>
            <a:r>
              <a:t>Other optimizers</a:t>
            </a:r>
          </a:p>
        </p:txBody>
      </p:sp>
      <p:sp>
        <p:nvSpPr>
          <p:cNvPr id="251" name="recap-step-4-detail"/>
          <p:cNvSpPr txBox="1"/>
          <p:nvPr/>
        </p:nvSpPr>
        <p:spPr>
          <a:xfrm>
            <a:off x="8929437"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Momentum: smooth steps</a:t>
            </a:r>
          </a:p>
          <a:p>
            <a:pPr algn="ctr">
              <a:defRPr sz="1000">
                <a:solidFill>
                  <a:srgbClr val="414447"/>
                </a:solidFill>
                <a:latin typeface="Arial"/>
                <a:ea typeface="Arial"/>
                <a:cs typeface="Arial"/>
                <a:sym typeface="Arial"/>
              </a:defRPr>
            </a:pPr>
            <a:r>
              <a:t>Adam: adapt step sizes</a:t>
            </a:r>
          </a:p>
        </p:txBody>
      </p:sp>
      <p:grpSp>
        <p:nvGrpSpPr>
          <p:cNvPr id="254" name="recap-result"/>
          <p:cNvGrpSpPr/>
          <p:nvPr/>
        </p:nvGrpSpPr>
        <p:grpSpPr>
          <a:xfrm>
            <a:off x="1638300" y="4539615"/>
            <a:ext cx="8626642" cy="741998"/>
            <a:chOff x="0" y="0"/>
            <a:chExt cx="8626641" cy="741997"/>
          </a:xfrm>
        </p:grpSpPr>
        <p:sp>
          <p:nvSpPr>
            <p:cNvPr id="252" name="Rounded Rectangle"/>
            <p:cNvSpPr/>
            <p:nvPr/>
          </p:nvSpPr>
          <p:spPr>
            <a:xfrm>
              <a:off x="0" y="0"/>
              <a:ext cx="8626642" cy="741998"/>
            </a:xfrm>
            <a:prstGeom prst="roundRect">
              <a:avLst>
                <a:gd name="adj" fmla="val 17073"/>
              </a:avLst>
            </a:prstGeom>
            <a:solidFill>
              <a:srgbClr val="F8E8B2"/>
            </a:solidFill>
            <a:ln w="8573" cap="flat">
              <a:solidFill>
                <a:srgbClr val="E7D28C"/>
              </a:solidFill>
              <a:prstDash val="solid"/>
              <a:round/>
            </a:ln>
            <a:effectLst/>
          </p:spPr>
          <p:txBody>
            <a:bodyPr wrap="square" lIns="45719" tIns="45719" rIns="45719" bIns="45719" numCol="1" anchor="ctr">
              <a:noAutofit/>
            </a:bodyPr>
            <a:lstStyle/>
            <a:p>
              <a:pPr algn="ctr">
                <a:defRPr sz="1200">
                  <a:solidFill>
                    <a:srgbClr val="414447"/>
                  </a:solidFill>
                  <a:latin typeface="Chalkboard"/>
                  <a:ea typeface="Chalkboard"/>
                  <a:cs typeface="Chalkboard"/>
                  <a:sym typeface="Chalkboard"/>
                </a:defRPr>
              </a:pPr>
            </a:p>
          </p:txBody>
        </p:sp>
        <p:sp>
          <p:nvSpPr>
            <p:cNvPr id="253" name="Gradient descent is a basic optimizer. Momentum and Adam use gradient history to shape updates."/>
            <p:cNvSpPr txBox="1"/>
            <p:nvPr/>
          </p:nvSpPr>
          <p:spPr>
            <a:xfrm>
              <a:off x="136640" y="41390"/>
              <a:ext cx="8353361" cy="6592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rmAutofit fontScale="100000" lnSpcReduction="0"/>
            </a:bodyPr>
            <a:lstStyle>
              <a:lvl1pPr algn="ctr">
                <a:defRPr sz="1200">
                  <a:solidFill>
                    <a:srgbClr val="414447"/>
                  </a:solidFill>
                  <a:latin typeface="Chalkboard"/>
                  <a:ea typeface="Chalkboard"/>
                  <a:cs typeface="Chalkboard"/>
                  <a:sym typeface="Chalkboard"/>
                </a:defRPr>
              </a:lvl1pPr>
            </a:lstStyle>
            <a:p>
              <a:pPr/>
              <a:r>
                <a:t>Gradient descent is a basic optimizer. Momentum and Adam use gradient history to shape updates.</a:t>
              </a:r>
            </a:p>
          </p:txBody>
        </p:sp>
      </p:grpSp>
      <p:sp>
        <p:nvSpPr>
          <p:cNvPr id="255"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descent, backpropagation and optimizers</a:t>
            </a:r>
          </a:p>
        </p:txBody>
      </p:sp>
      <p:sp>
        <p:nvSpPr>
          <p:cNvPr id="256"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Backpropagation computes gradients. An optimizer uses them to update weights and biases.</a:t>
            </a:r>
          </a:p>
        </p:txBody>
      </p:sp>
      <p:sp>
        <p:nvSpPr>
          <p:cNvPr id="257"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learning rate η controls the step size. Repeat the forward pass, backward pass and update.</a:t>
            </a:r>
          </a:p>
        </p:txBody>
      </p:sp>
      <p:sp>
        <p:nvSpPr>
          <p:cNvPr id="258"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04a</a:t>
            </a:r>
          </a:p>
        </p:txBody>
      </p:sp>
      <p:pic>
        <p:nvPicPr>
          <p:cNvPr id="259" name="gradient_overview_visuals.png" descr="gradient_overview_visuals.png"/>
          <p:cNvPicPr>
            <a:picLocks noChangeAspect="1"/>
          </p:cNvPicPr>
          <p:nvPr/>
        </p:nvPicPr>
        <p:blipFill>
          <a:blip r:embed="rId3">
            <a:extLst/>
          </a:blip>
          <a:stretch>
            <a:fillRect/>
          </a:stretch>
        </p:blipFill>
        <p:spPr>
          <a:xfrm>
            <a:off x="609600" y="1778000"/>
            <a:ext cx="10972800" cy="36576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63" name="Rounded Rectangle"/>
          <p:cNvSpPr/>
          <p:nvPr/>
        </p:nvSpPr>
        <p:spPr>
          <a:xfrm>
            <a:off x="457200" y="16605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64"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65"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66"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267" name="Forme libre : forme 3"/>
          <p:cNvSpPr/>
          <p:nvPr/>
        </p:nvSpPr>
        <p:spPr>
          <a:xfrm>
            <a:off x="1017770"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68" name="Rectangle 4"/>
          <p:cNvSpPr txBox="1"/>
          <p:nvPr/>
        </p:nvSpPr>
        <p:spPr>
          <a:xfrm>
            <a:off x="1060783"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x</a:t>
            </a:r>
          </a:p>
        </p:txBody>
      </p:sp>
      <p:sp>
        <p:nvSpPr>
          <p:cNvPr id="269" name="Forme libre : forme 5"/>
          <p:cNvSpPr/>
          <p:nvPr/>
        </p:nvSpPr>
        <p:spPr>
          <a:xfrm>
            <a:off x="2035342" y="2975092"/>
            <a:ext cx="1786690" cy="151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602"/>
                </a:moveTo>
                <a:lnTo>
                  <a:pt x="1702" y="0"/>
                </a:lnTo>
                <a:lnTo>
                  <a:pt x="3538" y="4224"/>
                </a:lnTo>
                <a:lnTo>
                  <a:pt x="5403" y="11915"/>
                </a:lnTo>
                <a:lnTo>
                  <a:pt x="7211" y="12916"/>
                </a:lnTo>
                <a:lnTo>
                  <a:pt x="8910" y="922"/>
                </a:lnTo>
                <a:lnTo>
                  <a:pt x="10759" y="6750"/>
                </a:lnTo>
                <a:lnTo>
                  <a:pt x="12543" y="4893"/>
                </a:lnTo>
                <a:lnTo>
                  <a:pt x="14480" y="21045"/>
                </a:lnTo>
                <a:lnTo>
                  <a:pt x="16284" y="21516"/>
                </a:lnTo>
                <a:lnTo>
                  <a:pt x="18085" y="21600"/>
                </a:lnTo>
                <a:lnTo>
                  <a:pt x="19707" y="562"/>
                </a:lnTo>
                <a:lnTo>
                  <a:pt x="21600" y="11602"/>
                </a:lnTo>
              </a:path>
            </a:pathLst>
          </a:custGeom>
          <a:ln w="19050">
            <a:solidFill>
              <a:srgbClr val="287B95"/>
            </a:solidFill>
          </a:ln>
        </p:spPr>
        <p:txBody>
          <a:bodyPr lIns="45719" rIns="45719"/>
          <a:lstStyle/>
          <a:p>
            <a:pPr/>
          </a:p>
        </p:txBody>
      </p:sp>
      <p:sp>
        <p:nvSpPr>
          <p:cNvPr id="270" name="Forme libre : forme 6"/>
          <p:cNvSpPr/>
          <p:nvPr/>
        </p:nvSpPr>
        <p:spPr>
          <a:xfrm>
            <a:off x="3732653"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71" name="Forme libre : forme 7"/>
          <p:cNvSpPr/>
          <p:nvPr/>
        </p:nvSpPr>
        <p:spPr>
          <a:xfrm>
            <a:off x="3887301"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72" name="Rectangle 8"/>
          <p:cNvSpPr txBox="1"/>
          <p:nvPr/>
        </p:nvSpPr>
        <p:spPr>
          <a:xfrm>
            <a:off x="3930315"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h</a:t>
            </a:r>
          </a:p>
        </p:txBody>
      </p:sp>
      <p:sp>
        <p:nvSpPr>
          <p:cNvPr id="273" name="Forme libre : forme 9"/>
          <p:cNvSpPr/>
          <p:nvPr/>
        </p:nvSpPr>
        <p:spPr>
          <a:xfrm>
            <a:off x="4904873" y="2975421"/>
            <a:ext cx="1786690" cy="142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830"/>
                </a:moveTo>
                <a:lnTo>
                  <a:pt x="1783" y="9673"/>
                </a:lnTo>
                <a:lnTo>
                  <a:pt x="3513" y="859"/>
                </a:lnTo>
                <a:lnTo>
                  <a:pt x="5425" y="14913"/>
                </a:lnTo>
                <a:lnTo>
                  <a:pt x="7202" y="12144"/>
                </a:lnTo>
                <a:lnTo>
                  <a:pt x="9078" y="21600"/>
                </a:lnTo>
                <a:lnTo>
                  <a:pt x="10809" y="12917"/>
                </a:lnTo>
                <a:lnTo>
                  <a:pt x="12573" y="8421"/>
                </a:lnTo>
                <a:lnTo>
                  <a:pt x="14306" y="0"/>
                </a:lnTo>
                <a:lnTo>
                  <a:pt x="16130" y="2986"/>
                </a:lnTo>
                <a:lnTo>
                  <a:pt x="18024" y="14837"/>
                </a:lnTo>
                <a:lnTo>
                  <a:pt x="19756" y="6361"/>
                </a:lnTo>
                <a:lnTo>
                  <a:pt x="21600" y="11830"/>
                </a:lnTo>
              </a:path>
            </a:pathLst>
          </a:custGeom>
          <a:ln w="19050">
            <a:solidFill>
              <a:srgbClr val="287B95"/>
            </a:solidFill>
          </a:ln>
        </p:spPr>
        <p:txBody>
          <a:bodyPr lIns="45719" rIns="45719"/>
          <a:lstStyle/>
          <a:p>
            <a:pPr/>
          </a:p>
        </p:txBody>
      </p:sp>
      <p:sp>
        <p:nvSpPr>
          <p:cNvPr id="274" name="Forme libre : forme 10"/>
          <p:cNvSpPr/>
          <p:nvPr/>
        </p:nvSpPr>
        <p:spPr>
          <a:xfrm>
            <a:off x="6602185"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75" name="Forme libre : forme 11"/>
          <p:cNvSpPr/>
          <p:nvPr/>
        </p:nvSpPr>
        <p:spPr>
          <a:xfrm>
            <a:off x="6756833"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76" name="Rectangle 12"/>
          <p:cNvSpPr txBox="1"/>
          <p:nvPr/>
        </p:nvSpPr>
        <p:spPr>
          <a:xfrm>
            <a:off x="6799846"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ŷ</a:t>
            </a:r>
          </a:p>
        </p:txBody>
      </p:sp>
      <p:sp>
        <p:nvSpPr>
          <p:cNvPr id="277" name="Forme libre : forme 13"/>
          <p:cNvSpPr/>
          <p:nvPr/>
        </p:nvSpPr>
        <p:spPr>
          <a:xfrm>
            <a:off x="7774405" y="2979145"/>
            <a:ext cx="1786690"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6057"/>
                </a:moveTo>
                <a:lnTo>
                  <a:pt x="1836" y="12258"/>
                </a:lnTo>
                <a:lnTo>
                  <a:pt x="3645" y="13915"/>
                </a:lnTo>
                <a:lnTo>
                  <a:pt x="5453" y="15255"/>
                </a:lnTo>
                <a:lnTo>
                  <a:pt x="7252" y="15112"/>
                </a:lnTo>
                <a:lnTo>
                  <a:pt x="8965" y="0"/>
                </a:lnTo>
                <a:lnTo>
                  <a:pt x="10846" y="14040"/>
                </a:lnTo>
                <a:lnTo>
                  <a:pt x="12610" y="7828"/>
                </a:lnTo>
                <a:lnTo>
                  <a:pt x="14490" y="21600"/>
                </a:lnTo>
                <a:lnTo>
                  <a:pt x="16256" y="15774"/>
                </a:lnTo>
                <a:lnTo>
                  <a:pt x="18063" y="17078"/>
                </a:lnTo>
                <a:lnTo>
                  <a:pt x="19768" y="441"/>
                </a:lnTo>
                <a:lnTo>
                  <a:pt x="21600" y="6057"/>
                </a:lnTo>
              </a:path>
            </a:pathLst>
          </a:custGeom>
          <a:ln w="19050">
            <a:solidFill>
              <a:srgbClr val="287B95"/>
            </a:solidFill>
          </a:ln>
        </p:spPr>
        <p:txBody>
          <a:bodyPr lIns="45719" rIns="45719"/>
          <a:lstStyle/>
          <a:p>
            <a:pPr/>
          </a:p>
        </p:txBody>
      </p:sp>
      <p:sp>
        <p:nvSpPr>
          <p:cNvPr id="278" name="Forme libre : forme 14"/>
          <p:cNvSpPr/>
          <p:nvPr/>
        </p:nvSpPr>
        <p:spPr>
          <a:xfrm>
            <a:off x="9471715"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79" name="Forme libre : forme 15"/>
          <p:cNvSpPr/>
          <p:nvPr/>
        </p:nvSpPr>
        <p:spPr>
          <a:xfrm>
            <a:off x="9626365"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280" name="Rectangle 16"/>
          <p:cNvSpPr txBox="1"/>
          <p:nvPr/>
        </p:nvSpPr>
        <p:spPr>
          <a:xfrm>
            <a:off x="9669378"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L</a:t>
            </a:r>
          </a:p>
        </p:txBody>
      </p:sp>
      <p:sp>
        <p:nvSpPr>
          <p:cNvPr id="281" name="Forme libre : forme 17"/>
          <p:cNvSpPr/>
          <p:nvPr/>
        </p:nvSpPr>
        <p:spPr>
          <a:xfrm>
            <a:off x="7458575" y="4054671"/>
            <a:ext cx="2418348" cy="129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951"/>
                </a:moveTo>
                <a:lnTo>
                  <a:pt x="19761" y="1629"/>
                </a:lnTo>
                <a:lnTo>
                  <a:pt x="18014" y="11558"/>
                </a:lnTo>
                <a:lnTo>
                  <a:pt x="16189" y="6966"/>
                </a:lnTo>
                <a:lnTo>
                  <a:pt x="14434" y="15316"/>
                </a:lnTo>
                <a:lnTo>
                  <a:pt x="12607" y="10347"/>
                </a:lnTo>
                <a:lnTo>
                  <a:pt x="10811" y="11093"/>
                </a:lnTo>
                <a:lnTo>
                  <a:pt x="8952" y="0"/>
                </a:lnTo>
                <a:lnTo>
                  <a:pt x="7216" y="11965"/>
                </a:lnTo>
                <a:lnTo>
                  <a:pt x="5354" y="243"/>
                </a:lnTo>
                <a:lnTo>
                  <a:pt x="3667" y="21600"/>
                </a:lnTo>
                <a:lnTo>
                  <a:pt x="1787" y="6441"/>
                </a:lnTo>
                <a:lnTo>
                  <a:pt x="0" y="8951"/>
                </a:lnTo>
              </a:path>
            </a:pathLst>
          </a:custGeom>
          <a:ln w="28575">
            <a:solidFill>
              <a:srgbClr val="A45F57"/>
            </a:solidFill>
          </a:ln>
        </p:spPr>
        <p:txBody>
          <a:bodyPr lIns="45719" rIns="45719"/>
          <a:lstStyle/>
          <a:p>
            <a:pPr/>
          </a:p>
        </p:txBody>
      </p:sp>
      <p:sp>
        <p:nvSpPr>
          <p:cNvPr id="282" name="Forme libre : forme 18"/>
          <p:cNvSpPr/>
          <p:nvPr/>
        </p:nvSpPr>
        <p:spPr>
          <a:xfrm>
            <a:off x="7458575"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83" name="Forme libre : forme 19"/>
          <p:cNvSpPr/>
          <p:nvPr/>
        </p:nvSpPr>
        <p:spPr>
          <a:xfrm>
            <a:off x="4589045" y="4052298"/>
            <a:ext cx="2418348" cy="14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454"/>
                </a:moveTo>
                <a:lnTo>
                  <a:pt x="19818" y="14380"/>
                </a:lnTo>
                <a:lnTo>
                  <a:pt x="17988" y="9432"/>
                </a:lnTo>
                <a:lnTo>
                  <a:pt x="16227" y="15960"/>
                </a:lnTo>
                <a:lnTo>
                  <a:pt x="14412" y="13412"/>
                </a:lnTo>
                <a:lnTo>
                  <a:pt x="12646" y="19109"/>
                </a:lnTo>
                <a:lnTo>
                  <a:pt x="10802" y="11727"/>
                </a:lnTo>
                <a:lnTo>
                  <a:pt x="8931" y="0"/>
                </a:lnTo>
                <a:lnTo>
                  <a:pt x="7193" y="10328"/>
                </a:lnTo>
                <a:lnTo>
                  <a:pt x="5353" y="3622"/>
                </a:lnTo>
                <a:lnTo>
                  <a:pt x="3661" y="21600"/>
                </a:lnTo>
                <a:lnTo>
                  <a:pt x="1856" y="20752"/>
                </a:lnTo>
                <a:lnTo>
                  <a:pt x="0" y="11454"/>
                </a:lnTo>
              </a:path>
            </a:pathLst>
          </a:custGeom>
          <a:ln w="28575">
            <a:solidFill>
              <a:srgbClr val="A45F57"/>
            </a:solidFill>
          </a:ln>
        </p:spPr>
        <p:txBody>
          <a:bodyPr lIns="45719" rIns="45719"/>
          <a:lstStyle/>
          <a:p>
            <a:pPr/>
          </a:p>
        </p:txBody>
      </p:sp>
      <p:sp>
        <p:nvSpPr>
          <p:cNvPr id="284" name="Forme libre : forme 20"/>
          <p:cNvSpPr/>
          <p:nvPr/>
        </p:nvSpPr>
        <p:spPr>
          <a:xfrm>
            <a:off x="4589045"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85" name="Forme libre : forme 21"/>
          <p:cNvSpPr/>
          <p:nvPr/>
        </p:nvSpPr>
        <p:spPr>
          <a:xfrm>
            <a:off x="1719513" y="4054978"/>
            <a:ext cx="2418348" cy="13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326"/>
                </a:moveTo>
                <a:lnTo>
                  <a:pt x="19847" y="17071"/>
                </a:lnTo>
                <a:lnTo>
                  <a:pt x="18053" y="18157"/>
                </a:lnTo>
                <a:lnTo>
                  <a:pt x="16155" y="0"/>
                </a:lnTo>
                <a:lnTo>
                  <a:pt x="14434" y="14574"/>
                </a:lnTo>
                <a:lnTo>
                  <a:pt x="12650" y="17627"/>
                </a:lnTo>
                <a:lnTo>
                  <a:pt x="10803" y="8827"/>
                </a:lnTo>
                <a:lnTo>
                  <a:pt x="9031" y="14031"/>
                </a:lnTo>
                <a:lnTo>
                  <a:pt x="7166" y="2037"/>
                </a:lnTo>
                <a:lnTo>
                  <a:pt x="5472" y="21600"/>
                </a:lnTo>
                <a:lnTo>
                  <a:pt x="3581" y="4894"/>
                </a:lnTo>
                <a:lnTo>
                  <a:pt x="1759" y="726"/>
                </a:lnTo>
                <a:lnTo>
                  <a:pt x="0" y="8326"/>
                </a:lnTo>
              </a:path>
            </a:pathLst>
          </a:custGeom>
          <a:ln w="28575">
            <a:solidFill>
              <a:srgbClr val="A45F57"/>
            </a:solidFill>
          </a:ln>
        </p:spPr>
        <p:txBody>
          <a:bodyPr lIns="45719" rIns="45719"/>
          <a:lstStyle/>
          <a:p>
            <a:pPr/>
          </a:p>
        </p:txBody>
      </p:sp>
      <p:sp>
        <p:nvSpPr>
          <p:cNvPr id="286" name="Forme libre : forme 22"/>
          <p:cNvSpPr/>
          <p:nvPr/>
        </p:nvSpPr>
        <p:spPr>
          <a:xfrm>
            <a:off x="1719513"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87" name="Rectangle 23"/>
          <p:cNvSpPr txBox="1"/>
          <p:nvPr/>
        </p:nvSpPr>
        <p:spPr>
          <a:xfrm>
            <a:off x="591552"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Input</a:t>
            </a:r>
          </a:p>
        </p:txBody>
      </p:sp>
      <p:sp>
        <p:nvSpPr>
          <p:cNvPr id="288" name="Rectangle 24"/>
          <p:cNvSpPr txBox="1"/>
          <p:nvPr/>
        </p:nvSpPr>
        <p:spPr>
          <a:xfrm>
            <a:off x="3461084"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Hidden layer</a:t>
            </a:r>
          </a:p>
        </p:txBody>
      </p:sp>
      <p:sp>
        <p:nvSpPr>
          <p:cNvPr id="289" name="Rectangle 25"/>
          <p:cNvSpPr txBox="1"/>
          <p:nvPr/>
        </p:nvSpPr>
        <p:spPr>
          <a:xfrm>
            <a:off x="6330615"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Prediction</a:t>
            </a:r>
          </a:p>
        </p:txBody>
      </p:sp>
      <p:sp>
        <p:nvSpPr>
          <p:cNvPr id="290" name="Rectangle 26"/>
          <p:cNvSpPr txBox="1"/>
          <p:nvPr/>
        </p:nvSpPr>
        <p:spPr>
          <a:xfrm>
            <a:off x="9200146"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Loss</a:t>
            </a:r>
          </a:p>
        </p:txBody>
      </p:sp>
      <p:sp>
        <p:nvSpPr>
          <p:cNvPr id="291" name="Rectangle 27"/>
          <p:cNvSpPr txBox="1"/>
          <p:nvPr/>
        </p:nvSpPr>
        <p:spPr>
          <a:xfrm>
            <a:off x="753979" y="4775385"/>
            <a:ext cx="4926932" cy="351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287B95"/>
                </a:solidFill>
                <a:latin typeface="Chalkboard"/>
                <a:ea typeface="Chalkboard"/>
                <a:cs typeface="Chalkboard"/>
                <a:sym typeface="Chalkboard"/>
              </a:defRPr>
            </a:lvl1pPr>
          </a:lstStyle>
          <a:p>
            <a:pPr/>
            <a:r>
              <a:t>Forward: activations</a:t>
            </a:r>
          </a:p>
        </p:txBody>
      </p:sp>
      <p:sp>
        <p:nvSpPr>
          <p:cNvPr id="292" name="Rectangle 28"/>
          <p:cNvSpPr txBox="1"/>
          <p:nvPr/>
        </p:nvSpPr>
        <p:spPr>
          <a:xfrm>
            <a:off x="6583278" y="4775385"/>
            <a:ext cx="4466726" cy="351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A45F57"/>
                </a:solidFill>
                <a:latin typeface="Chalkboard"/>
                <a:ea typeface="Chalkboard"/>
                <a:cs typeface="Chalkboard"/>
                <a:sym typeface="Chalkboard"/>
              </a:defRPr>
            </a:lvl1pPr>
          </a:lstStyle>
          <a:p>
            <a:pPr/>
            <a:r>
              <a:t>Backward: gradients</a:t>
            </a:r>
          </a:p>
        </p:txBody>
      </p:sp>
      <p:sp>
        <p:nvSpPr>
          <p:cNvPr id="293" name="matched-title"/>
          <p:cNvSpPr txBox="1"/>
          <p:nvPr/>
        </p:nvSpPr>
        <p:spPr>
          <a:xfrm>
            <a:off x="1069675" y="576442"/>
            <a:ext cx="10934701"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Two directions through the network</a:t>
            </a:r>
          </a:p>
        </p:txBody>
      </p:sp>
      <p:sp>
        <p:nvSpPr>
          <p:cNvPr id="29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 forward pass predicts. A backward pass computes gradients.</a:t>
            </a:r>
          </a:p>
        </p:txBody>
      </p:sp>
      <p:sp>
        <p:nvSpPr>
          <p:cNvPr id="295"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Gradient descent then updates the parameters: w_new = w_old − η · ∂L/∂w.</a:t>
            </a:r>
          </a:p>
        </p:txBody>
      </p:sp>
      <p:sp>
        <p:nvSpPr>
          <p:cNvPr id="29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0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03"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04" name="Forme libre : forme 3"/>
          <p:cNvSpPr/>
          <p:nvPr/>
        </p:nvSpPr>
        <p:spPr>
          <a:xfrm>
            <a:off x="1017770" y="2689081"/>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05" name="Rectangle 4"/>
          <p:cNvSpPr txBox="1"/>
          <p:nvPr/>
        </p:nvSpPr>
        <p:spPr>
          <a:xfrm>
            <a:off x="1060783" y="2988257"/>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1</a:t>
            </a:r>
          </a:p>
        </p:txBody>
      </p:sp>
      <p:sp>
        <p:nvSpPr>
          <p:cNvPr id="306" name="Forme libre : forme 5"/>
          <p:cNvSpPr/>
          <p:nvPr/>
        </p:nvSpPr>
        <p:spPr>
          <a:xfrm>
            <a:off x="2035342" y="3156432"/>
            <a:ext cx="1786690" cy="150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124"/>
                </a:moveTo>
                <a:lnTo>
                  <a:pt x="1802" y="11329"/>
                </a:lnTo>
                <a:lnTo>
                  <a:pt x="3554" y="5632"/>
                </a:lnTo>
                <a:lnTo>
                  <a:pt x="5409" y="12171"/>
                </a:lnTo>
                <a:lnTo>
                  <a:pt x="7193" y="10335"/>
                </a:lnTo>
                <a:lnTo>
                  <a:pt x="9007" y="11899"/>
                </a:lnTo>
                <a:lnTo>
                  <a:pt x="10713" y="742"/>
                </a:lnTo>
                <a:lnTo>
                  <a:pt x="12506" y="0"/>
                </a:lnTo>
                <a:lnTo>
                  <a:pt x="14488" y="21600"/>
                </a:lnTo>
                <a:lnTo>
                  <a:pt x="16278" y="20405"/>
                </a:lnTo>
                <a:lnTo>
                  <a:pt x="18065" y="18792"/>
                </a:lnTo>
                <a:lnTo>
                  <a:pt x="19746" y="4737"/>
                </a:lnTo>
                <a:lnTo>
                  <a:pt x="21600" y="11124"/>
                </a:lnTo>
              </a:path>
            </a:pathLst>
          </a:custGeom>
          <a:ln w="19050">
            <a:solidFill>
              <a:srgbClr val="287B95"/>
            </a:solidFill>
          </a:ln>
        </p:spPr>
        <p:txBody>
          <a:bodyPr lIns="45719" rIns="45719"/>
          <a:lstStyle/>
          <a:p>
            <a:pPr/>
          </a:p>
        </p:txBody>
      </p:sp>
      <p:sp>
        <p:nvSpPr>
          <p:cNvPr id="307" name="Forme libre : forme 6"/>
          <p:cNvSpPr/>
          <p:nvPr/>
        </p:nvSpPr>
        <p:spPr>
          <a:xfrm>
            <a:off x="3732653" y="31209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08" name="Forme libre : forme 7"/>
          <p:cNvSpPr/>
          <p:nvPr/>
        </p:nvSpPr>
        <p:spPr>
          <a:xfrm>
            <a:off x="3887301" y="2689081"/>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09" name="Rectangle 8"/>
          <p:cNvSpPr txBox="1"/>
          <p:nvPr/>
        </p:nvSpPr>
        <p:spPr>
          <a:xfrm>
            <a:off x="3930315" y="2988257"/>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0.5</a:t>
            </a:r>
          </a:p>
        </p:txBody>
      </p:sp>
      <p:sp>
        <p:nvSpPr>
          <p:cNvPr id="310" name="Forme libre : forme 9"/>
          <p:cNvSpPr/>
          <p:nvPr/>
        </p:nvSpPr>
        <p:spPr>
          <a:xfrm>
            <a:off x="4904873" y="3157597"/>
            <a:ext cx="1786690" cy="132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777"/>
                </a:moveTo>
                <a:lnTo>
                  <a:pt x="1771" y="6897"/>
                </a:lnTo>
                <a:lnTo>
                  <a:pt x="3657" y="18512"/>
                </a:lnTo>
                <a:lnTo>
                  <a:pt x="5341" y="2797"/>
                </a:lnTo>
                <a:lnTo>
                  <a:pt x="7280" y="21600"/>
                </a:lnTo>
                <a:lnTo>
                  <a:pt x="9077" y="21194"/>
                </a:lnTo>
                <a:lnTo>
                  <a:pt x="10848" y="17306"/>
                </a:lnTo>
                <a:lnTo>
                  <a:pt x="12572" y="6988"/>
                </a:lnTo>
                <a:lnTo>
                  <a:pt x="14460" y="18949"/>
                </a:lnTo>
                <a:lnTo>
                  <a:pt x="16217" y="13129"/>
                </a:lnTo>
                <a:lnTo>
                  <a:pt x="18020" y="13501"/>
                </a:lnTo>
                <a:lnTo>
                  <a:pt x="19720" y="0"/>
                </a:lnTo>
                <a:lnTo>
                  <a:pt x="21600" y="10777"/>
                </a:lnTo>
              </a:path>
            </a:pathLst>
          </a:custGeom>
          <a:ln w="19050">
            <a:solidFill>
              <a:srgbClr val="287B95"/>
            </a:solidFill>
          </a:ln>
        </p:spPr>
        <p:txBody>
          <a:bodyPr lIns="45719" rIns="45719"/>
          <a:lstStyle/>
          <a:p>
            <a:pPr/>
          </a:p>
        </p:txBody>
      </p:sp>
      <p:sp>
        <p:nvSpPr>
          <p:cNvPr id="311" name="Forme libre : forme 10"/>
          <p:cNvSpPr/>
          <p:nvPr/>
        </p:nvSpPr>
        <p:spPr>
          <a:xfrm>
            <a:off x="6602185" y="31209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12" name="Forme libre : forme 11"/>
          <p:cNvSpPr/>
          <p:nvPr/>
        </p:nvSpPr>
        <p:spPr>
          <a:xfrm>
            <a:off x="6756833" y="2689081"/>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13" name="Rectangle 12"/>
          <p:cNvSpPr txBox="1"/>
          <p:nvPr/>
        </p:nvSpPr>
        <p:spPr>
          <a:xfrm>
            <a:off x="6834406" y="3000789"/>
            <a:ext cx="797154" cy="3268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2000">
                <a:solidFill>
                  <a:srgbClr val="287B95"/>
                </a:solidFill>
                <a:latin typeface="Chalkboard"/>
                <a:ea typeface="Chalkboard"/>
                <a:cs typeface="Chalkboard"/>
                <a:sym typeface="Chalkboard"/>
              </a:defRPr>
            </a:lvl1pPr>
          </a:lstStyle>
          <a:p>
            <a:pPr/>
            <a:r>
              <a:t>0.6225</a:t>
            </a:r>
          </a:p>
        </p:txBody>
      </p:sp>
      <p:sp>
        <p:nvSpPr>
          <p:cNvPr id="314" name="Forme libre : forme 13"/>
          <p:cNvSpPr/>
          <p:nvPr/>
        </p:nvSpPr>
        <p:spPr>
          <a:xfrm>
            <a:off x="7774405" y="3158077"/>
            <a:ext cx="1786690" cy="138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551"/>
                </a:moveTo>
                <a:lnTo>
                  <a:pt x="1893" y="21600"/>
                </a:lnTo>
                <a:lnTo>
                  <a:pt x="3652" y="16226"/>
                </a:lnTo>
                <a:lnTo>
                  <a:pt x="5490" y="21234"/>
                </a:lnTo>
                <a:lnTo>
                  <a:pt x="7180" y="6938"/>
                </a:lnTo>
                <a:lnTo>
                  <a:pt x="9000" y="9493"/>
                </a:lnTo>
                <a:lnTo>
                  <a:pt x="10726" y="0"/>
                </a:lnTo>
                <a:lnTo>
                  <a:pt x="12655" y="16720"/>
                </a:lnTo>
                <a:lnTo>
                  <a:pt x="14451" y="16181"/>
                </a:lnTo>
                <a:lnTo>
                  <a:pt x="16174" y="6193"/>
                </a:lnTo>
                <a:lnTo>
                  <a:pt x="18010" y="10845"/>
                </a:lnTo>
                <a:lnTo>
                  <a:pt x="19831" y="13560"/>
                </a:lnTo>
                <a:lnTo>
                  <a:pt x="21600" y="9551"/>
                </a:lnTo>
              </a:path>
            </a:pathLst>
          </a:custGeom>
          <a:ln w="19050">
            <a:solidFill>
              <a:srgbClr val="287B95"/>
            </a:solidFill>
          </a:ln>
        </p:spPr>
        <p:txBody>
          <a:bodyPr lIns="45719" rIns="45719"/>
          <a:lstStyle/>
          <a:p>
            <a:pPr/>
          </a:p>
        </p:txBody>
      </p:sp>
      <p:sp>
        <p:nvSpPr>
          <p:cNvPr id="315" name="Forme libre : forme 14"/>
          <p:cNvSpPr/>
          <p:nvPr/>
        </p:nvSpPr>
        <p:spPr>
          <a:xfrm>
            <a:off x="9471715" y="31209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16" name="Forme libre : forme 15"/>
          <p:cNvSpPr/>
          <p:nvPr/>
        </p:nvSpPr>
        <p:spPr>
          <a:xfrm>
            <a:off x="9626365" y="2689081"/>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317" name="Rectangle 16"/>
          <p:cNvSpPr txBox="1"/>
          <p:nvPr/>
        </p:nvSpPr>
        <p:spPr>
          <a:xfrm>
            <a:off x="9746459" y="3000789"/>
            <a:ext cx="712113" cy="3268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2000">
                <a:solidFill>
                  <a:srgbClr val="A45F57"/>
                </a:solidFill>
                <a:latin typeface="Chalkboard"/>
                <a:ea typeface="Chalkboard"/>
                <a:cs typeface="Chalkboard"/>
                <a:sym typeface="Chalkboard"/>
              </a:defRPr>
            </a:lvl1pPr>
          </a:lstStyle>
          <a:p>
            <a:pPr/>
            <a:r>
              <a:t>0.4741</a:t>
            </a:r>
          </a:p>
        </p:txBody>
      </p:sp>
      <p:sp>
        <p:nvSpPr>
          <p:cNvPr id="318" name="Rectangle 17"/>
          <p:cNvSpPr txBox="1"/>
          <p:nvPr/>
        </p:nvSpPr>
        <p:spPr>
          <a:xfrm>
            <a:off x="591553" y="2200759"/>
            <a:ext cx="1849854"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72729"/>
                </a:solidFill>
                <a:latin typeface="Chalkboard"/>
                <a:ea typeface="Chalkboard"/>
                <a:cs typeface="Chalkboard"/>
                <a:sym typeface="Chalkboard"/>
              </a:defRPr>
            </a:lvl1pPr>
          </a:lstStyle>
          <a:p>
            <a:pPr/>
            <a:r>
              <a:t>Input x</a:t>
            </a:r>
          </a:p>
        </p:txBody>
      </p:sp>
      <p:sp>
        <p:nvSpPr>
          <p:cNvPr id="319" name="Rectangle 18"/>
          <p:cNvSpPr txBox="1"/>
          <p:nvPr/>
        </p:nvSpPr>
        <p:spPr>
          <a:xfrm>
            <a:off x="3461084" y="2200759"/>
            <a:ext cx="184985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72729"/>
                </a:solidFill>
                <a:latin typeface="Chalkboard"/>
                <a:ea typeface="Chalkboard"/>
                <a:cs typeface="Chalkboard"/>
                <a:sym typeface="Chalkboard"/>
              </a:defRPr>
            </a:lvl1pPr>
          </a:lstStyle>
          <a:p>
            <a:pPr/>
            <a:r>
              <a:t>ReLU hidden h</a:t>
            </a:r>
          </a:p>
        </p:txBody>
      </p:sp>
      <p:sp>
        <p:nvSpPr>
          <p:cNvPr id="320" name="Rectangle 19"/>
          <p:cNvSpPr txBox="1"/>
          <p:nvPr/>
        </p:nvSpPr>
        <p:spPr>
          <a:xfrm>
            <a:off x="6330615" y="2200759"/>
            <a:ext cx="184985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72729"/>
                </a:solidFill>
                <a:latin typeface="Chalkboard"/>
                <a:ea typeface="Chalkboard"/>
                <a:cs typeface="Chalkboard"/>
                <a:sym typeface="Chalkboard"/>
              </a:defRPr>
            </a:lvl1pPr>
          </a:lstStyle>
          <a:p>
            <a:pPr/>
            <a:r>
              <a:t>Sigmoid ŷ</a:t>
            </a:r>
          </a:p>
        </p:txBody>
      </p:sp>
      <p:sp>
        <p:nvSpPr>
          <p:cNvPr id="321" name="Rectangle 20"/>
          <p:cNvSpPr txBox="1"/>
          <p:nvPr/>
        </p:nvSpPr>
        <p:spPr>
          <a:xfrm>
            <a:off x="9200146" y="2200759"/>
            <a:ext cx="184985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72729"/>
                </a:solidFill>
                <a:latin typeface="Chalkboard"/>
                <a:ea typeface="Chalkboard"/>
                <a:cs typeface="Chalkboard"/>
                <a:sym typeface="Chalkboard"/>
              </a:defRPr>
            </a:lvl1pPr>
          </a:lstStyle>
          <a:p>
            <a:pPr/>
            <a:r>
              <a:t>Loss L</a:t>
            </a:r>
          </a:p>
        </p:txBody>
      </p:sp>
      <p:sp>
        <p:nvSpPr>
          <p:cNvPr id="322" name="Rectangle 21"/>
          <p:cNvSpPr txBox="1"/>
          <p:nvPr/>
        </p:nvSpPr>
        <p:spPr>
          <a:xfrm>
            <a:off x="2215815" y="2693273"/>
            <a:ext cx="139867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272729"/>
                </a:solidFill>
                <a:latin typeface="Chalkboard"/>
                <a:ea typeface="Chalkboard"/>
                <a:cs typeface="Chalkboard"/>
                <a:sym typeface="Chalkboard"/>
              </a:defRPr>
            </a:lvl1pPr>
          </a:lstStyle>
          <a:p>
            <a:pPr/>
            <a:r>
              <a:t>w₁ = 0.5</a:t>
            </a:r>
          </a:p>
        </p:txBody>
      </p:sp>
      <p:sp>
        <p:nvSpPr>
          <p:cNvPr id="323" name="Rectangle 22"/>
          <p:cNvSpPr txBox="1"/>
          <p:nvPr/>
        </p:nvSpPr>
        <p:spPr>
          <a:xfrm>
            <a:off x="5130465" y="2693273"/>
            <a:ext cx="139867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272729"/>
                </a:solidFill>
                <a:latin typeface="Chalkboard"/>
                <a:ea typeface="Chalkboard"/>
                <a:cs typeface="Chalkboard"/>
                <a:sym typeface="Chalkboard"/>
              </a:defRPr>
            </a:lvl1pPr>
          </a:lstStyle>
          <a:p>
            <a:pPr/>
            <a:r>
              <a:t>w₂ = 1</a:t>
            </a:r>
          </a:p>
        </p:txBody>
      </p:sp>
      <p:sp>
        <p:nvSpPr>
          <p:cNvPr id="324" name="Rectangle 23"/>
          <p:cNvSpPr txBox="1"/>
          <p:nvPr/>
        </p:nvSpPr>
        <p:spPr>
          <a:xfrm>
            <a:off x="3470107" y="4164567"/>
            <a:ext cx="1804737"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616069"/>
                </a:solidFill>
                <a:latin typeface="Chalkboard"/>
                <a:ea typeface="Chalkboard"/>
                <a:cs typeface="Chalkboard"/>
                <a:sym typeface="Chalkboard"/>
              </a:defRPr>
            </a:lvl1pPr>
          </a:lstStyle>
          <a:p>
            <a:pPr/>
            <a:r>
              <a:t>b₁ = 0</a:t>
            </a:r>
          </a:p>
        </p:txBody>
      </p:sp>
      <p:sp>
        <p:nvSpPr>
          <p:cNvPr id="325" name="Rectangle 24"/>
          <p:cNvSpPr txBox="1"/>
          <p:nvPr/>
        </p:nvSpPr>
        <p:spPr>
          <a:xfrm>
            <a:off x="6312568" y="4164567"/>
            <a:ext cx="1804737"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616069"/>
                </a:solidFill>
                <a:latin typeface="Chalkboard"/>
                <a:ea typeface="Chalkboard"/>
                <a:cs typeface="Chalkboard"/>
                <a:sym typeface="Chalkboard"/>
              </a:defRPr>
            </a:lvl1pPr>
          </a:lstStyle>
          <a:p>
            <a:pPr/>
            <a:r>
              <a:t>b₂ = 0</a:t>
            </a:r>
          </a:p>
        </p:txBody>
      </p:sp>
      <p:sp>
        <p:nvSpPr>
          <p:cNvPr id="326" name="Rectangle 25"/>
          <p:cNvSpPr txBox="1"/>
          <p:nvPr/>
        </p:nvSpPr>
        <p:spPr>
          <a:xfrm>
            <a:off x="772025" y="5080238"/>
            <a:ext cx="5062289"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7B95"/>
                </a:solidFill>
                <a:latin typeface="Chalkboard"/>
                <a:ea typeface="Chalkboard"/>
                <a:cs typeface="Chalkboard"/>
                <a:sym typeface="Chalkboard"/>
              </a:defRPr>
            </a:lvl1pPr>
          </a:lstStyle>
          <a:p>
            <a:pPr/>
            <a:r>
              <a:t>h = ReLU(w₁x + b₁)</a:t>
            </a:r>
          </a:p>
        </p:txBody>
      </p:sp>
      <p:sp>
        <p:nvSpPr>
          <p:cNvPr id="327" name="Rectangle 26"/>
          <p:cNvSpPr txBox="1"/>
          <p:nvPr/>
        </p:nvSpPr>
        <p:spPr>
          <a:xfrm>
            <a:off x="6619374" y="5080238"/>
            <a:ext cx="4538914"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A45F57"/>
                </a:solidFill>
                <a:latin typeface="Chalkboard"/>
                <a:ea typeface="Chalkboard"/>
                <a:cs typeface="Chalkboard"/>
                <a:sym typeface="Chalkboard"/>
              </a:defRPr>
            </a:lvl1pPr>
          </a:lstStyle>
          <a:p>
            <a:pPr/>
            <a:r>
              <a:t>ŷ = σ(w₂h + b₂)</a:t>
            </a:r>
          </a:p>
        </p:txBody>
      </p:sp>
      <p:sp>
        <p:nvSpPr>
          <p:cNvPr id="328"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One email, one forward pass</a:t>
            </a:r>
          </a:p>
        </p:txBody>
      </p:sp>
      <p:sp>
        <p:nvSpPr>
          <p:cNvPr id="329"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 tiny network makes every calculation visible. The true label is y = 1 (spam).</a:t>
            </a:r>
          </a:p>
        </p:txBody>
      </p:sp>
      <p:sp>
        <p:nvSpPr>
          <p:cNvPr id="330"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Illustrative values. Both weighted sums are 0.5 before the update.</a:t>
            </a:r>
          </a:p>
        </p:txBody>
      </p:sp>
      <p:sp>
        <p:nvSpPr>
          <p:cNvPr id="331"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35"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36"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37"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38"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39" name="Forme libre : forme 3"/>
          <p:cNvSpPr/>
          <p:nvPr/>
        </p:nvSpPr>
        <p:spPr>
          <a:xfrm>
            <a:off x="1125895"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40" name="Rectangle 4"/>
          <p:cNvSpPr txBox="1"/>
          <p:nvPr/>
        </p:nvSpPr>
        <p:spPr>
          <a:xfrm>
            <a:off x="1169067" y="2815271"/>
            <a:ext cx="79408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w₂</a:t>
            </a:r>
          </a:p>
        </p:txBody>
      </p:sp>
      <p:sp>
        <p:nvSpPr>
          <p:cNvPr id="341" name="Forme libre : forme 5"/>
          <p:cNvSpPr/>
          <p:nvPr/>
        </p:nvSpPr>
        <p:spPr>
          <a:xfrm>
            <a:off x="2062413" y="3031319"/>
            <a:ext cx="1931069" cy="142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424"/>
                </a:moveTo>
                <a:lnTo>
                  <a:pt x="1804" y="10007"/>
                </a:lnTo>
                <a:lnTo>
                  <a:pt x="3555" y="3319"/>
                </a:lnTo>
                <a:lnTo>
                  <a:pt x="5489" y="21600"/>
                </a:lnTo>
                <a:lnTo>
                  <a:pt x="7200" y="9398"/>
                </a:lnTo>
                <a:lnTo>
                  <a:pt x="8978" y="6489"/>
                </a:lnTo>
                <a:lnTo>
                  <a:pt x="10750" y="2615"/>
                </a:lnTo>
                <a:lnTo>
                  <a:pt x="12667" y="18523"/>
                </a:lnTo>
                <a:lnTo>
                  <a:pt x="14439" y="14696"/>
                </a:lnTo>
                <a:lnTo>
                  <a:pt x="16210" y="10749"/>
                </a:lnTo>
                <a:lnTo>
                  <a:pt x="17931" y="0"/>
                </a:lnTo>
                <a:lnTo>
                  <a:pt x="19787" y="7656"/>
                </a:lnTo>
                <a:lnTo>
                  <a:pt x="21600" y="9424"/>
                </a:lnTo>
              </a:path>
            </a:pathLst>
          </a:custGeom>
          <a:ln w="19050">
            <a:solidFill>
              <a:srgbClr val="287B95"/>
            </a:solidFill>
          </a:ln>
        </p:spPr>
        <p:txBody>
          <a:bodyPr lIns="45719" rIns="45719"/>
          <a:lstStyle/>
          <a:p>
            <a:pPr/>
          </a:p>
        </p:txBody>
      </p:sp>
      <p:sp>
        <p:nvSpPr>
          <p:cNvPr id="342" name="Forme libre : forme 6"/>
          <p:cNvSpPr/>
          <p:nvPr/>
        </p:nvSpPr>
        <p:spPr>
          <a:xfrm>
            <a:off x="3904103"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43" name="Forme libre : forme 7"/>
          <p:cNvSpPr/>
          <p:nvPr/>
        </p:nvSpPr>
        <p:spPr>
          <a:xfrm>
            <a:off x="1791703" y="3890074"/>
            <a:ext cx="2472490" cy="15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52"/>
                </a:moveTo>
                <a:lnTo>
                  <a:pt x="19857" y="19348"/>
                </a:lnTo>
                <a:lnTo>
                  <a:pt x="17953" y="2412"/>
                </a:lnTo>
                <a:lnTo>
                  <a:pt x="16138" y="0"/>
                </a:lnTo>
                <a:lnTo>
                  <a:pt x="14452" y="18486"/>
                </a:lnTo>
                <a:lnTo>
                  <a:pt x="12581" y="6996"/>
                </a:lnTo>
                <a:lnTo>
                  <a:pt x="10811" y="11806"/>
                </a:lnTo>
                <a:lnTo>
                  <a:pt x="9001" y="10261"/>
                </a:lnTo>
                <a:lnTo>
                  <a:pt x="7271" y="21600"/>
                </a:lnTo>
                <a:lnTo>
                  <a:pt x="5413" y="12165"/>
                </a:lnTo>
                <a:lnTo>
                  <a:pt x="3548" y="1495"/>
                </a:lnTo>
                <a:lnTo>
                  <a:pt x="1768" y="4882"/>
                </a:lnTo>
                <a:lnTo>
                  <a:pt x="0" y="10052"/>
                </a:lnTo>
              </a:path>
            </a:pathLst>
          </a:custGeom>
          <a:ln w="25718">
            <a:solidFill>
              <a:srgbClr val="A45F57"/>
            </a:solidFill>
          </a:ln>
        </p:spPr>
        <p:txBody>
          <a:bodyPr lIns="45719" rIns="45719"/>
          <a:lstStyle/>
          <a:p>
            <a:pPr/>
          </a:p>
        </p:txBody>
      </p:sp>
      <p:sp>
        <p:nvSpPr>
          <p:cNvPr id="344" name="Forme libre : forme 8"/>
          <p:cNvSpPr/>
          <p:nvPr/>
        </p:nvSpPr>
        <p:spPr>
          <a:xfrm>
            <a:off x="1791703"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45" name="Forme libre : forme 9"/>
          <p:cNvSpPr/>
          <p:nvPr/>
        </p:nvSpPr>
        <p:spPr>
          <a:xfrm>
            <a:off x="4049569"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46" name="Rectangle 10"/>
          <p:cNvSpPr txBox="1"/>
          <p:nvPr/>
        </p:nvSpPr>
        <p:spPr>
          <a:xfrm>
            <a:off x="4092742" y="2815271"/>
            <a:ext cx="79408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z₂</a:t>
            </a:r>
          </a:p>
        </p:txBody>
      </p:sp>
      <p:sp>
        <p:nvSpPr>
          <p:cNvPr id="347" name="Forme libre : forme 11"/>
          <p:cNvSpPr/>
          <p:nvPr/>
        </p:nvSpPr>
        <p:spPr>
          <a:xfrm>
            <a:off x="4986087" y="3030701"/>
            <a:ext cx="1931069" cy="137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730"/>
                </a:moveTo>
                <a:lnTo>
                  <a:pt x="1874" y="21122"/>
                </a:lnTo>
                <a:lnTo>
                  <a:pt x="3535" y="1532"/>
                </a:lnTo>
                <a:lnTo>
                  <a:pt x="5395" y="10007"/>
                </a:lnTo>
                <a:lnTo>
                  <a:pt x="7157" y="4663"/>
                </a:lnTo>
                <a:lnTo>
                  <a:pt x="8975" y="7183"/>
                </a:lnTo>
                <a:lnTo>
                  <a:pt x="10724" y="0"/>
                </a:lnTo>
                <a:lnTo>
                  <a:pt x="12559" y="4986"/>
                </a:lnTo>
                <a:lnTo>
                  <a:pt x="14400" y="10784"/>
                </a:lnTo>
                <a:lnTo>
                  <a:pt x="16277" y="21600"/>
                </a:lnTo>
                <a:lnTo>
                  <a:pt x="18034" y="15560"/>
                </a:lnTo>
                <a:lnTo>
                  <a:pt x="19827" y="14489"/>
                </a:lnTo>
                <a:lnTo>
                  <a:pt x="21600" y="10730"/>
                </a:lnTo>
              </a:path>
            </a:pathLst>
          </a:custGeom>
          <a:ln w="19050">
            <a:solidFill>
              <a:srgbClr val="287B95"/>
            </a:solidFill>
          </a:ln>
        </p:spPr>
        <p:txBody>
          <a:bodyPr lIns="45719" rIns="45719"/>
          <a:lstStyle/>
          <a:p>
            <a:pPr/>
          </a:p>
        </p:txBody>
      </p:sp>
      <p:sp>
        <p:nvSpPr>
          <p:cNvPr id="348" name="Forme libre : forme 12"/>
          <p:cNvSpPr/>
          <p:nvPr/>
        </p:nvSpPr>
        <p:spPr>
          <a:xfrm>
            <a:off x="6827777"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49" name="Forme libre : forme 13"/>
          <p:cNvSpPr/>
          <p:nvPr/>
        </p:nvSpPr>
        <p:spPr>
          <a:xfrm>
            <a:off x="4715376" y="3889388"/>
            <a:ext cx="2472490" cy="148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307"/>
                </a:moveTo>
                <a:lnTo>
                  <a:pt x="19738" y="1007"/>
                </a:lnTo>
                <a:lnTo>
                  <a:pt x="17932" y="0"/>
                </a:lnTo>
                <a:lnTo>
                  <a:pt x="16148" y="2609"/>
                </a:lnTo>
                <a:lnTo>
                  <a:pt x="14361" y="4739"/>
                </a:lnTo>
                <a:lnTo>
                  <a:pt x="12598" y="11018"/>
                </a:lnTo>
                <a:lnTo>
                  <a:pt x="10862" y="21600"/>
                </a:lnTo>
                <a:lnTo>
                  <a:pt x="9014" y="13625"/>
                </a:lnTo>
                <a:lnTo>
                  <a:pt x="7234" y="17048"/>
                </a:lnTo>
                <a:lnTo>
                  <a:pt x="5433" y="16882"/>
                </a:lnTo>
                <a:lnTo>
                  <a:pt x="3657" y="20893"/>
                </a:lnTo>
                <a:lnTo>
                  <a:pt x="1749" y="2742"/>
                </a:lnTo>
                <a:lnTo>
                  <a:pt x="0" y="11307"/>
                </a:lnTo>
              </a:path>
            </a:pathLst>
          </a:custGeom>
          <a:ln w="25718">
            <a:solidFill>
              <a:srgbClr val="A45F57"/>
            </a:solidFill>
          </a:ln>
        </p:spPr>
        <p:txBody>
          <a:bodyPr lIns="45719" rIns="45719"/>
          <a:lstStyle/>
          <a:p>
            <a:pPr/>
          </a:p>
        </p:txBody>
      </p:sp>
      <p:sp>
        <p:nvSpPr>
          <p:cNvPr id="350" name="Forme libre : forme 14"/>
          <p:cNvSpPr/>
          <p:nvPr/>
        </p:nvSpPr>
        <p:spPr>
          <a:xfrm>
            <a:off x="4715376"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51" name="Forme libre : forme 15"/>
          <p:cNvSpPr/>
          <p:nvPr/>
        </p:nvSpPr>
        <p:spPr>
          <a:xfrm>
            <a:off x="6973241"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52" name="Rectangle 16"/>
          <p:cNvSpPr txBox="1"/>
          <p:nvPr/>
        </p:nvSpPr>
        <p:spPr>
          <a:xfrm>
            <a:off x="7016415" y="2861574"/>
            <a:ext cx="794085"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ŷ</a:t>
            </a:r>
          </a:p>
        </p:txBody>
      </p:sp>
      <p:sp>
        <p:nvSpPr>
          <p:cNvPr id="353" name="Forme libre : forme 17"/>
          <p:cNvSpPr/>
          <p:nvPr/>
        </p:nvSpPr>
        <p:spPr>
          <a:xfrm>
            <a:off x="7909761" y="3032170"/>
            <a:ext cx="1876927" cy="128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64"/>
                </a:moveTo>
                <a:lnTo>
                  <a:pt x="1887" y="21600"/>
                </a:lnTo>
                <a:lnTo>
                  <a:pt x="3547" y="1197"/>
                </a:lnTo>
                <a:lnTo>
                  <a:pt x="5346" y="1106"/>
                </a:lnTo>
                <a:lnTo>
                  <a:pt x="7231" y="13481"/>
                </a:lnTo>
                <a:lnTo>
                  <a:pt x="9009" y="10335"/>
                </a:lnTo>
                <a:lnTo>
                  <a:pt x="10865" y="18511"/>
                </a:lnTo>
                <a:lnTo>
                  <a:pt x="12686" y="21519"/>
                </a:lnTo>
                <a:lnTo>
                  <a:pt x="14458" y="17407"/>
                </a:lnTo>
                <a:lnTo>
                  <a:pt x="16139" y="0"/>
                </a:lnTo>
                <a:lnTo>
                  <a:pt x="18079" y="20518"/>
                </a:lnTo>
                <a:lnTo>
                  <a:pt x="19779" y="5923"/>
                </a:lnTo>
                <a:lnTo>
                  <a:pt x="21600" y="8964"/>
                </a:lnTo>
              </a:path>
            </a:pathLst>
          </a:custGeom>
          <a:ln w="19050">
            <a:solidFill>
              <a:srgbClr val="287B95"/>
            </a:solidFill>
          </a:ln>
        </p:spPr>
        <p:txBody>
          <a:bodyPr lIns="45719" rIns="45719"/>
          <a:lstStyle/>
          <a:p>
            <a:pPr/>
          </a:p>
        </p:txBody>
      </p:sp>
      <p:sp>
        <p:nvSpPr>
          <p:cNvPr id="354" name="Forme libre : forme 18"/>
          <p:cNvSpPr/>
          <p:nvPr/>
        </p:nvSpPr>
        <p:spPr>
          <a:xfrm>
            <a:off x="9697308"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55" name="Forme libre : forme 19"/>
          <p:cNvSpPr/>
          <p:nvPr/>
        </p:nvSpPr>
        <p:spPr>
          <a:xfrm>
            <a:off x="7639050" y="3889087"/>
            <a:ext cx="2418347" cy="154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252"/>
                </a:moveTo>
                <a:lnTo>
                  <a:pt x="19728" y="0"/>
                </a:lnTo>
                <a:lnTo>
                  <a:pt x="18011" y="12971"/>
                </a:lnTo>
                <a:lnTo>
                  <a:pt x="16266" y="21600"/>
                </a:lnTo>
                <a:lnTo>
                  <a:pt x="14416" y="13727"/>
                </a:lnTo>
                <a:lnTo>
                  <a:pt x="12559" y="4818"/>
                </a:lnTo>
                <a:lnTo>
                  <a:pt x="10835" y="16806"/>
                </a:lnTo>
                <a:lnTo>
                  <a:pt x="9022" y="14627"/>
                </a:lnTo>
                <a:lnTo>
                  <a:pt x="7184" y="8806"/>
                </a:lnTo>
                <a:lnTo>
                  <a:pt x="5371" y="6658"/>
                </a:lnTo>
                <a:lnTo>
                  <a:pt x="3608" y="12451"/>
                </a:lnTo>
                <a:lnTo>
                  <a:pt x="1776" y="7473"/>
                </a:lnTo>
                <a:lnTo>
                  <a:pt x="0" y="11252"/>
                </a:lnTo>
              </a:path>
            </a:pathLst>
          </a:custGeom>
          <a:ln w="25718">
            <a:solidFill>
              <a:srgbClr val="A45F57"/>
            </a:solidFill>
          </a:ln>
        </p:spPr>
        <p:txBody>
          <a:bodyPr lIns="45719" rIns="45719"/>
          <a:lstStyle/>
          <a:p>
            <a:pPr/>
          </a:p>
        </p:txBody>
      </p:sp>
      <p:sp>
        <p:nvSpPr>
          <p:cNvPr id="356" name="Forme libre : forme 20"/>
          <p:cNvSpPr/>
          <p:nvPr/>
        </p:nvSpPr>
        <p:spPr>
          <a:xfrm>
            <a:off x="7639050"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57" name="Forme libre : forme 21"/>
          <p:cNvSpPr/>
          <p:nvPr/>
        </p:nvSpPr>
        <p:spPr>
          <a:xfrm>
            <a:off x="9842773"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358" name="Rectangle 22"/>
          <p:cNvSpPr txBox="1"/>
          <p:nvPr/>
        </p:nvSpPr>
        <p:spPr>
          <a:xfrm>
            <a:off x="9885946" y="2861574"/>
            <a:ext cx="794085"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L</a:t>
            </a:r>
          </a:p>
        </p:txBody>
      </p:sp>
      <p:sp>
        <p:nvSpPr>
          <p:cNvPr id="359" name="Rectangle 23"/>
          <p:cNvSpPr txBox="1"/>
          <p:nvPr/>
        </p:nvSpPr>
        <p:spPr>
          <a:xfrm>
            <a:off x="2378242" y="4184411"/>
            <a:ext cx="1416719"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h</a:t>
            </a:r>
          </a:p>
        </p:txBody>
      </p:sp>
      <p:sp>
        <p:nvSpPr>
          <p:cNvPr id="360" name="Rectangle 24"/>
          <p:cNvSpPr txBox="1"/>
          <p:nvPr/>
        </p:nvSpPr>
        <p:spPr>
          <a:xfrm>
            <a:off x="5220703" y="4184411"/>
            <a:ext cx="17145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ŷ(1−ŷ)</a:t>
            </a:r>
          </a:p>
        </p:txBody>
      </p:sp>
      <p:sp>
        <p:nvSpPr>
          <p:cNvPr id="361" name="Rectangle 25"/>
          <p:cNvSpPr txBox="1"/>
          <p:nvPr/>
        </p:nvSpPr>
        <p:spPr>
          <a:xfrm>
            <a:off x="8081211" y="4184411"/>
            <a:ext cx="17145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(−1/ŷ)</a:t>
            </a:r>
          </a:p>
        </p:txBody>
      </p:sp>
      <p:sp>
        <p:nvSpPr>
          <p:cNvPr id="362" name="Rectangle 26"/>
          <p:cNvSpPr txBox="1"/>
          <p:nvPr/>
        </p:nvSpPr>
        <p:spPr>
          <a:xfrm>
            <a:off x="790073" y="5053885"/>
            <a:ext cx="1029602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287B95"/>
                </a:solidFill>
                <a:latin typeface="Chalkboard"/>
                <a:ea typeface="Chalkboard"/>
                <a:cs typeface="Chalkboard"/>
                <a:sym typeface="Chalkboard"/>
              </a:defRPr>
            </a:lvl1pPr>
          </a:lstStyle>
          <a:p>
            <a:pPr/>
            <a:r>
              <a:t>∂L/∂w₂ = (ŷ − y) · h = −0.1888</a:t>
            </a:r>
          </a:p>
        </p:txBody>
      </p:sp>
      <p:sp>
        <p:nvSpPr>
          <p:cNvPr id="36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Backpropagation follows the chain rule</a:t>
            </a:r>
          </a:p>
        </p:txBody>
      </p:sp>
      <p:sp>
        <p:nvSpPr>
          <p:cNvPr id="36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Multiply local derivatives along a path from the loss back to a weight.</a:t>
            </a:r>
          </a:p>
        </p:txBody>
      </p:sp>
      <p:sp>
        <p:nvSpPr>
          <p:cNvPr id="365" name="matched-footer"/>
          <p:cNvSpPr txBox="1"/>
          <p:nvPr/>
        </p:nvSpPr>
        <p:spPr>
          <a:xfrm>
            <a:off x="666750" y="5934074"/>
            <a:ext cx="108585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Sigmoid + cross-entropy simplifies the output error to δ₂ = ŷ − y = −0.3775.</a:t>
            </a:r>
          </a:p>
        </p:txBody>
      </p:sp>
      <p:sp>
        <p:nvSpPr>
          <p:cNvPr id="36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10</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7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7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7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73"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74" name="Rectangle 4"/>
          <p:cNvSpPr txBox="1"/>
          <p:nvPr/>
        </p:nvSpPr>
        <p:spPr>
          <a:xfrm>
            <a:off x="7981950" y="2489534"/>
            <a:ext cx="31402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A45F57"/>
                </a:solidFill>
                <a:latin typeface="Chalkboard"/>
                <a:ea typeface="Chalkboard"/>
                <a:cs typeface="Chalkboard"/>
                <a:sym typeface="Chalkboard"/>
              </a:defRPr>
            </a:lvl1pPr>
          </a:lstStyle>
          <a:p>
            <a:pPr/>
            <a:r>
              <a:t>Our example</a:t>
            </a:r>
          </a:p>
        </p:txBody>
      </p:sp>
      <p:sp>
        <p:nvSpPr>
          <p:cNvPr id="375" name="Rectangle 5"/>
          <p:cNvSpPr txBox="1"/>
          <p:nvPr/>
        </p:nvSpPr>
        <p:spPr>
          <a:xfrm>
            <a:off x="7981950" y="3073436"/>
            <a:ext cx="3140243"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272729"/>
                </a:solidFill>
                <a:latin typeface="Chalkboard"/>
                <a:ea typeface="Chalkboard"/>
                <a:cs typeface="Chalkboard"/>
                <a:sym typeface="Chalkboard"/>
              </a:defRPr>
            </a:lvl1pPr>
          </a:lstStyle>
          <a:p>
            <a:pPr/>
            <a:r>
              <a:t>ŷ = 0.6225</a:t>
            </a:r>
          </a:p>
        </p:txBody>
      </p:sp>
      <p:sp>
        <p:nvSpPr>
          <p:cNvPr id="376" name="Rectangle 6"/>
          <p:cNvSpPr txBox="1"/>
          <p:nvPr/>
        </p:nvSpPr>
        <p:spPr>
          <a:xfrm>
            <a:off x="7981950" y="3706848"/>
            <a:ext cx="3140243"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A45F57"/>
                </a:solidFill>
                <a:latin typeface="Chalkboard"/>
                <a:ea typeface="Chalkboard"/>
                <a:cs typeface="Chalkboard"/>
                <a:sym typeface="Chalkboard"/>
              </a:defRPr>
            </a:lvl1pPr>
          </a:lstStyle>
          <a:p>
            <a:pPr/>
            <a:r>
              <a:t>L = 0.4741</a:t>
            </a:r>
          </a:p>
        </p:txBody>
      </p:sp>
      <p:sp>
        <p:nvSpPr>
          <p:cNvPr id="377" name="Rectangle 7"/>
          <p:cNvSpPr txBox="1"/>
          <p:nvPr/>
        </p:nvSpPr>
        <p:spPr>
          <a:xfrm>
            <a:off x="7981950" y="4552632"/>
            <a:ext cx="314024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287B95"/>
                </a:solidFill>
                <a:latin typeface="Chalkboard"/>
                <a:ea typeface="Chalkboard"/>
                <a:cs typeface="Chalkboard"/>
                <a:sym typeface="Chalkboard"/>
              </a:defRPr>
            </a:lvl1pPr>
          </a:lstStyle>
          <a:p>
            <a:pPr/>
            <a:r>
              <a:t>L = −log(ŷ)</a:t>
            </a:r>
          </a:p>
        </p:txBody>
      </p:sp>
      <p:graphicFrame>
        <p:nvGraphicFramePr>
          <p:cNvPr id="378" name="Chart"/>
          <p:cNvGraphicFramePr/>
          <p:nvPr/>
        </p:nvGraphicFramePr>
        <p:xfrm>
          <a:off x="1206885" y="1911595"/>
          <a:ext cx="5847023" cy="3484806"/>
        </p:xfrm>
        <a:graphic xmlns:a="http://schemas.openxmlformats.org/drawingml/2006/main">
          <a:graphicData uri="http://schemas.openxmlformats.org/drawingml/2006/chart">
            <c:chart xmlns:c="http://schemas.openxmlformats.org/drawingml/2006/chart" r:id="rId3"/>
          </a:graphicData>
        </a:graphic>
      </p:graphicFrame>
      <p:sp>
        <p:nvSpPr>
          <p:cNvPr id="37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The loss measures the prediction error</a:t>
            </a:r>
          </a:p>
        </p:txBody>
      </p:sp>
      <p:sp>
        <p:nvSpPr>
          <p:cNvPr id="38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 a spam email (y = 1), higher predicted probability means lower loss.</a:t>
            </a:r>
          </a:p>
        </p:txBody>
      </p:sp>
      <p:sp>
        <p:nvSpPr>
          <p:cNvPr id="381"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Binary cross-entropy: L = −[y log(ŷ) + (1−y) log(1−ŷ)].</a:t>
            </a:r>
          </a:p>
        </p:txBody>
      </p:sp>
      <p:sp>
        <p:nvSpPr>
          <p:cNvPr id="38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08</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8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8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8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89" name="Line"/>
          <p:cNvSpPr/>
          <p:nvPr/>
        </p:nvSpPr>
        <p:spPr>
          <a:xfrm>
            <a:off x="609600" y="6429375"/>
            <a:ext cx="10972801" cy="0"/>
          </a:xfrm>
          <a:prstGeom prst="line">
            <a:avLst/>
          </a:prstGeom>
          <a:ln w="7620">
            <a:solidFill>
              <a:srgbClr val="D9CDBB"/>
            </a:solidFill>
          </a:ln>
        </p:spPr>
        <p:txBody>
          <a:bodyPr lIns="45719" rIns="45719"/>
          <a:lstStyle/>
          <a:p>
            <a:pPr/>
          </a:p>
        </p:txBody>
      </p:sp>
      <p:graphicFrame>
        <p:nvGraphicFramePr>
          <p:cNvPr id="390" name="Chart"/>
          <p:cNvGraphicFramePr/>
          <p:nvPr/>
        </p:nvGraphicFramePr>
        <p:xfrm>
          <a:off x="1290310" y="1844421"/>
          <a:ext cx="6235493" cy="3373581"/>
        </p:xfrm>
        <a:graphic xmlns:a="http://schemas.openxmlformats.org/drawingml/2006/main">
          <a:graphicData uri="http://schemas.openxmlformats.org/drawingml/2006/chart">
            <c:chart xmlns:c="http://schemas.openxmlformats.org/drawingml/2006/chart" r:id="rId3"/>
          </a:graphicData>
        </a:graphic>
      </p:graphicFrame>
      <p:sp>
        <p:nvSpPr>
          <p:cNvPr id="391" name="Rectangle 5"/>
          <p:cNvSpPr txBox="1"/>
          <p:nvPr/>
        </p:nvSpPr>
        <p:spPr>
          <a:xfrm>
            <a:off x="8108882" y="2042160"/>
            <a:ext cx="2886377" cy="48177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478B79"/>
                </a:solidFill>
                <a:latin typeface="Chalkboard"/>
                <a:ea typeface="Chalkboard"/>
                <a:cs typeface="Chalkboard"/>
                <a:sym typeface="Chalkboard"/>
              </a:defRPr>
            </a:lvl1pPr>
          </a:lstStyle>
          <a:p>
            <a:pPr/>
            <a:r>
              <a:t>Negative slope</a:t>
            </a:r>
          </a:p>
        </p:txBody>
      </p:sp>
      <p:sp>
        <p:nvSpPr>
          <p:cNvPr id="392" name="Rectangle 6"/>
          <p:cNvSpPr txBox="1"/>
          <p:nvPr/>
        </p:nvSpPr>
        <p:spPr>
          <a:xfrm>
            <a:off x="8108882" y="2521743"/>
            <a:ext cx="2886377"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272729"/>
                </a:solidFill>
                <a:latin typeface="Arial"/>
                <a:ea typeface="Arial"/>
                <a:cs typeface="Arial"/>
                <a:sym typeface="Arial"/>
              </a:defRPr>
            </a:lvl1pPr>
          </a:lstStyle>
          <a:p>
            <a:pPr/>
            <a:r>
              <a:t>Increase w</a:t>
            </a:r>
          </a:p>
        </p:txBody>
      </p:sp>
      <p:sp>
        <p:nvSpPr>
          <p:cNvPr id="393" name="Rectangle 7"/>
          <p:cNvSpPr txBox="1"/>
          <p:nvPr/>
        </p:nvSpPr>
        <p:spPr>
          <a:xfrm>
            <a:off x="8108882" y="3390424"/>
            <a:ext cx="2886377" cy="48177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A45F57"/>
                </a:solidFill>
                <a:latin typeface="Chalkboard"/>
                <a:ea typeface="Chalkboard"/>
                <a:cs typeface="Chalkboard"/>
                <a:sym typeface="Chalkboard"/>
              </a:defRPr>
            </a:lvl1pPr>
          </a:lstStyle>
          <a:p>
            <a:pPr/>
            <a:r>
              <a:t>Positive slope</a:t>
            </a:r>
          </a:p>
        </p:txBody>
      </p:sp>
      <p:sp>
        <p:nvSpPr>
          <p:cNvPr id="394" name="Rectangle 8"/>
          <p:cNvSpPr txBox="1"/>
          <p:nvPr/>
        </p:nvSpPr>
        <p:spPr>
          <a:xfrm>
            <a:off x="8108882" y="3870007"/>
            <a:ext cx="2886377"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272729"/>
                </a:solidFill>
                <a:latin typeface="Arial"/>
                <a:ea typeface="Arial"/>
                <a:cs typeface="Arial"/>
                <a:sym typeface="Arial"/>
              </a:defRPr>
            </a:lvl1pPr>
          </a:lstStyle>
          <a:p>
            <a:pPr/>
            <a:r>
              <a:t>Decrease w</a:t>
            </a:r>
          </a:p>
        </p:txBody>
      </p:sp>
      <p:sp>
        <p:nvSpPr>
          <p:cNvPr id="395" name="Rectangle 9"/>
          <p:cNvSpPr txBox="1"/>
          <p:nvPr/>
        </p:nvSpPr>
        <p:spPr>
          <a:xfrm>
            <a:off x="8072787" y="4792979"/>
            <a:ext cx="3202206" cy="4664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ΔL ≈ (∂L/∂w) Δw</a:t>
            </a:r>
          </a:p>
        </p:txBody>
      </p:sp>
      <p:sp>
        <p:nvSpPr>
          <p:cNvPr id="396"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What a gradient tells us</a:t>
            </a:r>
          </a:p>
        </p:txBody>
      </p:sp>
      <p:sp>
        <p:nvSpPr>
          <p:cNvPr id="397"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tangent slope shows how loss changes near the current parameter value.</a:t>
            </a:r>
          </a:p>
        </p:txBody>
      </p:sp>
      <p:sp>
        <p:nvSpPr>
          <p:cNvPr id="398"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Subtracting a small multiple of the gradient moves the parameter downhill locally.</a:t>
            </a:r>
          </a:p>
        </p:txBody>
      </p:sp>
      <p:sp>
        <p:nvSpPr>
          <p:cNvPr id="399"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05</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03" name="Rounded Rectangle"/>
          <p:cNvSpPr/>
          <p:nvPr/>
        </p:nvSpPr>
        <p:spPr>
          <a:xfrm>
            <a:off x="457200" y="16605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04"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05"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06"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07" name="Rectangle 4"/>
          <p:cNvSpPr txBox="1"/>
          <p:nvPr/>
        </p:nvSpPr>
        <p:spPr>
          <a:xfrm>
            <a:off x="8315825" y="2218071"/>
            <a:ext cx="27973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7B95"/>
                </a:solidFill>
                <a:latin typeface="Chalkboard"/>
                <a:ea typeface="Chalkboard"/>
                <a:cs typeface="Chalkboard"/>
                <a:sym typeface="Chalkboard"/>
              </a:defRPr>
            </a:lvl1pPr>
          </a:lstStyle>
          <a:p>
            <a:pPr/>
            <a:r>
              <a:t>Left of zero</a:t>
            </a:r>
          </a:p>
        </p:txBody>
      </p:sp>
      <p:sp>
        <p:nvSpPr>
          <p:cNvPr id="408" name="Rectangle 5"/>
          <p:cNvSpPr txBox="1"/>
          <p:nvPr/>
        </p:nvSpPr>
        <p:spPr>
          <a:xfrm>
            <a:off x="8315825" y="2727584"/>
            <a:ext cx="2797343" cy="339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272729"/>
                </a:solidFill>
                <a:latin typeface="Chalkboard"/>
                <a:ea typeface="Chalkboard"/>
                <a:cs typeface="Chalkboard"/>
                <a:sym typeface="Chalkboard"/>
              </a:defRPr>
            </a:lvl1pPr>
          </a:lstStyle>
          <a:p>
            <a:pPr/>
            <a:r>
              <a:t>∂L/∂w &lt; 0</a:t>
            </a:r>
          </a:p>
        </p:txBody>
      </p:sp>
      <p:sp>
        <p:nvSpPr>
          <p:cNvPr id="409" name="Rectangle 6"/>
          <p:cNvSpPr txBox="1"/>
          <p:nvPr/>
        </p:nvSpPr>
        <p:spPr>
          <a:xfrm>
            <a:off x="8315825" y="3230574"/>
            <a:ext cx="2797343"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287B95"/>
                </a:solidFill>
                <a:latin typeface="Chalkboard"/>
                <a:ea typeface="Chalkboard"/>
                <a:cs typeface="Chalkboard"/>
                <a:sym typeface="Chalkboard"/>
              </a:defRPr>
            </a:lvl1pPr>
          </a:lstStyle>
          <a:p>
            <a:pPr/>
            <a:r>
              <a:t>Increase w</a:t>
            </a:r>
          </a:p>
        </p:txBody>
      </p:sp>
      <p:sp>
        <p:nvSpPr>
          <p:cNvPr id="410" name="Rectangle 7"/>
          <p:cNvSpPr txBox="1"/>
          <p:nvPr/>
        </p:nvSpPr>
        <p:spPr>
          <a:xfrm>
            <a:off x="8315825" y="3982577"/>
            <a:ext cx="27973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A45F57"/>
                </a:solidFill>
                <a:latin typeface="Chalkboard"/>
                <a:ea typeface="Chalkboard"/>
                <a:cs typeface="Chalkboard"/>
                <a:sym typeface="Chalkboard"/>
              </a:defRPr>
            </a:lvl1pPr>
          </a:lstStyle>
          <a:p>
            <a:pPr/>
            <a:r>
              <a:t>Right of zero</a:t>
            </a:r>
          </a:p>
        </p:txBody>
      </p:sp>
      <p:sp>
        <p:nvSpPr>
          <p:cNvPr id="411" name="Rectangle 8"/>
          <p:cNvSpPr txBox="1"/>
          <p:nvPr/>
        </p:nvSpPr>
        <p:spPr>
          <a:xfrm>
            <a:off x="8315825" y="4473993"/>
            <a:ext cx="2797343" cy="339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272729"/>
                </a:solidFill>
                <a:latin typeface="Chalkboard"/>
                <a:ea typeface="Chalkboard"/>
                <a:cs typeface="Chalkboard"/>
                <a:sym typeface="Chalkboard"/>
              </a:defRPr>
            </a:lvl1pPr>
          </a:lstStyle>
          <a:p>
            <a:pPr/>
            <a:r>
              <a:t>∂L/∂w &gt; 0</a:t>
            </a:r>
          </a:p>
        </p:txBody>
      </p:sp>
      <p:sp>
        <p:nvSpPr>
          <p:cNvPr id="412" name="Rectangle 9"/>
          <p:cNvSpPr txBox="1"/>
          <p:nvPr/>
        </p:nvSpPr>
        <p:spPr>
          <a:xfrm>
            <a:off x="8315825" y="4967934"/>
            <a:ext cx="2797343"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A45F57"/>
                </a:solidFill>
                <a:latin typeface="Chalkboard"/>
                <a:ea typeface="Chalkboard"/>
                <a:cs typeface="Chalkboard"/>
                <a:sym typeface="Chalkboard"/>
              </a:defRPr>
            </a:lvl1pPr>
          </a:lstStyle>
          <a:p>
            <a:pPr/>
            <a:r>
              <a:t>Decrease w</a:t>
            </a:r>
          </a:p>
        </p:txBody>
      </p:sp>
      <p:graphicFrame>
        <p:nvGraphicFramePr>
          <p:cNvPr id="413" name="Chart"/>
          <p:cNvGraphicFramePr/>
          <p:nvPr/>
        </p:nvGraphicFramePr>
        <p:xfrm>
          <a:off x="1211053" y="1893497"/>
          <a:ext cx="6199421" cy="3457660"/>
        </p:xfrm>
        <a:graphic xmlns:a="http://schemas.openxmlformats.org/drawingml/2006/main">
          <a:graphicData uri="http://schemas.openxmlformats.org/drawingml/2006/chart">
            <c:chart xmlns:c="http://schemas.openxmlformats.org/drawingml/2006/chart" r:id="rId3"/>
          </a:graphicData>
        </a:graphic>
      </p:graphicFrame>
      <p:sp>
        <p:nvSpPr>
          <p:cNvPr id="414"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descent moves downhill</a:t>
            </a:r>
          </a:p>
        </p:txBody>
      </p:sp>
      <p:sp>
        <p:nvSpPr>
          <p:cNvPr id="415"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 L(w) = w², both sides point toward the minimum at w = 0.</a:t>
            </a:r>
          </a:p>
        </p:txBody>
      </p:sp>
      <p:sp>
        <p:nvSpPr>
          <p:cNvPr id="416"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Subtract the gradient. A sufficiently small step lowers the loss locally.</a:t>
            </a:r>
          </a:p>
        </p:txBody>
      </p:sp>
      <p:sp>
        <p:nvSpPr>
          <p:cNvPr id="417"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06</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2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2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2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24"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25" name="Rectangle 3"/>
          <p:cNvSpPr txBox="1"/>
          <p:nvPr/>
        </p:nvSpPr>
        <p:spPr>
          <a:xfrm>
            <a:off x="907382"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287B95"/>
                </a:solidFill>
                <a:latin typeface="Chalkboard"/>
                <a:ea typeface="Chalkboard"/>
                <a:cs typeface="Chalkboard"/>
                <a:sym typeface="Chalkboard"/>
              </a:defRPr>
            </a:lvl1pPr>
          </a:lstStyle>
          <a:p>
            <a:pPr/>
            <a:r>
              <a:t>η = 0.1</a:t>
            </a:r>
          </a:p>
        </p:txBody>
      </p:sp>
      <p:sp>
        <p:nvSpPr>
          <p:cNvPr id="426" name="Rectangle 5"/>
          <p:cNvSpPr txBox="1"/>
          <p:nvPr/>
        </p:nvSpPr>
        <p:spPr>
          <a:xfrm>
            <a:off x="772025"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Small step</a:t>
            </a:r>
          </a:p>
        </p:txBody>
      </p:sp>
      <p:sp>
        <p:nvSpPr>
          <p:cNvPr id="427" name="Rectangle 6"/>
          <p:cNvSpPr txBox="1"/>
          <p:nvPr/>
        </p:nvSpPr>
        <p:spPr>
          <a:xfrm>
            <a:off x="4652210"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287B95"/>
                </a:solidFill>
                <a:latin typeface="Chalkboard"/>
                <a:ea typeface="Chalkboard"/>
                <a:cs typeface="Chalkboard"/>
                <a:sym typeface="Chalkboard"/>
              </a:defRPr>
            </a:lvl1pPr>
          </a:lstStyle>
          <a:p>
            <a:pPr/>
            <a:r>
              <a:t>η = 0.5</a:t>
            </a:r>
          </a:p>
        </p:txBody>
      </p:sp>
      <p:sp>
        <p:nvSpPr>
          <p:cNvPr id="428" name="Rectangle 8"/>
          <p:cNvSpPr txBox="1"/>
          <p:nvPr/>
        </p:nvSpPr>
        <p:spPr>
          <a:xfrm>
            <a:off x="4516854"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At the minimum</a:t>
            </a:r>
          </a:p>
        </p:txBody>
      </p:sp>
      <p:sp>
        <p:nvSpPr>
          <p:cNvPr id="429" name="Rectangle 9"/>
          <p:cNvSpPr txBox="1"/>
          <p:nvPr/>
        </p:nvSpPr>
        <p:spPr>
          <a:xfrm>
            <a:off x="8397038"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A45F57"/>
                </a:solidFill>
                <a:latin typeface="Chalkboard"/>
                <a:ea typeface="Chalkboard"/>
                <a:cs typeface="Chalkboard"/>
                <a:sym typeface="Chalkboard"/>
              </a:defRPr>
            </a:lvl1pPr>
          </a:lstStyle>
          <a:p>
            <a:pPr/>
            <a:r>
              <a:t>η = 1.1</a:t>
            </a:r>
          </a:p>
        </p:txBody>
      </p:sp>
      <p:sp>
        <p:nvSpPr>
          <p:cNvPr id="430" name="Rectangle 11"/>
          <p:cNvSpPr txBox="1"/>
          <p:nvPr/>
        </p:nvSpPr>
        <p:spPr>
          <a:xfrm>
            <a:off x="8261684"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Overshoots</a:t>
            </a:r>
          </a:p>
        </p:txBody>
      </p:sp>
      <p:graphicFrame>
        <p:nvGraphicFramePr>
          <p:cNvPr id="431" name="Step-size chart 1"/>
          <p:cNvGraphicFramePr/>
          <p:nvPr/>
        </p:nvGraphicFramePr>
        <p:xfrm>
          <a:off x="1074939" y="2336886"/>
          <a:ext cx="2924582" cy="2643273"/>
        </p:xfrm>
        <a:graphic xmlns:a="http://schemas.openxmlformats.org/drawingml/2006/main">
          <a:graphicData uri="http://schemas.openxmlformats.org/drawingml/2006/chart">
            <c:chart xmlns:c="http://schemas.openxmlformats.org/drawingml/2006/chart" r:id="rId3"/>
          </a:graphicData>
        </a:graphic>
      </p:graphicFrame>
      <p:graphicFrame>
        <p:nvGraphicFramePr>
          <p:cNvPr id="432" name="Step-size chart 2"/>
          <p:cNvGraphicFramePr/>
          <p:nvPr/>
        </p:nvGraphicFramePr>
        <p:xfrm>
          <a:off x="4819768" y="2336886"/>
          <a:ext cx="2924583" cy="2643273"/>
        </p:xfrm>
        <a:graphic xmlns:a="http://schemas.openxmlformats.org/drawingml/2006/main">
          <a:graphicData uri="http://schemas.openxmlformats.org/drawingml/2006/chart">
            <c:chart xmlns:c="http://schemas.openxmlformats.org/drawingml/2006/chart" r:id="rId4"/>
          </a:graphicData>
        </a:graphic>
      </p:graphicFrame>
      <p:graphicFrame>
        <p:nvGraphicFramePr>
          <p:cNvPr id="433" name="Step-size chart 3"/>
          <p:cNvGraphicFramePr/>
          <p:nvPr/>
        </p:nvGraphicFramePr>
        <p:xfrm>
          <a:off x="8564598" y="2336886"/>
          <a:ext cx="2924582" cy="2643273"/>
        </p:xfrm>
        <a:graphic xmlns:a="http://schemas.openxmlformats.org/drawingml/2006/main">
          <a:graphicData uri="http://schemas.openxmlformats.org/drawingml/2006/chart">
            <c:chart xmlns:c="http://schemas.openxmlformats.org/drawingml/2006/chart" r:id="rId5"/>
          </a:graphicData>
        </a:graphic>
      </p:graphicFrame>
      <p:sp>
        <p:nvSpPr>
          <p:cNvPr id="434"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Step size changes the path</a:t>
            </a:r>
          </a:p>
        </p:txBody>
      </p:sp>
      <p:sp>
        <p:nvSpPr>
          <p:cNvPr id="435"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Same loss L(w) = w², same start w = 1, three learning rates.</a:t>
            </a:r>
          </a:p>
        </p:txBody>
      </p:sp>
      <p:sp>
        <p:nvSpPr>
          <p:cNvPr id="436"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One update: w = 0.8 (L = 0.64), w = 0 (L = 0), or w = −1.2 (L = 1.44).</a:t>
            </a:r>
          </a:p>
        </p:txBody>
      </p:sp>
      <p:sp>
        <p:nvSpPr>
          <p:cNvPr id="437"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16</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4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4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4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44" name="Line"/>
          <p:cNvSpPr/>
          <p:nvPr/>
        </p:nvSpPr>
        <p:spPr>
          <a:xfrm>
            <a:off x="609600" y="6429375"/>
            <a:ext cx="10972801" cy="0"/>
          </a:xfrm>
          <a:prstGeom prst="line">
            <a:avLst/>
          </a:prstGeom>
          <a:ln w="7620">
            <a:solidFill>
              <a:srgbClr val="D9CDBB"/>
            </a:solidFill>
          </a:ln>
        </p:spPr>
        <p:txBody>
          <a:bodyPr lIns="45719" rIns="45719"/>
          <a:lstStyle/>
          <a:p>
            <a:pPr/>
          </a:p>
        </p:txBody>
      </p:sp>
      <p:graphicFrame>
        <p:nvGraphicFramePr>
          <p:cNvPr id="445" name="Chart"/>
          <p:cNvGraphicFramePr/>
          <p:nvPr/>
        </p:nvGraphicFramePr>
        <p:xfrm>
          <a:off x="1257607" y="1895479"/>
          <a:ext cx="6558342" cy="3380574"/>
        </p:xfrm>
        <a:graphic xmlns:a="http://schemas.openxmlformats.org/drawingml/2006/main">
          <a:graphicData uri="http://schemas.openxmlformats.org/drawingml/2006/chart">
            <c:chart xmlns:c="http://schemas.openxmlformats.org/drawingml/2006/chart" r:id="rId3"/>
          </a:graphicData>
        </a:graphic>
      </p:graphicFrame>
      <p:sp>
        <p:nvSpPr>
          <p:cNvPr id="446" name="Rectangle 5"/>
          <p:cNvSpPr txBox="1"/>
          <p:nvPr/>
        </p:nvSpPr>
        <p:spPr>
          <a:xfrm>
            <a:off x="8406664" y="2168842"/>
            <a:ext cx="2525429"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Small steps</a:t>
            </a:r>
          </a:p>
        </p:txBody>
      </p:sp>
      <p:sp>
        <p:nvSpPr>
          <p:cNvPr id="447" name="Rectangle 6"/>
          <p:cNvSpPr txBox="1"/>
          <p:nvPr/>
        </p:nvSpPr>
        <p:spPr>
          <a:xfrm>
            <a:off x="8406664" y="2594133"/>
            <a:ext cx="2597619"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Approach zero gradually.</a:t>
            </a:r>
          </a:p>
        </p:txBody>
      </p:sp>
      <p:sp>
        <p:nvSpPr>
          <p:cNvPr id="448" name="Rectangle 7"/>
          <p:cNvSpPr txBox="1"/>
          <p:nvPr/>
        </p:nvSpPr>
        <p:spPr>
          <a:xfrm>
            <a:off x="8406664" y="3408521"/>
            <a:ext cx="2651761"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478B79"/>
                </a:solidFill>
                <a:latin typeface="Chalkboard"/>
                <a:ea typeface="Chalkboard"/>
                <a:cs typeface="Chalkboard"/>
                <a:sym typeface="Chalkboard"/>
              </a:defRPr>
            </a:lvl1pPr>
          </a:lstStyle>
          <a:p>
            <a:pPr/>
            <a:r>
              <a:t>At the minimum</a:t>
            </a:r>
          </a:p>
        </p:txBody>
      </p:sp>
      <p:sp>
        <p:nvSpPr>
          <p:cNvPr id="449" name="Rectangle 8"/>
          <p:cNvSpPr txBox="1"/>
          <p:nvPr/>
        </p:nvSpPr>
        <p:spPr>
          <a:xfrm>
            <a:off x="8406664" y="3833812"/>
            <a:ext cx="2588595"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Reach zero in one step.</a:t>
            </a:r>
          </a:p>
        </p:txBody>
      </p:sp>
      <p:sp>
        <p:nvSpPr>
          <p:cNvPr id="450" name="Rectangle 9"/>
          <p:cNvSpPr txBox="1"/>
          <p:nvPr/>
        </p:nvSpPr>
        <p:spPr>
          <a:xfrm>
            <a:off x="8406664" y="4657249"/>
            <a:ext cx="2525429"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A45F57"/>
                </a:solidFill>
                <a:latin typeface="Chalkboard"/>
                <a:ea typeface="Chalkboard"/>
                <a:cs typeface="Chalkboard"/>
                <a:sym typeface="Chalkboard"/>
              </a:defRPr>
            </a:lvl1pPr>
          </a:lstStyle>
          <a:p>
            <a:pPr/>
            <a:r>
              <a:t>Overshoot</a:t>
            </a:r>
          </a:p>
        </p:txBody>
      </p:sp>
      <p:sp>
        <p:nvSpPr>
          <p:cNvPr id="451" name="Rectangle 10"/>
          <p:cNvSpPr txBox="1"/>
          <p:nvPr/>
        </p:nvSpPr>
        <p:spPr>
          <a:xfrm>
            <a:off x="8406664" y="5091588"/>
            <a:ext cx="2660785"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72729"/>
                </a:solidFill>
                <a:latin typeface="Arial"/>
                <a:ea typeface="Arial"/>
                <a:cs typeface="Arial"/>
                <a:sym typeface="Arial"/>
              </a:defRPr>
            </a:lvl1pPr>
          </a:lstStyle>
          <a:p>
            <a:pPr/>
            <a:r>
              <a:t>Alternate and move away.</a:t>
            </a:r>
          </a:p>
        </p:txBody>
      </p:sp>
      <p:sp>
        <p:nvSpPr>
          <p:cNvPr id="452"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Repeated steps on a quadratic loss</a:t>
            </a:r>
          </a:p>
        </p:txBody>
      </p:sp>
      <p:sp>
        <p:nvSpPr>
          <p:cNvPr id="453" name="matched-subtitle"/>
          <p:cNvSpPr txBox="1"/>
          <p:nvPr/>
        </p:nvSpPr>
        <p:spPr>
          <a:xfrm>
            <a:off x="628650" y="1222148"/>
            <a:ext cx="10915650" cy="23222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L(w) = w² gives wₜ₊₁ = (1 − 2η)wₜ. Each run starts at w₀ = 1.</a:t>
            </a:r>
          </a:p>
        </p:txBody>
      </p:sp>
      <p:sp>
        <p:nvSpPr>
          <p:cNvPr id="454"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For this quadratic, 0 &lt; η &lt; 1 converges. The suitable range differs for other losses.</a:t>
            </a:r>
          </a:p>
        </p:txBody>
      </p:sp>
      <p:sp>
        <p:nvSpPr>
          <p:cNvPr id="455"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17</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59"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60"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61"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62"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6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Different optimisers</a:t>
            </a:r>
          </a:p>
        </p:txBody>
      </p:sp>
      <p:sp>
        <p:nvSpPr>
          <p:cNvPr id="46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Same gradient information, different update rules. Paths below are schematic, not a speed comparison.</a:t>
            </a:r>
          </a:p>
        </p:txBody>
      </p:sp>
      <p:sp>
        <p:nvSpPr>
          <p:cNvPr id="465" name="matched-footer"/>
          <p:cNvSpPr txBox="1"/>
          <p:nvPr/>
        </p:nvSpPr>
        <p:spPr>
          <a:xfrm>
            <a:off x="666750" y="5835591"/>
            <a:ext cx="1085850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AdamW applies weight decay separately from Adam's adaptive update.</a:t>
            </a:r>
          </a:p>
        </p:txBody>
      </p:sp>
      <p:sp>
        <p:nvSpPr>
          <p:cNvPr id="46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04b</a:t>
            </a:r>
          </a:p>
        </p:txBody>
      </p:sp>
      <p:pic>
        <p:nvPicPr>
          <p:cNvPr id="467" name="optimizer_comparison_visuals.png" descr="optimizer_comparison_visuals.png"/>
          <p:cNvPicPr>
            <a:picLocks noChangeAspect="1"/>
          </p:cNvPicPr>
          <p:nvPr/>
        </p:nvPicPr>
        <p:blipFill>
          <a:blip r:embed="rId3">
            <a:extLst/>
          </a:blip>
          <a:stretch>
            <a:fillRect/>
          </a:stretch>
        </p:blipFill>
        <p:spPr>
          <a:xfrm>
            <a:off x="609600" y="1778000"/>
            <a:ext cx="10972800" cy="36576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7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7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7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74"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475" name="Image 15" descr="Image 15"/>
          <p:cNvPicPr>
            <a:picLocks noChangeAspect="1"/>
          </p:cNvPicPr>
          <p:nvPr/>
        </p:nvPicPr>
        <p:blipFill>
          <a:blip r:embed="rId3">
            <a:extLst/>
          </a:blip>
          <a:stretch>
            <a:fillRect/>
          </a:stretch>
        </p:blipFill>
        <p:spPr>
          <a:xfrm>
            <a:off x="1151021" y="1752600"/>
            <a:ext cx="5684921" cy="3800475"/>
          </a:xfrm>
          <a:prstGeom prst="rect">
            <a:avLst/>
          </a:prstGeom>
          <a:ln w="12700">
            <a:miter lim="400000"/>
          </a:ln>
        </p:spPr>
      </p:pic>
      <p:sp>
        <p:nvSpPr>
          <p:cNvPr id="476" name="Rectangle 5"/>
          <p:cNvSpPr txBox="1"/>
          <p:nvPr/>
        </p:nvSpPr>
        <p:spPr>
          <a:xfrm>
            <a:off x="7901337" y="1915478"/>
            <a:ext cx="3066850"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Full batch</a:t>
            </a:r>
          </a:p>
        </p:txBody>
      </p:sp>
      <p:sp>
        <p:nvSpPr>
          <p:cNvPr id="477" name="Rectangle 6"/>
          <p:cNvSpPr txBox="1"/>
          <p:nvPr/>
        </p:nvSpPr>
        <p:spPr>
          <a:xfrm>
            <a:off x="7901337" y="2349818"/>
            <a:ext cx="3066850"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Stable gradient estimate.</a:t>
            </a:r>
          </a:p>
          <a:p>
            <a:pPr>
              <a:defRPr sz="1700">
                <a:solidFill>
                  <a:srgbClr val="272729"/>
                </a:solidFill>
                <a:latin typeface="Arial"/>
                <a:ea typeface="Arial"/>
                <a:cs typeface="Arial"/>
                <a:sym typeface="Arial"/>
              </a:defRPr>
            </a:pPr>
            <a:r>
              <a:t>More work per update.</a:t>
            </a:r>
          </a:p>
        </p:txBody>
      </p:sp>
      <p:sp>
        <p:nvSpPr>
          <p:cNvPr id="478" name="Rectangle 7"/>
          <p:cNvSpPr txBox="1"/>
          <p:nvPr/>
        </p:nvSpPr>
        <p:spPr>
          <a:xfrm>
            <a:off x="7901337" y="3281838"/>
            <a:ext cx="3066850"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Stochastic</a:t>
            </a:r>
          </a:p>
        </p:txBody>
      </p:sp>
      <p:sp>
        <p:nvSpPr>
          <p:cNvPr id="479" name="Rectangle 8"/>
          <p:cNvSpPr txBox="1"/>
          <p:nvPr/>
        </p:nvSpPr>
        <p:spPr>
          <a:xfrm>
            <a:off x="7901337" y="3716178"/>
            <a:ext cx="306685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72729"/>
                </a:solidFill>
                <a:latin typeface="Arial"/>
                <a:ea typeface="Arial"/>
                <a:cs typeface="Arial"/>
                <a:sym typeface="Arial"/>
              </a:defRPr>
            </a:lvl1pPr>
          </a:lstStyle>
          <a:p>
            <a:pPr/>
            <a:r>
              <a:t>Frequent, noisy updates.</a:t>
            </a:r>
          </a:p>
        </p:txBody>
      </p:sp>
      <p:sp>
        <p:nvSpPr>
          <p:cNvPr id="480" name="Rectangle 9"/>
          <p:cNvSpPr txBox="1"/>
          <p:nvPr/>
        </p:nvSpPr>
        <p:spPr>
          <a:xfrm>
            <a:off x="7901337" y="4449128"/>
            <a:ext cx="3066850"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Mini-batch</a:t>
            </a:r>
          </a:p>
        </p:txBody>
      </p:sp>
      <p:sp>
        <p:nvSpPr>
          <p:cNvPr id="481" name="Rectangle 10"/>
          <p:cNvSpPr txBox="1"/>
          <p:nvPr/>
        </p:nvSpPr>
        <p:spPr>
          <a:xfrm>
            <a:off x="7901337" y="4910613"/>
            <a:ext cx="3066850" cy="592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Balances frequency</a:t>
            </a:r>
          </a:p>
          <a:p>
            <a:pPr>
              <a:defRPr sz="1700">
                <a:solidFill>
                  <a:srgbClr val="272729"/>
                </a:solidFill>
                <a:latin typeface="Arial"/>
                <a:ea typeface="Arial"/>
                <a:cs typeface="Arial"/>
                <a:sym typeface="Arial"/>
              </a:defRPr>
            </a:pPr>
            <a:r>
              <a:t>and averaging.</a:t>
            </a:r>
          </a:p>
        </p:txBody>
      </p:sp>
      <p:sp>
        <p:nvSpPr>
          <p:cNvPr id="482"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Batch size and training progress</a:t>
            </a:r>
          </a:p>
        </p:txBody>
      </p:sp>
      <p:sp>
        <p:nvSpPr>
          <p:cNvPr id="483"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grouping of examples determines how often the parameters change.</a:t>
            </a:r>
          </a:p>
        </p:txBody>
      </p:sp>
      <p:sp>
        <p:nvSpPr>
          <p:cNvPr id="484"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1,000 emails with batch size 100 gives 10 updates per epoch. An epoch uses every email once.</a:t>
            </a:r>
          </a:p>
        </p:txBody>
      </p:sp>
      <p:sp>
        <p:nvSpPr>
          <p:cNvPr id="485"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19</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89"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90"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91"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92"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93" name="Forme libre : forme 3"/>
          <p:cNvSpPr/>
          <p:nvPr/>
        </p:nvSpPr>
        <p:spPr>
          <a:xfrm>
            <a:off x="880310" y="2186939"/>
            <a:ext cx="1687430" cy="57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494" name="Rectangle 4"/>
          <p:cNvSpPr txBox="1"/>
          <p:nvPr/>
        </p:nvSpPr>
        <p:spPr>
          <a:xfrm>
            <a:off x="952500" y="2321175"/>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1</a:t>
            </a:r>
          </a:p>
        </p:txBody>
      </p:sp>
      <p:sp>
        <p:nvSpPr>
          <p:cNvPr id="495" name="Forme libre : forme 5"/>
          <p:cNvSpPr/>
          <p:nvPr/>
        </p:nvSpPr>
        <p:spPr>
          <a:xfrm>
            <a:off x="2676024" y="2468953"/>
            <a:ext cx="1470862" cy="141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482"/>
                </a:moveTo>
                <a:lnTo>
                  <a:pt x="1897" y="21600"/>
                </a:lnTo>
                <a:lnTo>
                  <a:pt x="3621" y="13710"/>
                </a:lnTo>
                <a:lnTo>
                  <a:pt x="5293" y="356"/>
                </a:lnTo>
                <a:lnTo>
                  <a:pt x="7089" y="0"/>
                </a:lnTo>
                <a:lnTo>
                  <a:pt x="9074" y="19163"/>
                </a:lnTo>
                <a:lnTo>
                  <a:pt x="10746" y="5898"/>
                </a:lnTo>
                <a:lnTo>
                  <a:pt x="12660" y="17716"/>
                </a:lnTo>
                <a:lnTo>
                  <a:pt x="14408" y="12341"/>
                </a:lnTo>
                <a:lnTo>
                  <a:pt x="16158" y="7099"/>
                </a:lnTo>
                <a:lnTo>
                  <a:pt x="18037" y="15277"/>
                </a:lnTo>
                <a:lnTo>
                  <a:pt x="19808" y="12275"/>
                </a:lnTo>
                <a:lnTo>
                  <a:pt x="21600" y="11482"/>
                </a:lnTo>
              </a:path>
            </a:pathLst>
          </a:custGeom>
          <a:ln w="16192">
            <a:solidFill>
              <a:srgbClr val="858078"/>
            </a:solidFill>
          </a:ln>
        </p:spPr>
        <p:txBody>
          <a:bodyPr lIns="45719" rIns="45719"/>
          <a:lstStyle/>
          <a:p>
            <a:pPr/>
          </a:p>
        </p:txBody>
      </p:sp>
      <p:sp>
        <p:nvSpPr>
          <p:cNvPr id="496" name="Forme libre : forme 6"/>
          <p:cNvSpPr/>
          <p:nvPr/>
        </p:nvSpPr>
        <p:spPr>
          <a:xfrm>
            <a:off x="4057505" y="2433204"/>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497" name="Rectangle 7"/>
          <p:cNvSpPr txBox="1"/>
          <p:nvPr/>
        </p:nvSpPr>
        <p:spPr>
          <a:xfrm>
            <a:off x="4264192" y="2237025"/>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g₁</a:t>
            </a:r>
          </a:p>
        </p:txBody>
      </p:sp>
      <p:sp>
        <p:nvSpPr>
          <p:cNvPr id="498" name="Forme libre : forme 8"/>
          <p:cNvSpPr/>
          <p:nvPr/>
        </p:nvSpPr>
        <p:spPr>
          <a:xfrm>
            <a:off x="5301915" y="2476500"/>
            <a:ext cx="1669383" cy="10406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68" y="1749"/>
                </a:lnTo>
                <a:lnTo>
                  <a:pt x="3603" y="3604"/>
                </a:lnTo>
                <a:lnTo>
                  <a:pt x="5472" y="5516"/>
                </a:lnTo>
                <a:lnTo>
                  <a:pt x="7275" y="7320"/>
                </a:lnTo>
                <a:lnTo>
                  <a:pt x="8950" y="8919"/>
                </a:lnTo>
                <a:lnTo>
                  <a:pt x="10719" y="10670"/>
                </a:lnTo>
                <a:lnTo>
                  <a:pt x="12607" y="12611"/>
                </a:lnTo>
                <a:lnTo>
                  <a:pt x="14298" y="14236"/>
                </a:lnTo>
                <a:lnTo>
                  <a:pt x="16139" y="16103"/>
                </a:lnTo>
                <a:lnTo>
                  <a:pt x="17994" y="17990"/>
                </a:lnTo>
                <a:lnTo>
                  <a:pt x="19806" y="19809"/>
                </a:lnTo>
                <a:lnTo>
                  <a:pt x="21600" y="21600"/>
                </a:lnTo>
              </a:path>
            </a:pathLst>
          </a:custGeom>
          <a:ln w="16192">
            <a:solidFill>
              <a:srgbClr val="287B95"/>
            </a:solidFill>
          </a:ln>
        </p:spPr>
        <p:txBody>
          <a:bodyPr lIns="45719" rIns="45719"/>
          <a:lstStyle/>
          <a:p>
            <a:pPr/>
          </a:p>
        </p:txBody>
      </p:sp>
      <p:sp>
        <p:nvSpPr>
          <p:cNvPr id="499" name="Forme libre : forme 9"/>
          <p:cNvSpPr/>
          <p:nvPr/>
        </p:nvSpPr>
        <p:spPr>
          <a:xfrm>
            <a:off x="6872596" y="3433019"/>
            <a:ext cx="98703" cy="84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891"/>
                </a:moveTo>
                <a:lnTo>
                  <a:pt x="21600" y="21600"/>
                </a:lnTo>
                <a:lnTo>
                  <a:pt x="9976" y="0"/>
                </a:lnTo>
              </a:path>
            </a:pathLst>
          </a:custGeom>
          <a:ln w="16192">
            <a:solidFill>
              <a:srgbClr val="287B95"/>
            </a:solidFill>
          </a:ln>
        </p:spPr>
        <p:txBody>
          <a:bodyPr lIns="45719" rIns="45719"/>
          <a:lstStyle/>
          <a:p>
            <a:pPr/>
          </a:p>
        </p:txBody>
      </p:sp>
      <p:sp>
        <p:nvSpPr>
          <p:cNvPr id="500" name="Forme libre : forme 10"/>
          <p:cNvSpPr/>
          <p:nvPr/>
        </p:nvSpPr>
        <p:spPr>
          <a:xfrm>
            <a:off x="880310" y="3227546"/>
            <a:ext cx="1687430" cy="57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501" name="Rectangle 11"/>
          <p:cNvSpPr txBox="1"/>
          <p:nvPr/>
        </p:nvSpPr>
        <p:spPr>
          <a:xfrm>
            <a:off x="952500" y="3361781"/>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2</a:t>
            </a:r>
          </a:p>
        </p:txBody>
      </p:sp>
      <p:sp>
        <p:nvSpPr>
          <p:cNvPr id="502" name="Forme libre : forme 12"/>
          <p:cNvSpPr/>
          <p:nvPr/>
        </p:nvSpPr>
        <p:spPr>
          <a:xfrm>
            <a:off x="2676024" y="3510377"/>
            <a:ext cx="1470862" cy="145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000"/>
                </a:moveTo>
                <a:lnTo>
                  <a:pt x="1779" y="7903"/>
                </a:lnTo>
                <a:lnTo>
                  <a:pt x="3651" y="15151"/>
                </a:lnTo>
                <a:lnTo>
                  <a:pt x="5340" y="3887"/>
                </a:lnTo>
                <a:lnTo>
                  <a:pt x="7155" y="5482"/>
                </a:lnTo>
                <a:lnTo>
                  <a:pt x="9103" y="20475"/>
                </a:lnTo>
                <a:lnTo>
                  <a:pt x="10779" y="7903"/>
                </a:lnTo>
                <a:lnTo>
                  <a:pt x="12584" y="8379"/>
                </a:lnTo>
                <a:lnTo>
                  <a:pt x="14301" y="0"/>
                </a:lnTo>
                <a:lnTo>
                  <a:pt x="16314" y="21600"/>
                </a:lnTo>
                <a:lnTo>
                  <a:pt x="18066" y="16706"/>
                </a:lnTo>
                <a:lnTo>
                  <a:pt x="19755" y="5456"/>
                </a:lnTo>
                <a:lnTo>
                  <a:pt x="21600" y="10000"/>
                </a:lnTo>
              </a:path>
            </a:pathLst>
          </a:custGeom>
          <a:ln w="16192">
            <a:solidFill>
              <a:srgbClr val="858078"/>
            </a:solidFill>
          </a:ln>
        </p:spPr>
        <p:txBody>
          <a:bodyPr lIns="45719" rIns="45719"/>
          <a:lstStyle/>
          <a:p>
            <a:pPr/>
          </a:p>
        </p:txBody>
      </p:sp>
      <p:sp>
        <p:nvSpPr>
          <p:cNvPr id="503" name="Forme libre : forme 13"/>
          <p:cNvSpPr/>
          <p:nvPr/>
        </p:nvSpPr>
        <p:spPr>
          <a:xfrm>
            <a:off x="4057505"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504" name="Rectangle 14"/>
          <p:cNvSpPr txBox="1"/>
          <p:nvPr/>
        </p:nvSpPr>
        <p:spPr>
          <a:xfrm>
            <a:off x="4264192" y="3277631"/>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g₂</a:t>
            </a:r>
          </a:p>
        </p:txBody>
      </p:sp>
      <p:sp>
        <p:nvSpPr>
          <p:cNvPr id="505" name="Forme libre : forme 15"/>
          <p:cNvSpPr/>
          <p:nvPr/>
        </p:nvSpPr>
        <p:spPr>
          <a:xfrm>
            <a:off x="5301915" y="3510853"/>
            <a:ext cx="1669383" cy="141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570"/>
                </a:moveTo>
                <a:lnTo>
                  <a:pt x="1870" y="17840"/>
                </a:lnTo>
                <a:lnTo>
                  <a:pt x="3645" y="14863"/>
                </a:lnTo>
                <a:lnTo>
                  <a:pt x="5369" y="5933"/>
                </a:lnTo>
                <a:lnTo>
                  <a:pt x="7247" y="15139"/>
                </a:lnTo>
                <a:lnTo>
                  <a:pt x="8977" y="6782"/>
                </a:lnTo>
                <a:lnTo>
                  <a:pt x="10793" y="8758"/>
                </a:lnTo>
                <a:lnTo>
                  <a:pt x="12657" y="16330"/>
                </a:lnTo>
                <a:lnTo>
                  <a:pt x="14432" y="13377"/>
                </a:lnTo>
                <a:lnTo>
                  <a:pt x="16119" y="0"/>
                </a:lnTo>
                <a:lnTo>
                  <a:pt x="18036" y="13791"/>
                </a:lnTo>
                <a:lnTo>
                  <a:pt x="19901" y="21600"/>
                </a:lnTo>
                <a:lnTo>
                  <a:pt x="21600" y="9570"/>
                </a:lnTo>
              </a:path>
            </a:pathLst>
          </a:custGeom>
          <a:ln w="16192">
            <a:solidFill>
              <a:srgbClr val="287B95"/>
            </a:solidFill>
          </a:ln>
        </p:spPr>
        <p:txBody>
          <a:bodyPr lIns="45719" rIns="45719"/>
          <a:lstStyle/>
          <a:p>
            <a:pPr/>
          </a:p>
        </p:txBody>
      </p:sp>
      <p:sp>
        <p:nvSpPr>
          <p:cNvPr id="506" name="Forme libre : forme 16"/>
          <p:cNvSpPr/>
          <p:nvPr/>
        </p:nvSpPr>
        <p:spPr>
          <a:xfrm>
            <a:off x="6881918"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287B95"/>
            </a:solidFill>
          </a:ln>
        </p:spPr>
        <p:txBody>
          <a:bodyPr lIns="45719" rIns="45719"/>
          <a:lstStyle/>
          <a:p>
            <a:pPr/>
          </a:p>
        </p:txBody>
      </p:sp>
      <p:sp>
        <p:nvSpPr>
          <p:cNvPr id="507" name="Forme libre : forme 17"/>
          <p:cNvSpPr/>
          <p:nvPr/>
        </p:nvSpPr>
        <p:spPr>
          <a:xfrm>
            <a:off x="880310" y="4268151"/>
            <a:ext cx="1687430" cy="57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508" name="Rectangle 18"/>
          <p:cNvSpPr txBox="1"/>
          <p:nvPr/>
        </p:nvSpPr>
        <p:spPr>
          <a:xfrm>
            <a:off x="952500" y="4402388"/>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3</a:t>
            </a:r>
          </a:p>
        </p:txBody>
      </p:sp>
      <p:sp>
        <p:nvSpPr>
          <p:cNvPr id="509" name="Forme libre : forme 19"/>
          <p:cNvSpPr/>
          <p:nvPr/>
        </p:nvSpPr>
        <p:spPr>
          <a:xfrm>
            <a:off x="2676024" y="4550119"/>
            <a:ext cx="1470862" cy="139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30"/>
                </a:moveTo>
                <a:lnTo>
                  <a:pt x="1894" y="21600"/>
                </a:lnTo>
                <a:lnTo>
                  <a:pt x="3605" y="12221"/>
                </a:lnTo>
                <a:lnTo>
                  <a:pt x="5481" y="20307"/>
                </a:lnTo>
                <a:lnTo>
                  <a:pt x="7254" y="17463"/>
                </a:lnTo>
                <a:lnTo>
                  <a:pt x="8889" y="0"/>
                </a:lnTo>
                <a:lnTo>
                  <a:pt x="10832" y="15139"/>
                </a:lnTo>
                <a:lnTo>
                  <a:pt x="12599" y="11587"/>
                </a:lnTo>
                <a:lnTo>
                  <a:pt x="14290" y="167"/>
                </a:lnTo>
                <a:lnTo>
                  <a:pt x="16253" y="17345"/>
                </a:lnTo>
                <a:lnTo>
                  <a:pt x="18024" y="14229"/>
                </a:lnTo>
                <a:lnTo>
                  <a:pt x="19874" y="19538"/>
                </a:lnTo>
                <a:lnTo>
                  <a:pt x="21600" y="11730"/>
                </a:lnTo>
              </a:path>
            </a:pathLst>
          </a:custGeom>
          <a:ln w="16192">
            <a:solidFill>
              <a:srgbClr val="858078"/>
            </a:solidFill>
          </a:ln>
        </p:spPr>
        <p:txBody>
          <a:bodyPr lIns="45719" rIns="45719"/>
          <a:lstStyle/>
          <a:p>
            <a:pPr/>
          </a:p>
        </p:txBody>
      </p:sp>
      <p:sp>
        <p:nvSpPr>
          <p:cNvPr id="510" name="Forme libre : forme 20"/>
          <p:cNvSpPr/>
          <p:nvPr/>
        </p:nvSpPr>
        <p:spPr>
          <a:xfrm>
            <a:off x="4057505" y="4514417"/>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511" name="Rectangle 21"/>
          <p:cNvSpPr txBox="1"/>
          <p:nvPr/>
        </p:nvSpPr>
        <p:spPr>
          <a:xfrm>
            <a:off x="4264192" y="4318238"/>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g₃</a:t>
            </a:r>
          </a:p>
        </p:txBody>
      </p:sp>
      <p:sp>
        <p:nvSpPr>
          <p:cNvPr id="512" name="Forme libre : forme 22"/>
          <p:cNvSpPr/>
          <p:nvPr/>
        </p:nvSpPr>
        <p:spPr>
          <a:xfrm>
            <a:off x="5301915" y="3517105"/>
            <a:ext cx="1669383" cy="104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85" y="19777"/>
                </a:lnTo>
                <a:lnTo>
                  <a:pt x="3542" y="17907"/>
                </a:lnTo>
                <a:lnTo>
                  <a:pt x="5331" y="16089"/>
                </a:lnTo>
                <a:lnTo>
                  <a:pt x="7249" y="14479"/>
                </a:lnTo>
                <a:lnTo>
                  <a:pt x="9074" y="12719"/>
                </a:lnTo>
                <a:lnTo>
                  <a:pt x="10771" y="10753"/>
                </a:lnTo>
                <a:lnTo>
                  <a:pt x="12672" y="9116"/>
                </a:lnTo>
                <a:lnTo>
                  <a:pt x="14422" y="7235"/>
                </a:lnTo>
                <a:lnTo>
                  <a:pt x="16230" y="5448"/>
                </a:lnTo>
                <a:lnTo>
                  <a:pt x="17968" y="3549"/>
                </a:lnTo>
                <a:lnTo>
                  <a:pt x="19747" y="1715"/>
                </a:lnTo>
                <a:lnTo>
                  <a:pt x="21600" y="0"/>
                </a:lnTo>
              </a:path>
            </a:pathLst>
          </a:custGeom>
          <a:ln w="16192">
            <a:solidFill>
              <a:srgbClr val="287B95"/>
            </a:solidFill>
          </a:ln>
        </p:spPr>
        <p:txBody>
          <a:bodyPr lIns="45719" rIns="45719"/>
          <a:lstStyle/>
          <a:p>
            <a:pPr/>
          </a:p>
        </p:txBody>
      </p:sp>
      <p:sp>
        <p:nvSpPr>
          <p:cNvPr id="513" name="Forme libre : forme 23"/>
          <p:cNvSpPr/>
          <p:nvPr/>
        </p:nvSpPr>
        <p:spPr>
          <a:xfrm>
            <a:off x="6872596" y="3517105"/>
            <a:ext cx="98703" cy="84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976" y="21600"/>
                </a:moveTo>
                <a:lnTo>
                  <a:pt x="21600" y="0"/>
                </a:lnTo>
                <a:lnTo>
                  <a:pt x="0" y="2709"/>
                </a:lnTo>
              </a:path>
            </a:pathLst>
          </a:custGeom>
          <a:ln w="16192">
            <a:solidFill>
              <a:srgbClr val="287B95"/>
            </a:solidFill>
          </a:ln>
        </p:spPr>
        <p:txBody>
          <a:bodyPr lIns="45719" rIns="45719"/>
          <a:lstStyle/>
          <a:p>
            <a:pPr/>
          </a:p>
        </p:txBody>
      </p:sp>
      <p:sp>
        <p:nvSpPr>
          <p:cNvPr id="514" name="Forme libre : forme 24"/>
          <p:cNvSpPr/>
          <p:nvPr/>
        </p:nvSpPr>
        <p:spPr>
          <a:xfrm>
            <a:off x="7045907" y="2970265"/>
            <a:ext cx="1103423" cy="11062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515" name="Rectangle 25"/>
          <p:cNvSpPr txBox="1"/>
          <p:nvPr/>
        </p:nvSpPr>
        <p:spPr>
          <a:xfrm>
            <a:off x="7088605" y="3341158"/>
            <a:ext cx="101065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mean</a:t>
            </a:r>
          </a:p>
        </p:txBody>
      </p:sp>
      <p:sp>
        <p:nvSpPr>
          <p:cNvPr id="516" name="Forme libre : forme 26"/>
          <p:cNvSpPr/>
          <p:nvPr/>
        </p:nvSpPr>
        <p:spPr>
          <a:xfrm>
            <a:off x="8216565" y="3509007"/>
            <a:ext cx="1001630" cy="151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530"/>
                </a:moveTo>
                <a:lnTo>
                  <a:pt x="1683" y="3777"/>
                </a:lnTo>
                <a:lnTo>
                  <a:pt x="3565" y="9227"/>
                </a:lnTo>
                <a:lnTo>
                  <a:pt x="5390" y="10876"/>
                </a:lnTo>
                <a:lnTo>
                  <a:pt x="7026" y="0"/>
                </a:lnTo>
                <a:lnTo>
                  <a:pt x="8953" y="8449"/>
                </a:lnTo>
                <a:lnTo>
                  <a:pt x="10705" y="5225"/>
                </a:lnTo>
                <a:lnTo>
                  <a:pt x="12469" y="2876"/>
                </a:lnTo>
                <a:lnTo>
                  <a:pt x="14462" y="15665"/>
                </a:lnTo>
                <a:lnTo>
                  <a:pt x="16157" y="8698"/>
                </a:lnTo>
                <a:lnTo>
                  <a:pt x="18152" y="21600"/>
                </a:lnTo>
                <a:lnTo>
                  <a:pt x="19826" y="13242"/>
                </a:lnTo>
                <a:lnTo>
                  <a:pt x="21600" y="11530"/>
                </a:lnTo>
              </a:path>
            </a:pathLst>
          </a:custGeom>
          <a:ln w="19050">
            <a:solidFill>
              <a:srgbClr val="A45F57"/>
            </a:solidFill>
          </a:ln>
        </p:spPr>
        <p:txBody>
          <a:bodyPr lIns="45719" rIns="45719"/>
          <a:lstStyle/>
          <a:p>
            <a:pPr/>
          </a:p>
        </p:txBody>
      </p:sp>
      <p:sp>
        <p:nvSpPr>
          <p:cNvPr id="517" name="Forme libre : forme 27"/>
          <p:cNvSpPr/>
          <p:nvPr/>
        </p:nvSpPr>
        <p:spPr>
          <a:xfrm>
            <a:off x="9128815"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A45F57"/>
            </a:solidFill>
          </a:ln>
        </p:spPr>
        <p:txBody>
          <a:bodyPr lIns="45719" rIns="45719"/>
          <a:lstStyle/>
          <a:p>
            <a:pPr/>
          </a:p>
        </p:txBody>
      </p:sp>
      <p:sp>
        <p:nvSpPr>
          <p:cNvPr id="518" name="Forme libre : forme 28"/>
          <p:cNvSpPr/>
          <p:nvPr/>
        </p:nvSpPr>
        <p:spPr>
          <a:xfrm>
            <a:off x="9482619" y="2898550"/>
            <a:ext cx="1248134" cy="12513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519" name="Rectangle 29"/>
          <p:cNvSpPr txBox="1"/>
          <p:nvPr/>
        </p:nvSpPr>
        <p:spPr>
          <a:xfrm>
            <a:off x="9525000" y="3341158"/>
            <a:ext cx="1155033"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step</a:t>
            </a:r>
          </a:p>
        </p:txBody>
      </p:sp>
      <p:sp>
        <p:nvSpPr>
          <p:cNvPr id="520" name="Rectangle 30"/>
          <p:cNvSpPr txBox="1"/>
          <p:nvPr/>
        </p:nvSpPr>
        <p:spPr>
          <a:xfrm>
            <a:off x="781050" y="5082857"/>
            <a:ext cx="7354304"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87B95"/>
                </a:solidFill>
                <a:latin typeface="Chalkboard"/>
                <a:ea typeface="Chalkboard"/>
                <a:cs typeface="Chalkboard"/>
                <a:sym typeface="Chalkboard"/>
              </a:defRPr>
            </a:lvl1pPr>
          </a:lstStyle>
          <a:p>
            <a:pPr/>
            <a:r>
              <a:t>g_batch = (g₁ + g₂ + g₃) / 3</a:t>
            </a:r>
          </a:p>
        </p:txBody>
      </p:sp>
      <p:sp>
        <p:nvSpPr>
          <p:cNvPr id="521"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A batch combines many gradients</a:t>
            </a:r>
          </a:p>
        </p:txBody>
      </p:sp>
      <p:sp>
        <p:nvSpPr>
          <p:cNvPr id="522"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Average the example gradients, then make one parameter update.</a:t>
            </a:r>
          </a:p>
        </p:txBody>
      </p:sp>
      <p:sp>
        <p:nvSpPr>
          <p:cNvPr id="523"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Repeat over batches. One full pass is an epoch. Held-out validation data guides tuning and stopping.</a:t>
            </a:r>
          </a:p>
        </p:txBody>
      </p:sp>
      <p:sp>
        <p:nvSpPr>
          <p:cNvPr id="524"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18</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2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2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30"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31"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32" name="Forme libre : forme 3"/>
          <p:cNvSpPr/>
          <p:nvPr/>
        </p:nvSpPr>
        <p:spPr>
          <a:xfrm>
            <a:off x="871287"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287B95"/>
            </a:solidFill>
          </a:ln>
        </p:spPr>
        <p:txBody>
          <a:bodyPr lIns="45719" rIns="45719"/>
          <a:lstStyle/>
          <a:p>
            <a:pPr/>
          </a:p>
        </p:txBody>
      </p:sp>
      <p:sp>
        <p:nvSpPr>
          <p:cNvPr id="533" name="Rectangle 4"/>
          <p:cNvSpPr txBox="1"/>
          <p:nvPr/>
        </p:nvSpPr>
        <p:spPr>
          <a:xfrm>
            <a:off x="934453" y="2674076"/>
            <a:ext cx="2003258"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Predict</a:t>
            </a:r>
          </a:p>
        </p:txBody>
      </p:sp>
      <p:sp>
        <p:nvSpPr>
          <p:cNvPr id="534" name="Forme libre : forme 5"/>
          <p:cNvSpPr/>
          <p:nvPr/>
        </p:nvSpPr>
        <p:spPr>
          <a:xfrm>
            <a:off x="3091113" y="2822620"/>
            <a:ext cx="1470862" cy="129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348"/>
                </a:moveTo>
                <a:lnTo>
                  <a:pt x="1868" y="19067"/>
                </a:lnTo>
                <a:lnTo>
                  <a:pt x="3518" y="1943"/>
                </a:lnTo>
                <a:lnTo>
                  <a:pt x="5339" y="4385"/>
                </a:lnTo>
                <a:lnTo>
                  <a:pt x="7290" y="21600"/>
                </a:lnTo>
                <a:lnTo>
                  <a:pt x="8977" y="8715"/>
                </a:lnTo>
                <a:lnTo>
                  <a:pt x="10836" y="15514"/>
                </a:lnTo>
                <a:lnTo>
                  <a:pt x="12526" y="2833"/>
                </a:lnTo>
                <a:lnTo>
                  <a:pt x="14308" y="808"/>
                </a:lnTo>
                <a:lnTo>
                  <a:pt x="16233" y="15176"/>
                </a:lnTo>
                <a:lnTo>
                  <a:pt x="17954" y="6055"/>
                </a:lnTo>
                <a:lnTo>
                  <a:pt x="19701" y="0"/>
                </a:lnTo>
                <a:lnTo>
                  <a:pt x="21600" y="11348"/>
                </a:lnTo>
              </a:path>
            </a:pathLst>
          </a:custGeom>
          <a:ln w="19050">
            <a:solidFill>
              <a:srgbClr val="287B95"/>
            </a:solidFill>
          </a:ln>
        </p:spPr>
        <p:txBody>
          <a:bodyPr lIns="45719" rIns="45719"/>
          <a:lstStyle/>
          <a:p>
            <a:pPr/>
          </a:p>
        </p:txBody>
      </p:sp>
      <p:sp>
        <p:nvSpPr>
          <p:cNvPr id="535" name="Forme libre : forme 6"/>
          <p:cNvSpPr/>
          <p:nvPr/>
        </p:nvSpPr>
        <p:spPr>
          <a:xfrm>
            <a:off x="4472594" y="278610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536" name="Forme libre : forme 7"/>
          <p:cNvSpPr/>
          <p:nvPr/>
        </p:nvSpPr>
        <p:spPr>
          <a:xfrm>
            <a:off x="4670257"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287B95"/>
            </a:solidFill>
          </a:ln>
        </p:spPr>
        <p:txBody>
          <a:bodyPr lIns="45719" rIns="45719"/>
          <a:lstStyle/>
          <a:p>
            <a:pPr/>
          </a:p>
        </p:txBody>
      </p:sp>
      <p:sp>
        <p:nvSpPr>
          <p:cNvPr id="537" name="Rectangle 8"/>
          <p:cNvSpPr txBox="1"/>
          <p:nvPr/>
        </p:nvSpPr>
        <p:spPr>
          <a:xfrm>
            <a:off x="4733423" y="2674076"/>
            <a:ext cx="2003259"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Measure loss</a:t>
            </a:r>
          </a:p>
        </p:txBody>
      </p:sp>
      <p:sp>
        <p:nvSpPr>
          <p:cNvPr id="538" name="Forme libre : forme 9"/>
          <p:cNvSpPr/>
          <p:nvPr/>
        </p:nvSpPr>
        <p:spPr>
          <a:xfrm>
            <a:off x="6890084" y="2822373"/>
            <a:ext cx="1732548" cy="147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291"/>
                </a:moveTo>
                <a:lnTo>
                  <a:pt x="1878" y="19500"/>
                </a:lnTo>
                <a:lnTo>
                  <a:pt x="3593" y="9458"/>
                </a:lnTo>
                <a:lnTo>
                  <a:pt x="5373" y="7086"/>
                </a:lnTo>
                <a:lnTo>
                  <a:pt x="7113" y="0"/>
                </a:lnTo>
                <a:lnTo>
                  <a:pt x="8999" y="10163"/>
                </a:lnTo>
                <a:lnTo>
                  <a:pt x="10731" y="2169"/>
                </a:lnTo>
                <a:lnTo>
                  <a:pt x="12592" y="9346"/>
                </a:lnTo>
                <a:lnTo>
                  <a:pt x="14415" y="12007"/>
                </a:lnTo>
                <a:lnTo>
                  <a:pt x="16296" y="21600"/>
                </a:lnTo>
                <a:lnTo>
                  <a:pt x="18041" y="15125"/>
                </a:lnTo>
                <a:lnTo>
                  <a:pt x="19879" y="19541"/>
                </a:lnTo>
                <a:lnTo>
                  <a:pt x="21600" y="10291"/>
                </a:lnTo>
              </a:path>
            </a:pathLst>
          </a:custGeom>
          <a:ln w="19050">
            <a:solidFill>
              <a:srgbClr val="287B95"/>
            </a:solidFill>
          </a:ln>
        </p:spPr>
        <p:txBody>
          <a:bodyPr lIns="45719" rIns="45719"/>
          <a:lstStyle/>
          <a:p>
            <a:pPr/>
          </a:p>
        </p:txBody>
      </p:sp>
      <p:sp>
        <p:nvSpPr>
          <p:cNvPr id="539" name="Forme libre : forme 10"/>
          <p:cNvSpPr/>
          <p:nvPr/>
        </p:nvSpPr>
        <p:spPr>
          <a:xfrm>
            <a:off x="8533252" y="278610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540" name="Forme libre : forme 11"/>
          <p:cNvSpPr/>
          <p:nvPr/>
        </p:nvSpPr>
        <p:spPr>
          <a:xfrm>
            <a:off x="8730915"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A45F57"/>
            </a:solidFill>
          </a:ln>
        </p:spPr>
        <p:txBody>
          <a:bodyPr lIns="45719" rIns="45719"/>
          <a:lstStyle/>
          <a:p>
            <a:pPr/>
          </a:p>
        </p:txBody>
      </p:sp>
      <p:sp>
        <p:nvSpPr>
          <p:cNvPr id="541" name="Rectangle 12"/>
          <p:cNvSpPr txBox="1"/>
          <p:nvPr/>
        </p:nvSpPr>
        <p:spPr>
          <a:xfrm>
            <a:off x="8794081" y="2674076"/>
            <a:ext cx="2003259"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Backpropagate</a:t>
            </a:r>
          </a:p>
        </p:txBody>
      </p:sp>
      <p:sp>
        <p:nvSpPr>
          <p:cNvPr id="542" name="Forme libre : forme 13"/>
          <p:cNvSpPr/>
          <p:nvPr/>
        </p:nvSpPr>
        <p:spPr>
          <a:xfrm>
            <a:off x="4652210" y="4449128"/>
            <a:ext cx="2183734" cy="877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68" y="445"/>
                </a:moveTo>
                <a:lnTo>
                  <a:pt x="7587" y="0"/>
                </a:lnTo>
                <a:lnTo>
                  <a:pt x="15513" y="445"/>
                </a:lnTo>
                <a:lnTo>
                  <a:pt x="21421" y="223"/>
                </a:lnTo>
                <a:lnTo>
                  <a:pt x="21600" y="10800"/>
                </a:lnTo>
                <a:lnTo>
                  <a:pt x="21511" y="21155"/>
                </a:lnTo>
                <a:lnTo>
                  <a:pt x="14013" y="21600"/>
                </a:lnTo>
                <a:lnTo>
                  <a:pt x="6516" y="21155"/>
                </a:lnTo>
                <a:lnTo>
                  <a:pt x="89" y="21377"/>
                </a:lnTo>
                <a:lnTo>
                  <a:pt x="0" y="10800"/>
                </a:lnTo>
                <a:lnTo>
                  <a:pt x="268" y="445"/>
                </a:lnTo>
                <a:close/>
              </a:path>
            </a:pathLst>
          </a:custGeom>
          <a:ln w="15240">
            <a:solidFill>
              <a:srgbClr val="A45F57"/>
            </a:solidFill>
          </a:ln>
        </p:spPr>
        <p:txBody>
          <a:bodyPr lIns="45719" rIns="45719"/>
          <a:lstStyle/>
          <a:p>
            <a:pPr/>
          </a:p>
        </p:txBody>
      </p:sp>
      <p:sp>
        <p:nvSpPr>
          <p:cNvPr id="543" name="Rectangle 14"/>
          <p:cNvSpPr txBox="1"/>
          <p:nvPr/>
        </p:nvSpPr>
        <p:spPr>
          <a:xfrm>
            <a:off x="4706353" y="4737190"/>
            <a:ext cx="2075447"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Update weights</a:t>
            </a:r>
          </a:p>
        </p:txBody>
      </p:sp>
      <p:sp>
        <p:nvSpPr>
          <p:cNvPr id="544" name="Forme libre : forme 15"/>
          <p:cNvSpPr/>
          <p:nvPr/>
        </p:nvSpPr>
        <p:spPr>
          <a:xfrm>
            <a:off x="6953250" y="3444716"/>
            <a:ext cx="2851485" cy="1447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2" y="0"/>
                </a:moveTo>
                <a:lnTo>
                  <a:pt x="21600" y="21600"/>
                </a:lnTo>
                <a:lnTo>
                  <a:pt x="0" y="21600"/>
                </a:lnTo>
              </a:path>
            </a:pathLst>
          </a:custGeom>
          <a:ln w="19050">
            <a:solidFill>
              <a:srgbClr val="A45F57"/>
            </a:solidFill>
          </a:ln>
        </p:spPr>
        <p:txBody>
          <a:bodyPr lIns="45719" rIns="45719"/>
          <a:lstStyle/>
          <a:p>
            <a:pPr/>
          </a:p>
        </p:txBody>
      </p:sp>
      <p:sp>
        <p:nvSpPr>
          <p:cNvPr id="545" name="Forme libre : forme 16"/>
          <p:cNvSpPr/>
          <p:nvPr/>
        </p:nvSpPr>
        <p:spPr>
          <a:xfrm>
            <a:off x="6953250" y="4883774"/>
            <a:ext cx="351924"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5829"/>
                </a:moveTo>
                <a:lnTo>
                  <a:pt x="19521" y="6238"/>
                </a:lnTo>
                <a:lnTo>
                  <a:pt x="18168" y="21600"/>
                </a:lnTo>
                <a:lnTo>
                  <a:pt x="15840" y="3457"/>
                </a:lnTo>
                <a:lnTo>
                  <a:pt x="14431" y="16886"/>
                </a:lnTo>
                <a:lnTo>
                  <a:pt x="12694" y="19052"/>
                </a:lnTo>
                <a:lnTo>
                  <a:pt x="10896" y="19134"/>
                </a:lnTo>
                <a:lnTo>
                  <a:pt x="9166" y="21546"/>
                </a:lnTo>
                <a:lnTo>
                  <a:pt x="7319" y="19910"/>
                </a:lnTo>
                <a:lnTo>
                  <a:pt x="5321" y="13100"/>
                </a:lnTo>
                <a:lnTo>
                  <a:pt x="3504" y="12532"/>
                </a:lnTo>
                <a:lnTo>
                  <a:pt x="1339" y="0"/>
                </a:lnTo>
                <a:lnTo>
                  <a:pt x="0" y="15829"/>
                </a:lnTo>
              </a:path>
            </a:pathLst>
          </a:custGeom>
          <a:ln w="19050">
            <a:solidFill>
              <a:srgbClr val="A45F57"/>
            </a:solidFill>
          </a:ln>
        </p:spPr>
        <p:txBody>
          <a:bodyPr lIns="45719" rIns="45719"/>
          <a:lstStyle/>
          <a:p>
            <a:pPr/>
          </a:p>
        </p:txBody>
      </p:sp>
      <p:sp>
        <p:nvSpPr>
          <p:cNvPr id="546" name="Forme libre : forme 17"/>
          <p:cNvSpPr/>
          <p:nvPr/>
        </p:nvSpPr>
        <p:spPr>
          <a:xfrm>
            <a:off x="6953250" y="4849221"/>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19050">
            <a:solidFill>
              <a:srgbClr val="A45F57"/>
            </a:solidFill>
          </a:ln>
        </p:spPr>
        <p:txBody>
          <a:bodyPr lIns="45719" rIns="45719"/>
          <a:lstStyle/>
          <a:p>
            <a:pPr/>
          </a:p>
        </p:txBody>
      </p:sp>
      <p:sp>
        <p:nvSpPr>
          <p:cNvPr id="547" name="Forme libre : forme 18"/>
          <p:cNvSpPr/>
          <p:nvPr/>
        </p:nvSpPr>
        <p:spPr>
          <a:xfrm>
            <a:off x="1918034" y="3426619"/>
            <a:ext cx="2607846" cy="14658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149" y="0"/>
                </a:lnTo>
              </a:path>
            </a:pathLst>
          </a:custGeom>
          <a:ln w="19050">
            <a:solidFill>
              <a:srgbClr val="287B95"/>
            </a:solidFill>
          </a:ln>
        </p:spPr>
        <p:txBody>
          <a:bodyPr lIns="45719" rIns="45719"/>
          <a:lstStyle/>
          <a:p>
            <a:pPr/>
          </a:p>
        </p:txBody>
      </p:sp>
      <p:sp>
        <p:nvSpPr>
          <p:cNvPr id="548" name="Forme libre : forme 19"/>
          <p:cNvSpPr/>
          <p:nvPr/>
        </p:nvSpPr>
        <p:spPr>
          <a:xfrm>
            <a:off x="1927638" y="3426619"/>
            <a:ext cx="12701" cy="3800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72" y="21600"/>
                </a:moveTo>
                <a:lnTo>
                  <a:pt x="16901" y="19851"/>
                </a:lnTo>
                <a:lnTo>
                  <a:pt x="6008" y="17747"/>
                </a:lnTo>
                <a:lnTo>
                  <a:pt x="7375" y="15985"/>
                </a:lnTo>
                <a:lnTo>
                  <a:pt x="15801" y="14420"/>
                </a:lnTo>
                <a:lnTo>
                  <a:pt x="10887" y="12483"/>
                </a:lnTo>
                <a:lnTo>
                  <a:pt x="9448" y="10643"/>
                </a:lnTo>
                <a:lnTo>
                  <a:pt x="18456" y="9094"/>
                </a:lnTo>
                <a:lnTo>
                  <a:pt x="21600" y="7382"/>
                </a:lnTo>
                <a:lnTo>
                  <a:pt x="3038" y="5064"/>
                </a:lnTo>
                <a:lnTo>
                  <a:pt x="12801" y="3537"/>
                </a:lnTo>
                <a:lnTo>
                  <a:pt x="0" y="1379"/>
                </a:lnTo>
                <a:lnTo>
                  <a:pt x="15072" y="0"/>
                </a:lnTo>
              </a:path>
            </a:pathLst>
          </a:custGeom>
          <a:ln w="19050">
            <a:solidFill>
              <a:srgbClr val="287B95"/>
            </a:solidFill>
          </a:ln>
        </p:spPr>
        <p:txBody>
          <a:bodyPr lIns="45719" rIns="45719"/>
          <a:lstStyle/>
          <a:p>
            <a:pPr/>
          </a:p>
        </p:txBody>
      </p:sp>
      <p:sp>
        <p:nvSpPr>
          <p:cNvPr id="549" name="Forme libre : forme 20"/>
          <p:cNvSpPr/>
          <p:nvPr/>
        </p:nvSpPr>
        <p:spPr>
          <a:xfrm>
            <a:off x="1892905" y="3426619"/>
            <a:ext cx="86351" cy="89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0800" y="0"/>
                </a:lnTo>
                <a:lnTo>
                  <a:pt x="0" y="21600"/>
                </a:lnTo>
              </a:path>
            </a:pathLst>
          </a:custGeom>
          <a:ln w="19050">
            <a:solidFill>
              <a:srgbClr val="287B95"/>
            </a:solidFill>
          </a:ln>
        </p:spPr>
        <p:txBody>
          <a:bodyPr lIns="45719" rIns="45719"/>
          <a:lstStyle/>
          <a:p>
            <a:pPr/>
          </a:p>
        </p:txBody>
      </p:sp>
      <p:sp>
        <p:nvSpPr>
          <p:cNvPr id="550"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The learning loop</a:t>
            </a:r>
          </a:p>
        </p:txBody>
      </p:sp>
      <p:sp>
        <p:nvSpPr>
          <p:cNvPr id="551"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Predictions travel forward. Gradients travel backward. Updates start the next pass.</a:t>
            </a:r>
          </a:p>
        </p:txBody>
      </p:sp>
      <p:sp>
        <p:nvSpPr>
          <p:cNvPr id="552" name="matched-footer"/>
          <p:cNvSpPr txBox="1"/>
          <p:nvPr/>
        </p:nvSpPr>
        <p:spPr>
          <a:xfrm>
            <a:off x="666750" y="5934074"/>
            <a:ext cx="108585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θ_new = θ_old − η∇L</a:t>
            </a:r>
          </a:p>
        </p:txBody>
      </p:sp>
      <p:sp>
        <p:nvSpPr>
          <p:cNvPr id="553"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20</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57"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58"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59"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60"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61" name="Rectangle 11"/>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flow through deep networks</a:t>
            </a:r>
          </a:p>
        </p:txBody>
      </p:sp>
      <p:sp>
        <p:nvSpPr>
          <p:cNvPr id="562"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chain rule repeatedly multiplies local derivatives during the backward pass.</a:t>
            </a:r>
          </a:p>
        </p:txBody>
      </p:sp>
      <p:sp>
        <p:nvSpPr>
          <p:cNvPr id="563"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combined effect of weights and activation derivatives determines the gradient scale.</a:t>
            </a:r>
          </a:p>
        </p:txBody>
      </p:sp>
      <p:sp>
        <p:nvSpPr>
          <p:cNvPr id="564"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22</a:t>
            </a:r>
          </a:p>
        </p:txBody>
      </p:sp>
      <p:sp>
        <p:nvSpPr>
          <p:cNvPr id="565" name="Rectangle 4"/>
          <p:cNvSpPr txBox="1"/>
          <p:nvPr/>
        </p:nvSpPr>
        <p:spPr>
          <a:xfrm>
            <a:off x="809625" y="1993358"/>
            <a:ext cx="10572750" cy="5933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87B95"/>
                </a:solidFill>
                <a:latin typeface="Chalkboard"/>
                <a:ea typeface="Chalkboard"/>
                <a:cs typeface="Chalkboard"/>
                <a:sym typeface="Chalkboard"/>
              </a:defRPr>
            </a:lvl1pPr>
          </a:lstStyle>
          <a:p>
            <a:pPr/>
            <a:r>
              <a:t>gₖ = g₀ × c₁ × c₂ × … × cₖ</a:t>
            </a:r>
          </a:p>
        </p:txBody>
      </p:sp>
      <p:sp>
        <p:nvSpPr>
          <p:cNvPr id="566" name="Rectangle 5"/>
          <p:cNvSpPr txBox="1"/>
          <p:nvPr/>
        </p:nvSpPr>
        <p:spPr>
          <a:xfrm>
            <a:off x="809625" y="2810854"/>
            <a:ext cx="1028700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72729"/>
                </a:solidFill>
                <a:latin typeface="Arial"/>
                <a:ea typeface="Arial"/>
                <a:cs typeface="Arial"/>
                <a:sym typeface="Arial"/>
              </a:defRPr>
            </a:lvl1pPr>
          </a:lstStyle>
          <a:p>
            <a:pPr/>
            <a:r>
              <a:t>Each c is a local derivative along a simple chain.</a:t>
            </a:r>
          </a:p>
        </p:txBody>
      </p:sp>
      <p:sp>
        <p:nvSpPr>
          <p:cNvPr id="567" name="Rectangle 6"/>
          <p:cNvSpPr txBox="1"/>
          <p:nvPr/>
        </p:nvSpPr>
        <p:spPr>
          <a:xfrm>
            <a:off x="809625" y="3562614"/>
            <a:ext cx="5000625" cy="4280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287B95"/>
                </a:solidFill>
                <a:latin typeface="Chalkboard"/>
                <a:ea typeface="Chalkboard"/>
                <a:cs typeface="Chalkboard"/>
                <a:sym typeface="Chalkboard"/>
              </a:defRPr>
            </a:lvl1pPr>
          </a:lstStyle>
          <a:p>
            <a:pPr/>
            <a:r>
              <a:t>Local magnitudes below 1</a:t>
            </a:r>
          </a:p>
        </p:txBody>
      </p:sp>
      <p:sp>
        <p:nvSpPr>
          <p:cNvPr id="568" name="Rectangle 7"/>
          <p:cNvSpPr txBox="1"/>
          <p:nvPr/>
        </p:nvSpPr>
        <p:spPr>
          <a:xfrm>
            <a:off x="809625" y="4385239"/>
            <a:ext cx="5000625"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Gradient magnitude can shrink.</a:t>
            </a:r>
          </a:p>
          <a:p>
            <a:pPr>
              <a:defRPr>
                <a:solidFill>
                  <a:srgbClr val="272729"/>
                </a:solidFill>
                <a:latin typeface="Arial"/>
                <a:ea typeface="Arial"/>
                <a:cs typeface="Arial"/>
                <a:sym typeface="Arial"/>
              </a:defRPr>
            </a:pPr>
            <a:r>
              <a:t>Earlier layers receive very small updates.</a:t>
            </a:r>
          </a:p>
        </p:txBody>
      </p:sp>
      <p:sp>
        <p:nvSpPr>
          <p:cNvPr id="569" name="Rectangle 8"/>
          <p:cNvSpPr txBox="1"/>
          <p:nvPr/>
        </p:nvSpPr>
        <p:spPr>
          <a:xfrm>
            <a:off x="6572250" y="3562614"/>
            <a:ext cx="4857750" cy="4280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A45F57"/>
                </a:solidFill>
                <a:latin typeface="Chalkboard"/>
                <a:ea typeface="Chalkboard"/>
                <a:cs typeface="Chalkboard"/>
                <a:sym typeface="Chalkboard"/>
              </a:defRPr>
            </a:lvl1pPr>
          </a:lstStyle>
          <a:p>
            <a:pPr/>
            <a:r>
              <a:t>Local magnitudes above 1</a:t>
            </a:r>
          </a:p>
        </p:txBody>
      </p:sp>
      <p:sp>
        <p:nvSpPr>
          <p:cNvPr id="570" name="Rectangle 9"/>
          <p:cNvSpPr txBox="1"/>
          <p:nvPr/>
        </p:nvSpPr>
        <p:spPr>
          <a:xfrm>
            <a:off x="6572250" y="4385239"/>
            <a:ext cx="48577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Gradient magnitude can grow.</a:t>
            </a:r>
          </a:p>
          <a:p>
            <a:pPr>
              <a:defRPr>
                <a:solidFill>
                  <a:srgbClr val="272729"/>
                </a:solidFill>
                <a:latin typeface="Arial"/>
                <a:ea typeface="Arial"/>
                <a:cs typeface="Arial"/>
                <a:sym typeface="Arial"/>
              </a:defRPr>
            </a:pPr>
            <a:r>
              <a:t>Parameter updates can become unstable.</a:t>
            </a:r>
          </a:p>
        </p:txBody>
      </p:sp>
      <p:sp>
        <p:nvSpPr>
          <p:cNvPr id="571" name="Rectangle 10"/>
          <p:cNvSpPr txBox="1"/>
          <p:nvPr/>
        </p:nvSpPr>
        <p:spPr>
          <a:xfrm>
            <a:off x="809625" y="5313362"/>
            <a:ext cx="1057275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16069"/>
                </a:solidFill>
                <a:latin typeface="Arial"/>
                <a:ea typeface="Arial"/>
                <a:cs typeface="Arial"/>
                <a:sym typeface="Arial"/>
              </a:defRPr>
            </a:lvl1pPr>
          </a:lstStyle>
          <a:p>
            <a:pPr/>
            <a:r>
              <a:t>Illustration: g₀ = 1 and the same factor c at every step gives gₖ = cᵏ.</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75"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76"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77"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78"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79" name="Rectangle 9"/>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Vanishing gradients</a:t>
            </a:r>
          </a:p>
        </p:txBody>
      </p:sp>
      <p:sp>
        <p:nvSpPr>
          <p:cNvPr id="580"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Very small gradients can make the earlier layers learn slowly.</a:t>
            </a:r>
          </a:p>
        </p:txBody>
      </p:sp>
      <p:sp>
        <p:nvSpPr>
          <p:cNvPr id="581"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Six factors of 0.5 reduce a starting gradient of 1 to 0.015625.</a:t>
            </a:r>
          </a:p>
        </p:txBody>
      </p:sp>
      <p:sp>
        <p:nvSpPr>
          <p:cNvPr id="582"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23</a:t>
            </a:r>
          </a:p>
        </p:txBody>
      </p:sp>
      <p:graphicFrame>
        <p:nvGraphicFramePr>
          <p:cNvPr id="583" name="Chart"/>
          <p:cNvGraphicFramePr/>
          <p:nvPr/>
        </p:nvGraphicFramePr>
        <p:xfrm>
          <a:off x="1270258" y="1989776"/>
          <a:ext cx="6220838" cy="3198343"/>
        </p:xfrm>
        <a:graphic xmlns:a="http://schemas.openxmlformats.org/drawingml/2006/main">
          <a:graphicData uri="http://schemas.openxmlformats.org/drawingml/2006/chart">
            <c:chart xmlns:c="http://schemas.openxmlformats.org/drawingml/2006/chart" r:id="rId3"/>
          </a:graphicData>
        </a:graphic>
      </p:graphicFrame>
      <p:sp>
        <p:nvSpPr>
          <p:cNvPr id="584" name="Rectangle 5"/>
          <p:cNvSpPr txBox="1"/>
          <p:nvPr/>
        </p:nvSpPr>
        <p:spPr>
          <a:xfrm>
            <a:off x="8048625" y="2060778"/>
            <a:ext cx="3333750" cy="5361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287B95"/>
                </a:solidFill>
                <a:latin typeface="Chalkboard"/>
                <a:ea typeface="Chalkboard"/>
                <a:cs typeface="Chalkboard"/>
                <a:sym typeface="Chalkboard"/>
              </a:defRPr>
            </a:lvl1pPr>
          </a:lstStyle>
          <a:p>
            <a:pPr/>
            <a:r>
              <a:t>g₆ = 0.5⁶</a:t>
            </a:r>
          </a:p>
        </p:txBody>
      </p:sp>
      <p:sp>
        <p:nvSpPr>
          <p:cNvPr id="585" name="Rectangle 6"/>
          <p:cNvSpPr txBox="1"/>
          <p:nvPr/>
        </p:nvSpPr>
        <p:spPr>
          <a:xfrm>
            <a:off x="8048625" y="2637355"/>
            <a:ext cx="3333750" cy="478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287B95"/>
                </a:solidFill>
                <a:latin typeface="Chalkboard"/>
                <a:ea typeface="Chalkboard"/>
                <a:cs typeface="Chalkboard"/>
                <a:sym typeface="Chalkboard"/>
              </a:defRPr>
            </a:lvl1pPr>
          </a:lstStyle>
          <a:p>
            <a:pPr/>
            <a:r>
              <a:t>= 0.015625</a:t>
            </a:r>
          </a:p>
        </p:txBody>
      </p:sp>
      <p:sp>
        <p:nvSpPr>
          <p:cNvPr id="586" name="Rectangle 7"/>
          <p:cNvSpPr txBox="1"/>
          <p:nvPr/>
        </p:nvSpPr>
        <p:spPr>
          <a:xfrm>
            <a:off x="8048625" y="3542276"/>
            <a:ext cx="3324225"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Small gradients produce</a:t>
            </a:r>
          </a:p>
          <a:p>
            <a:pPr>
              <a:defRPr>
                <a:solidFill>
                  <a:srgbClr val="272729"/>
                </a:solidFill>
                <a:latin typeface="Arial"/>
                <a:ea typeface="Arial"/>
                <a:cs typeface="Arial"/>
                <a:sym typeface="Arial"/>
              </a:defRPr>
            </a:pPr>
            <a:r>
              <a:t>small weight changes.</a:t>
            </a:r>
          </a:p>
        </p:txBody>
      </p:sp>
      <p:sp>
        <p:nvSpPr>
          <p:cNvPr id="587" name="Rectangle 8"/>
          <p:cNvSpPr txBox="1"/>
          <p:nvPr/>
        </p:nvSpPr>
        <p:spPr>
          <a:xfrm>
            <a:off x="8048625" y="4632889"/>
            <a:ext cx="3324225" cy="7926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Saturated sigmoid or tanh</a:t>
            </a:r>
          </a:p>
          <a:p>
            <a:pPr>
              <a:defRPr>
                <a:solidFill>
                  <a:srgbClr val="272729"/>
                </a:solidFill>
                <a:latin typeface="Arial"/>
                <a:ea typeface="Arial"/>
                <a:cs typeface="Arial"/>
                <a:sym typeface="Arial"/>
              </a:defRPr>
            </a:pPr>
            <a:r>
              <a:t>hidden units can make</a:t>
            </a:r>
          </a:p>
          <a:p>
            <a:pPr>
              <a:defRPr>
                <a:solidFill>
                  <a:srgbClr val="272729"/>
                </a:solidFill>
                <a:latin typeface="Arial"/>
                <a:ea typeface="Arial"/>
                <a:cs typeface="Arial"/>
                <a:sym typeface="Arial"/>
              </a:defRPr>
            </a:pPr>
            <a:r>
              <a:t>this effect stronger.</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9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9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9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94"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95" name="Rectangle 9"/>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Why sigmoid saturation weakens gradients</a:t>
            </a:r>
          </a:p>
        </p:txBody>
      </p:sp>
      <p:sp>
        <p:nvSpPr>
          <p:cNvPr id="596"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 sigmoid hidden unit becomes less sensitive when its input is far from zero.</a:t>
            </a:r>
          </a:p>
        </p:txBody>
      </p:sp>
      <p:sp>
        <p:nvSpPr>
          <p:cNvPr id="597"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σ′(z) = σ(z)[1 − σ(z)] reaches 0.25 at z = 0 and approaches zero at either end.</a:t>
            </a:r>
          </a:p>
        </p:txBody>
      </p:sp>
      <p:sp>
        <p:nvSpPr>
          <p:cNvPr id="598"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24</a:t>
            </a:r>
          </a:p>
        </p:txBody>
      </p:sp>
      <p:graphicFrame>
        <p:nvGraphicFramePr>
          <p:cNvPr id="599" name="Chart"/>
          <p:cNvGraphicFramePr/>
          <p:nvPr/>
        </p:nvGraphicFramePr>
        <p:xfrm>
          <a:off x="1241683" y="2040160"/>
          <a:ext cx="6238617" cy="3178318"/>
        </p:xfrm>
        <a:graphic xmlns:a="http://schemas.openxmlformats.org/drawingml/2006/main">
          <a:graphicData uri="http://schemas.openxmlformats.org/drawingml/2006/chart">
            <c:chart xmlns:c="http://schemas.openxmlformats.org/drawingml/2006/chart" r:id="rId3"/>
          </a:graphicData>
        </a:graphic>
      </p:graphicFrame>
      <p:sp>
        <p:nvSpPr>
          <p:cNvPr id="600" name="Rectangle 5"/>
          <p:cNvSpPr txBox="1"/>
          <p:nvPr/>
        </p:nvSpPr>
        <p:spPr>
          <a:xfrm>
            <a:off x="8086725" y="2119577"/>
            <a:ext cx="3238500" cy="4280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287B95"/>
                </a:solidFill>
                <a:latin typeface="Chalkboard"/>
                <a:ea typeface="Chalkboard"/>
                <a:cs typeface="Chalkboard"/>
                <a:sym typeface="Chalkboard"/>
              </a:defRPr>
            </a:lvl1pPr>
          </a:lstStyle>
          <a:p>
            <a:pPr/>
            <a:r>
              <a:t>At z = 0</a:t>
            </a:r>
          </a:p>
        </p:txBody>
      </p:sp>
      <p:sp>
        <p:nvSpPr>
          <p:cNvPr id="601" name="Rectangle 6"/>
          <p:cNvSpPr txBox="1"/>
          <p:nvPr/>
        </p:nvSpPr>
        <p:spPr>
          <a:xfrm>
            <a:off x="8086725" y="2788629"/>
            <a:ext cx="3238500" cy="5758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2000">
                <a:solidFill>
                  <a:srgbClr val="272729"/>
                </a:solidFill>
                <a:latin typeface="Arial"/>
                <a:ea typeface="Arial"/>
                <a:cs typeface="Arial"/>
                <a:sym typeface="Arial"/>
              </a:defRPr>
            </a:pPr>
            <a:r>
              <a:t>σ = 0.5</a:t>
            </a:r>
          </a:p>
          <a:p>
            <a:pPr>
              <a:defRPr sz="2000">
                <a:solidFill>
                  <a:srgbClr val="272729"/>
                </a:solidFill>
                <a:latin typeface="Arial"/>
                <a:ea typeface="Arial"/>
                <a:cs typeface="Arial"/>
                <a:sym typeface="Arial"/>
              </a:defRPr>
            </a:pPr>
            <a:r>
              <a:t>σ′ = 0.25</a:t>
            </a:r>
          </a:p>
        </p:txBody>
      </p:sp>
      <p:sp>
        <p:nvSpPr>
          <p:cNvPr id="602" name="Rectangle 7"/>
          <p:cNvSpPr txBox="1"/>
          <p:nvPr/>
        </p:nvSpPr>
        <p:spPr>
          <a:xfrm>
            <a:off x="8086725" y="3815027"/>
            <a:ext cx="3238500" cy="4280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A45F57"/>
                </a:solidFill>
                <a:latin typeface="Chalkboard"/>
                <a:ea typeface="Chalkboard"/>
                <a:cs typeface="Chalkboard"/>
                <a:sym typeface="Chalkboard"/>
              </a:defRPr>
            </a:lvl1pPr>
          </a:lstStyle>
          <a:p>
            <a:pPr/>
            <a:r>
              <a:t>At z = 5</a:t>
            </a:r>
          </a:p>
        </p:txBody>
      </p:sp>
      <p:sp>
        <p:nvSpPr>
          <p:cNvPr id="603" name="Rectangle 8"/>
          <p:cNvSpPr txBox="1"/>
          <p:nvPr/>
        </p:nvSpPr>
        <p:spPr>
          <a:xfrm>
            <a:off x="8086725" y="4484079"/>
            <a:ext cx="3238500" cy="5758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2000">
                <a:solidFill>
                  <a:srgbClr val="272729"/>
                </a:solidFill>
                <a:latin typeface="Arial"/>
                <a:ea typeface="Arial"/>
                <a:cs typeface="Arial"/>
                <a:sym typeface="Arial"/>
              </a:defRPr>
            </a:pPr>
            <a:r>
              <a:t>σ ≈ 0.9933</a:t>
            </a:r>
          </a:p>
          <a:p>
            <a:pPr>
              <a:defRPr sz="2000">
                <a:solidFill>
                  <a:srgbClr val="272729"/>
                </a:solidFill>
                <a:latin typeface="Arial"/>
                <a:ea typeface="Arial"/>
                <a:cs typeface="Arial"/>
                <a:sym typeface="Arial"/>
              </a:defRPr>
            </a:pPr>
            <a:r>
              <a:t>σ′ ≈ 0.0066</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07"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608"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609"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610"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611" name="Rectangle 9"/>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Exploding gradients</a:t>
            </a:r>
          </a:p>
        </p:txBody>
      </p:sp>
      <p:sp>
        <p:nvSpPr>
          <p:cNvPr id="612"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Large gradients can create abrupt weight changes and unstable loss.</a:t>
            </a:r>
          </a:p>
        </p:txBody>
      </p:sp>
      <p:sp>
        <p:nvSpPr>
          <p:cNvPr id="613"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Six factors of 2 amplify a starting gradient of 1 to 64.</a:t>
            </a:r>
          </a:p>
        </p:txBody>
      </p:sp>
      <p:sp>
        <p:nvSpPr>
          <p:cNvPr id="614"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25</a:t>
            </a:r>
          </a:p>
        </p:txBody>
      </p:sp>
      <p:graphicFrame>
        <p:nvGraphicFramePr>
          <p:cNvPr id="615" name="Chart"/>
          <p:cNvGraphicFramePr/>
          <p:nvPr/>
        </p:nvGraphicFramePr>
        <p:xfrm>
          <a:off x="1270258" y="1989776"/>
          <a:ext cx="6220838" cy="3198343"/>
        </p:xfrm>
        <a:graphic xmlns:a="http://schemas.openxmlformats.org/drawingml/2006/main">
          <a:graphicData uri="http://schemas.openxmlformats.org/drawingml/2006/chart">
            <c:chart xmlns:c="http://schemas.openxmlformats.org/drawingml/2006/chart" r:id="rId3"/>
          </a:graphicData>
        </a:graphic>
      </p:graphicFrame>
      <p:sp>
        <p:nvSpPr>
          <p:cNvPr id="616" name="Rectangle 5"/>
          <p:cNvSpPr txBox="1"/>
          <p:nvPr/>
        </p:nvSpPr>
        <p:spPr>
          <a:xfrm>
            <a:off x="8048625" y="2122691"/>
            <a:ext cx="3333750" cy="5361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A45F57"/>
                </a:solidFill>
                <a:latin typeface="Chalkboard"/>
                <a:ea typeface="Chalkboard"/>
                <a:cs typeface="Chalkboard"/>
                <a:sym typeface="Chalkboard"/>
              </a:defRPr>
            </a:lvl1pPr>
          </a:lstStyle>
          <a:p>
            <a:pPr/>
            <a:r>
              <a:t>g₆ = 2⁶ = 64</a:t>
            </a:r>
          </a:p>
        </p:txBody>
      </p:sp>
      <p:sp>
        <p:nvSpPr>
          <p:cNvPr id="617" name="Rectangle 6"/>
          <p:cNvSpPr txBox="1"/>
          <p:nvPr/>
        </p:nvSpPr>
        <p:spPr>
          <a:xfrm>
            <a:off x="8048625" y="3127939"/>
            <a:ext cx="33337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72729"/>
                </a:solidFill>
                <a:latin typeface="Arial"/>
                <a:ea typeface="Arial"/>
                <a:cs typeface="Arial"/>
                <a:sym typeface="Arial"/>
              </a:defRPr>
            </a:lvl1pPr>
          </a:lstStyle>
          <a:p>
            <a:pPr/>
            <a:r>
              <a:t>At learning rate η = 0.1:</a:t>
            </a:r>
          </a:p>
        </p:txBody>
      </p:sp>
      <p:sp>
        <p:nvSpPr>
          <p:cNvPr id="618" name="Rectangle 7"/>
          <p:cNvSpPr txBox="1"/>
          <p:nvPr/>
        </p:nvSpPr>
        <p:spPr>
          <a:xfrm>
            <a:off x="8048625" y="3673717"/>
            <a:ext cx="3333750" cy="9107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A45F57"/>
                </a:solidFill>
                <a:latin typeface="Chalkboard"/>
                <a:ea typeface="Chalkboard"/>
                <a:cs typeface="Chalkboard"/>
                <a:sym typeface="Chalkboard"/>
              </a:defRPr>
            </a:pPr>
            <a:r>
              <a:t>|Δw| = 0.1 × 64</a:t>
            </a:r>
          </a:p>
          <a:p>
            <a:pPr>
              <a:defRPr b="1" sz="2200">
                <a:solidFill>
                  <a:srgbClr val="A45F57"/>
                </a:solidFill>
                <a:latin typeface="Chalkboard"/>
                <a:ea typeface="Chalkboard"/>
                <a:cs typeface="Chalkboard"/>
                <a:sym typeface="Chalkboard"/>
              </a:defRPr>
            </a:pPr>
            <a:r>
              <a:t>       = 6.4</a:t>
            </a:r>
          </a:p>
        </p:txBody>
      </p:sp>
      <p:sp>
        <p:nvSpPr>
          <p:cNvPr id="619" name="Rectangle 8"/>
          <p:cNvSpPr txBox="1"/>
          <p:nvPr/>
        </p:nvSpPr>
        <p:spPr>
          <a:xfrm>
            <a:off x="8048625" y="4980551"/>
            <a:ext cx="3333750"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A large step can move</a:t>
            </a:r>
          </a:p>
          <a:p>
            <a:pPr>
              <a:defRPr>
                <a:solidFill>
                  <a:srgbClr val="272729"/>
                </a:solidFill>
                <a:latin typeface="Arial"/>
                <a:ea typeface="Arial"/>
                <a:cs typeface="Arial"/>
                <a:sym typeface="Arial"/>
              </a:defRPr>
            </a:pPr>
            <a:r>
              <a:t>far beyond a useful region.</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23"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624"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625"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626"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627" name="Rectangle 12"/>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Healthier gradient flow</a:t>
            </a:r>
          </a:p>
        </p:txBody>
      </p:sp>
      <p:sp>
        <p:nvSpPr>
          <p:cNvPr id="628"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remedy depends on whether gradients shrink, grow, or stop at specific layers.</a:t>
            </a:r>
          </a:p>
        </p:txBody>
      </p:sp>
      <p:sp>
        <p:nvSpPr>
          <p:cNvPr id="629"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Gradient norms by layer help reveal where the backward signal weakens or grows.</a:t>
            </a:r>
          </a:p>
        </p:txBody>
      </p:sp>
      <p:sp>
        <p:nvSpPr>
          <p:cNvPr id="630"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27</a:t>
            </a:r>
          </a:p>
        </p:txBody>
      </p:sp>
      <p:sp>
        <p:nvSpPr>
          <p:cNvPr id="631" name="Rectangle 4"/>
          <p:cNvSpPr txBox="1"/>
          <p:nvPr/>
        </p:nvSpPr>
        <p:spPr>
          <a:xfrm>
            <a:off x="809625" y="1997424"/>
            <a:ext cx="5000625" cy="4533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287B95"/>
                </a:solidFill>
                <a:latin typeface="Chalkboard"/>
                <a:ea typeface="Chalkboard"/>
                <a:cs typeface="Chalkboard"/>
                <a:sym typeface="Chalkboard"/>
              </a:defRPr>
            </a:lvl1pPr>
          </a:lstStyle>
          <a:p>
            <a:pPr/>
            <a:r>
              <a:t>When gradients vanish</a:t>
            </a:r>
          </a:p>
        </p:txBody>
      </p:sp>
      <p:sp>
        <p:nvSpPr>
          <p:cNvPr id="632" name="Rectangle 5"/>
          <p:cNvSpPr txBox="1"/>
          <p:nvPr/>
        </p:nvSpPr>
        <p:spPr>
          <a:xfrm>
            <a:off x="809625" y="2851714"/>
            <a:ext cx="50482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ReLU has derivative 1 for positive inputs.</a:t>
            </a:r>
          </a:p>
          <a:p>
            <a:pPr>
              <a:defRPr>
                <a:solidFill>
                  <a:srgbClr val="272729"/>
                </a:solidFill>
                <a:latin typeface="Arial"/>
                <a:ea typeface="Arial"/>
                <a:cs typeface="Arial"/>
                <a:sym typeface="Arial"/>
              </a:defRPr>
            </a:pPr>
            <a:r>
              <a:t>Inactive ReLU units still have zero gradient.</a:t>
            </a:r>
          </a:p>
        </p:txBody>
      </p:sp>
      <p:sp>
        <p:nvSpPr>
          <p:cNvPr id="633" name="Rectangle 6"/>
          <p:cNvSpPr txBox="1"/>
          <p:nvPr/>
        </p:nvSpPr>
        <p:spPr>
          <a:xfrm>
            <a:off x="809625" y="3937564"/>
            <a:ext cx="50482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Suitable initialization helps preserve scale:</a:t>
            </a:r>
          </a:p>
          <a:p>
            <a:pPr>
              <a:defRPr>
                <a:solidFill>
                  <a:srgbClr val="272729"/>
                </a:solidFill>
                <a:latin typeface="Arial"/>
                <a:ea typeface="Arial"/>
                <a:cs typeface="Arial"/>
                <a:sym typeface="Arial"/>
              </a:defRPr>
            </a:pPr>
            <a:r>
              <a:t>He for ReLU, Xavier for tanh.</a:t>
            </a:r>
          </a:p>
        </p:txBody>
      </p:sp>
      <p:sp>
        <p:nvSpPr>
          <p:cNvPr id="634" name="Rectangle 7"/>
          <p:cNvSpPr txBox="1"/>
          <p:nvPr/>
        </p:nvSpPr>
        <p:spPr>
          <a:xfrm>
            <a:off x="809625" y="4971026"/>
            <a:ext cx="5048250"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Residual connections provide</a:t>
            </a:r>
          </a:p>
          <a:p>
            <a:pPr>
              <a:defRPr>
                <a:solidFill>
                  <a:srgbClr val="272729"/>
                </a:solidFill>
                <a:latin typeface="Arial"/>
                <a:ea typeface="Arial"/>
                <a:cs typeface="Arial"/>
                <a:sym typeface="Arial"/>
              </a:defRPr>
            </a:pPr>
            <a:r>
              <a:t>shorter paths for the backward signal.</a:t>
            </a:r>
          </a:p>
        </p:txBody>
      </p:sp>
      <p:sp>
        <p:nvSpPr>
          <p:cNvPr id="635" name="Rectangle 8"/>
          <p:cNvSpPr txBox="1"/>
          <p:nvPr/>
        </p:nvSpPr>
        <p:spPr>
          <a:xfrm>
            <a:off x="6572250" y="1997424"/>
            <a:ext cx="4857750" cy="4533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300">
                <a:solidFill>
                  <a:srgbClr val="A45F57"/>
                </a:solidFill>
                <a:latin typeface="Chalkboard"/>
                <a:ea typeface="Chalkboard"/>
                <a:cs typeface="Chalkboard"/>
                <a:sym typeface="Chalkboard"/>
              </a:defRPr>
            </a:lvl1pPr>
          </a:lstStyle>
          <a:p>
            <a:pPr/>
            <a:r>
              <a:t>When gradients explode</a:t>
            </a:r>
          </a:p>
        </p:txBody>
      </p:sp>
      <p:sp>
        <p:nvSpPr>
          <p:cNvPr id="636" name="Rectangle 9"/>
          <p:cNvSpPr txBox="1"/>
          <p:nvPr/>
        </p:nvSpPr>
        <p:spPr>
          <a:xfrm>
            <a:off x="6572250" y="2851714"/>
            <a:ext cx="48577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Gradient clipping limits large gradients</a:t>
            </a:r>
          </a:p>
          <a:p>
            <a:pPr>
              <a:defRPr>
                <a:solidFill>
                  <a:srgbClr val="272729"/>
                </a:solidFill>
                <a:latin typeface="Arial"/>
                <a:ea typeface="Arial"/>
                <a:cs typeface="Arial"/>
                <a:sym typeface="Arial"/>
              </a:defRPr>
            </a:pPr>
            <a:r>
              <a:t>before the update.</a:t>
            </a:r>
          </a:p>
        </p:txBody>
      </p:sp>
      <p:sp>
        <p:nvSpPr>
          <p:cNvPr id="637" name="Rectangle 10"/>
          <p:cNvSpPr txBox="1"/>
          <p:nvPr/>
        </p:nvSpPr>
        <p:spPr>
          <a:xfrm>
            <a:off x="6572250" y="3937564"/>
            <a:ext cx="48577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A smaller learning rate reduces step size.</a:t>
            </a:r>
          </a:p>
          <a:p>
            <a:pPr>
              <a:defRPr>
                <a:solidFill>
                  <a:srgbClr val="272729"/>
                </a:solidFill>
                <a:latin typeface="Arial"/>
                <a:ea typeface="Arial"/>
                <a:cs typeface="Arial"/>
                <a:sym typeface="Arial"/>
              </a:defRPr>
            </a:pPr>
            <a:r>
              <a:t>Check initialization and activation scale.</a:t>
            </a:r>
          </a:p>
        </p:txBody>
      </p:sp>
      <p:sp>
        <p:nvSpPr>
          <p:cNvPr id="638" name="Rectangle 11"/>
          <p:cNvSpPr txBox="1"/>
          <p:nvPr/>
        </p:nvSpPr>
        <p:spPr>
          <a:xfrm>
            <a:off x="6572250" y="4971026"/>
            <a:ext cx="4857750"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Track gradient norms and loss together.</a:t>
            </a:r>
          </a:p>
          <a:p>
            <a:pPr>
              <a:defRPr>
                <a:solidFill>
                  <a:srgbClr val="272729"/>
                </a:solidFill>
                <a:latin typeface="Arial"/>
                <a:ea typeface="Arial"/>
                <a:cs typeface="Arial"/>
                <a:sym typeface="Arial"/>
              </a:defRPr>
            </a:pPr>
            <a:r>
              <a:t>Loss spikes alone do not identify the cause.</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42"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643"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644"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645"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646" name="Rectangle 6"/>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Diagnosing training problems</a:t>
            </a:r>
          </a:p>
        </p:txBody>
      </p:sp>
      <p:sp>
        <p:nvSpPr>
          <p:cNvPr id="647"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Compare the loss curve with gradient measurements before choosing a remedy.</a:t>
            </a:r>
          </a:p>
        </p:txBody>
      </p:sp>
      <p:sp>
        <p:nvSpPr>
          <p:cNvPr id="648"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Change one setting at a time and compare runs using the same validation procedure.</a:t>
            </a:r>
          </a:p>
        </p:txBody>
      </p:sp>
      <p:sp>
        <p:nvSpPr>
          <p:cNvPr id="649"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29</a:t>
            </a:r>
          </a:p>
        </p:txBody>
      </p:sp>
      <p:graphicFrame>
        <p:nvGraphicFramePr>
          <p:cNvPr id="650" name="Tableau 10"/>
          <p:cNvGraphicFramePr/>
          <p:nvPr/>
        </p:nvGraphicFramePr>
        <p:xfrm>
          <a:off x="762000" y="2028825"/>
          <a:ext cx="10668000" cy="32194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429000"/>
                <a:gridCol w="3238500"/>
                <a:gridCol w="4000500"/>
              </a:tblGrid>
              <a:tr h="804863">
                <a:tc>
                  <a:txBody>
                    <a:bodyPr/>
                    <a:lstStyle/>
                    <a:p>
                      <a:pPr algn="l">
                        <a:defRPr sz="1800"/>
                      </a:pPr>
                      <a:r>
                        <a:rPr b="1">
                          <a:solidFill>
                            <a:srgbClr val="287B95"/>
                          </a:solidFill>
                          <a:latin typeface="Arial"/>
                          <a:ea typeface="Arial"/>
                          <a:cs typeface="Arial"/>
                          <a:sym typeface="Arial"/>
                        </a:rPr>
                        <a:t>Observation</a:t>
                      </a:r>
                    </a:p>
                  </a:txBody>
                  <a:tcPr marL="45720" marR="45720" marT="45720" marB="45720" anchor="t" anchorCtr="0" horzOverflow="overflow">
                    <a:lnL w="12700">
                      <a:miter lim="400000"/>
                    </a:lnL>
                    <a:lnR w="12700">
                      <a:miter lim="400000"/>
                    </a:lnR>
                    <a:lnT w="12700">
                      <a:miter lim="400000"/>
                    </a:lnT>
                    <a:lnB w="12700">
                      <a:miter lim="400000"/>
                    </a:lnB>
                    <a:solidFill>
                      <a:srgbClr val="E9EFEE"/>
                    </a:solidFill>
                  </a:tcPr>
                </a:tc>
                <a:tc>
                  <a:txBody>
                    <a:bodyPr/>
                    <a:lstStyle/>
                    <a:p>
                      <a:pPr algn="l">
                        <a:defRPr sz="1800"/>
                      </a:pPr>
                      <a:r>
                        <a:rPr b="1">
                          <a:solidFill>
                            <a:srgbClr val="287B95"/>
                          </a:solidFill>
                          <a:latin typeface="Arial"/>
                          <a:ea typeface="Arial"/>
                          <a:cs typeface="Arial"/>
                          <a:sym typeface="Arial"/>
                        </a:rPr>
                        <a:t>What to inspect</a:t>
                      </a:r>
                    </a:p>
                  </a:txBody>
                  <a:tcPr marL="45720" marR="45720" marT="45720" marB="45720" anchor="t" anchorCtr="0" horzOverflow="overflow">
                    <a:lnL w="12700">
                      <a:miter lim="400000"/>
                    </a:lnL>
                    <a:lnR w="12700">
                      <a:miter lim="400000"/>
                    </a:lnR>
                    <a:lnT w="12700">
                      <a:miter lim="400000"/>
                    </a:lnT>
                    <a:lnB w="12700">
                      <a:miter lim="400000"/>
                    </a:lnB>
                    <a:solidFill>
                      <a:srgbClr val="E9EFEE"/>
                    </a:solidFill>
                  </a:tcPr>
                </a:tc>
                <a:tc>
                  <a:txBody>
                    <a:bodyPr/>
                    <a:lstStyle/>
                    <a:p>
                      <a:pPr algn="l">
                        <a:defRPr sz="1800"/>
                      </a:pPr>
                      <a:r>
                        <a:rPr b="1">
                          <a:solidFill>
                            <a:srgbClr val="287B95"/>
                          </a:solidFill>
                          <a:latin typeface="Arial"/>
                          <a:ea typeface="Arial"/>
                          <a:cs typeface="Arial"/>
                          <a:sym typeface="Arial"/>
                        </a:rPr>
                        <a:t>Possible response</a:t>
                      </a:r>
                    </a:p>
                  </a:txBody>
                  <a:tcPr marL="45720" marR="45720" marT="45720" marB="45720" anchor="t" anchorCtr="0" horzOverflow="overflow">
                    <a:lnL w="12700">
                      <a:miter lim="400000"/>
                    </a:lnL>
                    <a:lnR w="12700">
                      <a:miter lim="400000"/>
                    </a:lnR>
                    <a:lnT w="12700">
                      <a:miter lim="400000"/>
                    </a:lnT>
                    <a:lnB w="12700">
                      <a:miter lim="400000"/>
                    </a:lnB>
                    <a:solidFill>
                      <a:srgbClr val="E9EFEE"/>
                    </a:solidFill>
                  </a:tcPr>
                </a:tc>
              </a:tr>
              <a:tr h="804863">
                <a:tc>
                  <a:txBody>
                    <a:bodyPr/>
                    <a:lstStyle/>
                    <a:p>
                      <a:pPr algn="l">
                        <a:defRPr sz="1800"/>
                      </a:pPr>
                      <a:r>
                        <a:rPr sz="1700">
                          <a:solidFill>
                            <a:srgbClr val="272729"/>
                          </a:solidFill>
                          <a:latin typeface="Arial"/>
                          <a:ea typeface="Arial"/>
                          <a:cs typeface="Arial"/>
                          <a:sym typeface="Arial"/>
                        </a:rPr>
                        <a:t>Tiny early-layer gradients
and stalled training</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Activation saturation
and initialization</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ReLU / suitable initialization
Residual connections</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r>
              <a:tr h="804863">
                <a:tc>
                  <a:txBody>
                    <a:bodyPr/>
                    <a:lstStyle/>
                    <a:p>
                      <a:pPr algn="l">
                        <a:defRPr sz="1800"/>
                      </a:pPr>
                      <a:r>
                        <a:rPr sz="1700">
                          <a:solidFill>
                            <a:srgbClr val="272729"/>
                          </a:solidFill>
                          <a:latin typeface="Arial"/>
                          <a:ea typeface="Arial"/>
                          <a:cs typeface="Arial"/>
                          <a:sym typeface="Arial"/>
                        </a:rPr>
                        <a:t>Large gradients
and loss spikes</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Gradient norms
and update size</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Gradient clipping
A smaller learning rate</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r>
              <a:tr h="804863">
                <a:tc>
                  <a:txBody>
                    <a:bodyPr/>
                    <a:lstStyle/>
                    <a:p>
                      <a:pPr algn="l">
                        <a:defRPr sz="1800"/>
                      </a:pPr>
                      <a:r>
                        <a:rPr sz="1700">
                          <a:solidFill>
                            <a:srgbClr val="272729"/>
                          </a:solidFill>
                          <a:latin typeface="Arial"/>
                          <a:ea typeface="Arial"/>
                          <a:cs typeface="Arial"/>
                          <a:sym typeface="Arial"/>
                        </a:rPr>
                        <a:t>Training loss falls,
validation loss rises</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Generalization
and data split</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c>
                  <a:txBody>
                    <a:bodyPr/>
                    <a:lstStyle/>
                    <a:p>
                      <a:pPr algn="l">
                        <a:defRPr sz="1800"/>
                      </a:pPr>
                      <a:r>
                        <a:rPr sz="1700">
                          <a:solidFill>
                            <a:srgbClr val="272729"/>
                          </a:solidFill>
                          <a:latin typeface="Arial"/>
                          <a:ea typeface="Arial"/>
                          <a:cs typeface="Arial"/>
                          <a:sym typeface="Arial"/>
                        </a:rPr>
                        <a:t>Early stopping
Review model capacity</a:t>
                      </a:r>
                    </a:p>
                  </a:txBody>
                  <a:tcPr marL="45720" marR="45720" marT="45720" marB="45720" anchor="t" anchorCtr="0" horzOverflow="overflow">
                    <a:lnL w="12700">
                      <a:miter lim="400000"/>
                    </a:lnL>
                    <a:lnR w="12700">
                      <a:miter lim="400000"/>
                    </a:lnR>
                    <a:lnT w="12700">
                      <a:miter lim="400000"/>
                    </a:lnT>
                    <a:lnB w="12700">
                      <a:miter lim="400000"/>
                    </a:lnB>
                    <a:solidFill>
                      <a:srgbClr val="FCFBF8"/>
                    </a:solidFill>
                  </a:tcPr>
                </a:tc>
              </a:tr>
            </a:tbl>
          </a:graphicData>
        </a:graphic>
      </p:graphicFrame>
      <p:sp>
        <p:nvSpPr>
          <p:cNvPr id="651" name="Rectangle 5"/>
          <p:cNvSpPr txBox="1"/>
          <p:nvPr/>
        </p:nvSpPr>
        <p:spPr>
          <a:xfrm>
            <a:off x="800100" y="5394473"/>
            <a:ext cx="104775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16069"/>
                </a:solidFill>
                <a:latin typeface="Arial"/>
                <a:ea typeface="Arial"/>
                <a:cs typeface="Arial"/>
                <a:sym typeface="Arial"/>
              </a:defRPr>
            </a:lvl1pPr>
          </a:lstStyle>
          <a:p>
            <a:pPr/>
            <a:r>
              <a:t>A small gradient near convergence can be expected. Context matters.</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55"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656"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657"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658" name="Line"/>
          <p:cNvSpPr/>
          <p:nvPr/>
        </p:nvSpPr>
        <p:spPr>
          <a:xfrm>
            <a:off x="609600" y="6429375"/>
            <a:ext cx="10972801" cy="0"/>
          </a:xfrm>
          <a:prstGeom prst="line">
            <a:avLst/>
          </a:prstGeom>
          <a:ln w="7620">
            <a:solidFill>
              <a:srgbClr val="D9CDBB"/>
            </a:solidFill>
          </a:ln>
        </p:spPr>
        <p:txBody>
          <a:bodyPr lIns="45719" rIns="45719"/>
          <a:lstStyle/>
          <a:p>
            <a:pPr/>
          </a:p>
        </p:txBody>
      </p:sp>
      <p:graphicFrame>
        <p:nvGraphicFramePr>
          <p:cNvPr id="659" name="Chart"/>
          <p:cNvGraphicFramePr/>
          <p:nvPr/>
        </p:nvGraphicFramePr>
        <p:xfrm>
          <a:off x="1290310" y="1877381"/>
          <a:ext cx="6507591" cy="3425818"/>
        </p:xfrm>
        <a:graphic xmlns:a="http://schemas.openxmlformats.org/drawingml/2006/main">
          <a:graphicData uri="http://schemas.openxmlformats.org/drawingml/2006/chart">
            <c:chart xmlns:c="http://schemas.openxmlformats.org/drawingml/2006/chart" r:id="rId3"/>
          </a:graphicData>
        </a:graphic>
      </p:graphicFrame>
      <p:sp>
        <p:nvSpPr>
          <p:cNvPr id="660" name="Rectangle 5"/>
          <p:cNvSpPr txBox="1"/>
          <p:nvPr/>
        </p:nvSpPr>
        <p:spPr>
          <a:xfrm>
            <a:off x="8370569" y="2069306"/>
            <a:ext cx="2678832"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A45F57"/>
                </a:solidFill>
                <a:latin typeface="Chalkboard"/>
                <a:ea typeface="Chalkboard"/>
                <a:cs typeface="Chalkboard"/>
                <a:sym typeface="Chalkboard"/>
              </a:defRPr>
            </a:lvl1pPr>
          </a:lstStyle>
          <a:p>
            <a:pPr/>
            <a:r>
              <a:t>Best shown validation</a:t>
            </a:r>
          </a:p>
        </p:txBody>
      </p:sp>
      <p:sp>
        <p:nvSpPr>
          <p:cNvPr id="661" name="Rectangle 6"/>
          <p:cNvSpPr txBox="1"/>
          <p:nvPr/>
        </p:nvSpPr>
        <p:spPr>
          <a:xfrm>
            <a:off x="8370569" y="2937985"/>
            <a:ext cx="2678832" cy="5573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A45F57"/>
                </a:solidFill>
                <a:latin typeface="Chalkboard"/>
                <a:ea typeface="Chalkboard"/>
                <a:cs typeface="Chalkboard"/>
                <a:sym typeface="Chalkboard"/>
              </a:defRPr>
            </a:lvl1pPr>
          </a:lstStyle>
          <a:p>
            <a:pPr/>
            <a:r>
              <a:t>Epoch 5</a:t>
            </a:r>
          </a:p>
        </p:txBody>
      </p:sp>
      <p:sp>
        <p:nvSpPr>
          <p:cNvPr id="662" name="Rectangle 7"/>
          <p:cNvSpPr txBox="1"/>
          <p:nvPr/>
        </p:nvSpPr>
        <p:spPr>
          <a:xfrm>
            <a:off x="8370569" y="3815715"/>
            <a:ext cx="2678832" cy="592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Training loss keeps falling</a:t>
            </a:r>
          </a:p>
          <a:p>
            <a:pPr>
              <a:defRPr sz="1700">
                <a:solidFill>
                  <a:srgbClr val="272729"/>
                </a:solidFill>
                <a:latin typeface="Arial"/>
                <a:ea typeface="Arial"/>
                <a:cs typeface="Arial"/>
                <a:sym typeface="Arial"/>
              </a:defRPr>
            </a:pPr>
            <a:r>
              <a:t>as validation loss rises.</a:t>
            </a:r>
          </a:p>
        </p:txBody>
      </p:sp>
      <p:sp>
        <p:nvSpPr>
          <p:cNvPr id="663" name="Rectangle 8"/>
          <p:cNvSpPr txBox="1"/>
          <p:nvPr/>
        </p:nvSpPr>
        <p:spPr>
          <a:xfrm>
            <a:off x="8370569" y="5037296"/>
            <a:ext cx="2705903"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700">
                <a:solidFill>
                  <a:srgbClr val="616069"/>
                </a:solidFill>
                <a:latin typeface="Arial"/>
                <a:ea typeface="Arial"/>
                <a:cs typeface="Arial"/>
                <a:sym typeface="Arial"/>
              </a:defRPr>
            </a:lvl1pPr>
          </a:lstStyle>
          <a:p>
            <a:pPr/>
            <a:r>
              <a:t>Possible overfitting</a:t>
            </a:r>
          </a:p>
        </p:txBody>
      </p:sp>
      <p:sp>
        <p:nvSpPr>
          <p:cNvPr id="664"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Training progress and unseen examples</a:t>
            </a:r>
          </a:p>
        </p:txBody>
      </p:sp>
      <p:sp>
        <p:nvSpPr>
          <p:cNvPr id="665"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An illustrative learning curve shows how overfitting can emerge.</a:t>
            </a:r>
          </a:p>
        </p:txBody>
      </p:sp>
      <p:sp>
        <p:nvSpPr>
          <p:cNvPr id="666"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Validation guides tuning and stopping. A separate test set estimates final performance.</a:t>
            </a:r>
          </a:p>
        </p:txBody>
      </p:sp>
      <p:sp>
        <p:nvSpPr>
          <p:cNvPr id="667"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30</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7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67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67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674"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675" name="recap-step-1"/>
          <p:cNvSpPr/>
          <p:nvPr/>
        </p:nvSpPr>
        <p:spPr>
          <a:xfrm>
            <a:off x="916405" y="2304574"/>
            <a:ext cx="2219826" cy="1610679"/>
          </a:xfrm>
          <a:prstGeom prst="roundRect">
            <a:avLst>
              <a:gd name="adj" fmla="val 11236"/>
            </a:avLst>
          </a:prstGeom>
          <a:solidFill>
            <a:srgbClr val="EAF3FA"/>
          </a:solidFill>
          <a:ln w="15240">
            <a:solidFill>
              <a:srgbClr val="345C83"/>
            </a:solidFill>
          </a:ln>
        </p:spPr>
        <p:txBody>
          <a:bodyPr lIns="45719" rIns="45719"/>
          <a:lstStyle/>
          <a:p>
            <a:pPr/>
          </a:p>
        </p:txBody>
      </p:sp>
      <p:sp>
        <p:nvSpPr>
          <p:cNvPr id="676" name="recap-step-1-title"/>
          <p:cNvSpPr txBox="1"/>
          <p:nvPr/>
        </p:nvSpPr>
        <p:spPr>
          <a:xfrm>
            <a:off x="1042737"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345C83"/>
                </a:solidFill>
                <a:latin typeface="Chalkboard"/>
                <a:ea typeface="Chalkboard"/>
                <a:cs typeface="Chalkboard"/>
                <a:sym typeface="Chalkboard"/>
              </a:defRPr>
            </a:lvl1pPr>
          </a:lstStyle>
          <a:p>
            <a:pPr/>
            <a:r>
              <a:t>Predict</a:t>
            </a:r>
          </a:p>
        </p:txBody>
      </p:sp>
      <p:sp>
        <p:nvSpPr>
          <p:cNvPr id="677" name="recap-step-1-detail"/>
          <p:cNvSpPr txBox="1"/>
          <p:nvPr/>
        </p:nvSpPr>
        <p:spPr>
          <a:xfrm>
            <a:off x="1078832"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Forward pass</a:t>
            </a:r>
          </a:p>
          <a:p>
            <a:pPr algn="ctr">
              <a:defRPr sz="1000">
                <a:solidFill>
                  <a:srgbClr val="414447"/>
                </a:solidFill>
                <a:latin typeface="Arial"/>
                <a:ea typeface="Arial"/>
                <a:cs typeface="Arial"/>
                <a:sym typeface="Arial"/>
              </a:defRPr>
            </a:pPr>
            <a:r>
              <a:t>ŷ = 0.6225</a:t>
            </a:r>
          </a:p>
        </p:txBody>
      </p:sp>
      <p:sp>
        <p:nvSpPr>
          <p:cNvPr id="678" name="recap-step-2"/>
          <p:cNvSpPr/>
          <p:nvPr/>
        </p:nvSpPr>
        <p:spPr>
          <a:xfrm>
            <a:off x="3533273" y="2304574"/>
            <a:ext cx="2219827" cy="1610679"/>
          </a:xfrm>
          <a:prstGeom prst="roundRect">
            <a:avLst>
              <a:gd name="adj" fmla="val 11236"/>
            </a:avLst>
          </a:prstGeom>
          <a:solidFill>
            <a:srgbClr val="F9E4E1"/>
          </a:solidFill>
          <a:ln w="15240">
            <a:solidFill>
              <a:srgbClr val="A45F57"/>
            </a:solidFill>
          </a:ln>
        </p:spPr>
        <p:txBody>
          <a:bodyPr lIns="45719" rIns="45719"/>
          <a:lstStyle/>
          <a:p>
            <a:pPr/>
          </a:p>
        </p:txBody>
      </p:sp>
      <p:sp>
        <p:nvSpPr>
          <p:cNvPr id="679" name="recap-step-2-title"/>
          <p:cNvSpPr txBox="1"/>
          <p:nvPr/>
        </p:nvSpPr>
        <p:spPr>
          <a:xfrm>
            <a:off x="3659604"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A45F57"/>
                </a:solidFill>
                <a:latin typeface="Chalkboard"/>
                <a:ea typeface="Chalkboard"/>
                <a:cs typeface="Chalkboard"/>
                <a:sym typeface="Chalkboard"/>
              </a:defRPr>
            </a:lvl1pPr>
          </a:lstStyle>
          <a:p>
            <a:pPr/>
            <a:r>
              <a:t>Measure loss</a:t>
            </a:r>
          </a:p>
        </p:txBody>
      </p:sp>
      <p:sp>
        <p:nvSpPr>
          <p:cNvPr id="680" name="recap-step-2-detail"/>
          <p:cNvSpPr txBox="1"/>
          <p:nvPr/>
        </p:nvSpPr>
        <p:spPr>
          <a:xfrm>
            <a:off x="3695700"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Compare ŷ with y</a:t>
            </a:r>
          </a:p>
          <a:p>
            <a:pPr algn="ctr">
              <a:defRPr sz="1000">
                <a:solidFill>
                  <a:srgbClr val="414447"/>
                </a:solidFill>
                <a:latin typeface="Arial"/>
                <a:ea typeface="Arial"/>
                <a:cs typeface="Arial"/>
                <a:sym typeface="Arial"/>
              </a:defRPr>
            </a:pPr>
            <a:r>
              <a:t>L = 0.4741</a:t>
            </a:r>
          </a:p>
        </p:txBody>
      </p:sp>
      <p:sp>
        <p:nvSpPr>
          <p:cNvPr id="681" name="recap-step-3"/>
          <p:cNvSpPr/>
          <p:nvPr/>
        </p:nvSpPr>
        <p:spPr>
          <a:xfrm>
            <a:off x="6150142" y="2304574"/>
            <a:ext cx="2219826" cy="1610679"/>
          </a:xfrm>
          <a:prstGeom prst="roundRect">
            <a:avLst>
              <a:gd name="adj" fmla="val 11236"/>
            </a:avLst>
          </a:prstGeom>
          <a:solidFill>
            <a:srgbClr val="F0E8F6"/>
          </a:solidFill>
          <a:ln w="15240">
            <a:solidFill>
              <a:srgbClr val="9A54B3"/>
            </a:solidFill>
          </a:ln>
        </p:spPr>
        <p:txBody>
          <a:bodyPr lIns="45719" rIns="45719"/>
          <a:lstStyle/>
          <a:p>
            <a:pPr/>
          </a:p>
        </p:txBody>
      </p:sp>
      <p:sp>
        <p:nvSpPr>
          <p:cNvPr id="682" name="recap-step-3-title"/>
          <p:cNvSpPr txBox="1"/>
          <p:nvPr/>
        </p:nvSpPr>
        <p:spPr>
          <a:xfrm>
            <a:off x="6276473"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9A54B3"/>
                </a:solidFill>
                <a:latin typeface="Chalkboard"/>
                <a:ea typeface="Chalkboard"/>
                <a:cs typeface="Chalkboard"/>
                <a:sym typeface="Chalkboard"/>
              </a:defRPr>
            </a:lvl1pPr>
          </a:lstStyle>
          <a:p>
            <a:pPr/>
            <a:r>
              <a:t>Backpropagate</a:t>
            </a:r>
          </a:p>
        </p:txBody>
      </p:sp>
      <p:sp>
        <p:nvSpPr>
          <p:cNvPr id="683" name="recap-step-3-detail"/>
          <p:cNvSpPr txBox="1"/>
          <p:nvPr/>
        </p:nvSpPr>
        <p:spPr>
          <a:xfrm>
            <a:off x="6312568"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Apply the chain rule</a:t>
            </a:r>
          </a:p>
          <a:p>
            <a:pPr algn="ctr">
              <a:defRPr sz="1000">
                <a:solidFill>
                  <a:srgbClr val="414447"/>
                </a:solidFill>
                <a:latin typeface="Arial"/>
                <a:ea typeface="Arial"/>
                <a:cs typeface="Arial"/>
                <a:sym typeface="Arial"/>
              </a:defRPr>
            </a:pPr>
            <a:r>
              <a:t>Find each gradient</a:t>
            </a:r>
          </a:p>
        </p:txBody>
      </p:sp>
      <p:sp>
        <p:nvSpPr>
          <p:cNvPr id="684" name="recap-step-4"/>
          <p:cNvSpPr/>
          <p:nvPr/>
        </p:nvSpPr>
        <p:spPr>
          <a:xfrm>
            <a:off x="8767011" y="2304574"/>
            <a:ext cx="2219827" cy="1610679"/>
          </a:xfrm>
          <a:prstGeom prst="roundRect">
            <a:avLst>
              <a:gd name="adj" fmla="val 11236"/>
            </a:avLst>
          </a:prstGeom>
          <a:solidFill>
            <a:srgbClr val="E5F3EC"/>
          </a:solidFill>
          <a:ln w="15240">
            <a:solidFill>
              <a:srgbClr val="228778"/>
            </a:solidFill>
          </a:ln>
        </p:spPr>
        <p:txBody>
          <a:bodyPr lIns="45719" rIns="45719"/>
          <a:lstStyle/>
          <a:p>
            <a:pPr/>
          </a:p>
        </p:txBody>
      </p:sp>
      <p:sp>
        <p:nvSpPr>
          <p:cNvPr id="685" name="recap-step-4-title"/>
          <p:cNvSpPr txBox="1"/>
          <p:nvPr/>
        </p:nvSpPr>
        <p:spPr>
          <a:xfrm>
            <a:off x="8893341"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228778"/>
                </a:solidFill>
                <a:latin typeface="Chalkboard"/>
                <a:ea typeface="Chalkboard"/>
                <a:cs typeface="Chalkboard"/>
                <a:sym typeface="Chalkboard"/>
              </a:defRPr>
            </a:lvl1pPr>
          </a:lstStyle>
          <a:p>
            <a:pPr/>
            <a:r>
              <a:t>Update weights</a:t>
            </a:r>
          </a:p>
        </p:txBody>
      </p:sp>
      <p:sp>
        <p:nvSpPr>
          <p:cNvPr id="686" name="recap-step-4-detail"/>
          <p:cNvSpPr txBox="1"/>
          <p:nvPr/>
        </p:nvSpPr>
        <p:spPr>
          <a:xfrm>
            <a:off x="8929437"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Gradient descent</a:t>
            </a:r>
          </a:p>
          <a:p>
            <a:pPr algn="ctr">
              <a:defRPr sz="1000">
                <a:solidFill>
                  <a:srgbClr val="414447"/>
                </a:solidFill>
                <a:latin typeface="Arial"/>
                <a:ea typeface="Arial"/>
                <a:cs typeface="Arial"/>
                <a:sym typeface="Arial"/>
              </a:defRPr>
            </a:pPr>
            <a:r>
              <a:t>θnew = θold − η∇L</a:t>
            </a:r>
          </a:p>
        </p:txBody>
      </p:sp>
      <p:cxnSp>
        <p:nvCxnSpPr>
          <p:cNvPr id="687" name="Connecteur droit avec flèche 39"/>
          <p:cNvCxnSpPr>
            <a:stCxn id="675" idx="0"/>
            <a:endCxn id="678" idx="0"/>
          </p:cNvCxnSpPr>
          <p:nvPr/>
        </p:nvCxnSpPr>
        <p:spPr>
          <a:xfrm>
            <a:off x="2026317" y="3109913"/>
            <a:ext cx="2616870" cy="1"/>
          </a:xfrm>
          <a:prstGeom prst="straightConnector1">
            <a:avLst/>
          </a:prstGeom>
          <a:ln w="17145" cap="rnd">
            <a:solidFill>
              <a:srgbClr val="287B95"/>
            </a:solidFill>
            <a:tailEnd type="triangle"/>
          </a:ln>
        </p:spPr>
      </p:cxnSp>
      <p:cxnSp>
        <p:nvCxnSpPr>
          <p:cNvPr id="688" name="Connecteur droit avec flèche 40"/>
          <p:cNvCxnSpPr>
            <a:stCxn id="678" idx="0"/>
            <a:endCxn id="681" idx="0"/>
          </p:cNvCxnSpPr>
          <p:nvPr/>
        </p:nvCxnSpPr>
        <p:spPr>
          <a:xfrm>
            <a:off x="4643186" y="3109913"/>
            <a:ext cx="2616870" cy="1"/>
          </a:xfrm>
          <a:prstGeom prst="straightConnector1">
            <a:avLst/>
          </a:prstGeom>
          <a:ln w="17145" cap="rnd">
            <a:solidFill>
              <a:srgbClr val="8E6F51"/>
            </a:solidFill>
            <a:tailEnd type="triangle"/>
          </a:ln>
        </p:spPr>
      </p:cxnSp>
      <p:cxnSp>
        <p:nvCxnSpPr>
          <p:cNvPr id="689" name="Connecteur droit avec flèche 41"/>
          <p:cNvCxnSpPr>
            <a:stCxn id="681" idx="0"/>
            <a:endCxn id="684" idx="0"/>
          </p:cNvCxnSpPr>
          <p:nvPr/>
        </p:nvCxnSpPr>
        <p:spPr>
          <a:xfrm>
            <a:off x="7260055" y="3109913"/>
            <a:ext cx="2616870" cy="1"/>
          </a:xfrm>
          <a:prstGeom prst="straightConnector1">
            <a:avLst/>
          </a:prstGeom>
          <a:ln w="17145" cap="rnd">
            <a:solidFill>
              <a:srgbClr val="287B95"/>
            </a:solidFill>
            <a:tailEnd type="triangle"/>
          </a:ln>
        </p:spPr>
      </p:cxnSp>
      <p:grpSp>
        <p:nvGrpSpPr>
          <p:cNvPr id="692" name="recap-result"/>
          <p:cNvGrpSpPr/>
          <p:nvPr/>
        </p:nvGrpSpPr>
        <p:grpSpPr>
          <a:xfrm>
            <a:off x="1638300" y="4539615"/>
            <a:ext cx="8626642" cy="741998"/>
            <a:chOff x="0" y="0"/>
            <a:chExt cx="8626641" cy="741997"/>
          </a:xfrm>
        </p:grpSpPr>
        <p:sp>
          <p:nvSpPr>
            <p:cNvPr id="690" name="Rounded Rectangle"/>
            <p:cNvSpPr/>
            <p:nvPr/>
          </p:nvSpPr>
          <p:spPr>
            <a:xfrm>
              <a:off x="0" y="0"/>
              <a:ext cx="8626642" cy="741998"/>
            </a:xfrm>
            <a:prstGeom prst="roundRect">
              <a:avLst>
                <a:gd name="adj" fmla="val 17073"/>
              </a:avLst>
            </a:prstGeom>
            <a:solidFill>
              <a:srgbClr val="F8E8B2"/>
            </a:solidFill>
            <a:ln w="8573" cap="flat">
              <a:solidFill>
                <a:srgbClr val="E7D28C"/>
              </a:solidFill>
              <a:prstDash val="solid"/>
              <a:round/>
            </a:ln>
            <a:effectLst/>
          </p:spPr>
          <p:txBody>
            <a:bodyPr wrap="square" lIns="45719" tIns="45719" rIns="45719" bIns="45719" numCol="1" anchor="ctr">
              <a:noAutofit/>
            </a:bodyPr>
            <a:lstStyle/>
            <a:p>
              <a:pPr algn="ctr">
                <a:defRPr sz="1200">
                  <a:solidFill>
                    <a:srgbClr val="414447"/>
                  </a:solidFill>
                  <a:latin typeface="Chalkboard"/>
                  <a:ea typeface="Chalkboard"/>
                  <a:cs typeface="Chalkboard"/>
                  <a:sym typeface="Chalkboard"/>
                </a:defRPr>
              </a:pPr>
            </a:p>
          </p:txBody>
        </p:sp>
        <p:sp>
          <p:nvSpPr>
            <p:cNvPr id="691" name="After one update, spam probability rises from 0.6225 to 0.6512. Loss falls from 0.4741 to 0.4290."/>
            <p:cNvSpPr txBox="1"/>
            <p:nvPr/>
          </p:nvSpPr>
          <p:spPr>
            <a:xfrm>
              <a:off x="136640" y="41390"/>
              <a:ext cx="8353361" cy="6592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rmAutofit fontScale="100000" lnSpcReduction="0"/>
            </a:bodyPr>
            <a:lstStyle>
              <a:lvl1pPr algn="ctr">
                <a:defRPr sz="1200">
                  <a:solidFill>
                    <a:srgbClr val="414447"/>
                  </a:solidFill>
                  <a:latin typeface="Chalkboard"/>
                  <a:ea typeface="Chalkboard"/>
                  <a:cs typeface="Chalkboard"/>
                  <a:sym typeface="Chalkboard"/>
                </a:defRPr>
              </a:lvl1pPr>
            </a:lstStyle>
            <a:p>
              <a:pPr/>
              <a:r>
                <a:t>After one update, spam probability rises from 0.6225 to 0.6512. Loss falls from 0.4741 to 0.4290.</a:t>
              </a:r>
            </a:p>
          </p:txBody>
        </p:sp>
      </p:grpSp>
      <p:sp>
        <p:nvSpPr>
          <p:cNvPr id="69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of one training update</a:t>
            </a:r>
          </a:p>
        </p:txBody>
      </p:sp>
      <p:sp>
        <p:nvSpPr>
          <p:cNvPr id="69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Forward pass creates a prediction. Backpropagation supplies the gradients for a gradient descent step.</a:t>
            </a:r>
          </a:p>
        </p:txBody>
      </p:sp>
      <p:sp>
        <p:nvSpPr>
          <p:cNvPr id="695"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Small, repeated updates help the network reduce training loss over many examples.</a:t>
            </a:r>
          </a:p>
        </p:txBody>
      </p:sp>
      <p:sp>
        <p:nvSpPr>
          <p:cNvPr id="69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33</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