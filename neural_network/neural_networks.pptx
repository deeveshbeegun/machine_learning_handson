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1D8"/>
          </a:solidFill>
        </a:fill>
      </a:tcStyle>
    </a:wholeTbl>
    <a:band2H>
      <a:tcTxStyle b="def" i="def"/>
      <a:tcStyle>
        <a:tcBdr/>
        <a:fill>
          <a:solidFill>
            <a:srgbClr val="E7E9EC"/>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D3CB"/>
          </a:solidFill>
        </a:fill>
      </a:tcStyle>
    </a:wholeTbl>
    <a:band2H>
      <a:tcTxStyle b="def" i="def"/>
      <a:tcStyle>
        <a:tcBdr/>
        <a:fill>
          <a:solidFill>
            <a:srgbClr val="E7EA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E1CC"/>
          </a:solidFill>
        </a:fill>
      </a:tcStyle>
    </a:wholeTbl>
    <a:band2H>
      <a:tcTxStyle b="def" i="def"/>
      <a:tcStyle>
        <a:tcBdr/>
        <a:fill>
          <a:solidFill>
            <a:srgbClr val="E8F0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40158"/>
          <c:y val="0.0837647"/>
          <c:w val="0.848391"/>
          <c:h val="0.50192"/>
        </c:manualLayout>
      </c:layout>
      <c:scatterChart>
        <c:scatterStyle val="lineMarker"/>
        <c:varyColors val="0"/>
        <c:ser>
          <c:idx val="0"/>
          <c:order val="0"/>
          <c:tx>
            <c:strRef>
              <c:f>Sheet1!$B$1</c:f>
              <c:strCache>
                <c:ptCount val="1"/>
                <c:pt idx="0">
                  <c:v>y = 2x</c:v>
                </c:pt>
              </c:strCache>
            </c:strRef>
          </c:tx>
          <c:spPr>
            <a:noFill/>
            <a:ln w="26669" cap="flat">
              <a:solidFill>
                <a:srgbClr val="8E7052"/>
              </a:solidFill>
              <a:prstDash val="solid"/>
              <a:round/>
            </a:ln>
            <a:effectLst/>
          </c:spPr>
          <c:marker>
            <c:symbol val="none"/>
            <c:size val="4"/>
            <c:spPr>
              <a:noFill/>
              <a:ln w="26669" cap="flat">
                <a:solidFill>
                  <a:srgbClr val="8E7052"/>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xVal>
            <c:numRef>
              <c:f>Sheet1!$B$2:$B$7</c:f>
              <c:numCache>
                <c:ptCount val="6"/>
                <c:pt idx="0">
                  <c:v>0.000000</c:v>
                </c:pt>
                <c:pt idx="1">
                  <c:v>1.000000</c:v>
                </c:pt>
                <c:pt idx="2">
                  <c:v>2.000000</c:v>
                </c:pt>
                <c:pt idx="3">
                  <c:v>3.000000</c:v>
                </c:pt>
                <c:pt idx="4">
                  <c:v>4.000000</c:v>
                </c:pt>
                <c:pt idx="5">
                  <c:v>5.000000</c:v>
                </c:pt>
              </c:numCache>
            </c:numRef>
          </c:xVal>
          <c:yVal>
            <c:numRef>
              <c:f>Sheet1!$C$2:$C$7</c:f>
              <c:numCache>
                <c:ptCount val="6"/>
                <c:pt idx="0">
                  <c:v>0.000000</c:v>
                </c:pt>
                <c:pt idx="1">
                  <c:v>2.000000</c:v>
                </c:pt>
                <c:pt idx="2">
                  <c:v>4.000000</c:v>
                </c:pt>
                <c:pt idx="3">
                  <c:v>6.000000</c:v>
                </c:pt>
                <c:pt idx="4">
                  <c:v>8.000000</c:v>
                </c:pt>
                <c:pt idx="5">
                  <c:v>10.000000</c:v>
                </c:pt>
              </c:numCache>
            </c:numRef>
          </c:yVal>
          <c:smooth val="0"/>
        </c:ser>
        <c:ser>
          <c:idx val="1"/>
          <c:order val="1"/>
          <c:tx>
            <c:strRef>
              <c:f>Sheet1!$C$1</c:f>
              <c:strCache>
                <c:ptCount val="1"/>
                <c:pt idx="0">
                  <c:v>y = 2x + 3</c:v>
                </c:pt>
              </c:strCache>
            </c:strRef>
          </c:tx>
          <c:spPr>
            <a:noFill/>
            <a:ln w="26669" cap="flat">
              <a:solidFill>
                <a:srgbClr val="287B95"/>
              </a:solidFill>
              <a:prstDash val="solid"/>
              <a:round/>
            </a:ln>
            <a:effectLst/>
          </c:spPr>
          <c:marker>
            <c:symbol val="none"/>
            <c:size val="4"/>
            <c:spPr>
              <a:noFill/>
              <a:ln w="26669" cap="flat">
                <a:solidFill>
                  <a:srgbClr val="287B95"/>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xVal>
            <c:numRef>
              <c:f>Sheet1!$D$2:$D$7</c:f>
              <c:numCache>
                <c:ptCount val="6"/>
                <c:pt idx="0">
                  <c:v>0.000000</c:v>
                </c:pt>
                <c:pt idx="1">
                  <c:v>1.000000</c:v>
                </c:pt>
                <c:pt idx="2">
                  <c:v>2.000000</c:v>
                </c:pt>
                <c:pt idx="3">
                  <c:v>3.000000</c:v>
                </c:pt>
                <c:pt idx="4">
                  <c:v>4.000000</c:v>
                </c:pt>
                <c:pt idx="5">
                  <c:v>5.000000</c:v>
                </c:pt>
              </c:numCache>
            </c:numRef>
          </c:xVal>
          <c:yVal>
            <c:numRef>
              <c:f>Sheet1!$E$2:$E$7</c:f>
              <c:numCache>
                <c:ptCount val="6"/>
                <c:pt idx="0">
                  <c:v>3.000000</c:v>
                </c:pt>
                <c:pt idx="1">
                  <c:v>5.000000</c:v>
                </c:pt>
                <c:pt idx="2">
                  <c:v>7.000000</c:v>
                </c:pt>
                <c:pt idx="3">
                  <c:v>9.000000</c:v>
                </c:pt>
                <c:pt idx="4">
                  <c:v>11.000000</c:v>
                </c:pt>
                <c:pt idx="5">
                  <c:v>13.000000</c:v>
                </c:pt>
              </c:numCache>
            </c:numRef>
          </c:yVal>
          <c:smooth val="0"/>
        </c:ser>
        <c:axId val="2094734552"/>
        <c:axId val="2094734553"/>
      </c:scatterChart>
      <c:valAx>
        <c:axId val="2094734552"/>
        <c:scaling>
          <c:orientation val="minMax"/>
          <c:max val="5"/>
          <c:min val="0"/>
        </c:scaling>
        <c:delete val="0"/>
        <c:axPos val="b"/>
        <c:title>
          <c:tx>
            <c:rich>
              <a:bodyPr rot="0"/>
              <a:lstStyle/>
              <a:p>
                <a:pPr>
                  <a:defRPr b="1" i="0" strike="noStrike" sz="1200" u="none">
                    <a:solidFill>
                      <a:srgbClr val="62616A"/>
                    </a:solidFill>
                    <a:latin typeface="Arial"/>
                  </a:defRPr>
                </a:pPr>
                <a:r>
                  <a:rPr b="1" i="0" strike="noStrike" sz="1200" u="none">
                    <a:solidFill>
                      <a:srgbClr val="62616A"/>
                    </a:solidFill>
                    <a:latin typeface="Arial"/>
                  </a:rPr>
                  <a:t>Input x</a:t>
                </a:r>
              </a:p>
            </c:rich>
          </c:tx>
          <c:layout/>
          <c:overlay val="1"/>
        </c:title>
        <c:numFmt formatCode="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2616A"/>
                </a:solidFill>
                <a:latin typeface="Arial"/>
              </a:defRPr>
            </a:pPr>
          </a:p>
        </c:txPr>
        <c:crossAx val="2094734553"/>
        <c:crosses val="autoZero"/>
        <c:crossBetween val="between"/>
        <c:majorUnit val="1"/>
        <c:minorUnit val="0.5"/>
      </c:valAx>
      <c:valAx>
        <c:axId val="2094734553"/>
        <c:scaling>
          <c:orientation val="minMax"/>
          <c:max val="15"/>
          <c:min val="0"/>
        </c:scaling>
        <c:delete val="0"/>
        <c:axPos val="l"/>
        <c:majorGridlines>
          <c:spPr>
            <a:ln w="12700" cap="flat">
              <a:solidFill>
                <a:srgbClr val="E0D5C5"/>
              </a:solidFill>
              <a:prstDash val="solid"/>
              <a:round/>
            </a:ln>
          </c:spPr>
        </c:majorGridlines>
        <c:title>
          <c:tx>
            <c:rich>
              <a:bodyPr rot="-5400000"/>
              <a:lstStyle/>
              <a:p>
                <a:pPr>
                  <a:defRPr b="1" i="0" strike="noStrike" sz="1200" u="none">
                    <a:solidFill>
                      <a:srgbClr val="62616A"/>
                    </a:solidFill>
                    <a:latin typeface="Arial"/>
                  </a:defRPr>
                </a:pPr>
                <a:r>
                  <a:rPr b="1" i="0" strike="noStrike" sz="1200" u="none">
                    <a:solidFill>
                      <a:srgbClr val="62616A"/>
                    </a:solidFill>
                    <a:latin typeface="Arial"/>
                  </a:rPr>
                  <a:t>Output y</a:t>
                </a:r>
              </a:p>
            </c:rich>
          </c:tx>
          <c:layout/>
          <c:overlay val="1"/>
        </c:title>
        <c:numFmt formatCode="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2616A"/>
                </a:solidFill>
                <a:latin typeface="Arial"/>
              </a:defRPr>
            </a:pPr>
          </a:p>
        </c:txPr>
        <c:crossAx val="2094734552"/>
        <c:crosses val="autoZero"/>
        <c:crossBetween val="between"/>
        <c:majorUnit val="5"/>
        <c:minorUnit val="2.5"/>
      </c:valAx>
      <c:spPr>
        <a:solidFill>
          <a:srgbClr val="F8F6F2"/>
        </a:solidFill>
        <a:ln w="12700" cap="flat">
          <a:noFill/>
          <a:miter lim="400000"/>
        </a:ln>
        <a:effectLst/>
      </c:spPr>
    </c:plotArea>
    <c:legend>
      <c:legendPos val="b"/>
      <c:layout>
        <c:manualLayout>
          <c:xMode val="edge"/>
          <c:yMode val="edge"/>
          <c:x val="0.226319"/>
          <c:y val="0.903735"/>
          <c:w val="0.446826"/>
          <c:h val="0.0962647"/>
        </c:manualLayout>
      </c:layout>
      <c:overlay val="1"/>
      <c:spPr>
        <a:noFill/>
        <a:ln w="12700" cap="flat">
          <a:noFill/>
          <a:miter lim="400000"/>
        </a:ln>
        <a:effectLst/>
      </c:spPr>
      <c:txPr>
        <a:bodyPr rot="0"/>
        <a:lstStyle/>
        <a:p>
          <a:pPr>
            <a:defRPr b="0" i="0" strike="noStrike" sz="1200" u="none">
              <a:solidFill>
                <a:srgbClr val="424548"/>
              </a:solidFill>
              <a:latin typeface="Arial"/>
            </a:defRPr>
          </a:pPr>
        </a:p>
      </c:txPr>
    </c:legend>
    <c:plotVisOnly val="1"/>
    <c:dispBlanksAs val="gap"/>
  </c:chart>
  <c:spPr>
    <a:solidFill>
      <a:srgbClr val="F8F6F2"/>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2024"/>
          <c:y val="0.0837647"/>
          <c:w val="0.868309"/>
          <c:h val="0.50192"/>
        </c:manualLayout>
      </c:layout>
      <c:scatterChart>
        <c:scatterStyle val="lineMarker"/>
        <c:varyColors val="0"/>
        <c:ser>
          <c:idx val="0"/>
          <c:order val="0"/>
          <c:tx>
            <c:strRef>
              <c:f>Sheet1!$B$1</c:f>
              <c:strCache>
                <c:ptCount val="1"/>
                <c:pt idx="0">
                  <c:v>y = max(0, x)</c:v>
                </c:pt>
              </c:strCache>
            </c:strRef>
          </c:tx>
          <c:spPr>
            <a:noFill/>
            <a:ln w="26669" cap="flat">
              <a:solidFill>
                <a:srgbClr val="8E7052"/>
              </a:solidFill>
              <a:prstDash val="solid"/>
              <a:round/>
            </a:ln>
            <a:effectLst/>
          </c:spPr>
          <c:marker>
            <c:symbol val="none"/>
            <c:size val="4"/>
            <c:spPr>
              <a:noFill/>
              <a:ln w="26669" cap="flat">
                <a:solidFill>
                  <a:srgbClr val="8E7052"/>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xVal>
            <c:numRef>
              <c:f>Sheet1!$B$2:$B$10</c:f>
              <c:numCache>
                <c:ptCount val="9"/>
                <c:pt idx="0">
                  <c:v>0.000000</c:v>
                </c:pt>
                <c:pt idx="1">
                  <c:v>1.000000</c:v>
                </c:pt>
                <c:pt idx="2">
                  <c:v>2.000000</c:v>
                </c:pt>
                <c:pt idx="3">
                  <c:v>3.000000</c:v>
                </c:pt>
                <c:pt idx="4">
                  <c:v>4.000000</c:v>
                </c:pt>
                <c:pt idx="5">
                  <c:v>5.000000</c:v>
                </c:pt>
                <c:pt idx="6">
                  <c:v>6.000000</c:v>
                </c:pt>
                <c:pt idx="7">
                  <c:v>7.000000</c:v>
                </c:pt>
                <c:pt idx="8">
                  <c:v>8.000000</c:v>
                </c:pt>
              </c:numCache>
            </c:numRef>
          </c:xVal>
          <c:yVal>
            <c:numRef>
              <c:f>Sheet1!$C$2:$C$10</c:f>
              <c:numCache>
                <c:ptCount val="9"/>
                <c:pt idx="0">
                  <c:v>0.000000</c:v>
                </c:pt>
                <c:pt idx="1">
                  <c:v>1.000000</c:v>
                </c:pt>
                <c:pt idx="2">
                  <c:v>2.000000</c:v>
                </c:pt>
                <c:pt idx="3">
                  <c:v>3.000000</c:v>
                </c:pt>
                <c:pt idx="4">
                  <c:v>4.000000</c:v>
                </c:pt>
                <c:pt idx="5">
                  <c:v>5.000000</c:v>
                </c:pt>
                <c:pt idx="6">
                  <c:v>6.000000</c:v>
                </c:pt>
                <c:pt idx="7">
                  <c:v>7.000000</c:v>
                </c:pt>
                <c:pt idx="8">
                  <c:v>8.000000</c:v>
                </c:pt>
              </c:numCache>
            </c:numRef>
          </c:yVal>
          <c:smooth val="0"/>
        </c:ser>
        <c:ser>
          <c:idx val="1"/>
          <c:order val="1"/>
          <c:tx>
            <c:strRef>
              <c:f>Sheet1!$C$1</c:f>
              <c:strCache>
                <c:ptCount val="1"/>
                <c:pt idx="0">
                  <c:v>y = max(0, x − 5)</c:v>
                </c:pt>
              </c:strCache>
            </c:strRef>
          </c:tx>
          <c:spPr>
            <a:noFill/>
            <a:ln w="26669" cap="flat">
              <a:solidFill>
                <a:srgbClr val="287B95"/>
              </a:solidFill>
              <a:prstDash val="solid"/>
              <a:round/>
            </a:ln>
            <a:effectLst/>
          </c:spPr>
          <c:marker>
            <c:symbol val="none"/>
            <c:size val="4"/>
            <c:spPr>
              <a:noFill/>
              <a:ln w="26669" cap="flat">
                <a:solidFill>
                  <a:srgbClr val="287B95"/>
                </a:solidFill>
                <a:prstDash val="solid"/>
                <a:round/>
              </a:ln>
              <a:effectLst/>
            </c:spPr>
          </c:marker>
          <c:dLbls>
            <c:numFmt formatCode="#,##0" sourceLinked="0"/>
            <c:txPr>
              <a:bodyPr/>
              <a:lstStyle/>
              <a:p>
                <a:pPr>
                  <a:defRPr b="0" i="0" strike="noStrike" sz="1000" u="none">
                    <a:solidFill>
                      <a:srgbClr val="000000"/>
                    </a:solidFill>
                    <a:latin typeface="Helvetica Neue"/>
                  </a:defRPr>
                </a:pPr>
              </a:p>
            </c:txPr>
            <c:dLblPos val="t"/>
            <c:showLegendKey val="0"/>
            <c:showVal val="0"/>
            <c:showCatName val="0"/>
            <c:showSerName val="0"/>
            <c:showPercent val="0"/>
            <c:showBubbleSize val="0"/>
            <c:showLeaderLines val="0"/>
          </c:dLbls>
          <c:xVal>
            <c:numRef>
              <c:f>Sheet1!$D$2:$D$10</c:f>
              <c:numCache>
                <c:ptCount val="9"/>
                <c:pt idx="0">
                  <c:v>0.000000</c:v>
                </c:pt>
                <c:pt idx="1">
                  <c:v>1.000000</c:v>
                </c:pt>
                <c:pt idx="2">
                  <c:v>2.000000</c:v>
                </c:pt>
                <c:pt idx="3">
                  <c:v>3.000000</c:v>
                </c:pt>
                <c:pt idx="4">
                  <c:v>4.000000</c:v>
                </c:pt>
                <c:pt idx="5">
                  <c:v>5.000000</c:v>
                </c:pt>
                <c:pt idx="6">
                  <c:v>6.000000</c:v>
                </c:pt>
                <c:pt idx="7">
                  <c:v>7.000000</c:v>
                </c:pt>
                <c:pt idx="8">
                  <c:v>8.000000</c:v>
                </c:pt>
              </c:numCache>
            </c:numRef>
          </c:xVal>
          <c:yVal>
            <c:numRef>
              <c:f>Sheet1!$E$2:$E$10</c:f>
              <c:numCache>
                <c:ptCount val="9"/>
                <c:pt idx="0">
                  <c:v>0.000000</c:v>
                </c:pt>
                <c:pt idx="1">
                  <c:v>0.000000</c:v>
                </c:pt>
                <c:pt idx="2">
                  <c:v>0.000000</c:v>
                </c:pt>
                <c:pt idx="3">
                  <c:v>0.000000</c:v>
                </c:pt>
                <c:pt idx="4">
                  <c:v>0.000000</c:v>
                </c:pt>
                <c:pt idx="5">
                  <c:v>0.000000</c:v>
                </c:pt>
                <c:pt idx="6">
                  <c:v>1.000000</c:v>
                </c:pt>
                <c:pt idx="7">
                  <c:v>2.000000</c:v>
                </c:pt>
                <c:pt idx="8">
                  <c:v>3.000000</c:v>
                </c:pt>
              </c:numCache>
            </c:numRef>
          </c:yVal>
          <c:smooth val="0"/>
        </c:ser>
        <c:axId val="2094734552"/>
        <c:axId val="2094734553"/>
      </c:scatterChart>
      <c:valAx>
        <c:axId val="2094734552"/>
        <c:scaling>
          <c:orientation val="minMax"/>
          <c:max val="8"/>
          <c:min val="0"/>
        </c:scaling>
        <c:delete val="0"/>
        <c:axPos val="b"/>
        <c:title>
          <c:tx>
            <c:rich>
              <a:bodyPr rot="0"/>
              <a:lstStyle/>
              <a:p>
                <a:pPr>
                  <a:defRPr b="1" i="0" strike="noStrike" sz="1200" u="none">
                    <a:solidFill>
                      <a:srgbClr val="62616A"/>
                    </a:solidFill>
                    <a:latin typeface="Arial"/>
                  </a:defRPr>
                </a:pPr>
                <a:r>
                  <a:rPr b="1" i="0" strike="noStrike" sz="1200" u="none">
                    <a:solidFill>
                      <a:srgbClr val="62616A"/>
                    </a:solidFill>
                    <a:latin typeface="Arial"/>
                  </a:rPr>
                  <a:t>Input x</a:t>
                </a:r>
              </a:p>
            </c:rich>
          </c:tx>
          <c:layout/>
          <c:overlay val="1"/>
        </c:title>
        <c:numFmt formatCode="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2616A"/>
                </a:solidFill>
                <a:latin typeface="Arial"/>
              </a:defRPr>
            </a:pPr>
          </a:p>
        </c:txPr>
        <c:crossAx val="2094734553"/>
        <c:crosses val="autoZero"/>
        <c:crossBetween val="between"/>
        <c:majorUnit val="1"/>
        <c:minorUnit val="0.5"/>
      </c:valAx>
      <c:valAx>
        <c:axId val="2094734553"/>
        <c:scaling>
          <c:orientation val="minMax"/>
          <c:max val="8"/>
          <c:min val="0"/>
        </c:scaling>
        <c:delete val="0"/>
        <c:axPos val="l"/>
        <c:majorGridlines>
          <c:spPr>
            <a:ln w="12700" cap="flat">
              <a:solidFill>
                <a:srgbClr val="E0D5C5"/>
              </a:solidFill>
              <a:prstDash val="solid"/>
              <a:round/>
            </a:ln>
          </c:spPr>
        </c:majorGridlines>
        <c:title>
          <c:tx>
            <c:rich>
              <a:bodyPr rot="-5400000"/>
              <a:lstStyle/>
              <a:p>
                <a:pPr>
                  <a:defRPr b="1" i="0" strike="noStrike" sz="1200" u="none">
                    <a:solidFill>
                      <a:srgbClr val="62616A"/>
                    </a:solidFill>
                    <a:latin typeface="Arial"/>
                  </a:defRPr>
                </a:pPr>
                <a:r>
                  <a:rPr b="1" i="0" strike="noStrike" sz="1200" u="none">
                    <a:solidFill>
                      <a:srgbClr val="62616A"/>
                    </a:solidFill>
                    <a:latin typeface="Arial"/>
                  </a:rPr>
                  <a:t>Output y</a:t>
                </a:r>
              </a:p>
            </c:rich>
          </c:tx>
          <c:layout/>
          <c:overlay val="1"/>
        </c:title>
        <c:numFmt formatCode="0" sourceLinked="0"/>
        <c:majorTickMark val="none"/>
        <c:minorTickMark val="none"/>
        <c:tickLblPos val="nextTo"/>
        <c:spPr>
          <a:ln w="12700" cap="flat">
            <a:solidFill>
              <a:srgbClr val="D4D4D4"/>
            </a:solidFill>
            <a:prstDash val="solid"/>
            <a:round/>
          </a:ln>
        </c:spPr>
        <c:txPr>
          <a:bodyPr rot="0"/>
          <a:lstStyle/>
          <a:p>
            <a:pPr>
              <a:defRPr b="0" i="0" strike="noStrike" sz="1200" u="none">
                <a:solidFill>
                  <a:srgbClr val="62616A"/>
                </a:solidFill>
                <a:latin typeface="Arial"/>
              </a:defRPr>
            </a:pPr>
          </a:p>
        </c:txPr>
        <c:crossAx val="2094734552"/>
        <c:crosses val="autoZero"/>
        <c:crossBetween val="between"/>
        <c:majorUnit val="2"/>
        <c:minorUnit val="1"/>
      </c:valAx>
      <c:spPr>
        <a:solidFill>
          <a:srgbClr val="F8F6F2"/>
        </a:solidFill>
        <a:ln w="12700" cap="flat">
          <a:noFill/>
          <a:miter lim="400000"/>
        </a:ln>
        <a:effectLst/>
      </c:spPr>
    </c:plotArea>
    <c:legend>
      <c:legendPos val="b"/>
      <c:layout>
        <c:manualLayout>
          <c:xMode val="edge"/>
          <c:yMode val="edge"/>
          <c:x val="0.114908"/>
          <c:y val="0.903735"/>
          <c:w val="0.66965"/>
          <c:h val="0.0962647"/>
        </c:manualLayout>
      </c:layout>
      <c:overlay val="1"/>
      <c:spPr>
        <a:noFill/>
        <a:ln w="12700" cap="flat">
          <a:noFill/>
          <a:miter lim="400000"/>
        </a:ln>
        <a:effectLst/>
      </c:spPr>
      <c:txPr>
        <a:bodyPr rot="0"/>
        <a:lstStyle/>
        <a:p>
          <a:pPr>
            <a:defRPr b="0" i="0" strike="noStrike" sz="1200" u="none">
              <a:solidFill>
                <a:srgbClr val="424548"/>
              </a:solidFill>
              <a:latin typeface="Arial"/>
            </a:defRPr>
          </a:pPr>
        </a:p>
      </c:txPr>
    </c:legend>
    <c:plotVisOnly val="1"/>
    <c:dispBlanksAs val="gap"/>
  </c:chart>
  <c:spPr>
    <a:solidFill>
      <a:srgbClr val="F8F6F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0" i="0" strike="noStrike" sz="1000" u="none">
                <a:solidFill>
                  <a:srgbClr val="000000"/>
                </a:solidFill>
                <a:latin typeface="Calibri"/>
              </a:defRPr>
            </a:pPr>
            <a:r>
              <a:rPr b="0" i="0" strike="noStrike" sz="1000" u="none">
                <a:solidFill>
                  <a:srgbClr val="000000"/>
                </a:solidFill>
                <a:latin typeface="Calibri"/>
              </a:rPr>
              <a:t>Contribution to z</a:t>
            </a:r>
          </a:p>
        </c:rich>
      </c:tx>
      <c:layout>
        <c:manualLayout>
          <c:xMode val="edge"/>
          <c:yMode val="edge"/>
          <c:x val="0.421726"/>
          <c:y val="0"/>
          <c:w val="0.156548"/>
          <c:h val="0.125627"/>
        </c:manualLayout>
      </c:layout>
      <c:overlay val="1"/>
      <c:spPr>
        <a:noFill/>
        <a:effectLst/>
      </c:spPr>
    </c:title>
    <c:autoTitleDeleted val="1"/>
    <c:plotArea>
      <c:layout>
        <c:manualLayout>
          <c:layoutTarget val="inner"/>
          <c:xMode val="edge"/>
          <c:yMode val="edge"/>
          <c:x val="0.0613328"/>
          <c:y val="0.125627"/>
          <c:w val="0.933667"/>
          <c:h val="0.734115"/>
        </c:manualLayout>
      </c:layout>
      <c:barChart>
        <c:barDir val="col"/>
        <c:grouping val="clustered"/>
        <c:varyColors val="0"/>
        <c:ser>
          <c:idx val="0"/>
          <c:order val="0"/>
          <c:tx>
            <c:v>Contribution to z</c:v>
          </c:tx>
          <c:spPr>
            <a:solidFill>
              <a:srgbClr val="DFF4EA"/>
            </a:solidFill>
            <a:ln w="19050" cap="flat">
              <a:solidFill>
                <a:srgbClr val="2A9D8F"/>
              </a:solidFill>
              <a:prstDash val="solid"/>
              <a:round/>
            </a:ln>
            <a:effectLst/>
          </c:spPr>
          <c:invertIfNegative val="0"/>
          <c:dPt>
            <c:idx val="0"/>
            <c:spPr>
              <a:solidFill>
                <a:srgbClr val="DFF4EA"/>
              </a:solidFill>
              <a:ln w="19050" cap="flat">
                <a:solidFill>
                  <a:srgbClr val="2A9D8F"/>
                </a:solidFill>
                <a:prstDash val="solid"/>
                <a:round/>
              </a:ln>
              <a:effectLst/>
            </c:spPr>
          </c:dPt>
          <c:dPt>
            <c:idx val="1"/>
            <c:spPr>
              <a:solidFill>
                <a:srgbClr val="DCEAF7"/>
              </a:solidFill>
              <a:ln w="19050" cap="flat">
                <a:solidFill>
                  <a:srgbClr val="355070"/>
                </a:solidFill>
                <a:prstDash val="solid"/>
                <a:round/>
              </a:ln>
              <a:effectLst/>
            </c:spPr>
          </c:dPt>
          <c:dPt>
            <c:idx val="2"/>
            <c:spPr>
              <a:solidFill>
                <a:srgbClr val="FFF0C7"/>
              </a:solidFill>
              <a:ln w="19050" cap="flat">
                <a:solidFill>
                  <a:srgbClr val="B07A3F"/>
                </a:solidFill>
                <a:prstDash val="solid"/>
                <a:round/>
              </a:ln>
              <a:effectLst/>
            </c:spPr>
          </c:dPt>
          <c:dPt>
            <c:idx val="3"/>
            <c:spPr>
              <a:solidFill>
                <a:srgbClr val="ECE4F7"/>
              </a:solidFill>
              <a:ln w="19050" cap="flat">
                <a:solidFill>
                  <a:srgbClr val="7B6BA8"/>
                </a:solidFill>
                <a:prstDash val="solid"/>
                <a:round/>
              </a:ln>
              <a:effectLst/>
            </c:spPr>
          </c:dPt>
          <c:dPt>
            <c:idx val="4"/>
            <c:spPr>
              <a:solidFill>
                <a:srgbClr val="FADADD"/>
              </a:solidFill>
              <a:ln w="19050" cap="flat">
                <a:solidFill>
                  <a:srgbClr val="C65D4B"/>
                </a:solidFill>
                <a:prstDash val="solid"/>
                <a:round/>
              </a:ln>
              <a:effectLst/>
            </c:spPr>
          </c:dPt>
          <c:dLbls>
            <c:dLbl>
              <c:idx val="0"/>
              <c:numFmt formatCode="0.0" sourceLinked="0"/>
              <c:txPr>
                <a:bodyPr/>
                <a:lstStyle/>
                <a:p>
                  <a:pPr>
                    <a:defRPr b="1" i="0" strike="noStrike" sz="900" u="none">
                      <a:solidFill>
                        <a:srgbClr val="28282A"/>
                      </a:solidFill>
                      <a:latin typeface="Chalkboard"/>
                    </a:defRPr>
                  </a:pPr>
                </a:p>
              </c:txPr>
              <c:dLblPos val="outEnd"/>
              <c:showLegendKey val="0"/>
              <c:showVal val="1"/>
              <c:showCatName val="0"/>
              <c:showSerName val="0"/>
              <c:showPercent val="0"/>
              <c:showBubbleSize val="0"/>
            </c:dLbl>
            <c:dLbl>
              <c:idx val="1"/>
              <c:numFmt formatCode="0.0" sourceLinked="0"/>
              <c:txPr>
                <a:bodyPr/>
                <a:lstStyle/>
                <a:p>
                  <a:pPr>
                    <a:defRPr b="1" i="0" strike="noStrike" sz="900" u="none">
                      <a:solidFill>
                        <a:srgbClr val="28282A"/>
                      </a:solidFill>
                      <a:latin typeface="Chalkboard"/>
                    </a:defRPr>
                  </a:pPr>
                </a:p>
              </c:txPr>
              <c:dLblPos val="outEnd"/>
              <c:showLegendKey val="0"/>
              <c:showVal val="1"/>
              <c:showCatName val="0"/>
              <c:showSerName val="0"/>
              <c:showPercent val="0"/>
              <c:showBubbleSize val="0"/>
            </c:dLbl>
            <c:dLbl>
              <c:idx val="2"/>
              <c:numFmt formatCode="0.0" sourceLinked="0"/>
              <c:txPr>
                <a:bodyPr/>
                <a:lstStyle/>
                <a:p>
                  <a:pPr>
                    <a:defRPr b="1" i="0" strike="noStrike" sz="900" u="none">
                      <a:solidFill>
                        <a:srgbClr val="28282A"/>
                      </a:solidFill>
                      <a:latin typeface="Chalkboard"/>
                    </a:defRPr>
                  </a:pPr>
                </a:p>
              </c:txPr>
              <c:dLblPos val="outEnd"/>
              <c:showLegendKey val="0"/>
              <c:showVal val="1"/>
              <c:showCatName val="0"/>
              <c:showSerName val="0"/>
              <c:showPercent val="0"/>
              <c:showBubbleSize val="0"/>
            </c:dLbl>
            <c:dLbl>
              <c:idx val="3"/>
              <c:numFmt formatCode="0" sourceLinked="0"/>
              <c:txPr>
                <a:bodyPr/>
                <a:lstStyle/>
                <a:p>
                  <a:pPr>
                    <a:defRPr b="1" i="0" strike="noStrike" sz="900" u="none">
                      <a:solidFill>
                        <a:srgbClr val="28282A"/>
                      </a:solidFill>
                      <a:latin typeface="Chalkboard"/>
                    </a:defRPr>
                  </a:pPr>
                </a:p>
              </c:txPr>
              <c:dLblPos val="outEnd"/>
              <c:showLegendKey val="0"/>
              <c:showVal val="1"/>
              <c:showCatName val="0"/>
              <c:showSerName val="0"/>
              <c:showPercent val="0"/>
              <c:showBubbleSize val="0"/>
            </c:dLbl>
            <c:dLbl>
              <c:idx val="4"/>
              <c:numFmt formatCode="0.0" sourceLinked="0"/>
              <c:txPr>
                <a:bodyPr/>
                <a:lstStyle/>
                <a:p>
                  <a:pPr>
                    <a:defRPr b="1" i="0" strike="noStrike" sz="900" u="none">
                      <a:solidFill>
                        <a:srgbClr val="28282A"/>
                      </a:solidFill>
                      <a:latin typeface="Chalkboard"/>
                    </a:defRPr>
                  </a:pPr>
                </a:p>
              </c:txPr>
              <c:dLblPos val="inEnd"/>
              <c:showLegendKey val="0"/>
              <c:showVal val="1"/>
              <c:showCatName val="0"/>
              <c:showSerName val="0"/>
              <c:showPercent val="0"/>
              <c:showBubbleSize val="0"/>
            </c:dLbl>
            <c:numFmt formatCode="0.0" sourceLinked="0"/>
            <c:txPr>
              <a:bodyPr/>
              <a:lstStyle/>
              <a:p>
                <a:pPr>
                  <a:defRPr b="1" i="0" strike="noStrike" sz="900" u="none">
                    <a:solidFill>
                      <a:srgbClr val="28282A"/>
                    </a:solidFill>
                    <a:latin typeface="Chalkboard"/>
                  </a:defRPr>
                </a:pPr>
              </a:p>
            </c:txPr>
            <c:dLblPos val="outEnd"/>
            <c:showLegendKey val="0"/>
            <c:showVal val="1"/>
            <c:showCatName val="0"/>
            <c:showSerName val="0"/>
            <c:showPercent val="0"/>
            <c:showBubbleSize val="0"/>
            <c:showLeaderLines val="0"/>
          </c:dLbls>
          <c:cat>
            <c:strLit>
              <c:ptCount val="5"/>
              <c:pt idx="0">
                <c:v>w₁x₁</c:v>
              </c:pt>
              <c:pt idx="1">
                <c:v>w₂x₂</c:v>
              </c:pt>
              <c:pt idx="2">
                <c:v>w₃x₃</c:v>
              </c:pt>
              <c:pt idx="3">
                <c:v>w₄x₄</c:v>
              </c:pt>
              <c:pt idx="4">
                <c:v>bias</c:v>
              </c:pt>
            </c:strLit>
          </c:cat>
          <c:val>
            <c:numLit>
              <c:ptCount val="5"/>
              <c:pt idx="0">
                <c:v>1.500000</c:v>
              </c:pt>
              <c:pt idx="1">
                <c:v>0.300000</c:v>
              </c:pt>
              <c:pt idx="2">
                <c:v>0.800000</c:v>
              </c:pt>
              <c:pt idx="3">
                <c:v>0.000000</c:v>
              </c:pt>
              <c:pt idx="4">
                <c:v>-0.500000</c:v>
              </c:pt>
            </c:numLit>
          </c:val>
        </c:ser>
        <c:gapWidth val="65"/>
        <c:overlap val="0"/>
        <c:axId val="2094734552"/>
        <c:axId val="2094734553"/>
      </c:barChart>
      <c:catAx>
        <c:axId val="2094734552"/>
        <c:scaling>
          <c:orientation val="minMax"/>
        </c:scaling>
        <c:delete val="0"/>
        <c:axPos val="b"/>
        <c:numFmt formatCode="General" sourceLinked="0"/>
        <c:majorTickMark val="none"/>
        <c:minorTickMark val="none"/>
        <c:tickLblPos val="low"/>
        <c:spPr>
          <a:ln w="9525" cap="flat">
            <a:solidFill>
              <a:srgbClr val="E0D5C5"/>
            </a:solidFill>
            <a:prstDash val="solid"/>
            <a:round/>
          </a:ln>
        </c:spPr>
        <c:txPr>
          <a:bodyPr rot="0"/>
          <a:lstStyle/>
          <a:p>
            <a:pPr>
              <a:defRPr b="0" i="0" strike="noStrike" sz="900" u="none">
                <a:solidFill>
                  <a:srgbClr val="424548"/>
                </a:solidFill>
                <a:latin typeface="Chalkboard"/>
              </a:defRPr>
            </a:pPr>
          </a:p>
        </c:txPr>
        <c:crossAx val="2094734553"/>
        <c:crosses val="autoZero"/>
        <c:auto val="1"/>
        <c:lblAlgn val="ctr"/>
        <c:noMultiLvlLbl val="1"/>
      </c:catAx>
      <c:valAx>
        <c:axId val="2094734553"/>
        <c:scaling>
          <c:orientation val="minMax"/>
          <c:max val="2"/>
          <c:min val="-0.5"/>
        </c:scaling>
        <c:delete val="0"/>
        <c:axPos val="l"/>
        <c:majorGridlines>
          <c:spPr>
            <a:ln w="12700" cap="flat">
              <a:solidFill>
                <a:srgbClr val="E0D5C5"/>
              </a:solidFill>
              <a:prstDash val="dot"/>
              <a:round/>
            </a:ln>
          </c:spPr>
        </c:majorGridlines>
        <c:numFmt formatCode="0.0" sourceLinked="0"/>
        <c:majorTickMark val="none"/>
        <c:minorTickMark val="none"/>
        <c:tickLblPos val="nextTo"/>
        <c:spPr>
          <a:ln w="9525" cap="flat">
            <a:solidFill>
              <a:srgbClr val="E0D5C5"/>
            </a:solidFill>
            <a:prstDash val="solid"/>
            <a:round/>
          </a:ln>
        </c:spPr>
        <c:txPr>
          <a:bodyPr rot="0"/>
          <a:lstStyle/>
          <a:p>
            <a:pPr>
              <a:defRPr b="0" i="0" strike="noStrike" sz="800" u="none">
                <a:solidFill>
                  <a:srgbClr val="62616A"/>
                </a:solidFill>
                <a:latin typeface="Chalkboard"/>
              </a:defRPr>
            </a:pPr>
          </a:p>
        </c:txPr>
        <c:crossAx val="2094734552"/>
        <c:crosses val="min"/>
        <c:crossBetween val="between"/>
        <c:majorUnit val="0.625"/>
        <c:minorUnit val="0.3125"/>
      </c:valAx>
      <c:spPr>
        <a:solidFill>
          <a:srgbClr val="FCFBF8"/>
        </a:solidFill>
        <a:ln w="9525" cap="flat">
          <a:solidFill>
            <a:srgbClr val="E0D5C5"/>
          </a:solidFill>
          <a:prstDash val="solid"/>
          <a:round/>
        </a:ln>
        <a:effectLst/>
      </c:spPr>
    </c:plotArea>
    <c:plotVisOnly val="1"/>
    <c:dispBlanksAs val="gap"/>
  </c:chart>
  <c:spPr>
    <a:solidFill>
      <a:srgbClr val="FCFBF8"/>
    </a:solidFill>
    <a:ln w="12700" cap="flat">
      <a:solidFill>
        <a:srgbClr val="E0D5C5"/>
      </a:solidFill>
      <a:prstDash val="solid"/>
      <a:round/>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662696"/>
          <c:y val="0.0436855"/>
          <c:w val="0.925612"/>
          <c:h val="0.884998"/>
        </c:manualLayout>
      </c:layout>
      <c:scatterChart>
        <c:scatterStyle val="lineMarker"/>
        <c:varyColors val="0"/>
        <c:ser>
          <c:idx val="0"/>
          <c:order val="0"/>
          <c:tx>
            <c:strRef>
              <c:f>Sheet1!$B$1</c:f>
              <c:strCache>
                <c:ptCount val="1"/>
                <c:pt idx="0">
                  <c:v>Sigmoid</c:v>
                </c:pt>
              </c:strCache>
            </c:strRef>
          </c:tx>
          <c:spPr>
            <a:noFill/>
            <a:ln w="28575" cap="flat">
              <a:solidFill>
                <a:srgbClr val="7B6BA8"/>
              </a:solidFill>
              <a:prstDash val="solid"/>
              <a:round/>
            </a:ln>
            <a:effectLst/>
          </c:spPr>
          <c:marker>
            <c:symbol val="none"/>
            <c:size val="2"/>
            <c:spPr>
              <a:noFill/>
              <a:ln w="28575" cap="flat">
                <a:solidFill>
                  <a:srgbClr val="7B6BA8"/>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Sheet1!$B$2:$B$62</c:f>
              <c:numCache>
                <c:ptCount val="61"/>
                <c:pt idx="0">
                  <c:v>-6.000000</c:v>
                </c:pt>
                <c:pt idx="1">
                  <c:v>-5.800000</c:v>
                </c:pt>
                <c:pt idx="2">
                  <c:v>-5.600000</c:v>
                </c:pt>
                <c:pt idx="3">
                  <c:v>-5.400000</c:v>
                </c:pt>
                <c:pt idx="4">
                  <c:v>-5.200000</c:v>
                </c:pt>
                <c:pt idx="5">
                  <c:v>-5.000000</c:v>
                </c:pt>
                <c:pt idx="6">
                  <c:v>-4.800000</c:v>
                </c:pt>
                <c:pt idx="7">
                  <c:v>-4.600000</c:v>
                </c:pt>
                <c:pt idx="8">
                  <c:v>-4.400000</c:v>
                </c:pt>
                <c:pt idx="9">
                  <c:v>-4.200000</c:v>
                </c:pt>
                <c:pt idx="10">
                  <c:v>-4.000000</c:v>
                </c:pt>
                <c:pt idx="11">
                  <c:v>-3.800000</c:v>
                </c:pt>
                <c:pt idx="12">
                  <c:v>-3.600000</c:v>
                </c:pt>
                <c:pt idx="13">
                  <c:v>-3.400000</c:v>
                </c:pt>
                <c:pt idx="14">
                  <c:v>-3.200000</c:v>
                </c:pt>
                <c:pt idx="15">
                  <c:v>-3.000000</c:v>
                </c:pt>
                <c:pt idx="16">
                  <c:v>-2.800000</c:v>
                </c:pt>
                <c:pt idx="17">
                  <c:v>-2.600000</c:v>
                </c:pt>
                <c:pt idx="18">
                  <c:v>-2.400000</c:v>
                </c:pt>
                <c:pt idx="19">
                  <c:v>-2.200000</c:v>
                </c:pt>
                <c:pt idx="20">
                  <c:v>-2.000000</c:v>
                </c:pt>
                <c:pt idx="21">
                  <c:v>-1.800000</c:v>
                </c:pt>
                <c:pt idx="22">
                  <c:v>-1.600000</c:v>
                </c:pt>
                <c:pt idx="23">
                  <c:v>-1.400000</c:v>
                </c:pt>
                <c:pt idx="24">
                  <c:v>-1.200000</c:v>
                </c:pt>
                <c:pt idx="25">
                  <c:v>-1.000000</c:v>
                </c:pt>
                <c:pt idx="26">
                  <c:v>-0.800000</c:v>
                </c:pt>
                <c:pt idx="27">
                  <c:v>-0.600000</c:v>
                </c:pt>
                <c:pt idx="28">
                  <c:v>-0.400000</c:v>
                </c:pt>
                <c:pt idx="29">
                  <c:v>-0.200000</c:v>
                </c:pt>
                <c:pt idx="30">
                  <c:v>0.000000</c:v>
                </c:pt>
                <c:pt idx="31">
                  <c:v>0.200000</c:v>
                </c:pt>
                <c:pt idx="32">
                  <c:v>0.400000</c:v>
                </c:pt>
                <c:pt idx="33">
                  <c:v>0.600000</c:v>
                </c:pt>
                <c:pt idx="34">
                  <c:v>0.800000</c:v>
                </c:pt>
                <c:pt idx="35">
                  <c:v>1.000000</c:v>
                </c:pt>
                <c:pt idx="36">
                  <c:v>1.200000</c:v>
                </c:pt>
                <c:pt idx="37">
                  <c:v>1.400000</c:v>
                </c:pt>
                <c:pt idx="38">
                  <c:v>1.600000</c:v>
                </c:pt>
                <c:pt idx="39">
                  <c:v>1.800000</c:v>
                </c:pt>
                <c:pt idx="40">
                  <c:v>2.000000</c:v>
                </c:pt>
                <c:pt idx="41">
                  <c:v>2.200000</c:v>
                </c:pt>
                <c:pt idx="42">
                  <c:v>2.400000</c:v>
                </c:pt>
                <c:pt idx="43">
                  <c:v>2.600000</c:v>
                </c:pt>
                <c:pt idx="44">
                  <c:v>2.800000</c:v>
                </c:pt>
                <c:pt idx="45">
                  <c:v>3.000000</c:v>
                </c:pt>
                <c:pt idx="46">
                  <c:v>3.200000</c:v>
                </c:pt>
                <c:pt idx="47">
                  <c:v>3.400000</c:v>
                </c:pt>
                <c:pt idx="48">
                  <c:v>3.600000</c:v>
                </c:pt>
                <c:pt idx="49">
                  <c:v>3.800000</c:v>
                </c:pt>
                <c:pt idx="50">
                  <c:v>4.000000</c:v>
                </c:pt>
                <c:pt idx="51">
                  <c:v>4.200000</c:v>
                </c:pt>
                <c:pt idx="52">
                  <c:v>4.400000</c:v>
                </c:pt>
                <c:pt idx="53">
                  <c:v>4.600000</c:v>
                </c:pt>
                <c:pt idx="54">
                  <c:v>4.800000</c:v>
                </c:pt>
                <c:pt idx="55">
                  <c:v>5.000000</c:v>
                </c:pt>
                <c:pt idx="56">
                  <c:v>5.200000</c:v>
                </c:pt>
                <c:pt idx="57">
                  <c:v>5.400000</c:v>
                </c:pt>
                <c:pt idx="58">
                  <c:v>5.600000</c:v>
                </c:pt>
                <c:pt idx="59">
                  <c:v>5.800000</c:v>
                </c:pt>
                <c:pt idx="60">
                  <c:v>6.000000</c:v>
                </c:pt>
              </c:numCache>
            </c:numRef>
          </c:xVal>
          <c:yVal>
            <c:numRef>
              <c:f>Sheet1!$C$2:$C$62</c:f>
              <c:numCache>
                <c:ptCount val="61"/>
                <c:pt idx="0">
                  <c:v>0.002473</c:v>
                </c:pt>
                <c:pt idx="1">
                  <c:v>0.003018</c:v>
                </c:pt>
                <c:pt idx="2">
                  <c:v>0.003684</c:v>
                </c:pt>
                <c:pt idx="3">
                  <c:v>0.004496</c:v>
                </c:pt>
                <c:pt idx="4">
                  <c:v>0.005486</c:v>
                </c:pt>
                <c:pt idx="5">
                  <c:v>0.006693</c:v>
                </c:pt>
                <c:pt idx="6">
                  <c:v>0.008163</c:v>
                </c:pt>
                <c:pt idx="7">
                  <c:v>0.009952</c:v>
                </c:pt>
                <c:pt idx="8">
                  <c:v>0.012128</c:v>
                </c:pt>
                <c:pt idx="9">
                  <c:v>0.014774</c:v>
                </c:pt>
                <c:pt idx="10">
                  <c:v>0.017986</c:v>
                </c:pt>
                <c:pt idx="11">
                  <c:v>0.021881</c:v>
                </c:pt>
                <c:pt idx="12">
                  <c:v>0.026597</c:v>
                </c:pt>
                <c:pt idx="13">
                  <c:v>0.032295</c:v>
                </c:pt>
                <c:pt idx="14">
                  <c:v>0.039166</c:v>
                </c:pt>
                <c:pt idx="15">
                  <c:v>0.047426</c:v>
                </c:pt>
                <c:pt idx="16">
                  <c:v>0.057324</c:v>
                </c:pt>
                <c:pt idx="17">
                  <c:v>0.069138</c:v>
                </c:pt>
                <c:pt idx="18">
                  <c:v>0.083173</c:v>
                </c:pt>
                <c:pt idx="19">
                  <c:v>0.099750</c:v>
                </c:pt>
                <c:pt idx="20">
                  <c:v>0.119203</c:v>
                </c:pt>
                <c:pt idx="21">
                  <c:v>0.141851</c:v>
                </c:pt>
                <c:pt idx="22">
                  <c:v>0.167982</c:v>
                </c:pt>
                <c:pt idx="23">
                  <c:v>0.197816</c:v>
                </c:pt>
                <c:pt idx="24">
                  <c:v>0.231475</c:v>
                </c:pt>
                <c:pt idx="25">
                  <c:v>0.268941</c:v>
                </c:pt>
                <c:pt idx="26">
                  <c:v>0.310026</c:v>
                </c:pt>
                <c:pt idx="27">
                  <c:v>0.354344</c:v>
                </c:pt>
                <c:pt idx="28">
                  <c:v>0.401312</c:v>
                </c:pt>
                <c:pt idx="29">
                  <c:v>0.450166</c:v>
                </c:pt>
                <c:pt idx="30">
                  <c:v>0.500000</c:v>
                </c:pt>
                <c:pt idx="31">
                  <c:v>0.549834</c:v>
                </c:pt>
                <c:pt idx="32">
                  <c:v>0.598688</c:v>
                </c:pt>
                <c:pt idx="33">
                  <c:v>0.645656</c:v>
                </c:pt>
                <c:pt idx="34">
                  <c:v>0.689974</c:v>
                </c:pt>
                <c:pt idx="35">
                  <c:v>0.731059</c:v>
                </c:pt>
                <c:pt idx="36">
                  <c:v>0.768525</c:v>
                </c:pt>
                <c:pt idx="37">
                  <c:v>0.802184</c:v>
                </c:pt>
                <c:pt idx="38">
                  <c:v>0.832018</c:v>
                </c:pt>
                <c:pt idx="39">
                  <c:v>0.858149</c:v>
                </c:pt>
                <c:pt idx="40">
                  <c:v>0.880797</c:v>
                </c:pt>
                <c:pt idx="41">
                  <c:v>0.900250</c:v>
                </c:pt>
                <c:pt idx="42">
                  <c:v>0.916827</c:v>
                </c:pt>
                <c:pt idx="43">
                  <c:v>0.930862</c:v>
                </c:pt>
                <c:pt idx="44">
                  <c:v>0.942676</c:v>
                </c:pt>
                <c:pt idx="45">
                  <c:v>0.952574</c:v>
                </c:pt>
                <c:pt idx="46">
                  <c:v>0.960834</c:v>
                </c:pt>
                <c:pt idx="47">
                  <c:v>0.967705</c:v>
                </c:pt>
                <c:pt idx="48">
                  <c:v>0.973403</c:v>
                </c:pt>
                <c:pt idx="49">
                  <c:v>0.978119</c:v>
                </c:pt>
                <c:pt idx="50">
                  <c:v>0.982014</c:v>
                </c:pt>
                <c:pt idx="51">
                  <c:v>0.985226</c:v>
                </c:pt>
                <c:pt idx="52">
                  <c:v>0.987872</c:v>
                </c:pt>
                <c:pt idx="53">
                  <c:v>0.990048</c:v>
                </c:pt>
                <c:pt idx="54">
                  <c:v>0.991837</c:v>
                </c:pt>
                <c:pt idx="55">
                  <c:v>0.993307</c:v>
                </c:pt>
                <c:pt idx="56">
                  <c:v>0.994514</c:v>
                </c:pt>
                <c:pt idx="57">
                  <c:v>0.995504</c:v>
                </c:pt>
                <c:pt idx="58">
                  <c:v>0.996316</c:v>
                </c:pt>
                <c:pt idx="59">
                  <c:v>0.996982</c:v>
                </c:pt>
                <c:pt idx="60">
                  <c:v>0.997527</c:v>
                </c:pt>
              </c:numCache>
            </c:numRef>
          </c:yVal>
          <c:smooth val="0"/>
        </c:ser>
        <c:ser>
          <c:idx val="1"/>
          <c:order val="1"/>
          <c:tx>
            <c:strRef>
              <c:f>Sheet1!$C$1</c:f>
              <c:strCache>
                <c:ptCount val="1"/>
                <c:pt idx="0">
                  <c:v>p = 0.94</c:v>
                </c:pt>
              </c:strCache>
            </c:strRef>
          </c:tx>
          <c:spPr>
            <a:solidFill>
              <a:srgbClr val="B07A3F"/>
            </a:solidFill>
            <a:ln w="19050" cap="flat">
              <a:solidFill>
                <a:srgbClr val="B07A3F"/>
              </a:solidFill>
              <a:prstDash val="solid"/>
              <a:round/>
            </a:ln>
            <a:effectLst/>
          </c:spPr>
          <c:marker>
            <c:symbol val="circle"/>
            <c:size val="6"/>
            <c:spPr>
              <a:solidFill>
                <a:srgbClr val="B07A3F"/>
              </a:solidFill>
              <a:ln w="12700" cap="flat">
                <a:solidFill>
                  <a:schemeClr val="accent2"/>
                </a:solidFill>
                <a:prstDash val="solid"/>
                <a:round/>
              </a:ln>
              <a:effectLst/>
            </c:spPr>
          </c:marker>
          <c:dLbls>
            <c:numFmt formatCode="#,##0" sourceLinked="0"/>
            <c:txPr>
              <a:bodyPr/>
              <a:lstStyle/>
              <a:p>
                <a:pPr>
                  <a:defRPr b="0" i="0" strike="noStrike" sz="1000" u="none">
                    <a:solidFill>
                      <a:srgbClr val="000000"/>
                    </a:solidFill>
                    <a:latin typeface="Calibri"/>
                  </a:defRPr>
                </a:pPr>
              </a:p>
            </c:txPr>
            <c:dLblPos val="t"/>
            <c:showLegendKey val="0"/>
            <c:showVal val="0"/>
            <c:showCatName val="0"/>
            <c:showSerName val="0"/>
            <c:showPercent val="0"/>
            <c:showBubbleSize val="0"/>
            <c:showLeaderLines val="0"/>
          </c:dLbls>
          <c:xVal>
            <c:numRef>
              <c:f>Sheet1!$D$2:$D$62</c:f>
              <c:numCache>
                <c:ptCount val="1"/>
                <c:pt idx="0">
                  <c:v>2.750000</c:v>
                </c:pt>
              </c:numCache>
            </c:numRef>
          </c:xVal>
          <c:yVal>
            <c:numRef>
              <c:f>Sheet1!$E$2:$E$62</c:f>
              <c:numCache>
                <c:ptCount val="1"/>
                <c:pt idx="0">
                  <c:v>0.940000</c:v>
                </c:pt>
              </c:numCache>
            </c:numRef>
          </c:yVal>
          <c:smooth val="0"/>
        </c:ser>
        <c:axId val="2094734552"/>
        <c:axId val="2094734553"/>
      </c:scatterChart>
      <c:valAx>
        <c:axId val="2094734552"/>
        <c:scaling>
          <c:orientation val="minMax"/>
          <c:max val="6"/>
          <c:min val="-6"/>
        </c:scaling>
        <c:delete val="0"/>
        <c:axPos val="b"/>
        <c:numFmt formatCode="0.##" sourceLinked="0"/>
        <c:majorTickMark val="none"/>
        <c:minorTickMark val="none"/>
        <c:tickLblPos val="nextTo"/>
        <c:spPr>
          <a:ln w="9525" cap="flat">
            <a:solidFill>
              <a:srgbClr val="E0D5C5"/>
            </a:solidFill>
            <a:prstDash val="solid"/>
            <a:round/>
          </a:ln>
        </c:spPr>
        <c:txPr>
          <a:bodyPr rot="0"/>
          <a:lstStyle/>
          <a:p>
            <a:pPr>
              <a:defRPr b="0" i="0" strike="noStrike" sz="800" u="none">
                <a:solidFill>
                  <a:srgbClr val="62616A"/>
                </a:solidFill>
                <a:latin typeface="Chalkboard"/>
              </a:defRPr>
            </a:pPr>
          </a:p>
        </c:txPr>
        <c:crossAx val="2094734553"/>
        <c:crosses val="min"/>
        <c:crossBetween val="between"/>
        <c:majorUnit val="6"/>
        <c:minorUnit val="3"/>
      </c:valAx>
      <c:valAx>
        <c:axId val="2094734553"/>
        <c:scaling>
          <c:orientation val="minMax"/>
          <c:max val="1"/>
          <c:min val="0"/>
        </c:scaling>
        <c:delete val="0"/>
        <c:axPos val="l"/>
        <c:majorGridlines>
          <c:spPr>
            <a:ln w="12700" cap="flat">
              <a:solidFill>
                <a:srgbClr val="E0D5C5"/>
              </a:solidFill>
              <a:prstDash val="dot"/>
              <a:round/>
            </a:ln>
          </c:spPr>
        </c:majorGridlines>
        <c:numFmt formatCode="0.0" sourceLinked="0"/>
        <c:majorTickMark val="none"/>
        <c:minorTickMark val="none"/>
        <c:tickLblPos val="nextTo"/>
        <c:spPr>
          <a:ln w="9525" cap="flat">
            <a:solidFill>
              <a:srgbClr val="E0D5C5"/>
            </a:solidFill>
            <a:prstDash val="solid"/>
            <a:round/>
          </a:ln>
        </c:spPr>
        <c:txPr>
          <a:bodyPr rot="0"/>
          <a:lstStyle/>
          <a:p>
            <a:pPr>
              <a:defRPr b="0" i="0" strike="noStrike" sz="800" u="none">
                <a:solidFill>
                  <a:srgbClr val="62616A"/>
                </a:solidFill>
                <a:latin typeface="Chalkboard"/>
              </a:defRPr>
            </a:pPr>
          </a:p>
        </c:txPr>
        <c:crossAx val="2094734552"/>
        <c:crosses val="autoZero"/>
        <c:crossBetween val="between"/>
        <c:majorUnit val="0.2"/>
        <c:minorUnit val="0.1"/>
      </c:valAx>
      <c:spPr>
        <a:solidFill>
          <a:srgbClr val="FCFBF8"/>
        </a:solidFill>
        <a:ln w="9525" cap="flat">
          <a:solidFill>
            <a:srgbClr val="E0D5C5"/>
          </a:solidFill>
          <a:prstDash val="solid"/>
          <a:round/>
        </a:ln>
        <a:effectLst/>
      </c:spPr>
    </c:plotArea>
    <c:plotVisOnly val="1"/>
    <c:dispBlanksAs val="gap"/>
  </c:chart>
  <c:spPr>
    <a:solidFill>
      <a:srgbClr val="FCFBF8"/>
    </a:solidFill>
    <a:ln w="12700" cap="flat">
      <a:solidFill>
        <a:srgbClr val="E0D5C5"/>
      </a:solidFill>
      <a:prstDash val="solid"/>
      <a:round/>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Helvetica Neue"/>
      </a:defRPr>
    </a:lvl1pPr>
    <a:lvl2pPr indent="228600" latinLnBrk="0">
      <a:defRPr sz="1200">
        <a:latin typeface="+mj-lt"/>
        <a:ea typeface="+mj-ea"/>
        <a:cs typeface="+mj-cs"/>
        <a:sym typeface="Helvetica Neue"/>
      </a:defRPr>
    </a:lvl2pPr>
    <a:lvl3pPr indent="457200" latinLnBrk="0">
      <a:defRPr sz="1200">
        <a:latin typeface="+mj-lt"/>
        <a:ea typeface="+mj-ea"/>
        <a:cs typeface="+mj-cs"/>
        <a:sym typeface="Helvetica Neue"/>
      </a:defRPr>
    </a:lvl3pPr>
    <a:lvl4pPr indent="685800" latinLnBrk="0">
      <a:defRPr sz="1200">
        <a:latin typeface="+mj-lt"/>
        <a:ea typeface="+mj-ea"/>
        <a:cs typeface="+mj-cs"/>
        <a:sym typeface="Helvetica Neue"/>
      </a:defRPr>
    </a:lvl4pPr>
    <a:lvl5pPr indent="914400" latinLnBrk="0">
      <a:defRPr sz="1200">
        <a:latin typeface="+mj-lt"/>
        <a:ea typeface="+mj-ea"/>
        <a:cs typeface="+mj-cs"/>
        <a:sym typeface="Helvetica Neue"/>
      </a:defRPr>
    </a:lvl5pPr>
    <a:lvl6pPr indent="1143000" latinLnBrk="0">
      <a:defRPr sz="1200">
        <a:latin typeface="+mj-lt"/>
        <a:ea typeface="+mj-ea"/>
        <a:cs typeface="+mj-cs"/>
        <a:sym typeface="Helvetica Neue"/>
      </a:defRPr>
    </a:lvl6pPr>
    <a:lvl7pPr indent="1371600" latinLnBrk="0">
      <a:defRPr sz="1200">
        <a:latin typeface="+mj-lt"/>
        <a:ea typeface="+mj-ea"/>
        <a:cs typeface="+mj-cs"/>
        <a:sym typeface="Helvetica Neue"/>
      </a:defRPr>
    </a:lvl7pPr>
    <a:lvl8pPr indent="1600200" latinLnBrk="0">
      <a:defRPr sz="1200">
        <a:latin typeface="+mj-lt"/>
        <a:ea typeface="+mj-ea"/>
        <a:cs typeface="+mj-cs"/>
        <a:sym typeface="Helvetica Neue"/>
      </a:defRPr>
    </a:lvl8pPr>
    <a:lvl9pPr indent="1828800" latinLnBrk="0">
      <a:defRPr sz="1200">
        <a:latin typeface="+mj-lt"/>
        <a:ea typeface="+mj-ea"/>
        <a:cs typeface="+mj-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 name="Shape 21"/>
          <p:cNvSpPr/>
          <p:nvPr>
            <p:ph type="sldImg"/>
          </p:nvPr>
        </p:nvSpPr>
        <p:spPr>
          <a:prstGeom prst="rect">
            <a:avLst/>
          </a:prstGeom>
        </p:spPr>
        <p:txBody>
          <a:bodyPr/>
          <a:lstStyle/>
          <a:p>
            <a:pPr/>
          </a:p>
        </p:txBody>
      </p:sp>
      <p:sp>
        <p:nvSpPr>
          <p:cNvPr id="22" name="Shape 22"/>
          <p:cNvSpPr/>
          <p:nvPr>
            <p:ph type="body" sz="quarter" idx="1"/>
          </p:nvPr>
        </p:nvSpPr>
        <p:spPr>
          <a:prstGeom prst="rect">
            <a:avLst/>
          </a:prstGeom>
        </p:spPr>
        <p:txBody>
          <a:bodyPr/>
          <a:lstStyle/>
          <a:p>
            <a:pPr/>
            <a:r>
              <a:t>Introduce neural networks as connected mathematical units that learn parameters from examples. The presentation follows a small MLP for binary spam classification.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 name="Shape 48"/>
          <p:cNvSpPr/>
          <p:nvPr>
            <p:ph type="sldImg"/>
          </p:nvPr>
        </p:nvSpPr>
        <p:spPr>
          <a:prstGeom prst="rect">
            <a:avLst/>
          </a:prstGeom>
        </p:spPr>
        <p:txBody>
          <a:bodyPr/>
          <a:lstStyle/>
          <a:p>
            <a:pPr/>
          </a:p>
        </p:txBody>
      </p:sp>
      <p:sp>
        <p:nvSpPr>
          <p:cNvPr id="49" name="Shape 49"/>
          <p:cNvSpPr/>
          <p:nvPr>
            <p:ph type="body" sz="quarter" idx="1"/>
          </p:nvPr>
        </p:nvSpPr>
        <p:spPr>
          <a:prstGeom prst="rect">
            <a:avLst/>
          </a:prstGeom>
        </p:spPr>
        <p:txBody>
          <a:bodyPr/>
          <a:lstStyle/>
          <a:p>
            <a:pPr/>
            <a:r>
              <a:t>Learning objectives: identify inputs, weights, biases and activations; calculate one neuron; follow a forward pass; distinguish probability from class; explain loss, gradients and parameter updates.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Shape 66"/>
          <p:cNvSpPr/>
          <p:nvPr>
            <p:ph type="sldImg"/>
          </p:nvPr>
        </p:nvSpPr>
        <p:spPr>
          <a:prstGeom prst="rect">
            <a:avLst/>
          </a:prstGeom>
        </p:spPr>
        <p:txBody>
          <a:bodyPr/>
          <a:lstStyle/>
          <a:p>
            <a:pPr/>
          </a:p>
        </p:txBody>
      </p:sp>
      <p:sp>
        <p:nvSpPr>
          <p:cNvPr id="67" name="Shape 67"/>
          <p:cNvSpPr/>
          <p:nvPr>
            <p:ph type="body" sz="quarter" idx="1"/>
          </p:nvPr>
        </p:nvSpPr>
        <p:spPr>
          <a:prstGeom prst="rect">
            <a:avLst/>
          </a:prstGeom>
        </p:spPr>
        <p:txBody>
          <a:bodyPr/>
          <a:lstStyle/>
          <a:p>
            <a:pPr/>
            <a:r>
              <a:t>The comparison is a loose analogy. Biological neurons integrate signals and communicate through synapses. Changes in synaptic efficacy contribute to learning and memory. Artificial neurons compute functions of weighted numeric inputs, and the MLP in this deck uses backpropagation and gradient descent to update weights and biases. This does not imply that the brain runs this same training algorithm. Biological learning involves many mechanisms beyond this simplified comparison. Sources: IBM, What is Machine Learning?, https://www.ibm.com/think/topics/machine-learning ; NIH Intramural Research Program, How the brain powers communication between neurons, https://irp.nih.gov/accomplishments/how-the-brain-powers-communication-between-neurons ; NIMH, Shining a Light on Memory, https://www.nimh.nih.gov/news/science-updates/2014/shining-a-light-on-memory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Shape 118"/>
          <p:cNvSpPr/>
          <p:nvPr>
            <p:ph type="sldImg"/>
          </p:nvPr>
        </p:nvSpPr>
        <p:spPr>
          <a:prstGeom prst="rect">
            <a:avLst/>
          </a:prstGeom>
        </p:spPr>
        <p:txBody>
          <a:bodyPr/>
          <a:lstStyle/>
          <a:p>
            <a:pPr/>
          </a:p>
        </p:txBody>
      </p:sp>
      <p:sp>
        <p:nvSpPr>
          <p:cNvPr id="119" name="Shape 119"/>
          <p:cNvSpPr/>
          <p:nvPr>
            <p:ph type="body" sz="quarter" idx="1"/>
          </p:nvPr>
        </p:nvSpPr>
        <p:spPr>
          <a:prstGeom prst="rect">
            <a:avLst/>
          </a:prstGeom>
        </p:spPr>
        <p:txBody>
          <a:bodyPr/>
          <a:lstStyle/>
          <a:p>
            <a:pPr/>
            <a:r>
              <a:t>MLP stands for multilayer perceptron. The numeric values in this overview are illustrative and separate from the later binary spam example. Weights belong to connections. Biases belong to receiving neurons. A neuron sums weighted inputs plus bias and applies an activation. ReLU has a zero cutoff. During inference data moves forward. During training gradients flow backward to support parameter updates.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Shape 142"/>
          <p:cNvSpPr/>
          <p:nvPr>
            <p:ph type="sldImg"/>
          </p:nvPr>
        </p:nvSpPr>
        <p:spPr>
          <a:prstGeom prst="rect">
            <a:avLst/>
          </a:prstGeom>
        </p:spPr>
        <p:txBody>
          <a:bodyPr/>
          <a:lstStyle/>
          <a:p>
            <a:pPr/>
          </a:p>
        </p:txBody>
      </p:sp>
      <p:sp>
        <p:nvSpPr>
          <p:cNvPr id="143" name="Shape 143"/>
          <p:cNvSpPr/>
          <p:nvPr>
            <p:ph type="body" sz="quarter" idx="1"/>
          </p:nvPr>
        </p:nvSpPr>
        <p:spPr>
          <a:prstGeom prst="rect">
            <a:avLst/>
          </a:prstGeom>
        </p:spPr>
        <p:txBody>
          <a:bodyPr/>
          <a:lstStyle/>
          <a:p>
            <a:pPr/>
            <a:r>
              <a:t>ReLU stands for rectified linear unit and returns max(0,z). For z&lt;0 its derivative is zero and for z&gt;0 its derivative is one. Implementations choose a convention at zero. Nonlinear activations are essential: without them, stacked affine layers collapse into one affine transformation. Persistently negative pre-activations can leave a ReLU neuron inactive.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 name="Shape 167"/>
          <p:cNvSpPr/>
          <p:nvPr>
            <p:ph type="sldImg"/>
          </p:nvPr>
        </p:nvSpPr>
        <p:spPr>
          <a:prstGeom prst="rect">
            <a:avLst/>
          </a:prstGeom>
        </p:spPr>
        <p:txBody>
          <a:bodyPr/>
          <a:lstStyle/>
          <a:p>
            <a:pPr/>
          </a:p>
        </p:txBody>
      </p:sp>
      <p:sp>
        <p:nvSpPr>
          <p:cNvPr id="168" name="Shape 168"/>
          <p:cNvSpPr/>
          <p:nvPr>
            <p:ph type="body" sz="quarter" idx="1"/>
          </p:nvPr>
        </p:nvSpPr>
        <p:spPr>
          <a:prstGeom prst="rect">
            <a:avLst/>
          </a:prstGeom>
        </p:spPr>
        <p:txBody>
          <a:bodyPr/>
          <a:lstStyle/>
          <a:p>
            <a:pPr/>
            <a:r>
              <a:t>Sigmoid maps a real-valued score z to an output strictly between zero and one for finite z. z=0 maps to 0.5. In this binary example its output estimates P(spam). The decision threshold is a separate step. The estimated probability need not be perfectly calibrated. Large positive and negative scores make sigmoid saturate.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hape 191"/>
          <p:cNvSpPr/>
          <p:nvPr>
            <p:ph type="sldImg"/>
          </p:nvPr>
        </p:nvSpPr>
        <p:spPr>
          <a:prstGeom prst="rect">
            <a:avLst/>
          </a:prstGeom>
        </p:spPr>
        <p:txBody>
          <a:bodyPr/>
          <a:lstStyle/>
          <a:p>
            <a:pPr/>
          </a:p>
        </p:txBody>
      </p:sp>
      <p:sp>
        <p:nvSpPr>
          <p:cNvPr id="192" name="Shape 192"/>
          <p:cNvSpPr/>
          <p:nvPr>
            <p:ph type="body" sz="quarter" idx="1"/>
          </p:nvPr>
        </p:nvSpPr>
        <p:spPr>
          <a:prstGeom prst="rect">
            <a:avLst/>
          </a:prstGeom>
        </p:spPr>
        <p:txBody>
          <a:bodyPr/>
          <a:lstStyle/>
          <a:p>
            <a:pPr/>
            <a:r>
              <a:t>Tanh, the hyperbolic tangent, has outputs strictly between -1 and 1 for finite inputs. It is centered at zero and preserves input sign. tanh(1)≈0.7616 and tanh(-1)≈-0.7616. Its derivative is 1-tanh(z)^2, which becomes small when the output approaches ±1. Our worked MLP uses ReLU rather than tanh in the hidden layers.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Shape 208"/>
          <p:cNvSpPr/>
          <p:nvPr>
            <p:ph type="sldImg"/>
          </p:nvPr>
        </p:nvSpPr>
        <p:spPr>
          <a:prstGeom prst="rect">
            <a:avLst/>
          </a:prstGeom>
        </p:spPr>
        <p:txBody>
          <a:bodyPr/>
          <a:lstStyle/>
          <a:p>
            <a:pPr/>
          </a:p>
        </p:txBody>
      </p:sp>
      <p:sp>
        <p:nvSpPr>
          <p:cNvPr id="209" name="Shape 209"/>
          <p:cNvSpPr/>
          <p:nvPr>
            <p:ph type="body" sz="quarter" idx="1"/>
          </p:nvPr>
        </p:nvSpPr>
        <p:spPr>
          <a:prstGeom prst="rect">
            <a:avLst/>
          </a:prstGeom>
        </p:spPr>
        <p:txBody>
          <a:bodyPr/>
          <a:lstStyle/>
          <a:p>
            <a:pPr/>
            <a:r>
              <a:t>Adapted from the explanation supplied by the user. A weight sets the change in the pre-activation weighted sum z per unit change in its input, holding other inputs fixed: dz/dx_i = w_i. The sign tells direction and magnitude tells sensitivity. Raw weight size is not a universal measure of feature importance because input scale and correlations matter. A near-zero weight gives little change in z for a unit input change. The bias is an additive offset before activation; for a thresholded activation it shifts the activation boundary. Initial weights yield predictions, a loss measures error, backpropagation calculates gradients, and an optimizer such as gradient descent updates weights and biases. Mental model: weight = how much and in what direction an input matters; bias = an offset shifting the activation boundary. Formula: output = f(sum_i w_i x_i + b).</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Shape 225"/>
          <p:cNvSpPr/>
          <p:nvPr>
            <p:ph type="sldImg"/>
          </p:nvPr>
        </p:nvSpPr>
        <p:spPr>
          <a:prstGeom prst="rect">
            <a:avLst/>
          </a:prstGeom>
        </p:spPr>
        <p:txBody>
          <a:bodyPr/>
          <a:lstStyle/>
          <a:p>
            <a:pPr/>
          </a:p>
        </p:txBody>
      </p:sp>
      <p:sp>
        <p:nvSpPr>
          <p:cNvPr id="226" name="Shape 226"/>
          <p:cNvSpPr/>
          <p:nvPr>
            <p:ph type="body" sz="quarter" idx="1"/>
          </p:nvPr>
        </p:nvSpPr>
        <p:spPr>
          <a:prstGeom prst="rect">
            <a:avLst/>
          </a:prstGeom>
        </p:spPr>
        <p:txBody>
          <a:bodyPr/>
          <a:lstStyle/>
          <a:p>
            <a:pPr/>
            <a:r>
              <a:t>Based on the user-provided explanation and formulas. Bias is an additive offset in z = sum_i w_i x_i + b, followed by y = f(z). For a simple linear neuron with identity activation, the model without bias y = wx passes through the origin. With bias y = wx + b, the intercept is b. The plotted examples hold w = 2 fixed and compare b = 0 with b = 3. For a ReLU neuron with w = 1, compare b = 0 with b = -5: max(0,x-5) is zero for x &lt;= 5 and positive for x &gt; 5. The ReLU threshold itself remains z = 0; bias shifts the corresponding boundary in input space. This is different from the vertical shift of a linear output. All chart values are calculated directly from these user-supplied equations, not observed data. Bias increases flexibility because a relationship need not pass through zero. In general, weights set influence and direction while bias shifts the activation boundary. Bias is learned during training alongside the weights.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4" name="Shape 244"/>
          <p:cNvSpPr/>
          <p:nvPr>
            <p:ph type="sldImg"/>
          </p:nvPr>
        </p:nvSpPr>
        <p:spPr>
          <a:prstGeom prst="rect">
            <a:avLst/>
          </a:prstGeom>
        </p:spPr>
        <p:txBody>
          <a:bodyPr/>
          <a:lstStyle/>
          <a:p>
            <a:pPr/>
          </a:p>
        </p:txBody>
      </p:sp>
      <p:sp>
        <p:nvSpPr>
          <p:cNvPr id="245" name="Shape 245"/>
          <p:cNvSpPr/>
          <p:nvPr>
            <p:ph type="body" sz="quarter" idx="1"/>
          </p:nvPr>
        </p:nvSpPr>
        <p:spPr>
          <a:prstGeom prst="rect">
            <a:avLst/>
          </a:prstGeom>
        </p:spPr>
        <p:txBody>
          <a:bodyPr/>
          <a:lstStyle/>
          <a:p>
            <a:pPr/>
            <a:r>
              <a:t>Based on the user-provided explanation. Here propagation function refers to the pre-activation calculation z = sum_i w_i x_i + b, equivalently z = w^T x + b. It combines the input values with weights and bias. The activation function then produces a = f(z). ReLU is shown only as the general symbolic rule a = max(0,z), with no numerical worked example. Forward propagation refers to repeating the layer computations from inputs to outputs using the current parameters. This is distinct from backpropagation, which computes gradients during training.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255"/>
          <p:cNvSpPr/>
          <p:nvPr>
            <p:ph type="sldImg"/>
          </p:nvPr>
        </p:nvSpPr>
        <p:spPr>
          <a:prstGeom prst="rect">
            <a:avLst/>
          </a:prstGeom>
        </p:spPr>
        <p:txBody>
          <a:bodyPr/>
          <a:lstStyle/>
          <a:p>
            <a:pPr/>
          </a:p>
        </p:txBody>
      </p:sp>
      <p:sp>
        <p:nvSpPr>
          <p:cNvPr id="256" name="Shape 256"/>
          <p:cNvSpPr/>
          <p:nvPr>
            <p:ph type="body" sz="quarter" idx="1"/>
          </p:nvPr>
        </p:nvSpPr>
        <p:spPr>
          <a:prstGeom prst="rect">
            <a:avLst/>
          </a:prstGeom>
        </p:spPr>
        <p:txBody>
          <a:bodyPr/>
          <a:lstStyle/>
          <a:p>
            <a:pPr/>
            <a:r>
              <a:t>This is a deliberately small teaching example. Four manually selected features let us see every stage. A full spam classifier typically needs richer features and representative labeled data.</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The feature vector x describes an email. The target y is its known class during training. The model output p is an estimated probability for class 1, spam. A value p=0.94 leaves an estimated probability 0.06 for class 0. The probability for one example is not the model’s overall accuracy.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Shape 329"/>
          <p:cNvSpPr/>
          <p:nvPr>
            <p:ph type="sldImg"/>
          </p:nvPr>
        </p:nvSpPr>
        <p:spPr>
          <a:prstGeom prst="rect">
            <a:avLst/>
          </a:prstGeom>
        </p:spPr>
        <p:txBody>
          <a:bodyPr/>
          <a:lstStyle/>
          <a:p>
            <a:pPr/>
          </a:p>
        </p:txBody>
      </p:sp>
      <p:sp>
        <p:nvSpPr>
          <p:cNvPr id="330" name="Shape 330"/>
          <p:cNvSpPr/>
          <p:nvPr>
            <p:ph type="body" sz="quarter" idx="1"/>
          </p:nvPr>
        </p:nvSpPr>
        <p:spPr>
          <a:prstGeom prst="rect">
            <a:avLst/>
          </a:prstGeom>
        </p:spPr>
        <p:txBody>
          <a:bodyPr/>
          <a:lstStyle/>
          <a:p>
            <a:pPr/>
            <a:r>
              <a:t>Binary input values mean a feature is present or absent, not whether the whole email is spam. The fourth feature asks whether the sender is trusted; an unknown sender therefore gives zero. Apply exactly the same feature definition and order to every training and prediction example. TF-IDF weights words by their occurrence and relative rarity. Embeddings encode learned text features as vectors.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7" name="Shape 357"/>
          <p:cNvSpPr/>
          <p:nvPr>
            <p:ph type="sldImg"/>
          </p:nvPr>
        </p:nvSpPr>
        <p:spPr>
          <a:prstGeom prst="rect">
            <a:avLst/>
          </a:prstGeom>
        </p:spPr>
        <p:txBody>
          <a:bodyPr/>
          <a:lstStyle/>
          <a:p>
            <a:pPr/>
          </a:p>
        </p:txBody>
      </p:sp>
      <p:sp>
        <p:nvSpPr>
          <p:cNvPr id="358" name="Shape 358"/>
          <p:cNvSpPr/>
          <p:nvPr>
            <p:ph type="body" sz="quarter" idx="1"/>
          </p:nvPr>
        </p:nvSpPr>
        <p:spPr>
          <a:prstGeom prst="rect">
            <a:avLst/>
          </a:prstGeom>
        </p:spPr>
        <p:txBody>
          <a:bodyPr/>
          <a:lstStyle/>
          <a:p>
            <a:pPr/>
            <a:r>
              <a:t>The first three inputs are one. Weights 1.5, 0.3 and 0.8 give contributions 1.5, 0.3 and 0.8. The fourth input is zero so its contribution is zero for any fourth weight. Their sum is 2.6; bias -0.5 yields z=2.1. ReLU(z)=max(0,z) yields a=2.1. This is a hidden activation and can exceed one. Bias and weights are learned parameters, while inputs come from the email.</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8" name="Shape 418"/>
          <p:cNvSpPr/>
          <p:nvPr>
            <p:ph type="sldImg"/>
          </p:nvPr>
        </p:nvSpPr>
        <p:spPr>
          <a:prstGeom prst="rect">
            <a:avLst/>
          </a:prstGeom>
        </p:spPr>
        <p:txBody>
          <a:bodyPr/>
          <a:lstStyle/>
          <a:p>
            <a:pPr/>
          </a:p>
        </p:txBody>
      </p:sp>
      <p:sp>
        <p:nvSpPr>
          <p:cNvPr id="419" name="Shape 419"/>
          <p:cNvSpPr/>
          <p:nvPr>
            <p:ph type="body" sz="quarter" idx="1"/>
          </p:nvPr>
        </p:nvSpPr>
        <p:spPr>
          <a:prstGeom prst="rect">
            <a:avLst/>
          </a:prstGeom>
        </p:spPr>
        <p:txBody>
          <a:bodyPr/>
          <a:lstStyle/>
          <a:p>
            <a:pPr/>
            <a:r>
              <a:t>The fully connected architecture has 4×3+3×2+2×1=20 weights and 3+2+1=6 biases, totaling 26 trainable parameters. Input nodes do not have biases. The magnitude of a weight scales a fixed input; with nonnegative inputs its sign determines addition or subtraction. Each neuron has separate parameters. Line colors and dash styles identify paths rather than encode numeric weight signs.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4" name="Shape 444"/>
          <p:cNvSpPr/>
          <p:nvPr>
            <p:ph type="sldImg"/>
          </p:nvPr>
        </p:nvSpPr>
        <p:spPr>
          <a:prstGeom prst="rect">
            <a:avLst/>
          </a:prstGeom>
        </p:spPr>
        <p:txBody>
          <a:bodyPr/>
          <a:lstStyle/>
          <a:p>
            <a:pPr/>
          </a:p>
        </p:txBody>
      </p:sp>
      <p:sp>
        <p:nvSpPr>
          <p:cNvPr id="445" name="Shape 445"/>
          <p:cNvSpPr/>
          <p:nvPr>
            <p:ph type="body" sz="quarter" idx="1"/>
          </p:nvPr>
        </p:nvSpPr>
        <p:spPr>
          <a:prstGeom prst="rect">
            <a:avLst/>
          </a:prstGeom>
        </p:spPr>
        <p:txBody>
          <a:bodyPr/>
          <a:lstStyle/>
          <a:p>
            <a:pPr/>
            <a:r>
              <a:t>The superscript identifies the layer, not an exponent. W stores weights, b biases, z pre-activation totals and a outputs after activation. A row in W is one receiving neuron’s weight vector. A column corresponds to an input from the preceding layer. Multiplication shapes: (3×4)(4×1)+(3×1)=(3×1), then (2×3)(3×1)+(2×1)=(2×1), then (1×2)(2×1)+(1×1)=(1×1). Activations apply element by element.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3" name="Shape 503"/>
          <p:cNvSpPr/>
          <p:nvPr>
            <p:ph type="sldImg"/>
          </p:nvPr>
        </p:nvSpPr>
        <p:spPr>
          <a:prstGeom prst="rect">
            <a:avLst/>
          </a:prstGeom>
        </p:spPr>
        <p:txBody>
          <a:bodyPr/>
          <a:lstStyle/>
          <a:p>
            <a:pPr/>
          </a:p>
        </p:txBody>
      </p:sp>
      <p:sp>
        <p:nvSpPr>
          <p:cNvPr id="504" name="Shape 504"/>
          <p:cNvSpPr/>
          <p:nvPr>
            <p:ph type="body" sz="quarter" idx="1"/>
          </p:nvPr>
        </p:nvSpPr>
        <p:spPr>
          <a:prstGeom prst="rect">
            <a:avLst/>
          </a:prstGeom>
        </p:spPr>
        <p:txBody>
          <a:bodyPr/>
          <a:lstStyle/>
          <a:p>
            <a:pPr/>
            <a:r>
              <a:t>The hidden activations are illustrative. To make the final step concrete, the added output-layer example chooses weights [1,1] and bias -0.05. Given activations [2.6,0.2], its score is 2.75. Sigmoid(2.75)≈0.9399, which rounds to 0.94. These output parameters illustrate a compatible calculation, not reported training results. A forward pass does not update parameters.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6" name="Shape 536"/>
          <p:cNvSpPr/>
          <p:nvPr>
            <p:ph type="sldImg"/>
          </p:nvPr>
        </p:nvSpPr>
        <p:spPr>
          <a:prstGeom prst="rect">
            <a:avLst/>
          </a:prstGeom>
        </p:spPr>
        <p:txBody>
          <a:bodyPr/>
          <a:lstStyle/>
          <a:p>
            <a:pPr/>
          </a:p>
        </p:txBody>
      </p:sp>
      <p:sp>
        <p:nvSpPr>
          <p:cNvPr id="537" name="Shape 537"/>
          <p:cNvSpPr/>
          <p:nvPr>
            <p:ph type="body" sz="quarter" idx="1"/>
          </p:nvPr>
        </p:nvSpPr>
        <p:spPr>
          <a:prstGeom prst="rect">
            <a:avLst/>
          </a:prstGeom>
        </p:spPr>
        <p:txBody>
          <a:bodyPr/>
          <a:lstStyle/>
          <a:p>
            <a:pPr/>
            <a:r>
              <a:t>Here p&gt;=0.5 means Spam and p&lt;0.5 means Not Spam. The output 0.94 is above the threshold. A false positive means flagging a legitimate email as spam. A false negative means allowing spam through. Increasing the threshold generally reduces false positives while increasing false negatives; decreasing it reverses that trade-off. Choose a threshold using validation data and the costs of errors.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3" name="Shape 583"/>
          <p:cNvSpPr/>
          <p:nvPr>
            <p:ph type="sldImg"/>
          </p:nvPr>
        </p:nvSpPr>
        <p:spPr>
          <a:prstGeom prst="rect">
            <a:avLst/>
          </a:prstGeom>
        </p:spPr>
        <p:txBody>
          <a:bodyPr/>
          <a:lstStyle/>
          <a:p>
            <a:pPr/>
          </a:p>
        </p:txBody>
      </p:sp>
      <p:sp>
        <p:nvSpPr>
          <p:cNvPr id="584" name="Shape 584"/>
          <p:cNvSpPr/>
          <p:nvPr>
            <p:ph type="body" sz="quarter" idx="1"/>
          </p:nvPr>
        </p:nvSpPr>
        <p:spPr>
          <a:prstGeom prst="rect">
            <a:avLst/>
          </a:prstGeom>
        </p:spPr>
        <p:txBody>
          <a:bodyPr/>
          <a:lstStyle/>
          <a:p>
            <a:pPr/>
            <a:r>
              <a:t>This slide shows an earlier training prediction of 0.35, separate from the illustrative trained output 0.94. For binary cross-entropy L=-[y ln(p)+(1-y)ln(1-p)]. With y=1 and p=0.35, L=-ln(0.35)≈1.05. Backpropagation uses the chain rule to compute gradients. Gradient descent updates w_new=w_old-eta*dL/dw, and similarly b_new=b_old-eta*dL/db. Eta is the learning rate. For example, eta=0.1 and gradient 0.2 reduce a weight by 0.02. Training typically averages loss over a batch and repeats over many batches and epochs.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0" name="Shape 640"/>
          <p:cNvSpPr/>
          <p:nvPr>
            <p:ph type="sldImg"/>
          </p:nvPr>
        </p:nvSpPr>
        <p:spPr>
          <a:prstGeom prst="rect">
            <a:avLst/>
          </a:prstGeom>
        </p:spPr>
        <p:txBody>
          <a:bodyPr/>
          <a:lstStyle/>
          <a:p>
            <a:pPr/>
          </a:p>
        </p:txBody>
      </p:sp>
      <p:sp>
        <p:nvSpPr>
          <p:cNvPr id="641" name="Shape 641"/>
          <p:cNvSpPr/>
          <p:nvPr>
            <p:ph type="body" sz="quarter" idx="1"/>
          </p:nvPr>
        </p:nvSpPr>
        <p:spPr>
          <a:prstGeom prst="rect">
            <a:avLst/>
          </a:prstGeom>
        </p:spPr>
        <p:txBody>
          <a:bodyPr/>
          <a:lstStyle/>
          <a:p>
            <a:pPr/>
            <a:r>
              <a:t>Generalization means performing well on new examples. The same parameters process all emails; training changes them across examples rather than creating separate networks. The messages and labels are illustrative. Individual neurons need not correspond to human concepts. Use a training set for learning, a validation set for choices such as threshold and model settings, and a held-out test set for final evaluation. Memorizing training examples is overfitting.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7" name="Shape 687"/>
          <p:cNvSpPr/>
          <p:nvPr>
            <p:ph type="sldImg"/>
          </p:nvPr>
        </p:nvSpPr>
        <p:spPr>
          <a:prstGeom prst="rect">
            <a:avLst/>
          </a:prstGeom>
        </p:spPr>
        <p:txBody>
          <a:bodyPr/>
          <a:lstStyle/>
          <a:p>
            <a:pPr/>
          </a:p>
        </p:txBody>
      </p:sp>
      <p:sp>
        <p:nvSpPr>
          <p:cNvPr id="688" name="Shape 688"/>
          <p:cNvSpPr/>
          <p:nvPr>
            <p:ph type="body" sz="quarter" idx="1"/>
          </p:nvPr>
        </p:nvSpPr>
        <p:spPr>
          <a:prstGeom prst="rect">
            <a:avLst/>
          </a:prstGeom>
        </p:spPr>
        <p:txBody>
          <a:bodyPr/>
          <a:lstStyle/>
          <a:p>
            <a:pPr/>
            <a:r>
              <a:t>The pipeline is email to fixed-order numeric features to weighted layers to sigmoid probability to thresholded decision. Hidden layers use ReLU and the output uses sigmoid. During training, known labels support a loss calculation, backpropagation computes gradients and an optimizer updates weights and biases. During ordinary prediction, the learned parameters stay fixed.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1826683" y="769937"/>
            <a:ext cx="9753601" cy="166846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lstStyle/>
          <a:p>
            <a:pPr/>
            <a:r>
              <a:t>Title Text</a:t>
            </a:r>
          </a:p>
        </p:txBody>
      </p:sp>
      <p:sp>
        <p:nvSpPr>
          <p:cNvPr id="3" name="Body Level One…"/>
          <p:cNvSpPr txBox="1"/>
          <p:nvPr>
            <p:ph type="body" idx="1"/>
          </p:nvPr>
        </p:nvSpPr>
        <p:spPr>
          <a:xfrm>
            <a:off x="6805083" y="2438400"/>
            <a:ext cx="4775201" cy="4419600"/>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63946" y="6221731"/>
            <a:ext cx="273654" cy="269239"/>
          </a:xfrm>
          <a:prstGeom prst="rect">
            <a:avLst/>
          </a:prstGeom>
          <a:ln w="12700">
            <a:miter lim="400000"/>
          </a:ln>
        </p:spPr>
        <p:txBody>
          <a:bodyPr wrap="none" lIns="45718" tIns="45718" rIns="45718" bIns="45718" anchor="ctr">
            <a:spAutoFit/>
          </a:bodyPr>
          <a:lstStyle>
            <a:lvl1pPr algn="r">
              <a:defRPr sz="1200">
                <a:latin typeface="+mn-lt"/>
                <a:ea typeface="+mn-ea"/>
                <a:cs typeface="+mn-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2pPr>
      <a:lvl3pPr marL="1234438" marR="0" indent="-320038"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Tx/>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 Id="rId4" Type="http://schemas.openxmlformats.org/officeDocument/2006/relationships/chart" Target="../charts/chart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image.png" descr="image.png"/>
          <p:cNvPicPr>
            <a:picLocks noChangeAspect="1"/>
          </p:cNvPicPr>
          <p:nvPr/>
        </p:nvPicPr>
        <p:blipFill>
          <a:blip r:embed="rId3">
            <a:extLst/>
          </a:blip>
          <a:stretch>
            <a:fillRect/>
          </a:stretch>
        </p:blipFill>
        <p:spPr>
          <a:xfrm>
            <a:off x="3237" y="0"/>
            <a:ext cx="12185525" cy="6858000"/>
          </a:xfrm>
          <a:prstGeom prst="rect">
            <a:avLst/>
          </a:prstGeom>
          <a:ln w="12700">
            <a:miter lim="400000"/>
          </a:ln>
        </p:spPr>
      </p:pic>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4" name="What we will cover"/>
          <p:cNvSpPr txBox="1"/>
          <p:nvPr/>
        </p:nvSpPr>
        <p:spPr>
          <a:xfrm>
            <a:off x="655318" y="419101"/>
            <a:ext cx="10862314" cy="53575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3100">
                <a:solidFill>
                  <a:srgbClr val="28282A"/>
                </a:solidFill>
                <a:latin typeface="Arial"/>
                <a:ea typeface="Arial"/>
                <a:cs typeface="Arial"/>
                <a:sym typeface="Arial"/>
              </a:defRPr>
            </a:lvl1pPr>
          </a:lstStyle>
          <a:p>
            <a:pPr/>
            <a:r>
              <a:t>What we will cover</a:t>
            </a:r>
          </a:p>
        </p:txBody>
      </p:sp>
      <p:sp>
        <p:nvSpPr>
          <p:cNvPr id="25" name="Neural network fundamentals, followed by a worked spam classification example."/>
          <p:cNvSpPr txBox="1"/>
          <p:nvPr/>
        </p:nvSpPr>
        <p:spPr>
          <a:xfrm>
            <a:off x="674368" y="1095375"/>
            <a:ext cx="10843264" cy="31339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600">
                <a:solidFill>
                  <a:srgbClr val="62616A"/>
                </a:solidFill>
                <a:latin typeface="Arial"/>
                <a:ea typeface="Arial"/>
                <a:cs typeface="Arial"/>
                <a:sym typeface="Arial"/>
              </a:defRPr>
            </a:lvl1pPr>
          </a:lstStyle>
          <a:p>
            <a:pPr/>
            <a:r>
              <a:t>Neural network fundamentals, followed by a worked spam classification example.</a:t>
            </a:r>
          </a:p>
        </p:txBody>
      </p:sp>
      <p:sp>
        <p:nvSpPr>
          <p:cNvPr id="26"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27" name="01"/>
          <p:cNvSpPr txBox="1"/>
          <p:nvPr/>
        </p:nvSpPr>
        <p:spPr>
          <a:xfrm>
            <a:off x="674369" y="1952625"/>
            <a:ext cx="403863"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8E7052"/>
                </a:solidFill>
                <a:latin typeface="Arial"/>
                <a:ea typeface="Arial"/>
                <a:cs typeface="Arial"/>
                <a:sym typeface="Arial"/>
              </a:defRPr>
            </a:lvl1pPr>
          </a:lstStyle>
          <a:p>
            <a:pPr/>
            <a:r>
              <a:t>01</a:t>
            </a:r>
          </a:p>
        </p:txBody>
      </p:sp>
      <p:sp>
        <p:nvSpPr>
          <p:cNvPr id="28" name="Neural network overview"/>
          <p:cNvSpPr txBox="1"/>
          <p:nvPr/>
        </p:nvSpPr>
        <p:spPr>
          <a:xfrm>
            <a:off x="1293493" y="1952625"/>
            <a:ext cx="4575814"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28282A"/>
                </a:solidFill>
                <a:latin typeface="Arial"/>
                <a:ea typeface="Arial"/>
                <a:cs typeface="Arial"/>
                <a:sym typeface="Arial"/>
              </a:defRPr>
            </a:lvl1pPr>
          </a:lstStyle>
          <a:p>
            <a:pPr/>
            <a:r>
              <a:t>Neural network overview</a:t>
            </a:r>
          </a:p>
        </p:txBody>
      </p:sp>
      <p:sp>
        <p:nvSpPr>
          <p:cNvPr id="29" name="Layers, neurons, and the multilayer perceptron"/>
          <p:cNvSpPr txBox="1"/>
          <p:nvPr/>
        </p:nvSpPr>
        <p:spPr>
          <a:xfrm>
            <a:off x="1293493" y="2390775"/>
            <a:ext cx="4337689" cy="3011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62616A"/>
                </a:solidFill>
                <a:latin typeface="Arial"/>
                <a:ea typeface="Arial"/>
                <a:cs typeface="Arial"/>
                <a:sym typeface="Arial"/>
              </a:defRPr>
            </a:lvl1pPr>
          </a:lstStyle>
          <a:p>
            <a:pPr/>
            <a:r>
              <a:t>Layers, neurons, and the multilayer perceptron</a:t>
            </a:r>
          </a:p>
        </p:txBody>
      </p:sp>
      <p:sp>
        <p:nvSpPr>
          <p:cNvPr id="30" name="02"/>
          <p:cNvSpPr txBox="1"/>
          <p:nvPr/>
        </p:nvSpPr>
        <p:spPr>
          <a:xfrm>
            <a:off x="674369" y="3162300"/>
            <a:ext cx="403863"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8E7052"/>
                </a:solidFill>
                <a:latin typeface="Arial"/>
                <a:ea typeface="Arial"/>
                <a:cs typeface="Arial"/>
                <a:sym typeface="Arial"/>
              </a:defRPr>
            </a:lvl1pPr>
          </a:lstStyle>
          <a:p>
            <a:pPr/>
            <a:r>
              <a:t>02</a:t>
            </a:r>
          </a:p>
        </p:txBody>
      </p:sp>
      <p:sp>
        <p:nvSpPr>
          <p:cNvPr id="31" name="Preparing the spam example"/>
          <p:cNvSpPr txBox="1"/>
          <p:nvPr/>
        </p:nvSpPr>
        <p:spPr>
          <a:xfrm>
            <a:off x="1293493" y="3162300"/>
            <a:ext cx="4575814"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28282A"/>
                </a:solidFill>
                <a:latin typeface="Arial"/>
                <a:ea typeface="Arial"/>
                <a:cs typeface="Arial"/>
                <a:sym typeface="Arial"/>
              </a:defRPr>
            </a:lvl1pPr>
          </a:lstStyle>
          <a:p>
            <a:pPr/>
            <a:r>
              <a:t>Preparing the spam example</a:t>
            </a:r>
          </a:p>
        </p:txBody>
      </p:sp>
      <p:sp>
        <p:nvSpPr>
          <p:cNvPr id="32" name="Turning an email into numeric features"/>
          <p:cNvSpPr txBox="1"/>
          <p:nvPr/>
        </p:nvSpPr>
        <p:spPr>
          <a:xfrm>
            <a:off x="1293493" y="3600451"/>
            <a:ext cx="4337689" cy="3011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62616A"/>
                </a:solidFill>
                <a:latin typeface="Arial"/>
                <a:ea typeface="Arial"/>
                <a:cs typeface="Arial"/>
                <a:sym typeface="Arial"/>
              </a:defRPr>
            </a:lvl1pPr>
          </a:lstStyle>
          <a:p>
            <a:pPr/>
            <a:r>
              <a:t>Turning an email into numeric features</a:t>
            </a:r>
          </a:p>
        </p:txBody>
      </p:sp>
      <p:sp>
        <p:nvSpPr>
          <p:cNvPr id="33" name="03"/>
          <p:cNvSpPr txBox="1"/>
          <p:nvPr/>
        </p:nvSpPr>
        <p:spPr>
          <a:xfrm>
            <a:off x="674369" y="4371976"/>
            <a:ext cx="403863"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8E7052"/>
                </a:solidFill>
                <a:latin typeface="Arial"/>
                <a:ea typeface="Arial"/>
                <a:cs typeface="Arial"/>
                <a:sym typeface="Arial"/>
              </a:defRPr>
            </a:lvl1pPr>
          </a:lstStyle>
          <a:p>
            <a:pPr/>
            <a:r>
              <a:t>03</a:t>
            </a:r>
          </a:p>
        </p:txBody>
      </p:sp>
      <p:sp>
        <p:nvSpPr>
          <p:cNvPr id="34" name="How the network makes a prediction"/>
          <p:cNvSpPr txBox="1"/>
          <p:nvPr/>
        </p:nvSpPr>
        <p:spPr>
          <a:xfrm>
            <a:off x="1293493" y="4371976"/>
            <a:ext cx="4575814"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28282A"/>
                </a:solidFill>
                <a:latin typeface="Arial"/>
                <a:ea typeface="Arial"/>
                <a:cs typeface="Arial"/>
                <a:sym typeface="Arial"/>
              </a:defRPr>
            </a:lvl1pPr>
          </a:lstStyle>
          <a:p>
            <a:pPr/>
            <a:r>
              <a:t>How the network makes a prediction</a:t>
            </a:r>
          </a:p>
        </p:txBody>
      </p:sp>
      <p:sp>
        <p:nvSpPr>
          <p:cNvPr id="35" name="Weights, biases, activations, and forward propagation"/>
          <p:cNvSpPr txBox="1"/>
          <p:nvPr/>
        </p:nvSpPr>
        <p:spPr>
          <a:xfrm>
            <a:off x="1293493" y="4810126"/>
            <a:ext cx="4337689" cy="5170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62616A"/>
                </a:solidFill>
                <a:latin typeface="Arial"/>
                <a:ea typeface="Arial"/>
                <a:cs typeface="Arial"/>
                <a:sym typeface="Arial"/>
              </a:defRPr>
            </a:lvl1pPr>
          </a:lstStyle>
          <a:p>
            <a:pPr/>
            <a:r>
              <a:t>Weights, biases, activations, and forward propagation</a:t>
            </a:r>
          </a:p>
        </p:txBody>
      </p:sp>
      <p:sp>
        <p:nvSpPr>
          <p:cNvPr id="36" name="04"/>
          <p:cNvSpPr txBox="1"/>
          <p:nvPr/>
        </p:nvSpPr>
        <p:spPr>
          <a:xfrm>
            <a:off x="6379843" y="1952625"/>
            <a:ext cx="403863"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8E7052"/>
                </a:solidFill>
                <a:latin typeface="Arial"/>
                <a:ea typeface="Arial"/>
                <a:cs typeface="Arial"/>
                <a:sym typeface="Arial"/>
              </a:defRPr>
            </a:lvl1pPr>
          </a:lstStyle>
          <a:p>
            <a:pPr/>
            <a:r>
              <a:t>04</a:t>
            </a:r>
          </a:p>
        </p:txBody>
      </p:sp>
      <p:sp>
        <p:nvSpPr>
          <p:cNvPr id="37" name="From probability to a decision"/>
          <p:cNvSpPr txBox="1"/>
          <p:nvPr/>
        </p:nvSpPr>
        <p:spPr>
          <a:xfrm>
            <a:off x="6998968" y="1952625"/>
            <a:ext cx="4575814"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28282A"/>
                </a:solidFill>
                <a:latin typeface="Arial"/>
                <a:ea typeface="Arial"/>
                <a:cs typeface="Arial"/>
                <a:sym typeface="Arial"/>
              </a:defRPr>
            </a:lvl1pPr>
          </a:lstStyle>
          <a:p>
            <a:pPr/>
            <a:r>
              <a:t>From probability to a decision</a:t>
            </a:r>
          </a:p>
        </p:txBody>
      </p:sp>
      <p:sp>
        <p:nvSpPr>
          <p:cNvPr id="38" name="Using a threshold to classify an email"/>
          <p:cNvSpPr txBox="1"/>
          <p:nvPr/>
        </p:nvSpPr>
        <p:spPr>
          <a:xfrm>
            <a:off x="6998968" y="2390775"/>
            <a:ext cx="4337689" cy="30110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62616A"/>
                </a:solidFill>
                <a:latin typeface="Arial"/>
                <a:ea typeface="Arial"/>
                <a:cs typeface="Arial"/>
                <a:sym typeface="Arial"/>
              </a:defRPr>
            </a:lvl1pPr>
          </a:lstStyle>
          <a:p>
            <a:pPr/>
            <a:r>
              <a:t>Using a threshold to classify an email</a:t>
            </a:r>
          </a:p>
        </p:txBody>
      </p:sp>
      <p:sp>
        <p:nvSpPr>
          <p:cNvPr id="39" name="05"/>
          <p:cNvSpPr txBox="1"/>
          <p:nvPr/>
        </p:nvSpPr>
        <p:spPr>
          <a:xfrm>
            <a:off x="6379843" y="3162300"/>
            <a:ext cx="403863"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8E7052"/>
                </a:solidFill>
                <a:latin typeface="Arial"/>
                <a:ea typeface="Arial"/>
                <a:cs typeface="Arial"/>
                <a:sym typeface="Arial"/>
              </a:defRPr>
            </a:lvl1pPr>
          </a:lstStyle>
          <a:p>
            <a:pPr/>
            <a:r>
              <a:t>05</a:t>
            </a:r>
          </a:p>
        </p:txBody>
      </p:sp>
      <p:sp>
        <p:nvSpPr>
          <p:cNvPr id="40" name="How the network learns"/>
          <p:cNvSpPr txBox="1"/>
          <p:nvPr/>
        </p:nvSpPr>
        <p:spPr>
          <a:xfrm>
            <a:off x="6998968" y="3162300"/>
            <a:ext cx="4575814"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28282A"/>
                </a:solidFill>
                <a:latin typeface="Arial"/>
                <a:ea typeface="Arial"/>
                <a:cs typeface="Arial"/>
                <a:sym typeface="Arial"/>
              </a:defRPr>
            </a:lvl1pPr>
          </a:lstStyle>
          <a:p>
            <a:pPr/>
            <a:r>
              <a:t>How the network learns</a:t>
            </a:r>
          </a:p>
        </p:txBody>
      </p:sp>
      <p:sp>
        <p:nvSpPr>
          <p:cNvPr id="41" name="Loss, backpropagation, and weight updates"/>
          <p:cNvSpPr txBox="1"/>
          <p:nvPr/>
        </p:nvSpPr>
        <p:spPr>
          <a:xfrm>
            <a:off x="6998968" y="3600451"/>
            <a:ext cx="4337689" cy="3011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62616A"/>
                </a:solidFill>
                <a:latin typeface="Arial"/>
                <a:ea typeface="Arial"/>
                <a:cs typeface="Arial"/>
                <a:sym typeface="Arial"/>
              </a:defRPr>
            </a:lvl1pPr>
          </a:lstStyle>
          <a:p>
            <a:pPr/>
            <a:r>
              <a:t>Loss, backpropagation, and weight updates</a:t>
            </a:r>
          </a:p>
        </p:txBody>
      </p:sp>
      <p:sp>
        <p:nvSpPr>
          <p:cNvPr id="42" name="06"/>
          <p:cNvSpPr txBox="1"/>
          <p:nvPr/>
        </p:nvSpPr>
        <p:spPr>
          <a:xfrm>
            <a:off x="6379843" y="4371976"/>
            <a:ext cx="403863"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8E7052"/>
                </a:solidFill>
                <a:latin typeface="Arial"/>
                <a:ea typeface="Arial"/>
                <a:cs typeface="Arial"/>
                <a:sym typeface="Arial"/>
              </a:defRPr>
            </a:lvl1pPr>
          </a:lstStyle>
          <a:p>
            <a:pPr/>
            <a:r>
              <a:t>06</a:t>
            </a:r>
          </a:p>
        </p:txBody>
      </p:sp>
      <p:sp>
        <p:nvSpPr>
          <p:cNvPr id="43" name="Putting it all together"/>
          <p:cNvSpPr txBox="1"/>
          <p:nvPr/>
        </p:nvSpPr>
        <p:spPr>
          <a:xfrm>
            <a:off x="6998968" y="4371976"/>
            <a:ext cx="4575814" cy="36294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1900">
                <a:solidFill>
                  <a:srgbClr val="28282A"/>
                </a:solidFill>
                <a:latin typeface="Arial"/>
                <a:ea typeface="Arial"/>
                <a:cs typeface="Arial"/>
                <a:sym typeface="Arial"/>
              </a:defRPr>
            </a:lvl1pPr>
          </a:lstStyle>
          <a:p>
            <a:pPr/>
            <a:r>
              <a:t>Putting it all together</a:t>
            </a:r>
          </a:p>
        </p:txBody>
      </p:sp>
      <p:sp>
        <p:nvSpPr>
          <p:cNvPr id="44" name="Shared patterns and the complete prediction pipeline"/>
          <p:cNvSpPr txBox="1"/>
          <p:nvPr/>
        </p:nvSpPr>
        <p:spPr>
          <a:xfrm>
            <a:off x="6998968" y="4810126"/>
            <a:ext cx="4337689" cy="51700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500">
                <a:solidFill>
                  <a:srgbClr val="62616A"/>
                </a:solidFill>
                <a:latin typeface="Arial"/>
                <a:ea typeface="Arial"/>
                <a:cs typeface="Arial"/>
                <a:sym typeface="Arial"/>
              </a:defRPr>
            </a:lvl1pPr>
          </a:lstStyle>
          <a:p>
            <a:pPr/>
            <a:r>
              <a:t>Shared patterns and the complete prediction pipeline</a:t>
            </a:r>
          </a:p>
        </p:txBody>
      </p:sp>
      <p:sp>
        <p:nvSpPr>
          <p:cNvPr id="45"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6" name="Contents"/>
          <p:cNvSpPr txBox="1"/>
          <p:nvPr/>
        </p:nvSpPr>
        <p:spPr>
          <a:xfrm>
            <a:off x="5617843" y="6496051"/>
            <a:ext cx="1146813" cy="23926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100">
                <a:solidFill>
                  <a:srgbClr val="858079"/>
                </a:solidFill>
                <a:latin typeface="Arial"/>
                <a:ea typeface="Arial"/>
                <a:cs typeface="Arial"/>
                <a:sym typeface="Arial"/>
              </a:defRPr>
            </a:lvl1pPr>
          </a:lstStyle>
          <a:p>
            <a:pPr/>
            <a:r>
              <a:t>Contents</a:t>
            </a:r>
          </a:p>
        </p:txBody>
      </p:sp>
      <p:sp>
        <p:nvSpPr>
          <p:cNvPr id="47" name="By the end: explain one neuron, follow a prediction, and describe how training changes it."/>
          <p:cNvSpPr txBox="1"/>
          <p:nvPr/>
        </p:nvSpPr>
        <p:spPr>
          <a:xfrm>
            <a:off x="762000" y="5772150"/>
            <a:ext cx="10668000"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8E7052"/>
                </a:solidFill>
                <a:latin typeface="Chalkboard"/>
                <a:ea typeface="Chalkboard"/>
                <a:cs typeface="Chalkboard"/>
                <a:sym typeface="Chalkboard"/>
              </a:defRPr>
            </a:lvl1pPr>
          </a:lstStyle>
          <a:p>
            <a:pPr/>
            <a:r>
              <a:t>By the end: explain one neuron, follow a prediction, and describe how training changes it.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1" name="Neural networks and the brain"/>
          <p:cNvSpPr txBox="1"/>
          <p:nvPr/>
        </p:nvSpPr>
        <p:spPr>
          <a:xfrm>
            <a:off x="609600" y="504825"/>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3100">
                <a:solidFill>
                  <a:srgbClr val="28282A"/>
                </a:solidFill>
                <a:latin typeface="Arial"/>
                <a:ea typeface="Arial"/>
                <a:cs typeface="Arial"/>
                <a:sym typeface="Arial"/>
              </a:defRPr>
            </a:lvl1pPr>
          </a:lstStyle>
          <a:p>
            <a:pPr/>
            <a:r>
              <a:t>Neural networks and the brain</a:t>
            </a:r>
          </a:p>
        </p:txBody>
      </p:sp>
      <p:sp>
        <p:nvSpPr>
          <p:cNvPr id="52" name="Biological structures inspired a simplified mathematical model."/>
          <p:cNvSpPr txBox="1"/>
          <p:nvPr/>
        </p:nvSpPr>
        <p:spPr>
          <a:xfrm>
            <a:off x="628650" y="1200150"/>
            <a:ext cx="109347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62616A"/>
                </a:solidFill>
                <a:latin typeface="Arial"/>
                <a:ea typeface="Arial"/>
                <a:cs typeface="Arial"/>
                <a:sym typeface="Arial"/>
              </a:defRPr>
            </a:lvl1pPr>
          </a:lstStyle>
          <a:p>
            <a:pPr/>
            <a:r>
              <a:t>Biological structures inspired a simplified mathematical model.</a:t>
            </a:r>
          </a:p>
        </p:txBody>
      </p:sp>
      <p:sp>
        <p:nvSpPr>
          <p:cNvPr id="53" name="Line"/>
          <p:cNvSpPr/>
          <p:nvPr/>
        </p:nvSpPr>
        <p:spPr>
          <a:xfrm>
            <a:off x="628650" y="1619250"/>
            <a:ext cx="1619250" cy="0"/>
          </a:xfrm>
          <a:prstGeom prst="line">
            <a:avLst/>
          </a:prstGeom>
          <a:ln w="13334">
            <a:solidFill>
              <a:srgbClr val="D8B16C"/>
            </a:solidFill>
          </a:ln>
        </p:spPr>
        <p:txBody>
          <a:bodyPr lIns="45718" tIns="45718" rIns="45718" bIns="45718"/>
          <a:lstStyle/>
          <a:p>
            <a:pPr/>
          </a:p>
        </p:txBody>
      </p:sp>
      <p:sp>
        <p:nvSpPr>
          <p:cNvPr id="54" name="Biological brain"/>
          <p:cNvSpPr txBox="1"/>
          <p:nvPr/>
        </p:nvSpPr>
        <p:spPr>
          <a:xfrm>
            <a:off x="762000" y="1885950"/>
            <a:ext cx="4572000"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100">
                <a:solidFill>
                  <a:srgbClr val="8E7052"/>
                </a:solidFill>
                <a:latin typeface="Chalkboard"/>
                <a:ea typeface="Chalkboard"/>
                <a:cs typeface="Chalkboard"/>
                <a:sym typeface="Chalkboard"/>
              </a:defRPr>
            </a:lvl1pPr>
          </a:lstStyle>
          <a:p>
            <a:pPr/>
            <a:r>
              <a:t>Biological brain</a:t>
            </a:r>
          </a:p>
        </p:txBody>
      </p:sp>
      <p:sp>
        <p:nvSpPr>
          <p:cNvPr id="55" name="Artificial neural network"/>
          <p:cNvSpPr txBox="1"/>
          <p:nvPr/>
        </p:nvSpPr>
        <p:spPr>
          <a:xfrm>
            <a:off x="6858000" y="1885950"/>
            <a:ext cx="4572000"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100">
                <a:solidFill>
                  <a:srgbClr val="287B95"/>
                </a:solidFill>
                <a:latin typeface="Chalkboard"/>
                <a:ea typeface="Chalkboard"/>
                <a:cs typeface="Chalkboard"/>
                <a:sym typeface="Chalkboard"/>
              </a:defRPr>
            </a:lvl1pPr>
          </a:lstStyle>
          <a:p>
            <a:pPr/>
            <a:r>
              <a:t>Artificial neural network</a:t>
            </a:r>
          </a:p>
        </p:txBody>
      </p:sp>
      <p:pic>
        <p:nvPicPr>
          <p:cNvPr id="56" name="neuron-mapping-image.png" descr="neuron-mapping-image.png"/>
          <p:cNvPicPr>
            <a:picLocks noChangeAspect="1"/>
          </p:cNvPicPr>
          <p:nvPr/>
        </p:nvPicPr>
        <p:blipFill>
          <a:blip r:embed="rId3">
            <a:extLst/>
          </a:blip>
          <a:stretch>
            <a:fillRect/>
          </a:stretch>
        </p:blipFill>
        <p:spPr>
          <a:xfrm>
            <a:off x="1666875" y="2190750"/>
            <a:ext cx="8858250" cy="2952750"/>
          </a:xfrm>
          <a:prstGeom prst="rect">
            <a:avLst/>
          </a:prstGeom>
          <a:ln w="12700">
            <a:miter lim="400000"/>
          </a:ln>
        </p:spPr>
      </p:pic>
      <p:sp>
        <p:nvSpPr>
          <p:cNvPr id="57" name="Synaptic strength"/>
          <p:cNvSpPr txBox="1"/>
          <p:nvPr/>
        </p:nvSpPr>
        <p:spPr>
          <a:xfrm>
            <a:off x="723900" y="5191125"/>
            <a:ext cx="47148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8E7052"/>
                </a:solidFill>
                <a:latin typeface="Chalkboard"/>
                <a:ea typeface="Chalkboard"/>
                <a:cs typeface="Chalkboard"/>
                <a:sym typeface="Chalkboard"/>
              </a:defRPr>
            </a:lvl1pPr>
          </a:lstStyle>
          <a:p>
            <a:pPr/>
            <a:r>
              <a:t>Synaptic strength</a:t>
            </a:r>
          </a:p>
        </p:txBody>
      </p:sp>
      <p:sp>
        <p:nvSpPr>
          <p:cNvPr id="58" name="Weight value"/>
          <p:cNvSpPr txBox="1"/>
          <p:nvPr/>
        </p:nvSpPr>
        <p:spPr>
          <a:xfrm>
            <a:off x="6762750" y="5191125"/>
            <a:ext cx="47148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8E7052"/>
                </a:solidFill>
                <a:latin typeface="Chalkboard"/>
                <a:ea typeface="Chalkboard"/>
                <a:cs typeface="Chalkboard"/>
                <a:sym typeface="Chalkboard"/>
              </a:defRPr>
            </a:lvl1pPr>
          </a:lstStyle>
          <a:p>
            <a:pPr/>
            <a:r>
              <a:t>Weight value</a:t>
            </a:r>
          </a:p>
        </p:txBody>
      </p:sp>
      <p:sp>
        <p:nvSpPr>
          <p:cNvPr id="59" name="Learning"/>
          <p:cNvSpPr txBox="1"/>
          <p:nvPr/>
        </p:nvSpPr>
        <p:spPr>
          <a:xfrm>
            <a:off x="723900" y="5495925"/>
            <a:ext cx="47148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B75B50"/>
                </a:solidFill>
                <a:latin typeface="Chalkboard"/>
                <a:ea typeface="Chalkboard"/>
                <a:cs typeface="Chalkboard"/>
                <a:sym typeface="Chalkboard"/>
              </a:defRPr>
            </a:lvl1pPr>
          </a:lstStyle>
          <a:p>
            <a:pPr/>
            <a:r>
              <a:t>Learning</a:t>
            </a:r>
          </a:p>
        </p:txBody>
      </p:sp>
      <p:sp>
        <p:nvSpPr>
          <p:cNvPr id="60" name="Adjusting weights"/>
          <p:cNvSpPr txBox="1"/>
          <p:nvPr/>
        </p:nvSpPr>
        <p:spPr>
          <a:xfrm>
            <a:off x="6762750" y="5495925"/>
            <a:ext cx="47148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B75B50"/>
                </a:solidFill>
                <a:latin typeface="Chalkboard"/>
                <a:ea typeface="Chalkboard"/>
                <a:cs typeface="Chalkboard"/>
                <a:sym typeface="Chalkboard"/>
              </a:defRPr>
            </a:lvl1pPr>
          </a:lstStyle>
          <a:p>
            <a:pPr/>
            <a:r>
              <a:t>Adjusting weights</a:t>
            </a:r>
          </a:p>
        </p:txBody>
      </p:sp>
      <p:sp>
        <p:nvSpPr>
          <p:cNvPr id="61" name="Networks of neurons"/>
          <p:cNvSpPr txBox="1"/>
          <p:nvPr/>
        </p:nvSpPr>
        <p:spPr>
          <a:xfrm>
            <a:off x="723900" y="5800725"/>
            <a:ext cx="47148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287B95"/>
                </a:solidFill>
                <a:latin typeface="Chalkboard"/>
                <a:ea typeface="Chalkboard"/>
                <a:cs typeface="Chalkboard"/>
                <a:sym typeface="Chalkboard"/>
              </a:defRPr>
            </a:lvl1pPr>
          </a:lstStyle>
          <a:p>
            <a:pPr/>
            <a:r>
              <a:t>Networks of neurons</a:t>
            </a:r>
          </a:p>
        </p:txBody>
      </p:sp>
      <p:sp>
        <p:nvSpPr>
          <p:cNvPr id="62" name="Layers of artificial neurons"/>
          <p:cNvSpPr txBox="1"/>
          <p:nvPr/>
        </p:nvSpPr>
        <p:spPr>
          <a:xfrm>
            <a:off x="6762750" y="5800725"/>
            <a:ext cx="47148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287B95"/>
                </a:solidFill>
                <a:latin typeface="Chalkboard"/>
                <a:ea typeface="Chalkboard"/>
                <a:cs typeface="Chalkboard"/>
                <a:sym typeface="Chalkboard"/>
              </a:defRPr>
            </a:lvl1pPr>
          </a:lstStyle>
          <a:p>
            <a:pPr/>
            <a:r>
              <a:t>Layers of artificial neurons</a:t>
            </a:r>
          </a:p>
        </p:txBody>
      </p:sp>
      <p:sp>
        <p:nvSpPr>
          <p:cNvPr id="63" name="A simplified analogy: real brains use richer circuitry and learning mechanisms."/>
          <p:cNvSpPr txBox="1"/>
          <p:nvPr/>
        </p:nvSpPr>
        <p:spPr>
          <a:xfrm>
            <a:off x="723900" y="6153150"/>
            <a:ext cx="107442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200">
                <a:solidFill>
                  <a:srgbClr val="62616A"/>
                </a:solidFill>
                <a:latin typeface="Arial"/>
                <a:ea typeface="Arial"/>
                <a:cs typeface="Arial"/>
                <a:sym typeface="Arial"/>
              </a:defRPr>
            </a:lvl1pPr>
          </a:lstStyle>
          <a:p>
            <a:pPr/>
            <a:r>
              <a:t>A simplified analogy: real brains use richer circuitry and learning mechanisms.</a:t>
            </a:r>
          </a:p>
        </p:txBody>
      </p:sp>
      <p:sp>
        <p:nvSpPr>
          <p:cNvPr id="64" name="Line"/>
          <p:cNvSpPr/>
          <p:nvPr/>
        </p:nvSpPr>
        <p:spPr>
          <a:xfrm>
            <a:off x="609600" y="6429375"/>
            <a:ext cx="10972800" cy="0"/>
          </a:xfrm>
          <a:prstGeom prst="line">
            <a:avLst/>
          </a:prstGeom>
          <a:ln>
            <a:solidFill>
              <a:srgbClr val="E0D5C5"/>
            </a:solidFill>
          </a:ln>
        </p:spPr>
        <p:txBody>
          <a:bodyPr lIns="45718" tIns="45718" rIns="45718" bIns="45718"/>
          <a:lstStyle/>
          <a:p>
            <a:pPr/>
          </a:p>
        </p:txBody>
      </p:sp>
      <p:sp>
        <p:nvSpPr>
          <p:cNvPr id="65" name="02"/>
          <p:cNvSpPr txBox="1"/>
          <p:nvPr/>
        </p:nvSpPr>
        <p:spPr>
          <a:xfrm>
            <a:off x="5715000" y="651510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858079"/>
                </a:solidFill>
                <a:latin typeface="Arial"/>
                <a:ea typeface="Arial"/>
                <a:cs typeface="Arial"/>
                <a:sym typeface="Arial"/>
              </a:defRPr>
            </a:lvl1pPr>
          </a:lstStyle>
          <a:p>
            <a:pPr/>
            <a:r>
              <a:t>02</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69" name="Rounded Rectangle"/>
          <p:cNvSpPr/>
          <p:nvPr/>
        </p:nvSpPr>
        <p:spPr>
          <a:xfrm>
            <a:off x="457200" y="1647825"/>
            <a:ext cx="11277600" cy="471487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pic>
        <p:nvPicPr>
          <p:cNvPr id="70" name="image2.png" descr="image2.png"/>
          <p:cNvPicPr>
            <a:picLocks noChangeAspect="1"/>
          </p:cNvPicPr>
          <p:nvPr/>
        </p:nvPicPr>
        <p:blipFill>
          <a:blip r:embed="rId3">
            <a:extLst/>
          </a:blip>
          <a:stretch>
            <a:fillRect/>
          </a:stretch>
        </p:blipFill>
        <p:spPr>
          <a:xfrm>
            <a:off x="571500" y="2781300"/>
            <a:ext cx="8065770" cy="2688614"/>
          </a:xfrm>
          <a:prstGeom prst="rect">
            <a:avLst/>
          </a:prstGeom>
          <a:ln w="12700">
            <a:miter lim="400000"/>
          </a:ln>
        </p:spPr>
      </p:pic>
      <p:sp>
        <p:nvSpPr>
          <p:cNvPr id="71" name="Neural network overview"/>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Neural network overview</a:t>
            </a:r>
          </a:p>
        </p:txBody>
      </p:sp>
      <p:sp>
        <p:nvSpPr>
          <p:cNvPr id="72" name="Connected layers of artificial neurons learn to map numeric inputs to predictions."/>
          <p:cNvSpPr txBox="1"/>
          <p:nvPr/>
        </p:nvSpPr>
        <p:spPr>
          <a:xfrm>
            <a:off x="628650" y="1162050"/>
            <a:ext cx="109347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62616A"/>
                </a:solidFill>
                <a:latin typeface="Arial"/>
                <a:ea typeface="Arial"/>
                <a:cs typeface="Arial"/>
                <a:sym typeface="Arial"/>
              </a:defRPr>
            </a:lvl1pPr>
          </a:lstStyle>
          <a:p>
            <a:pPr/>
            <a:r>
              <a:t>MLP means multilayer perceptron: connected layers transform numeric inputs into predictions.</a:t>
            </a:r>
          </a:p>
        </p:txBody>
      </p:sp>
      <p:sp>
        <p:nvSpPr>
          <p:cNvPr id="73" name="01"/>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03</a:t>
            </a:r>
          </a:p>
        </p:txBody>
      </p:sp>
      <p:sp>
        <p:nvSpPr>
          <p:cNvPr id="74" name="Numeric inputs"/>
          <p:cNvSpPr txBox="1"/>
          <p:nvPr/>
        </p:nvSpPr>
        <p:spPr>
          <a:xfrm>
            <a:off x="536732" y="2747646"/>
            <a:ext cx="1613157"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424548"/>
                </a:solidFill>
                <a:latin typeface="Chalkboard"/>
                <a:ea typeface="Chalkboard"/>
                <a:cs typeface="Chalkboard"/>
                <a:sym typeface="Chalkboard"/>
              </a:defRPr>
            </a:lvl1pPr>
          </a:lstStyle>
          <a:p>
            <a:pPr/>
            <a:r>
              <a:t>Numeric inputs</a:t>
            </a:r>
          </a:p>
        </p:txBody>
      </p:sp>
      <p:sp>
        <p:nvSpPr>
          <p:cNvPr id="75" name="Hidden layer 1"/>
          <p:cNvSpPr txBox="1"/>
          <p:nvPr/>
        </p:nvSpPr>
        <p:spPr>
          <a:xfrm>
            <a:off x="2685288" y="2747646"/>
            <a:ext cx="1613156"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424548"/>
                </a:solidFill>
                <a:latin typeface="Chalkboard"/>
                <a:ea typeface="Chalkboard"/>
                <a:cs typeface="Chalkboard"/>
                <a:sym typeface="Chalkboard"/>
              </a:defRPr>
            </a:lvl1pPr>
          </a:lstStyle>
          <a:p>
            <a:pPr/>
            <a:r>
              <a:t>Hidden layer 1</a:t>
            </a:r>
          </a:p>
        </p:txBody>
      </p:sp>
      <p:sp>
        <p:nvSpPr>
          <p:cNvPr id="76" name="Hidden layer 2"/>
          <p:cNvSpPr txBox="1"/>
          <p:nvPr/>
        </p:nvSpPr>
        <p:spPr>
          <a:xfrm>
            <a:off x="4833842" y="2747646"/>
            <a:ext cx="1613156"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424548"/>
                </a:solidFill>
                <a:latin typeface="Chalkboard"/>
                <a:ea typeface="Chalkboard"/>
                <a:cs typeface="Chalkboard"/>
                <a:sym typeface="Chalkboard"/>
              </a:defRPr>
            </a:lvl1pPr>
          </a:lstStyle>
          <a:p>
            <a:pPr/>
            <a:r>
              <a:t>Hidden layer 2</a:t>
            </a:r>
          </a:p>
        </p:txBody>
      </p:sp>
      <p:sp>
        <p:nvSpPr>
          <p:cNvPr id="77" name="Prediction"/>
          <p:cNvSpPr txBox="1"/>
          <p:nvPr/>
        </p:nvSpPr>
        <p:spPr>
          <a:xfrm>
            <a:off x="6982396" y="2747646"/>
            <a:ext cx="1613156"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8E7052"/>
                </a:solidFill>
                <a:latin typeface="Chalkboard"/>
                <a:ea typeface="Chalkboard"/>
                <a:cs typeface="Chalkboard"/>
                <a:sym typeface="Chalkboard"/>
              </a:defRPr>
            </a:lvl1pPr>
          </a:lstStyle>
          <a:p>
            <a:pPr/>
            <a:r>
              <a:t>Prediction</a:t>
            </a:r>
          </a:p>
        </p:txBody>
      </p:sp>
      <p:sp>
        <p:nvSpPr>
          <p:cNvPr id="78" name="x₁"/>
          <p:cNvSpPr txBox="1"/>
          <p:nvPr/>
        </p:nvSpPr>
        <p:spPr>
          <a:xfrm>
            <a:off x="689703" y="3138717"/>
            <a:ext cx="312898" cy="1936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424548"/>
                </a:solidFill>
                <a:latin typeface="STIX Two Math Regular"/>
                <a:ea typeface="STIX Two Math Regular"/>
                <a:cs typeface="STIX Two Math Regular"/>
                <a:sym typeface="STIX Two Math Regular"/>
              </a:defRPr>
            </a:lvl1pPr>
          </a:lstStyle>
          <a:p>
            <a:pPr/>
            <a:r>
              <a:t>x₁</a:t>
            </a:r>
          </a:p>
        </p:txBody>
      </p:sp>
      <p:sp>
        <p:nvSpPr>
          <p:cNvPr id="79" name="x₂"/>
          <p:cNvSpPr txBox="1"/>
          <p:nvPr/>
        </p:nvSpPr>
        <p:spPr>
          <a:xfrm>
            <a:off x="689703" y="3708883"/>
            <a:ext cx="312898" cy="1936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424548"/>
                </a:solidFill>
                <a:latin typeface="STIX Two Math Regular"/>
                <a:ea typeface="STIX Two Math Regular"/>
                <a:cs typeface="STIX Two Math Regular"/>
                <a:sym typeface="STIX Two Math Regular"/>
              </a:defRPr>
            </a:lvl1pPr>
          </a:lstStyle>
          <a:p>
            <a:pPr/>
            <a:r>
              <a:t>x₂</a:t>
            </a:r>
          </a:p>
        </p:txBody>
      </p:sp>
      <p:sp>
        <p:nvSpPr>
          <p:cNvPr id="80" name="x₃"/>
          <p:cNvSpPr txBox="1"/>
          <p:nvPr/>
        </p:nvSpPr>
        <p:spPr>
          <a:xfrm>
            <a:off x="689703" y="4279050"/>
            <a:ext cx="312898" cy="19367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424548"/>
                </a:solidFill>
                <a:latin typeface="STIX Two Math Regular"/>
                <a:ea typeface="STIX Two Math Regular"/>
                <a:cs typeface="STIX Two Math Regular"/>
                <a:sym typeface="STIX Two Math Regular"/>
              </a:defRPr>
            </a:lvl1pPr>
          </a:lstStyle>
          <a:p>
            <a:pPr/>
            <a:r>
              <a:t>x₃</a:t>
            </a:r>
          </a:p>
        </p:txBody>
      </p:sp>
      <p:sp>
        <p:nvSpPr>
          <p:cNvPr id="81" name="x₄"/>
          <p:cNvSpPr txBox="1"/>
          <p:nvPr/>
        </p:nvSpPr>
        <p:spPr>
          <a:xfrm>
            <a:off x="689703" y="4849217"/>
            <a:ext cx="312898" cy="1936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500">
                <a:solidFill>
                  <a:srgbClr val="424548"/>
                </a:solidFill>
                <a:latin typeface="STIX Two Math Regular"/>
                <a:ea typeface="STIX Two Math Regular"/>
                <a:cs typeface="STIX Two Math Regular"/>
                <a:sym typeface="STIX Two Math Regular"/>
              </a:defRPr>
            </a:lvl1pPr>
          </a:lstStyle>
          <a:p>
            <a:pPr/>
            <a:r>
              <a:t>x₄</a:t>
            </a:r>
          </a:p>
        </p:txBody>
      </p:sp>
      <p:sp>
        <p:nvSpPr>
          <p:cNvPr id="8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8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84" name="neuron-number-input-1"/>
          <p:cNvSpPr txBox="1"/>
          <p:nvPr/>
        </p:nvSpPr>
        <p:spPr>
          <a:xfrm>
            <a:off x="1324082" y="3085421"/>
            <a:ext cx="219241" cy="2140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0.9</a:t>
            </a:r>
          </a:p>
        </p:txBody>
      </p:sp>
      <p:sp>
        <p:nvSpPr>
          <p:cNvPr id="85" name="neuron-number-input-2"/>
          <p:cNvSpPr txBox="1"/>
          <p:nvPr/>
        </p:nvSpPr>
        <p:spPr>
          <a:xfrm>
            <a:off x="1325320" y="3669493"/>
            <a:ext cx="222328" cy="2140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0.4</a:t>
            </a:r>
          </a:p>
        </p:txBody>
      </p:sp>
      <p:sp>
        <p:nvSpPr>
          <p:cNvPr id="86" name="neuron-number-input-3"/>
          <p:cNvSpPr txBox="1"/>
          <p:nvPr/>
        </p:nvSpPr>
        <p:spPr>
          <a:xfrm>
            <a:off x="1323930" y="4299458"/>
            <a:ext cx="222328" cy="2140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0.7</a:t>
            </a:r>
          </a:p>
        </p:txBody>
      </p:sp>
      <p:sp>
        <p:nvSpPr>
          <p:cNvPr id="87" name="neuron-number-input-4"/>
          <p:cNvSpPr txBox="1"/>
          <p:nvPr/>
        </p:nvSpPr>
        <p:spPr>
          <a:xfrm>
            <a:off x="1322076" y="4905782"/>
            <a:ext cx="223254" cy="2140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0.2</a:t>
            </a:r>
          </a:p>
        </p:txBody>
      </p:sp>
      <p:sp>
        <p:nvSpPr>
          <p:cNvPr id="88" name="neuron-number-hidden1-1"/>
          <p:cNvSpPr txBox="1"/>
          <p:nvPr/>
        </p:nvSpPr>
        <p:spPr>
          <a:xfrm>
            <a:off x="3451857" y="3295409"/>
            <a:ext cx="227423" cy="2140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0.8</a:t>
            </a:r>
          </a:p>
        </p:txBody>
      </p:sp>
      <p:sp>
        <p:nvSpPr>
          <p:cNvPr id="89" name="neuron-number-hidden1-2"/>
          <p:cNvSpPr txBox="1"/>
          <p:nvPr/>
        </p:nvSpPr>
        <p:spPr>
          <a:xfrm>
            <a:off x="3450929" y="4001860"/>
            <a:ext cx="222328" cy="2140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0.3</a:t>
            </a:r>
          </a:p>
        </p:txBody>
      </p:sp>
      <p:sp>
        <p:nvSpPr>
          <p:cNvPr id="90" name="neuron-number-hidden1-3"/>
          <p:cNvSpPr txBox="1"/>
          <p:nvPr/>
        </p:nvSpPr>
        <p:spPr>
          <a:xfrm>
            <a:off x="3445135" y="4718739"/>
            <a:ext cx="224181" cy="2140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0.6</a:t>
            </a:r>
          </a:p>
        </p:txBody>
      </p:sp>
      <p:sp>
        <p:nvSpPr>
          <p:cNvPr id="91" name="neuron-number-hidden2-1"/>
          <p:cNvSpPr txBox="1"/>
          <p:nvPr/>
        </p:nvSpPr>
        <p:spPr>
          <a:xfrm>
            <a:off x="5573756" y="3574929"/>
            <a:ext cx="222328" cy="2140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0.7</a:t>
            </a:r>
          </a:p>
        </p:txBody>
      </p:sp>
      <p:sp>
        <p:nvSpPr>
          <p:cNvPr id="92" name="neuron-number-hidden2-2"/>
          <p:cNvSpPr txBox="1"/>
          <p:nvPr/>
        </p:nvSpPr>
        <p:spPr>
          <a:xfrm>
            <a:off x="5571902" y="4430874"/>
            <a:ext cx="223254" cy="214049"/>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0.2</a:t>
            </a:r>
          </a:p>
        </p:txBody>
      </p:sp>
      <p:sp>
        <p:nvSpPr>
          <p:cNvPr id="93" name="neuron-number-output-1"/>
          <p:cNvSpPr txBox="1"/>
          <p:nvPr/>
        </p:nvSpPr>
        <p:spPr>
          <a:xfrm>
            <a:off x="7696735" y="3980304"/>
            <a:ext cx="219241" cy="214048"/>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ctr">
            <a:spAutoFit/>
          </a:bodyPr>
          <a:lstStyle>
            <a:lvl1pPr algn="ctr">
              <a:defRPr b="1" sz="1100">
                <a:solidFill>
                  <a:srgbClr val="28282A"/>
                </a:solidFill>
                <a:latin typeface="Chalkboard"/>
                <a:ea typeface="Chalkboard"/>
                <a:cs typeface="Chalkboard"/>
                <a:sym typeface="Chalkboard"/>
              </a:defRPr>
            </a:lvl1pPr>
          </a:lstStyle>
          <a:p>
            <a:pPr/>
            <a:r>
              <a:t>0.9</a:t>
            </a:r>
          </a:p>
        </p:txBody>
      </p:sp>
      <p:sp>
        <p:nvSpPr>
          <p:cNvPr id="94" name="Connections"/>
          <p:cNvSpPr txBox="1"/>
          <p:nvPr/>
        </p:nvSpPr>
        <p:spPr>
          <a:xfrm>
            <a:off x="723900" y="1762125"/>
            <a:ext cx="25717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Connections</a:t>
            </a:r>
          </a:p>
        </p:txBody>
      </p:sp>
      <p:sp>
        <p:nvSpPr>
          <p:cNvPr id="95" name="Links carry signals between neurons."/>
          <p:cNvSpPr txBox="1"/>
          <p:nvPr/>
        </p:nvSpPr>
        <p:spPr>
          <a:xfrm>
            <a:off x="723900" y="2114550"/>
            <a:ext cx="304800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424548"/>
                </a:solidFill>
                <a:latin typeface="Arial"/>
                <a:ea typeface="Arial"/>
                <a:cs typeface="Arial"/>
                <a:sym typeface="Arial"/>
              </a:defRPr>
            </a:lvl1pPr>
          </a:lstStyle>
          <a:p>
            <a:pPr/>
            <a:r>
              <a:t>Links carry signals between neurons.</a:t>
            </a:r>
          </a:p>
        </p:txBody>
      </p:sp>
      <p:sp>
        <p:nvSpPr>
          <p:cNvPr id="96" name="Line"/>
          <p:cNvSpPr/>
          <p:nvPr/>
        </p:nvSpPr>
        <p:spPr>
          <a:xfrm>
            <a:off x="2666998" y="2562225"/>
            <a:ext cx="3" cy="723902"/>
          </a:xfrm>
          <a:prstGeom prst="line">
            <a:avLst/>
          </a:prstGeom>
          <a:ln w="19050">
            <a:solidFill>
              <a:srgbClr val="287B95"/>
            </a:solidFill>
          </a:ln>
        </p:spPr>
        <p:txBody>
          <a:bodyPr lIns="45718" tIns="45718" rIns="45718" bIns="45718"/>
          <a:lstStyle/>
          <a:p>
            <a:pPr/>
          </a:p>
        </p:txBody>
      </p:sp>
      <p:sp>
        <p:nvSpPr>
          <p:cNvPr id="97" name="Weights and biases"/>
          <p:cNvSpPr txBox="1"/>
          <p:nvPr/>
        </p:nvSpPr>
        <p:spPr>
          <a:xfrm>
            <a:off x="4038600" y="1762125"/>
            <a:ext cx="40957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Weights and biases</a:t>
            </a:r>
          </a:p>
        </p:txBody>
      </p:sp>
      <p:sp>
        <p:nvSpPr>
          <p:cNvPr id="98" name="Weights scale each signal.…"/>
          <p:cNvSpPr txBox="1"/>
          <p:nvPr/>
        </p:nvSpPr>
        <p:spPr>
          <a:xfrm>
            <a:off x="4038600" y="2114550"/>
            <a:ext cx="419100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Weights scale each signal.</a:t>
            </a:r>
          </a:p>
          <a:p>
            <a:pPr>
              <a:defRPr sz="1500">
                <a:solidFill>
                  <a:srgbClr val="424548"/>
                </a:solidFill>
                <a:latin typeface="Arial"/>
                <a:ea typeface="Arial"/>
                <a:cs typeface="Arial"/>
                <a:sym typeface="Arial"/>
              </a:defRPr>
            </a:pPr>
            <a:r>
              <a:t>Biases shift a neuron’s activation.</a:t>
            </a:r>
          </a:p>
        </p:txBody>
      </p:sp>
      <p:sp>
        <p:nvSpPr>
          <p:cNvPr id="99" name="w"/>
          <p:cNvSpPr txBox="1"/>
          <p:nvPr/>
        </p:nvSpPr>
        <p:spPr>
          <a:xfrm>
            <a:off x="4619625" y="3248025"/>
            <a:ext cx="266700" cy="2765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8E7052"/>
                </a:solidFill>
                <a:latin typeface="Chalkboard"/>
                <a:ea typeface="Chalkboard"/>
                <a:cs typeface="Chalkboard"/>
                <a:sym typeface="Chalkboard"/>
              </a:defRPr>
            </a:lvl1pPr>
          </a:lstStyle>
          <a:p>
            <a:pPr/>
            <a:r>
              <a:t>w</a:t>
            </a:r>
          </a:p>
        </p:txBody>
      </p:sp>
      <p:sp>
        <p:nvSpPr>
          <p:cNvPr id="100" name="+ b"/>
          <p:cNvSpPr txBox="1"/>
          <p:nvPr/>
        </p:nvSpPr>
        <p:spPr>
          <a:xfrm>
            <a:off x="3790950" y="3086100"/>
            <a:ext cx="50482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8E7052"/>
                </a:solidFill>
                <a:latin typeface="Chalkboard"/>
                <a:ea typeface="Chalkboard"/>
                <a:cs typeface="Chalkboard"/>
                <a:sym typeface="Chalkboard"/>
              </a:defRPr>
            </a:lvl1pPr>
          </a:lstStyle>
          <a:p>
            <a:pPr/>
            <a:r>
              <a:t>+ b</a:t>
            </a:r>
          </a:p>
        </p:txBody>
      </p:sp>
      <p:sp>
        <p:nvSpPr>
          <p:cNvPr id="101" name="Neurons"/>
          <p:cNvSpPr txBox="1"/>
          <p:nvPr/>
        </p:nvSpPr>
        <p:spPr>
          <a:xfrm>
            <a:off x="9058275" y="1762125"/>
            <a:ext cx="247650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754A0"/>
                </a:solidFill>
                <a:latin typeface="Chalkboard"/>
                <a:ea typeface="Chalkboard"/>
                <a:cs typeface="Chalkboard"/>
                <a:sym typeface="Chalkboard"/>
              </a:defRPr>
            </a:lvl1pPr>
          </a:lstStyle>
          <a:p>
            <a:pPr/>
            <a:r>
              <a:t>Neurons</a:t>
            </a:r>
          </a:p>
        </p:txBody>
      </p:sp>
      <p:sp>
        <p:nvSpPr>
          <p:cNvPr id="102" name="Each unit receives inputs…"/>
          <p:cNvSpPr txBox="1"/>
          <p:nvPr/>
        </p:nvSpPr>
        <p:spPr>
          <a:xfrm>
            <a:off x="9058275" y="2133600"/>
            <a:ext cx="2466975" cy="641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Each unit receives inputs</a:t>
            </a:r>
          </a:p>
          <a:p>
            <a:pPr>
              <a:defRPr sz="1500">
                <a:solidFill>
                  <a:srgbClr val="424548"/>
                </a:solidFill>
                <a:latin typeface="Arial"/>
                <a:ea typeface="Arial"/>
                <a:cs typeface="Arial"/>
                <a:sym typeface="Arial"/>
              </a:defRPr>
            </a:pPr>
            <a:r>
              <a:t>and applies an activation</a:t>
            </a:r>
          </a:p>
          <a:p>
            <a:pPr>
              <a:defRPr sz="1500">
                <a:solidFill>
                  <a:srgbClr val="424548"/>
                </a:solidFill>
                <a:latin typeface="Arial"/>
                <a:ea typeface="Arial"/>
                <a:cs typeface="Arial"/>
                <a:sym typeface="Arial"/>
              </a:defRPr>
            </a:pPr>
            <a:r>
              <a:t>function.</a:t>
            </a:r>
          </a:p>
        </p:txBody>
      </p:sp>
      <p:sp>
        <p:nvSpPr>
          <p:cNvPr id="103" name="Inside one neuron"/>
          <p:cNvSpPr txBox="1"/>
          <p:nvPr/>
        </p:nvSpPr>
        <p:spPr>
          <a:xfrm>
            <a:off x="9058275" y="3105150"/>
            <a:ext cx="2457450" cy="238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8754A0"/>
                </a:solidFill>
                <a:latin typeface="Chalkboard"/>
                <a:ea typeface="Chalkboard"/>
                <a:cs typeface="Chalkboard"/>
                <a:sym typeface="Chalkboard"/>
              </a:defRPr>
            </a:lvl1pPr>
          </a:lstStyle>
          <a:p>
            <a:pPr/>
            <a:r>
              <a:t>Inside one neuron</a:t>
            </a:r>
          </a:p>
        </p:txBody>
      </p:sp>
      <p:sp>
        <p:nvSpPr>
          <p:cNvPr id="104" name="z = Σ(w × input) + b"/>
          <p:cNvSpPr txBox="1"/>
          <p:nvPr/>
        </p:nvSpPr>
        <p:spPr>
          <a:xfrm>
            <a:off x="9058275" y="3438525"/>
            <a:ext cx="25717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424548"/>
                </a:solidFill>
                <a:latin typeface="Arial"/>
                <a:ea typeface="Arial"/>
                <a:cs typeface="Arial"/>
                <a:sym typeface="Arial"/>
              </a:defRPr>
            </a:lvl1pPr>
          </a:lstStyle>
          <a:p>
            <a:pPr/>
            <a:r>
              <a:t>z = Σ(w × input) + b</a:t>
            </a:r>
          </a:p>
        </p:txBody>
      </p:sp>
      <p:sp>
        <p:nvSpPr>
          <p:cNvPr id="105" name="output = f(z)"/>
          <p:cNvSpPr txBox="1"/>
          <p:nvPr/>
        </p:nvSpPr>
        <p:spPr>
          <a:xfrm>
            <a:off x="9058275" y="3810000"/>
            <a:ext cx="254317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754A0"/>
                </a:solidFill>
                <a:latin typeface="Chalkboard"/>
                <a:ea typeface="Chalkboard"/>
                <a:cs typeface="Chalkboard"/>
                <a:sym typeface="Chalkboard"/>
              </a:defRPr>
            </a:lvl1pPr>
          </a:lstStyle>
          <a:p>
            <a:pPr/>
            <a:r>
              <a:t>output = f(z)</a:t>
            </a:r>
          </a:p>
        </p:txBody>
      </p:sp>
      <p:sp>
        <p:nvSpPr>
          <p:cNvPr id="106" name="For ReLU, the threshold is 0:…"/>
          <p:cNvSpPr txBox="1"/>
          <p:nvPr/>
        </p:nvSpPr>
        <p:spPr>
          <a:xfrm>
            <a:off x="9058275" y="4238625"/>
            <a:ext cx="2524125" cy="641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For ReLU, the threshold is 0:</a:t>
            </a:r>
          </a:p>
          <a:p>
            <a:pPr>
              <a:defRPr sz="1500">
                <a:solidFill>
                  <a:srgbClr val="424548"/>
                </a:solidFill>
                <a:latin typeface="Arial"/>
                <a:ea typeface="Arial"/>
                <a:cs typeface="Arial"/>
                <a:sym typeface="Arial"/>
              </a:defRPr>
            </a:pPr>
            <a:r>
              <a:t>negative z gives 0,</a:t>
            </a:r>
          </a:p>
          <a:p>
            <a:pPr>
              <a:defRPr sz="1500">
                <a:solidFill>
                  <a:srgbClr val="424548"/>
                </a:solidFill>
                <a:latin typeface="Arial"/>
                <a:ea typeface="Arial"/>
                <a:cs typeface="Arial"/>
                <a:sym typeface="Arial"/>
              </a:defRPr>
            </a:pPr>
            <a:r>
              <a:t>positive z passes through.</a:t>
            </a:r>
          </a:p>
        </p:txBody>
      </p:sp>
      <p:sp>
        <p:nvSpPr>
          <p:cNvPr id="107" name="Line"/>
          <p:cNvSpPr/>
          <p:nvPr/>
        </p:nvSpPr>
        <p:spPr>
          <a:xfrm>
            <a:off x="8620125" y="4076698"/>
            <a:ext cx="276226" cy="2"/>
          </a:xfrm>
          <a:prstGeom prst="line">
            <a:avLst/>
          </a:prstGeom>
          <a:ln w="19050">
            <a:solidFill>
              <a:srgbClr val="8754A0"/>
            </a:solidFill>
          </a:ln>
        </p:spPr>
        <p:txBody>
          <a:bodyPr lIns="45718" tIns="45718" rIns="45718" bIns="45718"/>
          <a:lstStyle/>
          <a:p>
            <a:pPr/>
          </a:p>
        </p:txBody>
      </p:sp>
      <p:sp>
        <p:nvSpPr>
          <p:cNvPr id="108" name="Line"/>
          <p:cNvSpPr/>
          <p:nvPr/>
        </p:nvSpPr>
        <p:spPr>
          <a:xfrm>
            <a:off x="5924550" y="4581523"/>
            <a:ext cx="2695576" cy="2"/>
          </a:xfrm>
          <a:prstGeom prst="line">
            <a:avLst/>
          </a:prstGeom>
          <a:ln w="14288">
            <a:solidFill>
              <a:srgbClr val="8754A0"/>
            </a:solidFill>
          </a:ln>
        </p:spPr>
        <p:txBody>
          <a:bodyPr lIns="45718" tIns="45718" rIns="45718" bIns="45718"/>
          <a:lstStyle/>
          <a:p>
            <a:pPr/>
          </a:p>
        </p:txBody>
      </p:sp>
      <p:sp>
        <p:nvSpPr>
          <p:cNvPr id="109" name="Line"/>
          <p:cNvSpPr/>
          <p:nvPr/>
        </p:nvSpPr>
        <p:spPr>
          <a:xfrm flipV="1">
            <a:off x="8620124" y="4076699"/>
            <a:ext cx="2" cy="504827"/>
          </a:xfrm>
          <a:prstGeom prst="line">
            <a:avLst/>
          </a:prstGeom>
          <a:ln w="14288">
            <a:solidFill>
              <a:srgbClr val="8754A0"/>
            </a:solidFill>
          </a:ln>
        </p:spPr>
        <p:txBody>
          <a:bodyPr lIns="45718" tIns="45718" rIns="45718" bIns="45718"/>
          <a:lstStyle/>
          <a:p>
            <a:pPr/>
          </a:p>
        </p:txBody>
      </p:sp>
      <p:sp>
        <p:nvSpPr>
          <p:cNvPr id="110" name="Line"/>
          <p:cNvSpPr/>
          <p:nvPr/>
        </p:nvSpPr>
        <p:spPr>
          <a:xfrm>
            <a:off x="1628775" y="5300662"/>
            <a:ext cx="5895977" cy="1"/>
          </a:xfrm>
          <a:prstGeom prst="line">
            <a:avLst/>
          </a:prstGeom>
          <a:ln w="23813">
            <a:solidFill>
              <a:srgbClr val="287B95"/>
            </a:solidFill>
            <a:tailEnd type="triangle"/>
          </a:ln>
        </p:spPr>
        <p:txBody>
          <a:bodyPr lIns="45718" tIns="45718" rIns="45718" bIns="45718"/>
          <a:lstStyle/>
          <a:p>
            <a:pPr/>
          </a:p>
        </p:txBody>
      </p:sp>
      <p:sp>
        <p:nvSpPr>
          <p:cNvPr id="111" name="Propagation functions"/>
          <p:cNvSpPr txBox="1"/>
          <p:nvPr/>
        </p:nvSpPr>
        <p:spPr>
          <a:xfrm>
            <a:off x="723900" y="5514975"/>
            <a:ext cx="40957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Propagation functions</a:t>
            </a:r>
          </a:p>
        </p:txBody>
      </p:sp>
      <p:sp>
        <p:nvSpPr>
          <p:cNvPr id="112" name="Sum weighted inputs, apply f(z),…"/>
          <p:cNvSpPr txBox="1"/>
          <p:nvPr/>
        </p:nvSpPr>
        <p:spPr>
          <a:xfrm>
            <a:off x="723900" y="5838825"/>
            <a:ext cx="447675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Sum weighted inputs, apply f(z),</a:t>
            </a:r>
          </a:p>
          <a:p>
            <a:pPr>
              <a:defRPr sz="1500">
                <a:solidFill>
                  <a:srgbClr val="424548"/>
                </a:solidFill>
                <a:latin typeface="Arial"/>
                <a:ea typeface="Arial"/>
                <a:cs typeface="Arial"/>
                <a:sym typeface="Arial"/>
              </a:defRPr>
            </a:pPr>
            <a:r>
              <a:t>and pass outputs to the next layer.</a:t>
            </a:r>
          </a:p>
        </p:txBody>
      </p:sp>
      <p:sp>
        <p:nvSpPr>
          <p:cNvPr id="113" name="Line"/>
          <p:cNvSpPr/>
          <p:nvPr/>
        </p:nvSpPr>
        <p:spPr>
          <a:xfrm>
            <a:off x="7810499" y="4324349"/>
            <a:ext cx="2" cy="1143002"/>
          </a:xfrm>
          <a:prstGeom prst="line">
            <a:avLst/>
          </a:prstGeom>
          <a:ln w="19050">
            <a:solidFill>
              <a:srgbClr val="A45F57"/>
            </a:solidFill>
          </a:ln>
        </p:spPr>
        <p:txBody>
          <a:bodyPr lIns="45718" tIns="45718" rIns="45718" bIns="45718"/>
          <a:lstStyle/>
          <a:p>
            <a:pPr/>
          </a:p>
        </p:txBody>
      </p:sp>
      <p:sp>
        <p:nvSpPr>
          <p:cNvPr id="114" name="Line"/>
          <p:cNvSpPr/>
          <p:nvPr/>
        </p:nvSpPr>
        <p:spPr>
          <a:xfrm flipH="1" flipV="1">
            <a:off x="3571873" y="5472111"/>
            <a:ext cx="4238627" cy="3"/>
          </a:xfrm>
          <a:prstGeom prst="line">
            <a:avLst/>
          </a:prstGeom>
          <a:ln w="23813">
            <a:solidFill>
              <a:srgbClr val="A45F57"/>
            </a:solidFill>
            <a:tailEnd type="triangle"/>
          </a:ln>
        </p:spPr>
        <p:txBody>
          <a:bodyPr lIns="45718" tIns="45718" rIns="45718" bIns="45718"/>
          <a:lstStyle/>
          <a:p>
            <a:pPr/>
          </a:p>
        </p:txBody>
      </p:sp>
      <p:sp>
        <p:nvSpPr>
          <p:cNvPr id="115" name="Line"/>
          <p:cNvSpPr/>
          <p:nvPr/>
        </p:nvSpPr>
        <p:spPr>
          <a:xfrm flipV="1">
            <a:off x="3567112" y="5095873"/>
            <a:ext cx="2" cy="371477"/>
          </a:xfrm>
          <a:prstGeom prst="line">
            <a:avLst/>
          </a:prstGeom>
          <a:ln w="23813">
            <a:solidFill>
              <a:srgbClr val="A45F57"/>
            </a:solidFill>
            <a:tailEnd type="triangle"/>
          </a:ln>
        </p:spPr>
        <p:txBody>
          <a:bodyPr lIns="45718" tIns="45718" rIns="45718" bIns="45718"/>
          <a:lstStyle/>
          <a:p>
            <a:pPr/>
          </a:p>
        </p:txBody>
      </p:sp>
      <p:sp>
        <p:nvSpPr>
          <p:cNvPr id="116" name="Learning rule"/>
          <p:cNvSpPr txBox="1"/>
          <p:nvPr/>
        </p:nvSpPr>
        <p:spPr>
          <a:xfrm>
            <a:off x="5791200" y="5543550"/>
            <a:ext cx="323850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A45F57"/>
                </a:solidFill>
                <a:latin typeface="Chalkboard"/>
                <a:ea typeface="Chalkboard"/>
                <a:cs typeface="Chalkboard"/>
                <a:sym typeface="Chalkboard"/>
              </a:defRPr>
            </a:lvl1pPr>
          </a:lstStyle>
          <a:p>
            <a:pPr/>
            <a:r>
              <a:t>Learning rule</a:t>
            </a:r>
          </a:p>
        </p:txBody>
      </p:sp>
      <p:sp>
        <p:nvSpPr>
          <p:cNvPr id="117" name="Prediction error guides repeated updates…"/>
          <p:cNvSpPr txBox="1"/>
          <p:nvPr/>
        </p:nvSpPr>
        <p:spPr>
          <a:xfrm>
            <a:off x="5791200" y="5867400"/>
            <a:ext cx="5715000" cy="3755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300">
                <a:solidFill>
                  <a:srgbClr val="424548"/>
                </a:solidFill>
                <a:latin typeface="Arial"/>
                <a:ea typeface="Arial"/>
                <a:cs typeface="Arial"/>
                <a:sym typeface="Arial"/>
              </a:defRPr>
            </a:pPr>
            <a:r>
              <a:t>Prediction error guides repeated updates</a:t>
            </a:r>
          </a:p>
          <a:p>
            <a:pPr>
              <a:defRPr sz="1300">
                <a:solidFill>
                  <a:srgbClr val="424548"/>
                </a:solidFill>
                <a:latin typeface="Arial"/>
                <a:ea typeface="Arial"/>
                <a:cs typeface="Arial"/>
                <a:sym typeface="Arial"/>
              </a:defRPr>
            </a:pPr>
            <a:r>
              <a:t>to weights and biases to improve accuracy.</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121" name="relu-title"/>
          <p:cNvSpPr txBox="1"/>
          <p:nvPr/>
        </p:nvSpPr>
        <p:spPr>
          <a:xfrm>
            <a:off x="515656" y="584377"/>
            <a:ext cx="10906126"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ReLU keeps positive signals</a:t>
            </a:r>
          </a:p>
        </p:txBody>
      </p:sp>
      <p:sp>
        <p:nvSpPr>
          <p:cNvPr id="122" name="relu-subtitle"/>
          <p:cNvSpPr txBox="1"/>
          <p:nvPr/>
        </p:nvSpPr>
        <p:spPr>
          <a:xfrm>
            <a:off x="628650" y="1289197"/>
            <a:ext cx="10906125"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Hidden neurons pass positive weighted sums forward and replace negative values with zero.</a:t>
            </a:r>
          </a:p>
        </p:txBody>
      </p:sp>
      <p:sp>
        <p:nvSpPr>
          <p:cNvPr id="123" name="relu-accent-line"/>
          <p:cNvSpPr/>
          <p:nvPr/>
        </p:nvSpPr>
        <p:spPr>
          <a:xfrm>
            <a:off x="628650" y="1562100"/>
            <a:ext cx="2028826" cy="0"/>
          </a:xfrm>
          <a:prstGeom prst="line">
            <a:avLst/>
          </a:prstGeom>
          <a:ln w="14288">
            <a:solidFill>
              <a:srgbClr val="C9AD7E"/>
            </a:solidFill>
          </a:ln>
        </p:spPr>
        <p:txBody>
          <a:bodyPr lIns="45718" tIns="45718" rIns="45718" bIns="45718"/>
          <a:lstStyle/>
          <a:p>
            <a:pPr/>
          </a:p>
        </p:txBody>
      </p:sp>
      <p:sp>
        <p:nvSpPr>
          <p:cNvPr id="124" name="relu-panel"/>
          <p:cNvSpPr/>
          <p:nvPr/>
        </p:nvSpPr>
        <p:spPr>
          <a:xfrm>
            <a:off x="457200" y="1647825"/>
            <a:ext cx="11277600" cy="4086225"/>
          </a:xfrm>
          <a:prstGeom prst="roundRect">
            <a:avLst>
              <a:gd name="adj" fmla="val 3730"/>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125" name="relu-equation"/>
          <p:cNvSpPr txBox="1"/>
          <p:nvPr/>
        </p:nvSpPr>
        <p:spPr>
          <a:xfrm>
            <a:off x="781050" y="2405494"/>
            <a:ext cx="5000625"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28282A"/>
                </a:solidFill>
                <a:latin typeface="Chalkboard"/>
                <a:ea typeface="Chalkboard"/>
                <a:cs typeface="Chalkboard"/>
                <a:sym typeface="Chalkboard"/>
              </a:defRPr>
            </a:lvl1pPr>
          </a:lstStyle>
          <a:p>
            <a:pPr/>
            <a:r>
              <a:t>ReLU(z) = max(0, z)</a:t>
            </a:r>
          </a:p>
        </p:txBody>
      </p:sp>
      <p:sp>
        <p:nvSpPr>
          <p:cNvPr id="126" name="relu-range-label"/>
          <p:cNvSpPr txBox="1"/>
          <p:nvPr/>
        </p:nvSpPr>
        <p:spPr>
          <a:xfrm>
            <a:off x="952500" y="3290563"/>
            <a:ext cx="1809750"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8E7052"/>
                </a:solidFill>
                <a:latin typeface="Chalkboard"/>
                <a:ea typeface="Chalkboard"/>
                <a:cs typeface="Chalkboard"/>
                <a:sym typeface="Chalkboard"/>
              </a:defRPr>
            </a:lvl1pPr>
          </a:lstStyle>
          <a:p>
            <a:pPr/>
            <a:r>
              <a:t>Output range</a:t>
            </a:r>
          </a:p>
        </p:txBody>
      </p:sp>
      <p:sp>
        <p:nvSpPr>
          <p:cNvPr id="127" name="relu-range-value"/>
          <p:cNvSpPr txBox="1"/>
          <p:nvPr/>
        </p:nvSpPr>
        <p:spPr>
          <a:xfrm>
            <a:off x="2952750" y="3271681"/>
            <a:ext cx="2381250" cy="2765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424548"/>
                </a:solidFill>
                <a:latin typeface="Chalkboard"/>
                <a:ea typeface="Chalkboard"/>
                <a:cs typeface="Chalkboard"/>
                <a:sym typeface="Chalkboard"/>
              </a:defRPr>
            </a:lvl1pPr>
          </a:lstStyle>
          <a:p>
            <a:pPr/>
            <a:r>
              <a:t>0 to ∞</a:t>
            </a:r>
          </a:p>
        </p:txBody>
      </p:sp>
      <p:sp>
        <p:nvSpPr>
          <p:cNvPr id="128" name="relu-role-label"/>
          <p:cNvSpPr txBox="1"/>
          <p:nvPr/>
        </p:nvSpPr>
        <p:spPr>
          <a:xfrm>
            <a:off x="952500" y="3900163"/>
            <a:ext cx="1809750"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8E7052"/>
                </a:solidFill>
                <a:latin typeface="Chalkboard"/>
                <a:ea typeface="Chalkboard"/>
                <a:cs typeface="Chalkboard"/>
                <a:sym typeface="Chalkboard"/>
              </a:defRPr>
            </a:lvl1pPr>
          </a:lstStyle>
          <a:p>
            <a:pPr/>
            <a:r>
              <a:t>Typical role</a:t>
            </a:r>
          </a:p>
        </p:txBody>
      </p:sp>
      <p:sp>
        <p:nvSpPr>
          <p:cNvPr id="129" name="relu-role-value"/>
          <p:cNvSpPr txBox="1"/>
          <p:nvPr/>
        </p:nvSpPr>
        <p:spPr>
          <a:xfrm>
            <a:off x="2952750" y="3900163"/>
            <a:ext cx="2714625"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24548"/>
                </a:solidFill>
                <a:latin typeface="Chalkboard"/>
                <a:ea typeface="Chalkboard"/>
                <a:cs typeface="Chalkboard"/>
                <a:sym typeface="Chalkboard"/>
              </a:defRPr>
            </a:lvl1pPr>
          </a:lstStyle>
          <a:p>
            <a:pPr/>
            <a:r>
              <a:t>Hidden layers</a:t>
            </a:r>
          </a:p>
        </p:txBody>
      </p:sp>
      <p:sp>
        <p:nvSpPr>
          <p:cNvPr id="130" name="relu-note"/>
          <p:cNvSpPr txBox="1"/>
          <p:nvPr/>
        </p:nvSpPr>
        <p:spPr>
          <a:xfrm>
            <a:off x="952500" y="4619625"/>
            <a:ext cx="4905375"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The bend at zero makes ReLU nonlinear.</a:t>
            </a:r>
          </a:p>
          <a:p>
            <a:pPr>
              <a:defRPr sz="1500">
                <a:solidFill>
                  <a:srgbClr val="424548"/>
                </a:solidFill>
                <a:latin typeface="Arial"/>
                <a:ea typeface="Arial"/>
                <a:cs typeface="Arial"/>
                <a:sym typeface="Arial"/>
              </a:defRPr>
            </a:pPr>
            <a:r>
              <a:t>This lets layers learn more complex relationships.</a:t>
            </a:r>
          </a:p>
        </p:txBody>
      </p:sp>
      <p:pic>
        <p:nvPicPr>
          <p:cNvPr id="131" name="image4.png" descr="image4.png"/>
          <p:cNvPicPr>
            <a:picLocks noChangeAspect="1"/>
          </p:cNvPicPr>
          <p:nvPr/>
        </p:nvPicPr>
        <p:blipFill>
          <a:blip r:embed="rId3">
            <a:extLst/>
          </a:blip>
          <a:stretch>
            <a:fillRect/>
          </a:stretch>
        </p:blipFill>
        <p:spPr>
          <a:xfrm>
            <a:off x="6119812" y="1952625"/>
            <a:ext cx="5000627" cy="3333750"/>
          </a:xfrm>
          <a:prstGeom prst="rect">
            <a:avLst/>
          </a:prstGeom>
          <a:ln w="12700">
            <a:miter lim="400000"/>
          </a:ln>
        </p:spPr>
      </p:pic>
      <p:sp>
        <p:nvSpPr>
          <p:cNvPr id="132" name="relu-footer-band"/>
          <p:cNvSpPr/>
          <p:nvPr/>
        </p:nvSpPr>
        <p:spPr>
          <a:xfrm>
            <a:off x="457200" y="5791200"/>
            <a:ext cx="11277600" cy="514350"/>
          </a:xfrm>
          <a:prstGeom prst="roundRect">
            <a:avLst>
              <a:gd name="adj" fmla="val 29630"/>
            </a:avLst>
          </a:prstGeom>
          <a:solidFill>
            <a:srgbClr val="F8E8B5"/>
          </a:solidFill>
          <a:ln w="12700">
            <a:miter lim="400000"/>
          </a:ln>
        </p:spPr>
        <p:txBody>
          <a:bodyPr lIns="0" tIns="0" rIns="0" bIns="0"/>
          <a:lstStyle/>
          <a:p>
            <a:pPr>
              <a:defRPr>
                <a:latin typeface="Calibri"/>
                <a:ea typeface="Calibri"/>
                <a:cs typeface="Calibri"/>
                <a:sym typeface="Calibri"/>
              </a:defRPr>
            </a:pPr>
          </a:p>
        </p:txBody>
      </p:sp>
      <p:sp>
        <p:nvSpPr>
          <p:cNvPr id="133" name="relu-footer-copy"/>
          <p:cNvSpPr txBox="1"/>
          <p:nvPr/>
        </p:nvSpPr>
        <p:spPr>
          <a:xfrm>
            <a:off x="638175" y="5895975"/>
            <a:ext cx="10906125"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62616A"/>
                </a:solidFill>
                <a:latin typeface="Arial"/>
                <a:ea typeface="Arial"/>
                <a:cs typeface="Arial"/>
                <a:sym typeface="Arial"/>
              </a:defRPr>
            </a:lvl1pPr>
          </a:lstStyle>
          <a:p>
            <a:pPr/>
            <a:r>
              <a:t>Examples: ReLU(−1.2) = 0, ReLU(0) = 0, ReLU(2.1) = 2.1</a:t>
            </a:r>
          </a:p>
        </p:txBody>
      </p:sp>
      <p:sp>
        <p:nvSpPr>
          <p:cNvPr id="134" name="relu-bottom-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35" name="relu-page"/>
          <p:cNvSpPr txBox="1"/>
          <p:nvPr/>
        </p:nvSpPr>
        <p:spPr>
          <a:xfrm>
            <a:off x="5810250" y="6526909"/>
            <a:ext cx="5715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12</a:t>
            </a:r>
          </a:p>
        </p:txBody>
      </p:sp>
      <p:sp>
        <p:nvSpPr>
          <p:cNvPr id="136" name="ReLU = rectified linear unit"/>
          <p:cNvSpPr txBox="1"/>
          <p:nvPr/>
        </p:nvSpPr>
        <p:spPr>
          <a:xfrm>
            <a:off x="952500" y="1828800"/>
            <a:ext cx="48577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ReLU = rectified linear unit</a:t>
            </a:r>
          </a:p>
        </p:txBody>
      </p:sp>
      <p:sp>
        <p:nvSpPr>
          <p:cNvPr id="137" name="a = ReLU(z)"/>
          <p:cNvSpPr txBox="1"/>
          <p:nvPr/>
        </p:nvSpPr>
        <p:spPr>
          <a:xfrm>
            <a:off x="8743950" y="1828800"/>
            <a:ext cx="2524125" cy="238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8E7052"/>
                </a:solidFill>
                <a:latin typeface="Chalkboard"/>
                <a:ea typeface="Chalkboard"/>
                <a:cs typeface="Chalkboard"/>
                <a:sym typeface="Chalkboard"/>
              </a:defRPr>
            </a:lvl1pPr>
          </a:lstStyle>
          <a:p>
            <a:pPr/>
            <a:r>
              <a:t>a = ReLU(z)</a:t>
            </a:r>
          </a:p>
        </p:txBody>
      </p:sp>
      <p:sp>
        <p:nvSpPr>
          <p:cNvPr id="138" name="z"/>
          <p:cNvSpPr txBox="1"/>
          <p:nvPr/>
        </p:nvSpPr>
        <p:spPr>
          <a:xfrm>
            <a:off x="10934700" y="4143375"/>
            <a:ext cx="361950"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424548"/>
                </a:solidFill>
                <a:latin typeface="Arial"/>
                <a:ea typeface="Arial"/>
                <a:cs typeface="Arial"/>
                <a:sym typeface="Arial"/>
              </a:defRPr>
            </a:lvl1pPr>
          </a:lstStyle>
          <a:p>
            <a:pPr/>
            <a:r>
              <a:t>z</a:t>
            </a:r>
          </a:p>
        </p:txBody>
      </p:sp>
      <p:sp>
        <p:nvSpPr>
          <p:cNvPr id="139" name="0"/>
          <p:cNvSpPr txBox="1"/>
          <p:nvPr/>
        </p:nvSpPr>
        <p:spPr>
          <a:xfrm>
            <a:off x="8362950" y="4105275"/>
            <a:ext cx="2286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0</a:t>
            </a:r>
          </a:p>
        </p:txBody>
      </p:sp>
      <p:sp>
        <p:nvSpPr>
          <p:cNvPr id="140" name="z ≤ 0: output 0"/>
          <p:cNvSpPr txBox="1"/>
          <p:nvPr/>
        </p:nvSpPr>
        <p:spPr>
          <a:xfrm>
            <a:off x="6477000" y="4343400"/>
            <a:ext cx="1952625" cy="238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8E7052"/>
                </a:solidFill>
                <a:latin typeface="Chalkboard"/>
                <a:ea typeface="Chalkboard"/>
                <a:cs typeface="Chalkboard"/>
                <a:sym typeface="Chalkboard"/>
              </a:defRPr>
            </a:lvl1pPr>
          </a:lstStyle>
          <a:p>
            <a:pPr/>
            <a:r>
              <a:t>z ≤ 0: output 0</a:t>
            </a:r>
          </a:p>
        </p:txBody>
      </p:sp>
      <p:sp>
        <p:nvSpPr>
          <p:cNvPr id="141" name="z &gt; 0: output z"/>
          <p:cNvSpPr txBox="1"/>
          <p:nvPr/>
        </p:nvSpPr>
        <p:spPr>
          <a:xfrm>
            <a:off x="9039225" y="4343400"/>
            <a:ext cx="2362200" cy="238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8E7052"/>
                </a:solidFill>
                <a:latin typeface="Chalkboard"/>
                <a:ea typeface="Chalkboard"/>
                <a:cs typeface="Chalkboard"/>
                <a:sym typeface="Chalkboard"/>
              </a:defRPr>
            </a:lvl1pPr>
          </a:lstStyle>
          <a:p>
            <a:pPr/>
            <a:r>
              <a:t>z &gt; 0: output z</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145" name="sigmoid-title"/>
          <p:cNvSpPr txBox="1"/>
          <p:nvPr/>
        </p:nvSpPr>
        <p:spPr>
          <a:xfrm>
            <a:off x="515656" y="438861"/>
            <a:ext cx="10906126"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Sigmoid maps scores to probabilities</a:t>
            </a:r>
          </a:p>
        </p:txBody>
      </p:sp>
      <p:sp>
        <p:nvSpPr>
          <p:cNvPr id="146" name="sigmoid-subtitle"/>
          <p:cNvSpPr txBox="1"/>
          <p:nvPr/>
        </p:nvSpPr>
        <p:spPr>
          <a:xfrm>
            <a:off x="628650" y="1289197"/>
            <a:ext cx="10906125"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The output changes smoothly from 0 to 1, which fits binary classification.</a:t>
            </a:r>
          </a:p>
        </p:txBody>
      </p:sp>
      <p:sp>
        <p:nvSpPr>
          <p:cNvPr id="147" name="sigmoid-accent-line"/>
          <p:cNvSpPr/>
          <p:nvPr/>
        </p:nvSpPr>
        <p:spPr>
          <a:xfrm>
            <a:off x="628650" y="1562100"/>
            <a:ext cx="2028826" cy="0"/>
          </a:xfrm>
          <a:prstGeom prst="line">
            <a:avLst/>
          </a:prstGeom>
          <a:ln w="14288">
            <a:solidFill>
              <a:srgbClr val="C9AD7E"/>
            </a:solidFill>
          </a:ln>
        </p:spPr>
        <p:txBody>
          <a:bodyPr lIns="45718" tIns="45718" rIns="45718" bIns="45718"/>
          <a:lstStyle/>
          <a:p>
            <a:pPr/>
          </a:p>
        </p:txBody>
      </p:sp>
      <p:sp>
        <p:nvSpPr>
          <p:cNvPr id="148" name="sigmoid-panel"/>
          <p:cNvSpPr/>
          <p:nvPr/>
        </p:nvSpPr>
        <p:spPr>
          <a:xfrm>
            <a:off x="457200" y="1647825"/>
            <a:ext cx="11277600" cy="4086225"/>
          </a:xfrm>
          <a:prstGeom prst="roundRect">
            <a:avLst>
              <a:gd name="adj" fmla="val 3730"/>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149" name="sigmoid-equation"/>
          <p:cNvSpPr txBox="1"/>
          <p:nvPr/>
        </p:nvSpPr>
        <p:spPr>
          <a:xfrm>
            <a:off x="781050" y="2399225"/>
            <a:ext cx="5000625" cy="4021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28282A"/>
                </a:solidFill>
                <a:latin typeface="Chalkboard"/>
                <a:ea typeface="Chalkboard"/>
                <a:cs typeface="Chalkboard"/>
                <a:sym typeface="Chalkboard"/>
              </a:defRPr>
            </a:lvl1pPr>
          </a:lstStyle>
          <a:p>
            <a:pPr/>
            <a:r>
              <a:t>σ(z) = 1 / (1 + e⁻ᶻ)</a:t>
            </a:r>
          </a:p>
        </p:txBody>
      </p:sp>
      <p:sp>
        <p:nvSpPr>
          <p:cNvPr id="150" name="sigmoid-range-label"/>
          <p:cNvSpPr txBox="1"/>
          <p:nvPr/>
        </p:nvSpPr>
        <p:spPr>
          <a:xfrm>
            <a:off x="952500" y="3290563"/>
            <a:ext cx="1809750"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8E7052"/>
                </a:solidFill>
                <a:latin typeface="Chalkboard"/>
                <a:ea typeface="Chalkboard"/>
                <a:cs typeface="Chalkboard"/>
                <a:sym typeface="Chalkboard"/>
              </a:defRPr>
            </a:lvl1pPr>
          </a:lstStyle>
          <a:p>
            <a:pPr/>
            <a:r>
              <a:t>Output range</a:t>
            </a:r>
          </a:p>
        </p:txBody>
      </p:sp>
      <p:sp>
        <p:nvSpPr>
          <p:cNvPr id="151" name="sigmoid-range-value"/>
          <p:cNvSpPr txBox="1"/>
          <p:nvPr/>
        </p:nvSpPr>
        <p:spPr>
          <a:xfrm>
            <a:off x="2952750" y="3271681"/>
            <a:ext cx="2381250" cy="2765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424548"/>
                </a:solidFill>
                <a:latin typeface="Chalkboard"/>
                <a:ea typeface="Chalkboard"/>
                <a:cs typeface="Chalkboard"/>
                <a:sym typeface="Chalkboard"/>
              </a:defRPr>
            </a:lvl1pPr>
          </a:lstStyle>
          <a:p>
            <a:pPr/>
            <a:r>
              <a:t>0 to 1</a:t>
            </a:r>
          </a:p>
        </p:txBody>
      </p:sp>
      <p:sp>
        <p:nvSpPr>
          <p:cNvPr id="152" name="sigmoid-role-label"/>
          <p:cNvSpPr txBox="1"/>
          <p:nvPr/>
        </p:nvSpPr>
        <p:spPr>
          <a:xfrm>
            <a:off x="952500" y="3900163"/>
            <a:ext cx="1809750"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8E7052"/>
                </a:solidFill>
                <a:latin typeface="Chalkboard"/>
                <a:ea typeface="Chalkboard"/>
                <a:cs typeface="Chalkboard"/>
                <a:sym typeface="Chalkboard"/>
              </a:defRPr>
            </a:lvl1pPr>
          </a:lstStyle>
          <a:p>
            <a:pPr/>
            <a:r>
              <a:t>Typical role</a:t>
            </a:r>
          </a:p>
        </p:txBody>
      </p:sp>
      <p:sp>
        <p:nvSpPr>
          <p:cNvPr id="153" name="sigmoid-role-value"/>
          <p:cNvSpPr txBox="1"/>
          <p:nvPr/>
        </p:nvSpPr>
        <p:spPr>
          <a:xfrm>
            <a:off x="2952750" y="3900163"/>
            <a:ext cx="2714625"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24548"/>
                </a:solidFill>
                <a:latin typeface="Chalkboard"/>
                <a:ea typeface="Chalkboard"/>
                <a:cs typeface="Chalkboard"/>
                <a:sym typeface="Chalkboard"/>
              </a:defRPr>
            </a:lvl1pPr>
          </a:lstStyle>
          <a:p>
            <a:pPr/>
            <a:r>
              <a:t>Binary output layer</a:t>
            </a:r>
          </a:p>
        </p:txBody>
      </p:sp>
      <p:sp>
        <p:nvSpPr>
          <p:cNvPr id="154" name="sigmoid-note"/>
          <p:cNvSpPr txBox="1"/>
          <p:nvPr/>
        </p:nvSpPr>
        <p:spPr>
          <a:xfrm>
            <a:off x="952500" y="4572000"/>
            <a:ext cx="4762500" cy="641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z is the score before activation.</a:t>
            </a:r>
          </a:p>
          <a:p>
            <a:pPr>
              <a:defRPr sz="1500">
                <a:solidFill>
                  <a:srgbClr val="424548"/>
                </a:solidFill>
                <a:latin typeface="Arial"/>
                <a:ea typeface="Arial"/>
                <a:cs typeface="Arial"/>
                <a:sym typeface="Arial"/>
              </a:defRPr>
            </a:pPr>
            <a:r>
              <a:t>Negative scores favor class 0.</a:t>
            </a:r>
          </a:p>
          <a:p>
            <a:pPr>
              <a:defRPr sz="1500">
                <a:solidFill>
                  <a:srgbClr val="424548"/>
                </a:solidFill>
                <a:latin typeface="Arial"/>
                <a:ea typeface="Arial"/>
                <a:cs typeface="Arial"/>
                <a:sym typeface="Arial"/>
              </a:defRPr>
            </a:pPr>
            <a:r>
              <a:t>Positive scores favor class 1.</a:t>
            </a:r>
          </a:p>
        </p:txBody>
      </p:sp>
      <p:pic>
        <p:nvPicPr>
          <p:cNvPr id="155" name="image5.png" descr="image5.png"/>
          <p:cNvPicPr>
            <a:picLocks noChangeAspect="1"/>
          </p:cNvPicPr>
          <p:nvPr/>
        </p:nvPicPr>
        <p:blipFill>
          <a:blip r:embed="rId3">
            <a:extLst/>
          </a:blip>
          <a:stretch>
            <a:fillRect/>
          </a:stretch>
        </p:blipFill>
        <p:spPr>
          <a:xfrm>
            <a:off x="6119812" y="1952625"/>
            <a:ext cx="5000627" cy="3333750"/>
          </a:xfrm>
          <a:prstGeom prst="rect">
            <a:avLst/>
          </a:prstGeom>
          <a:ln w="12700">
            <a:miter lim="400000"/>
          </a:ln>
        </p:spPr>
      </p:pic>
      <p:sp>
        <p:nvSpPr>
          <p:cNvPr id="156" name="sigmoid-footer-band"/>
          <p:cNvSpPr/>
          <p:nvPr/>
        </p:nvSpPr>
        <p:spPr>
          <a:xfrm>
            <a:off x="457200" y="5791200"/>
            <a:ext cx="11277600" cy="514350"/>
          </a:xfrm>
          <a:prstGeom prst="roundRect">
            <a:avLst>
              <a:gd name="adj" fmla="val 29630"/>
            </a:avLst>
          </a:prstGeom>
          <a:solidFill>
            <a:srgbClr val="F8E8B5"/>
          </a:solidFill>
          <a:ln w="12700">
            <a:miter lim="400000"/>
          </a:ln>
        </p:spPr>
        <p:txBody>
          <a:bodyPr lIns="0" tIns="0" rIns="0" bIns="0"/>
          <a:lstStyle/>
          <a:p>
            <a:pPr>
              <a:defRPr>
                <a:latin typeface="Calibri"/>
                <a:ea typeface="Calibri"/>
                <a:cs typeface="Calibri"/>
                <a:sym typeface="Calibri"/>
              </a:defRPr>
            </a:pPr>
          </a:p>
        </p:txBody>
      </p:sp>
      <p:sp>
        <p:nvSpPr>
          <p:cNvPr id="157" name="sigmoid-footer-copy"/>
          <p:cNvSpPr txBox="1"/>
          <p:nvPr/>
        </p:nvSpPr>
        <p:spPr>
          <a:xfrm>
            <a:off x="638175" y="5895975"/>
            <a:ext cx="1090612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Example: a score z ≈ 2.75 gives p ≈ 0.94. A threshold then chooses the class.</a:t>
            </a:r>
          </a:p>
        </p:txBody>
      </p:sp>
      <p:sp>
        <p:nvSpPr>
          <p:cNvPr id="158" name="sigmoid-bottom-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59" name="sigmoid-page"/>
          <p:cNvSpPr txBox="1"/>
          <p:nvPr/>
        </p:nvSpPr>
        <p:spPr>
          <a:xfrm>
            <a:off x="5810250" y="6526909"/>
            <a:ext cx="5715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13</a:t>
            </a:r>
          </a:p>
        </p:txBody>
      </p:sp>
      <p:sp>
        <p:nvSpPr>
          <p:cNvPr id="160" name="Sigmoid output"/>
          <p:cNvSpPr txBox="1"/>
          <p:nvPr/>
        </p:nvSpPr>
        <p:spPr>
          <a:xfrm>
            <a:off x="790575" y="1838325"/>
            <a:ext cx="519112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87B95"/>
                </a:solidFill>
                <a:latin typeface="Chalkboard"/>
                <a:ea typeface="Chalkboard"/>
                <a:cs typeface="Chalkboard"/>
                <a:sym typeface="Chalkboard"/>
              </a:defRPr>
            </a:lvl1pPr>
          </a:lstStyle>
          <a:p>
            <a:pPr/>
            <a:r>
              <a:t>Sigmoid output</a:t>
            </a:r>
          </a:p>
        </p:txBody>
      </p:sp>
      <p:sp>
        <p:nvSpPr>
          <p:cNvPr id="161" name="p = σ(z)"/>
          <p:cNvSpPr txBox="1"/>
          <p:nvPr/>
        </p:nvSpPr>
        <p:spPr>
          <a:xfrm>
            <a:off x="8791575" y="1857375"/>
            <a:ext cx="2295525" cy="2723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87B95"/>
                </a:solidFill>
                <a:latin typeface="Chalkboard"/>
                <a:ea typeface="Chalkboard"/>
                <a:cs typeface="Chalkboard"/>
                <a:sym typeface="Chalkboard"/>
              </a:defRPr>
            </a:lvl1pPr>
          </a:lstStyle>
          <a:p>
            <a:pPr/>
            <a:r>
              <a:t>p = σ(z)</a:t>
            </a:r>
          </a:p>
        </p:txBody>
      </p:sp>
      <p:sp>
        <p:nvSpPr>
          <p:cNvPr id="162" name="z"/>
          <p:cNvSpPr txBox="1"/>
          <p:nvPr/>
        </p:nvSpPr>
        <p:spPr>
          <a:xfrm>
            <a:off x="10991850" y="4324350"/>
            <a:ext cx="30480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424548"/>
                </a:solidFill>
                <a:latin typeface="Arial"/>
                <a:ea typeface="Arial"/>
                <a:cs typeface="Arial"/>
                <a:sym typeface="Arial"/>
              </a:defRPr>
            </a:lvl1pPr>
          </a:lstStyle>
          <a:p>
            <a:pPr/>
            <a:r>
              <a:t>z</a:t>
            </a:r>
          </a:p>
        </p:txBody>
      </p:sp>
      <p:sp>
        <p:nvSpPr>
          <p:cNvPr id="163" name="0.5"/>
          <p:cNvSpPr txBox="1"/>
          <p:nvPr/>
        </p:nvSpPr>
        <p:spPr>
          <a:xfrm>
            <a:off x="8201025" y="3371850"/>
            <a:ext cx="447675"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0.5</a:t>
            </a:r>
          </a:p>
        </p:txBody>
      </p:sp>
      <p:sp>
        <p:nvSpPr>
          <p:cNvPr id="164" name="1"/>
          <p:cNvSpPr txBox="1"/>
          <p:nvPr/>
        </p:nvSpPr>
        <p:spPr>
          <a:xfrm>
            <a:off x="10906125" y="2505075"/>
            <a:ext cx="257175"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1</a:t>
            </a:r>
          </a:p>
        </p:txBody>
      </p:sp>
      <p:sp>
        <p:nvSpPr>
          <p:cNvPr id="165" name="0"/>
          <p:cNvSpPr txBox="1"/>
          <p:nvPr/>
        </p:nvSpPr>
        <p:spPr>
          <a:xfrm>
            <a:off x="6181725" y="4248150"/>
            <a:ext cx="2667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0</a:t>
            </a:r>
          </a:p>
        </p:txBody>
      </p:sp>
      <p:sp>
        <p:nvSpPr>
          <p:cNvPr id="166" name="z = 0"/>
          <p:cNvSpPr txBox="1"/>
          <p:nvPr/>
        </p:nvSpPr>
        <p:spPr>
          <a:xfrm>
            <a:off x="8420100" y="5219700"/>
            <a:ext cx="9906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z = 0</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170" name="tanh-title"/>
          <p:cNvSpPr txBox="1"/>
          <p:nvPr/>
        </p:nvSpPr>
        <p:spPr>
          <a:xfrm>
            <a:off x="628650" y="520788"/>
            <a:ext cx="10906125" cy="4443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Tanh centers activations around zero</a:t>
            </a:r>
          </a:p>
        </p:txBody>
      </p:sp>
      <p:sp>
        <p:nvSpPr>
          <p:cNvPr id="171" name="tanh-subtitle"/>
          <p:cNvSpPr txBox="1"/>
          <p:nvPr/>
        </p:nvSpPr>
        <p:spPr>
          <a:xfrm>
            <a:off x="628650" y="1289197"/>
            <a:ext cx="10906125"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The output stays between −1 and 1, preserving the sign of the weighted sum.</a:t>
            </a:r>
          </a:p>
        </p:txBody>
      </p:sp>
      <p:sp>
        <p:nvSpPr>
          <p:cNvPr id="172" name="tanh-accent-line"/>
          <p:cNvSpPr/>
          <p:nvPr/>
        </p:nvSpPr>
        <p:spPr>
          <a:xfrm>
            <a:off x="628650" y="1562100"/>
            <a:ext cx="2028826" cy="0"/>
          </a:xfrm>
          <a:prstGeom prst="line">
            <a:avLst/>
          </a:prstGeom>
          <a:ln w="14288">
            <a:solidFill>
              <a:srgbClr val="C9AD7E"/>
            </a:solidFill>
          </a:ln>
        </p:spPr>
        <p:txBody>
          <a:bodyPr lIns="45718" tIns="45718" rIns="45718" bIns="45718"/>
          <a:lstStyle/>
          <a:p>
            <a:pPr/>
          </a:p>
        </p:txBody>
      </p:sp>
      <p:sp>
        <p:nvSpPr>
          <p:cNvPr id="173" name="tanh-panel"/>
          <p:cNvSpPr/>
          <p:nvPr/>
        </p:nvSpPr>
        <p:spPr>
          <a:xfrm>
            <a:off x="457200" y="1647825"/>
            <a:ext cx="11277600" cy="4086225"/>
          </a:xfrm>
          <a:prstGeom prst="roundRect">
            <a:avLst>
              <a:gd name="adj" fmla="val 3730"/>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174" name="tanh-equation"/>
          <p:cNvSpPr txBox="1"/>
          <p:nvPr/>
        </p:nvSpPr>
        <p:spPr>
          <a:xfrm>
            <a:off x="781050" y="2390775"/>
            <a:ext cx="5000625"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100">
                <a:solidFill>
                  <a:srgbClr val="28282A"/>
                </a:solidFill>
                <a:latin typeface="Chalkboard"/>
                <a:ea typeface="Chalkboard"/>
                <a:cs typeface="Chalkboard"/>
                <a:sym typeface="Chalkboard"/>
              </a:defRPr>
            </a:lvl1pPr>
          </a:lstStyle>
          <a:p>
            <a:pPr/>
            <a:r>
              <a:t>tanh(z) = (eᶻ − e⁻ᶻ) / (eᶻ + e⁻ᶻ)</a:t>
            </a:r>
          </a:p>
        </p:txBody>
      </p:sp>
      <p:sp>
        <p:nvSpPr>
          <p:cNvPr id="175" name="tanh-range-label"/>
          <p:cNvSpPr txBox="1"/>
          <p:nvPr/>
        </p:nvSpPr>
        <p:spPr>
          <a:xfrm>
            <a:off x="952500" y="3290563"/>
            <a:ext cx="1809750"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8E7052"/>
                </a:solidFill>
                <a:latin typeface="Chalkboard"/>
                <a:ea typeface="Chalkboard"/>
                <a:cs typeface="Chalkboard"/>
                <a:sym typeface="Chalkboard"/>
              </a:defRPr>
            </a:lvl1pPr>
          </a:lstStyle>
          <a:p>
            <a:pPr/>
            <a:r>
              <a:t>Output range</a:t>
            </a:r>
          </a:p>
        </p:txBody>
      </p:sp>
      <p:sp>
        <p:nvSpPr>
          <p:cNvPr id="176" name="tanh-range-value"/>
          <p:cNvSpPr txBox="1"/>
          <p:nvPr/>
        </p:nvSpPr>
        <p:spPr>
          <a:xfrm>
            <a:off x="2952750" y="3238500"/>
            <a:ext cx="2381250" cy="3429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700">
                <a:solidFill>
                  <a:srgbClr val="424548"/>
                </a:solidFill>
                <a:latin typeface="Chalkboard"/>
                <a:ea typeface="Chalkboard"/>
                <a:cs typeface="Chalkboard"/>
                <a:sym typeface="Chalkboard"/>
              </a:defRPr>
            </a:lvl1pPr>
          </a:lstStyle>
          <a:p>
            <a:pPr/>
            <a:r>
              <a:t>−1 to 1</a:t>
            </a:r>
          </a:p>
        </p:txBody>
      </p:sp>
      <p:sp>
        <p:nvSpPr>
          <p:cNvPr id="177" name="tanh-role-label"/>
          <p:cNvSpPr txBox="1"/>
          <p:nvPr/>
        </p:nvSpPr>
        <p:spPr>
          <a:xfrm>
            <a:off x="952500" y="3900163"/>
            <a:ext cx="1809750"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8E7052"/>
                </a:solidFill>
                <a:latin typeface="Chalkboard"/>
                <a:ea typeface="Chalkboard"/>
                <a:cs typeface="Chalkboard"/>
                <a:sym typeface="Chalkboard"/>
              </a:defRPr>
            </a:lvl1pPr>
          </a:lstStyle>
          <a:p>
            <a:pPr/>
            <a:r>
              <a:t>Typical role</a:t>
            </a:r>
          </a:p>
        </p:txBody>
      </p:sp>
      <p:sp>
        <p:nvSpPr>
          <p:cNvPr id="178" name="tanh-role-value"/>
          <p:cNvSpPr txBox="1"/>
          <p:nvPr/>
        </p:nvSpPr>
        <p:spPr>
          <a:xfrm>
            <a:off x="2952750" y="3900163"/>
            <a:ext cx="2714625" cy="2387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424548"/>
                </a:solidFill>
                <a:latin typeface="Chalkboard"/>
                <a:ea typeface="Chalkboard"/>
                <a:cs typeface="Chalkboard"/>
                <a:sym typeface="Chalkboard"/>
              </a:defRPr>
            </a:lvl1pPr>
          </a:lstStyle>
          <a:p>
            <a:pPr/>
            <a:r>
              <a:t>Alternative hidden layers</a:t>
            </a:r>
          </a:p>
        </p:txBody>
      </p:sp>
      <p:sp>
        <p:nvSpPr>
          <p:cNvPr id="179" name="tanh-note"/>
          <p:cNvSpPr txBox="1"/>
          <p:nvPr/>
        </p:nvSpPr>
        <p:spPr>
          <a:xfrm>
            <a:off x="952500" y="4591050"/>
            <a:ext cx="4857750" cy="641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Tanh keeps positive and negative signals.</a:t>
            </a:r>
          </a:p>
          <a:p>
            <a:pPr>
              <a:defRPr sz="1500">
                <a:solidFill>
                  <a:srgbClr val="424548"/>
                </a:solidFill>
                <a:latin typeface="Arial"/>
                <a:ea typeface="Arial"/>
                <a:cs typeface="Arial"/>
                <a:sym typeface="Arial"/>
              </a:defRPr>
            </a:pPr>
            <a:r>
              <a:t>At large |z|, the curve flattens and</a:t>
            </a:r>
          </a:p>
          <a:p>
            <a:pPr>
              <a:defRPr sz="1500">
                <a:solidFill>
                  <a:srgbClr val="424548"/>
                </a:solidFill>
                <a:latin typeface="Arial"/>
                <a:ea typeface="Arial"/>
                <a:cs typeface="Arial"/>
                <a:sym typeface="Arial"/>
              </a:defRPr>
            </a:pPr>
            <a:r>
              <a:t>gradients become small.</a:t>
            </a:r>
          </a:p>
        </p:txBody>
      </p:sp>
      <p:pic>
        <p:nvPicPr>
          <p:cNvPr id="180" name="image6.png" descr="image6.png"/>
          <p:cNvPicPr>
            <a:picLocks noChangeAspect="1"/>
          </p:cNvPicPr>
          <p:nvPr/>
        </p:nvPicPr>
        <p:blipFill>
          <a:blip r:embed="rId3">
            <a:extLst/>
          </a:blip>
          <a:stretch>
            <a:fillRect/>
          </a:stretch>
        </p:blipFill>
        <p:spPr>
          <a:xfrm>
            <a:off x="5953125" y="2286000"/>
            <a:ext cx="5334000" cy="2667000"/>
          </a:xfrm>
          <a:prstGeom prst="rect">
            <a:avLst/>
          </a:prstGeom>
          <a:ln w="12700">
            <a:miter lim="400000"/>
          </a:ln>
        </p:spPr>
      </p:pic>
      <p:sp>
        <p:nvSpPr>
          <p:cNvPr id="181" name="tanh-footer-band"/>
          <p:cNvSpPr/>
          <p:nvPr/>
        </p:nvSpPr>
        <p:spPr>
          <a:xfrm>
            <a:off x="457200" y="5791200"/>
            <a:ext cx="11277600" cy="514350"/>
          </a:xfrm>
          <a:prstGeom prst="roundRect">
            <a:avLst>
              <a:gd name="adj" fmla="val 29630"/>
            </a:avLst>
          </a:prstGeom>
          <a:solidFill>
            <a:srgbClr val="F8E8B5"/>
          </a:solidFill>
          <a:ln w="12700">
            <a:miter lim="400000"/>
          </a:ln>
        </p:spPr>
        <p:txBody>
          <a:bodyPr lIns="0" tIns="0" rIns="0" bIns="0"/>
          <a:lstStyle/>
          <a:p>
            <a:pPr>
              <a:defRPr>
                <a:latin typeface="Calibri"/>
                <a:ea typeface="Calibri"/>
                <a:cs typeface="Calibri"/>
                <a:sym typeface="Calibri"/>
              </a:defRPr>
            </a:pPr>
          </a:p>
        </p:txBody>
      </p:sp>
      <p:sp>
        <p:nvSpPr>
          <p:cNvPr id="182" name="tanh-footer-copy"/>
          <p:cNvSpPr txBox="1"/>
          <p:nvPr/>
        </p:nvSpPr>
        <p:spPr>
          <a:xfrm>
            <a:off x="638175" y="5895975"/>
            <a:ext cx="10906125"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62616A"/>
                </a:solidFill>
                <a:latin typeface="Arial"/>
                <a:ea typeface="Arial"/>
                <a:cs typeface="Arial"/>
                <a:sym typeface="Arial"/>
              </a:defRPr>
            </a:lvl1pPr>
          </a:lstStyle>
          <a:p>
            <a:pPr/>
            <a:r>
              <a:t>Examples: tanh(−1) ≈ −0.76, tanh(0) = 0, tanh(1) ≈ 0.76</a:t>
            </a:r>
          </a:p>
        </p:txBody>
      </p:sp>
      <p:sp>
        <p:nvSpPr>
          <p:cNvPr id="183" name="tanh-bottom-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184" name="tanh-page"/>
          <p:cNvSpPr txBox="1"/>
          <p:nvPr/>
        </p:nvSpPr>
        <p:spPr>
          <a:xfrm>
            <a:off x="5810250" y="6526909"/>
            <a:ext cx="5715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14</a:t>
            </a:r>
          </a:p>
        </p:txBody>
      </p:sp>
      <p:sp>
        <p:nvSpPr>
          <p:cNvPr id="185" name="Tanh = hyperbolic tangent"/>
          <p:cNvSpPr txBox="1"/>
          <p:nvPr/>
        </p:nvSpPr>
        <p:spPr>
          <a:xfrm>
            <a:off x="952500" y="1838325"/>
            <a:ext cx="4857750" cy="2765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8754A0"/>
                </a:solidFill>
                <a:latin typeface="Chalkboard"/>
                <a:ea typeface="Chalkboard"/>
                <a:cs typeface="Chalkboard"/>
                <a:sym typeface="Chalkboard"/>
              </a:defRPr>
            </a:lvl1pPr>
          </a:lstStyle>
          <a:p>
            <a:pPr/>
            <a:r>
              <a:t>Tanh = hyperbolic tangent</a:t>
            </a:r>
          </a:p>
        </p:txBody>
      </p:sp>
      <p:sp>
        <p:nvSpPr>
          <p:cNvPr id="186" name="a = tanh(z)"/>
          <p:cNvSpPr txBox="1"/>
          <p:nvPr/>
        </p:nvSpPr>
        <p:spPr>
          <a:xfrm>
            <a:off x="8829675" y="1905000"/>
            <a:ext cx="2305050"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8754A0"/>
                </a:solidFill>
                <a:latin typeface="Chalkboard"/>
                <a:ea typeface="Chalkboard"/>
                <a:cs typeface="Chalkboard"/>
                <a:sym typeface="Chalkboard"/>
              </a:defRPr>
            </a:lvl1pPr>
          </a:lstStyle>
          <a:p>
            <a:pPr/>
            <a:r>
              <a:t>a = tanh(z)</a:t>
            </a:r>
          </a:p>
        </p:txBody>
      </p:sp>
      <p:sp>
        <p:nvSpPr>
          <p:cNvPr id="187" name="+1"/>
          <p:cNvSpPr txBox="1"/>
          <p:nvPr/>
        </p:nvSpPr>
        <p:spPr>
          <a:xfrm>
            <a:off x="8191500" y="2667000"/>
            <a:ext cx="4572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+1</a:t>
            </a:r>
          </a:p>
        </p:txBody>
      </p:sp>
      <p:sp>
        <p:nvSpPr>
          <p:cNvPr id="188" name="−1"/>
          <p:cNvSpPr txBox="1"/>
          <p:nvPr/>
        </p:nvSpPr>
        <p:spPr>
          <a:xfrm>
            <a:off x="8191500" y="4333875"/>
            <a:ext cx="4572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−1</a:t>
            </a:r>
          </a:p>
        </p:txBody>
      </p:sp>
      <p:sp>
        <p:nvSpPr>
          <p:cNvPr id="189" name="0"/>
          <p:cNvSpPr txBox="1"/>
          <p:nvPr/>
        </p:nvSpPr>
        <p:spPr>
          <a:xfrm>
            <a:off x="8353425" y="3676650"/>
            <a:ext cx="2667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0</a:t>
            </a:r>
          </a:p>
        </p:txBody>
      </p:sp>
      <p:sp>
        <p:nvSpPr>
          <p:cNvPr id="190" name="z"/>
          <p:cNvSpPr txBox="1"/>
          <p:nvPr/>
        </p:nvSpPr>
        <p:spPr>
          <a:xfrm>
            <a:off x="11220450" y="3686175"/>
            <a:ext cx="2857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424548"/>
                </a:solidFill>
                <a:latin typeface="Arial"/>
                <a:ea typeface="Arial"/>
                <a:cs typeface="Arial"/>
                <a:sym typeface="Arial"/>
              </a:defRPr>
            </a:lvl1pPr>
          </a:lstStyle>
          <a:p>
            <a:pPr/>
            <a:r>
              <a:t>z</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194" name="Weights control each input’s influence"/>
          <p:cNvSpPr txBox="1"/>
          <p:nvPr/>
        </p:nvSpPr>
        <p:spPr>
          <a:xfrm>
            <a:off x="-3277377" y="508179"/>
            <a:ext cx="10953751" cy="4443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3100">
                <a:solidFill>
                  <a:srgbClr val="28282A"/>
                </a:solidFill>
                <a:latin typeface="Arial"/>
                <a:ea typeface="Arial"/>
                <a:cs typeface="Arial"/>
                <a:sym typeface="Arial"/>
              </a:defRPr>
            </a:lvl1pPr>
          </a:lstStyle>
          <a:p>
            <a:pPr/>
            <a:r>
              <a:t>Weights control each input’s influence</a:t>
            </a:r>
          </a:p>
        </p:txBody>
      </p:sp>
      <p:sp>
        <p:nvSpPr>
          <p:cNvPr id="195" name="A weight controls how strongly an input affects the weighted sum."/>
          <p:cNvSpPr txBox="1"/>
          <p:nvPr/>
        </p:nvSpPr>
        <p:spPr>
          <a:xfrm>
            <a:off x="-4029075" y="1199319"/>
            <a:ext cx="10934701"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62616A"/>
                </a:solidFill>
                <a:latin typeface="Arial"/>
                <a:ea typeface="Arial"/>
                <a:cs typeface="Arial"/>
                <a:sym typeface="Arial"/>
              </a:defRPr>
            </a:lvl1pPr>
          </a:lstStyle>
          <a:p>
            <a:pPr/>
            <a:r>
              <a:t>A weight controls how strongly an input affects the weighted sum.</a:t>
            </a:r>
          </a:p>
        </p:txBody>
      </p:sp>
      <p:sp>
        <p:nvSpPr>
          <p:cNvPr id="196" name="Line"/>
          <p:cNvSpPr/>
          <p:nvPr/>
        </p:nvSpPr>
        <p:spPr>
          <a:xfrm>
            <a:off x="628650" y="1619250"/>
            <a:ext cx="1619250" cy="0"/>
          </a:xfrm>
          <a:prstGeom prst="line">
            <a:avLst/>
          </a:prstGeom>
          <a:ln w="13334">
            <a:solidFill>
              <a:srgbClr val="D8B16C"/>
            </a:solidFill>
          </a:ln>
        </p:spPr>
        <p:txBody>
          <a:bodyPr lIns="45718" tIns="45718" rIns="45718" bIns="45718"/>
          <a:lstStyle/>
          <a:p>
            <a:pPr/>
          </a:p>
        </p:txBody>
      </p:sp>
      <p:sp>
        <p:nvSpPr>
          <p:cNvPr id="197" name="z = w₁x₁ + w₂x₂ + ⋯ + wₙxₙ + b"/>
          <p:cNvSpPr txBox="1"/>
          <p:nvPr/>
        </p:nvSpPr>
        <p:spPr>
          <a:xfrm>
            <a:off x="723900" y="1809750"/>
            <a:ext cx="10744200" cy="482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400">
                <a:solidFill>
                  <a:srgbClr val="287B95"/>
                </a:solidFill>
                <a:latin typeface="Chalkboard"/>
                <a:ea typeface="Chalkboard"/>
                <a:cs typeface="Chalkboard"/>
                <a:sym typeface="Chalkboard"/>
              </a:defRPr>
            </a:lvl1pPr>
          </a:lstStyle>
          <a:p>
            <a:pPr/>
            <a:r>
              <a:t>z = w₁x₁ + w₂x₂ + ⋯ + wₙxₙ + b</a:t>
            </a:r>
          </a:p>
        </p:txBody>
      </p:sp>
      <p:sp>
        <p:nvSpPr>
          <p:cNvPr id="198" name="x = input      w = weight      b = bias"/>
          <p:cNvSpPr txBox="1"/>
          <p:nvPr/>
        </p:nvSpPr>
        <p:spPr>
          <a:xfrm>
            <a:off x="723900" y="2286000"/>
            <a:ext cx="107442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x = input      w = weight      b = bias</a:t>
            </a:r>
          </a:p>
        </p:txBody>
      </p:sp>
      <p:sp>
        <p:nvSpPr>
          <p:cNvPr id="199" name="Size and direction"/>
          <p:cNvSpPr txBox="1"/>
          <p:nvPr/>
        </p:nvSpPr>
        <p:spPr>
          <a:xfrm>
            <a:off x="723900" y="2971800"/>
            <a:ext cx="54292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8E7052"/>
                </a:solidFill>
                <a:latin typeface="Chalkboard"/>
                <a:ea typeface="Chalkboard"/>
                <a:cs typeface="Chalkboard"/>
                <a:sym typeface="Chalkboard"/>
              </a:defRPr>
            </a:lvl1pPr>
          </a:lstStyle>
          <a:p>
            <a:pPr/>
            <a:r>
              <a:t>Size and direction</a:t>
            </a:r>
          </a:p>
        </p:txBody>
      </p:sp>
      <p:sp>
        <p:nvSpPr>
          <p:cNvPr id="200" name="Positive weight: increasing x raises z.…"/>
          <p:cNvSpPr txBox="1"/>
          <p:nvPr/>
        </p:nvSpPr>
        <p:spPr>
          <a:xfrm>
            <a:off x="723900" y="3457575"/>
            <a:ext cx="5429250" cy="754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424548"/>
                </a:solidFill>
                <a:latin typeface="Arial"/>
                <a:ea typeface="Arial"/>
                <a:cs typeface="Arial"/>
                <a:sym typeface="Arial"/>
              </a:defRPr>
            </a:pPr>
            <a:r>
              <a:t>Positive weight: increasing x raises z.</a:t>
            </a:r>
          </a:p>
          <a:p>
            <a:pPr>
              <a:defRPr sz="1700">
                <a:solidFill>
                  <a:srgbClr val="424548"/>
                </a:solidFill>
                <a:latin typeface="Arial"/>
                <a:ea typeface="Arial"/>
                <a:cs typeface="Arial"/>
                <a:sym typeface="Arial"/>
              </a:defRPr>
            </a:pPr>
            <a:r>
              <a:t>Negative weight: increasing x lowers z.</a:t>
            </a:r>
          </a:p>
          <a:p>
            <a:pPr>
              <a:defRPr sz="1700">
                <a:solidFill>
                  <a:srgbClr val="424548"/>
                </a:solidFill>
                <a:latin typeface="Arial"/>
                <a:ea typeface="Arial"/>
                <a:cs typeface="Arial"/>
                <a:sym typeface="Arial"/>
              </a:defRPr>
            </a:pPr>
            <a:r>
              <a:t>Weight near zero: little effect per unit.</a:t>
            </a:r>
          </a:p>
        </p:txBody>
      </p:sp>
      <p:sp>
        <p:nvSpPr>
          <p:cNvPr id="201" name="Larger |w| = a stronger effect per unit of input."/>
          <p:cNvSpPr txBox="1"/>
          <p:nvPr/>
        </p:nvSpPr>
        <p:spPr>
          <a:xfrm>
            <a:off x="723900" y="4905375"/>
            <a:ext cx="542925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62616A"/>
                </a:solidFill>
                <a:latin typeface="Arial"/>
                <a:ea typeface="Arial"/>
                <a:cs typeface="Arial"/>
                <a:sym typeface="Arial"/>
              </a:defRPr>
            </a:lvl1pPr>
          </a:lstStyle>
          <a:p>
            <a:pPr/>
            <a:r>
              <a:t>Larger |w| = a stronger effect per unit of input.</a:t>
            </a:r>
          </a:p>
        </p:txBody>
      </p:sp>
      <p:sp>
        <p:nvSpPr>
          <p:cNvPr id="202" name="Learned during training"/>
          <p:cNvSpPr txBox="1"/>
          <p:nvPr/>
        </p:nvSpPr>
        <p:spPr>
          <a:xfrm>
            <a:off x="6953250" y="2971800"/>
            <a:ext cx="461010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87B95"/>
                </a:solidFill>
                <a:latin typeface="Chalkboard"/>
                <a:ea typeface="Chalkboard"/>
                <a:cs typeface="Chalkboard"/>
                <a:sym typeface="Chalkboard"/>
              </a:defRPr>
            </a:lvl1pPr>
          </a:lstStyle>
          <a:p>
            <a:pPr/>
            <a:r>
              <a:t>Learned during training</a:t>
            </a:r>
          </a:p>
        </p:txBody>
      </p:sp>
      <p:sp>
        <p:nvSpPr>
          <p:cNvPr id="203" name="The network starts with initial weights.…"/>
          <p:cNvSpPr txBox="1"/>
          <p:nvPr/>
        </p:nvSpPr>
        <p:spPr>
          <a:xfrm>
            <a:off x="6953250" y="3457575"/>
            <a:ext cx="4610100" cy="500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424548"/>
                </a:solidFill>
                <a:latin typeface="Arial"/>
                <a:ea typeface="Arial"/>
                <a:cs typeface="Arial"/>
                <a:sym typeface="Arial"/>
              </a:defRPr>
            </a:pPr>
            <a:r>
              <a:t>The network starts with initial weights.</a:t>
            </a:r>
          </a:p>
          <a:p>
            <a:pPr>
              <a:defRPr sz="1700">
                <a:solidFill>
                  <a:srgbClr val="424548"/>
                </a:solidFill>
                <a:latin typeface="Arial"/>
                <a:ea typeface="Arial"/>
                <a:cs typeface="Arial"/>
                <a:sym typeface="Arial"/>
              </a:defRPr>
            </a:pPr>
            <a:r>
              <a:t>Training adjusts them to reduce errors.</a:t>
            </a:r>
          </a:p>
        </p:txBody>
      </p:sp>
      <p:sp>
        <p:nvSpPr>
          <p:cNvPr id="204" name="Weights scale individual inputs.…"/>
          <p:cNvSpPr txBox="1"/>
          <p:nvPr/>
        </p:nvSpPr>
        <p:spPr>
          <a:xfrm>
            <a:off x="6953250" y="4324350"/>
            <a:ext cx="4610100" cy="500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424548"/>
                </a:solidFill>
                <a:latin typeface="Arial"/>
                <a:ea typeface="Arial"/>
                <a:cs typeface="Arial"/>
                <a:sym typeface="Arial"/>
              </a:defRPr>
            </a:pPr>
            <a:r>
              <a:t>Weights scale individual inputs.</a:t>
            </a:r>
          </a:p>
          <a:p>
            <a:pPr>
              <a:defRPr sz="1700">
                <a:solidFill>
                  <a:srgbClr val="424548"/>
                </a:solidFill>
                <a:latin typeface="Arial"/>
                <a:ea typeface="Arial"/>
                <a:cs typeface="Arial"/>
                <a:sym typeface="Arial"/>
              </a:defRPr>
            </a:pPr>
            <a:r>
              <a:t>Bias shifts the combined total.</a:t>
            </a:r>
          </a:p>
        </p:txBody>
      </p:sp>
      <p:sp>
        <p:nvSpPr>
          <p:cNvPr id="205" name="Weight = how much and in which direction an input matters."/>
          <p:cNvSpPr txBox="1"/>
          <p:nvPr/>
        </p:nvSpPr>
        <p:spPr>
          <a:xfrm>
            <a:off x="723900" y="5686425"/>
            <a:ext cx="108394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62616A"/>
                </a:solidFill>
                <a:latin typeface="Arial"/>
                <a:ea typeface="Arial"/>
                <a:cs typeface="Arial"/>
                <a:sym typeface="Arial"/>
              </a:defRPr>
            </a:lvl1pPr>
          </a:lstStyle>
          <a:p>
            <a:pPr/>
            <a:r>
              <a:t>Weight = how much and in which direction an input matters.</a:t>
            </a:r>
          </a:p>
        </p:txBody>
      </p:sp>
      <p:sp>
        <p:nvSpPr>
          <p:cNvPr id="206" name="Line"/>
          <p:cNvSpPr/>
          <p:nvPr/>
        </p:nvSpPr>
        <p:spPr>
          <a:xfrm>
            <a:off x="609600" y="6429375"/>
            <a:ext cx="10972800" cy="0"/>
          </a:xfrm>
          <a:prstGeom prst="line">
            <a:avLst/>
          </a:prstGeom>
          <a:ln>
            <a:solidFill>
              <a:srgbClr val="E0D5C5"/>
            </a:solidFill>
          </a:ln>
        </p:spPr>
        <p:txBody>
          <a:bodyPr lIns="45718" tIns="45718" rIns="45718" bIns="45718"/>
          <a:lstStyle/>
          <a:p>
            <a:pPr/>
          </a:p>
        </p:txBody>
      </p:sp>
      <p:sp>
        <p:nvSpPr>
          <p:cNvPr id="207" name="04"/>
          <p:cNvSpPr txBox="1"/>
          <p:nvPr/>
        </p:nvSpPr>
        <p:spPr>
          <a:xfrm>
            <a:off x="5715000" y="651510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858079"/>
                </a:solidFill>
                <a:latin typeface="Arial"/>
                <a:ea typeface="Arial"/>
                <a:cs typeface="Arial"/>
                <a:sym typeface="Arial"/>
              </a:defRPr>
            </a:lvl1pPr>
          </a:lstStyle>
          <a:p>
            <a:pPr/>
            <a:r>
              <a:t>04</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11" name="Bias shifts a neuron’s activation"/>
          <p:cNvSpPr txBox="1"/>
          <p:nvPr/>
        </p:nvSpPr>
        <p:spPr>
          <a:xfrm>
            <a:off x="-4339516" y="384472"/>
            <a:ext cx="10953751"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3100">
                <a:solidFill>
                  <a:srgbClr val="28282A"/>
                </a:solidFill>
                <a:latin typeface="Arial"/>
                <a:ea typeface="Arial"/>
                <a:cs typeface="Arial"/>
                <a:sym typeface="Arial"/>
              </a:defRPr>
            </a:lvl1pPr>
          </a:lstStyle>
          <a:p>
            <a:pPr/>
            <a:r>
              <a:t>Bias shifts a neuron’s activation</a:t>
            </a:r>
          </a:p>
        </p:txBody>
      </p:sp>
      <p:sp>
        <p:nvSpPr>
          <p:cNvPr id="212" name="The bias adds an offset before activation, giving the neuron flexibility to shift its response."/>
          <p:cNvSpPr txBox="1"/>
          <p:nvPr/>
        </p:nvSpPr>
        <p:spPr>
          <a:xfrm>
            <a:off x="-2828952" y="1115853"/>
            <a:ext cx="10934701"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62616A"/>
                </a:solidFill>
                <a:latin typeface="Arial"/>
                <a:ea typeface="Arial"/>
                <a:cs typeface="Arial"/>
                <a:sym typeface="Arial"/>
              </a:defRPr>
            </a:lvl1pPr>
          </a:lstStyle>
          <a:p>
            <a:pPr/>
            <a:r>
              <a:t>The bias adds an offset before activation, giving the neuron flexibility to shift its response.</a:t>
            </a:r>
          </a:p>
        </p:txBody>
      </p:sp>
      <p:sp>
        <p:nvSpPr>
          <p:cNvPr id="213" name="Line"/>
          <p:cNvSpPr/>
          <p:nvPr/>
        </p:nvSpPr>
        <p:spPr>
          <a:xfrm>
            <a:off x="628650" y="1619250"/>
            <a:ext cx="1619250" cy="0"/>
          </a:xfrm>
          <a:prstGeom prst="line">
            <a:avLst/>
          </a:prstGeom>
          <a:ln w="13334">
            <a:solidFill>
              <a:srgbClr val="D8B16C"/>
            </a:solidFill>
          </a:ln>
        </p:spPr>
        <p:txBody>
          <a:bodyPr lIns="45718" tIns="45718" rIns="45718" bIns="45718"/>
          <a:lstStyle/>
          <a:p>
            <a:pPr/>
          </a:p>
        </p:txBody>
      </p:sp>
      <p:sp>
        <p:nvSpPr>
          <p:cNvPr id="214" name="z = w₁x₁ + ⋯ + wₙxₙ + b       y = f(z)"/>
          <p:cNvSpPr txBox="1"/>
          <p:nvPr/>
        </p:nvSpPr>
        <p:spPr>
          <a:xfrm>
            <a:off x="723900" y="1781175"/>
            <a:ext cx="10744200" cy="469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300">
                <a:solidFill>
                  <a:srgbClr val="287B95"/>
                </a:solidFill>
                <a:latin typeface="Chalkboard"/>
                <a:ea typeface="Chalkboard"/>
                <a:cs typeface="Chalkboard"/>
                <a:sym typeface="Chalkboard"/>
              </a:defRPr>
            </a:lvl1pPr>
          </a:lstStyle>
          <a:p>
            <a:pPr/>
            <a:r>
              <a:t>z = w₁x₁ + ⋯ + wₙxₙ + b       y = f(z)</a:t>
            </a:r>
          </a:p>
        </p:txBody>
      </p:sp>
      <p:sp>
        <p:nvSpPr>
          <p:cNvPr id="215" name="b is the bias. Without it, z is only the weighted sum of the inputs."/>
          <p:cNvSpPr txBox="1"/>
          <p:nvPr/>
        </p:nvSpPr>
        <p:spPr>
          <a:xfrm>
            <a:off x="723900" y="2228850"/>
            <a:ext cx="1074420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b is the bias. Without it, z is only the weighted sum of the inputs.</a:t>
            </a:r>
          </a:p>
        </p:txBody>
      </p:sp>
      <p:sp>
        <p:nvSpPr>
          <p:cNvPr id="216" name="A linear neuron: bias is the intercept"/>
          <p:cNvSpPr txBox="1"/>
          <p:nvPr/>
        </p:nvSpPr>
        <p:spPr>
          <a:xfrm>
            <a:off x="723900" y="2695575"/>
            <a:ext cx="52768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E7052"/>
                </a:solidFill>
                <a:latin typeface="Chalkboard"/>
                <a:ea typeface="Chalkboard"/>
                <a:cs typeface="Chalkboard"/>
                <a:sym typeface="Chalkboard"/>
              </a:defRPr>
            </a:lvl1pPr>
          </a:lstStyle>
          <a:p>
            <a:pPr/>
            <a:r>
              <a:t>A linear neuron: bias is the intercept</a:t>
            </a:r>
          </a:p>
        </p:txBody>
      </p:sp>
      <p:sp>
        <p:nvSpPr>
          <p:cNvPr id="217" name="A ReLU neuron: bias moves the threshold"/>
          <p:cNvSpPr txBox="1"/>
          <p:nvPr/>
        </p:nvSpPr>
        <p:spPr>
          <a:xfrm>
            <a:off x="6610350" y="2695575"/>
            <a:ext cx="495300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A ReLU neuron: bias moves the threshold</a:t>
            </a:r>
          </a:p>
        </p:txBody>
      </p:sp>
      <p:graphicFrame>
        <p:nvGraphicFramePr>
          <p:cNvPr id="218" name="Chart"/>
          <p:cNvGraphicFramePr/>
          <p:nvPr/>
        </p:nvGraphicFramePr>
        <p:xfrm>
          <a:off x="1310458" y="3106960"/>
          <a:ext cx="4255317" cy="2063093"/>
        </p:xfrm>
        <a:graphic xmlns:a="http://schemas.openxmlformats.org/drawingml/2006/main">
          <a:graphicData uri="http://schemas.openxmlformats.org/drawingml/2006/chart">
            <c:chart xmlns:c="http://schemas.openxmlformats.org/drawingml/2006/chart" r:id="rId3"/>
          </a:graphicData>
        </a:graphic>
      </p:graphicFrame>
      <p:graphicFrame>
        <p:nvGraphicFramePr>
          <p:cNvPr id="219" name="Chart"/>
          <p:cNvGraphicFramePr/>
          <p:nvPr/>
        </p:nvGraphicFramePr>
        <p:xfrm>
          <a:off x="7196908" y="3106960"/>
          <a:ext cx="4255317" cy="2063093"/>
        </p:xfrm>
        <a:graphic xmlns:a="http://schemas.openxmlformats.org/drawingml/2006/main">
          <a:graphicData uri="http://schemas.openxmlformats.org/drawingml/2006/chart">
            <c:chart xmlns:c="http://schemas.openxmlformats.org/drawingml/2006/chart" r:id="rId4"/>
          </a:graphicData>
        </a:graphic>
      </p:graphicFrame>
      <p:sp>
        <p:nvSpPr>
          <p:cNvPr id="220" name="Without bias, the line passes through (0, 0).…"/>
          <p:cNvSpPr txBox="1"/>
          <p:nvPr/>
        </p:nvSpPr>
        <p:spPr>
          <a:xfrm>
            <a:off x="723900" y="5514975"/>
            <a:ext cx="527685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Without bias, the line passes through (0, 0).</a:t>
            </a:r>
          </a:p>
          <a:p>
            <a:pPr>
              <a:defRPr sz="1500">
                <a:solidFill>
                  <a:srgbClr val="424548"/>
                </a:solidFill>
                <a:latin typeface="Arial"/>
                <a:ea typeface="Arial"/>
                <a:cs typeface="Arial"/>
                <a:sym typeface="Arial"/>
              </a:defRPr>
            </a:pPr>
            <a:r>
              <a:t>Adding b = 3 shifts it upward by 3.</a:t>
            </a:r>
          </a:p>
        </p:txBody>
      </p:sp>
      <p:sp>
        <p:nvSpPr>
          <p:cNvPr id="221" name="With w = 1 and b = −5, the output stays zero…"/>
          <p:cNvSpPr txBox="1"/>
          <p:nvPr/>
        </p:nvSpPr>
        <p:spPr>
          <a:xfrm>
            <a:off x="6610350" y="5514975"/>
            <a:ext cx="4953000"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With w = 1 and b = −5, the output stays zero</a:t>
            </a:r>
          </a:p>
          <a:p>
            <a:pPr>
              <a:defRPr sz="1500">
                <a:solidFill>
                  <a:srgbClr val="424548"/>
                </a:solidFill>
                <a:latin typeface="Arial"/>
                <a:ea typeface="Arial"/>
                <a:cs typeface="Arial"/>
                <a:sym typeface="Arial"/>
              </a:defRPr>
            </a:pPr>
            <a:r>
              <a:t>until x &gt; 5, when it becomes positive.</a:t>
            </a:r>
          </a:p>
        </p:txBody>
      </p:sp>
      <p:sp>
        <p:nvSpPr>
          <p:cNvPr id="222" name="Weights control input influence. Bias shifts the function and its activation boundary."/>
          <p:cNvSpPr txBox="1"/>
          <p:nvPr/>
        </p:nvSpPr>
        <p:spPr>
          <a:xfrm>
            <a:off x="723900" y="6143625"/>
            <a:ext cx="1083945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62616A"/>
                </a:solidFill>
                <a:latin typeface="Arial"/>
                <a:ea typeface="Arial"/>
                <a:cs typeface="Arial"/>
                <a:sym typeface="Arial"/>
              </a:defRPr>
            </a:lvl1pPr>
          </a:lstStyle>
          <a:p>
            <a:pPr/>
            <a:r>
              <a:t>Weights control input influence. Bias shifts the function and its activation boundary.</a:t>
            </a:r>
          </a:p>
        </p:txBody>
      </p:sp>
      <p:sp>
        <p:nvSpPr>
          <p:cNvPr id="223" name="Line"/>
          <p:cNvSpPr/>
          <p:nvPr/>
        </p:nvSpPr>
        <p:spPr>
          <a:xfrm>
            <a:off x="609600" y="6429375"/>
            <a:ext cx="10972800" cy="0"/>
          </a:xfrm>
          <a:prstGeom prst="line">
            <a:avLst/>
          </a:prstGeom>
          <a:ln>
            <a:solidFill>
              <a:srgbClr val="E0D5C5"/>
            </a:solidFill>
          </a:ln>
        </p:spPr>
        <p:txBody>
          <a:bodyPr lIns="45718" tIns="45718" rIns="45718" bIns="45718"/>
          <a:lstStyle/>
          <a:p>
            <a:pPr/>
          </a:p>
        </p:txBody>
      </p:sp>
      <p:sp>
        <p:nvSpPr>
          <p:cNvPr id="224" name="05"/>
          <p:cNvSpPr txBox="1"/>
          <p:nvPr/>
        </p:nvSpPr>
        <p:spPr>
          <a:xfrm>
            <a:off x="5715000" y="651510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858079"/>
                </a:solidFill>
                <a:latin typeface="Arial"/>
                <a:ea typeface="Arial"/>
                <a:cs typeface="Arial"/>
                <a:sym typeface="Arial"/>
              </a:defRPr>
            </a:lvl1pPr>
          </a:lstStyle>
          <a:p>
            <a:pPr/>
            <a:r>
              <a:t>05</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28" name="Propagation function"/>
          <p:cNvSpPr txBox="1"/>
          <p:nvPr/>
        </p:nvSpPr>
        <p:spPr>
          <a:xfrm>
            <a:off x="-6373400" y="477514"/>
            <a:ext cx="10953751" cy="4443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b="1" sz="3100">
                <a:solidFill>
                  <a:srgbClr val="28282A"/>
                </a:solidFill>
                <a:latin typeface="Arial"/>
                <a:ea typeface="Arial"/>
                <a:cs typeface="Arial"/>
                <a:sym typeface="Arial"/>
              </a:defRPr>
            </a:lvl1pPr>
          </a:lstStyle>
          <a:p>
            <a:pPr/>
            <a:r>
              <a:t>Propagation function</a:t>
            </a:r>
          </a:p>
        </p:txBody>
      </p:sp>
      <p:sp>
        <p:nvSpPr>
          <p:cNvPr id="229" name="The propagation function combines weighted inputs and bias into a single value, z."/>
          <p:cNvSpPr txBox="1"/>
          <p:nvPr/>
        </p:nvSpPr>
        <p:spPr>
          <a:xfrm>
            <a:off x="-3699002" y="1162374"/>
            <a:ext cx="10934701"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62616A"/>
                </a:solidFill>
                <a:latin typeface="Arial"/>
                <a:ea typeface="Arial"/>
                <a:cs typeface="Arial"/>
                <a:sym typeface="Arial"/>
              </a:defRPr>
            </a:lvl1pPr>
          </a:lstStyle>
          <a:p>
            <a:pPr/>
            <a:r>
              <a:t>The propagation function combines weighted inputs and bias into a single value, z.</a:t>
            </a:r>
          </a:p>
        </p:txBody>
      </p:sp>
      <p:sp>
        <p:nvSpPr>
          <p:cNvPr id="230" name="Line"/>
          <p:cNvSpPr/>
          <p:nvPr/>
        </p:nvSpPr>
        <p:spPr>
          <a:xfrm>
            <a:off x="628650" y="1619250"/>
            <a:ext cx="1619250" cy="0"/>
          </a:xfrm>
          <a:prstGeom prst="line">
            <a:avLst/>
          </a:prstGeom>
          <a:ln w="13334">
            <a:solidFill>
              <a:srgbClr val="D8B16C"/>
            </a:solidFill>
          </a:ln>
        </p:spPr>
        <p:txBody>
          <a:bodyPr lIns="45718" tIns="45718" rIns="45718" bIns="45718"/>
          <a:lstStyle/>
          <a:p>
            <a:pPr/>
          </a:p>
        </p:txBody>
      </p:sp>
      <p:sp>
        <p:nvSpPr>
          <p:cNvPr id="231" name="z = w₁x₁ + w₂x₂ + ⋯ + wₙxₙ + b"/>
          <p:cNvSpPr txBox="1"/>
          <p:nvPr/>
        </p:nvSpPr>
        <p:spPr>
          <a:xfrm>
            <a:off x="723900" y="2009775"/>
            <a:ext cx="10839450" cy="4191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100">
                <a:solidFill>
                  <a:srgbClr val="8E7052"/>
                </a:solidFill>
                <a:latin typeface="Chalkboard"/>
                <a:ea typeface="Chalkboard"/>
                <a:cs typeface="Chalkboard"/>
                <a:sym typeface="Chalkboard"/>
              </a:defRPr>
            </a:lvl1pPr>
          </a:lstStyle>
          <a:p>
            <a:pPr/>
            <a:r>
              <a:t>z = w₁x₁ + w₂x₂ + ⋯ + wₙxₙ + b</a:t>
            </a:r>
          </a:p>
        </p:txBody>
      </p:sp>
      <p:sp>
        <p:nvSpPr>
          <p:cNvPr id="232" name="What the symbols mean"/>
          <p:cNvSpPr txBox="1"/>
          <p:nvPr/>
        </p:nvSpPr>
        <p:spPr>
          <a:xfrm>
            <a:off x="723900" y="2876550"/>
            <a:ext cx="5381625"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287B95"/>
                </a:solidFill>
                <a:latin typeface="Chalkboard"/>
                <a:ea typeface="Chalkboard"/>
                <a:cs typeface="Chalkboard"/>
                <a:sym typeface="Chalkboard"/>
              </a:defRPr>
            </a:lvl1pPr>
          </a:lstStyle>
          <a:p>
            <a:pPr/>
            <a:r>
              <a:t>What the symbols mean</a:t>
            </a:r>
          </a:p>
        </p:txBody>
      </p:sp>
      <p:sp>
        <p:nvSpPr>
          <p:cNvPr id="233" name="xᵢ = input"/>
          <p:cNvSpPr txBox="1"/>
          <p:nvPr/>
        </p:nvSpPr>
        <p:spPr>
          <a:xfrm>
            <a:off x="723900" y="3448050"/>
            <a:ext cx="5381625" cy="35033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100">
                <a:solidFill>
                  <a:srgbClr val="287B95"/>
                </a:solidFill>
                <a:latin typeface="Chalkboard"/>
                <a:ea typeface="Chalkboard"/>
                <a:cs typeface="Chalkboard"/>
                <a:sym typeface="Chalkboard"/>
              </a:defRPr>
            </a:lvl1pPr>
          </a:lstStyle>
          <a:p>
            <a:pPr/>
            <a:r>
              <a:t>xᵢ = input</a:t>
            </a:r>
          </a:p>
        </p:txBody>
      </p:sp>
      <p:sp>
        <p:nvSpPr>
          <p:cNvPr id="234" name="wᵢ = weight"/>
          <p:cNvSpPr txBox="1"/>
          <p:nvPr/>
        </p:nvSpPr>
        <p:spPr>
          <a:xfrm>
            <a:off x="723900" y="3914775"/>
            <a:ext cx="5381625" cy="38914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300">
                <a:solidFill>
                  <a:srgbClr val="287B95"/>
                </a:solidFill>
                <a:latin typeface="Chalkboard"/>
                <a:ea typeface="Chalkboard"/>
                <a:cs typeface="Chalkboard"/>
                <a:sym typeface="Chalkboard"/>
              </a:defRPr>
            </a:lvl1pPr>
          </a:lstStyle>
          <a:p>
            <a:pPr/>
            <a:r>
              <a:t>wᵢ = weight</a:t>
            </a:r>
          </a:p>
        </p:txBody>
      </p:sp>
      <p:sp>
        <p:nvSpPr>
          <p:cNvPr id="235" name="b = bias…"/>
          <p:cNvSpPr txBox="1"/>
          <p:nvPr/>
        </p:nvSpPr>
        <p:spPr>
          <a:xfrm>
            <a:off x="723900" y="4486275"/>
            <a:ext cx="5381625" cy="4505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600">
                <a:solidFill>
                  <a:srgbClr val="424548"/>
                </a:solidFill>
                <a:latin typeface="Arial"/>
                <a:ea typeface="Arial"/>
                <a:cs typeface="Arial"/>
                <a:sym typeface="Arial"/>
              </a:defRPr>
            </a:pPr>
            <a:r>
              <a:t>b = bias</a:t>
            </a:r>
          </a:p>
          <a:p>
            <a:pPr>
              <a:defRPr sz="1600">
                <a:solidFill>
                  <a:srgbClr val="424548"/>
                </a:solidFill>
                <a:latin typeface="Arial"/>
                <a:ea typeface="Arial"/>
                <a:cs typeface="Arial"/>
                <a:sym typeface="Arial"/>
              </a:defRPr>
            </a:pPr>
            <a:r>
              <a:t>z = combined value</a:t>
            </a:r>
          </a:p>
        </p:txBody>
      </p:sp>
      <p:sp>
        <p:nvSpPr>
          <p:cNvPr id="236" name="Three simple steps"/>
          <p:cNvSpPr txBox="1"/>
          <p:nvPr/>
        </p:nvSpPr>
        <p:spPr>
          <a:xfrm>
            <a:off x="6800850" y="2876550"/>
            <a:ext cx="476250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9A55B3"/>
                </a:solidFill>
                <a:latin typeface="Chalkboard"/>
                <a:ea typeface="Chalkboard"/>
                <a:cs typeface="Chalkboard"/>
                <a:sym typeface="Chalkboard"/>
              </a:defRPr>
            </a:lvl1pPr>
          </a:lstStyle>
          <a:p>
            <a:pPr/>
            <a:r>
              <a:t>Three simple steps</a:t>
            </a:r>
          </a:p>
        </p:txBody>
      </p:sp>
      <p:sp>
        <p:nvSpPr>
          <p:cNvPr id="237" name="1. Multiply each input by its weight"/>
          <p:cNvSpPr txBox="1"/>
          <p:nvPr/>
        </p:nvSpPr>
        <p:spPr>
          <a:xfrm>
            <a:off x="6800850" y="3448050"/>
            <a:ext cx="4762500"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300">
                <a:solidFill>
                  <a:srgbClr val="9A55B3"/>
                </a:solidFill>
                <a:latin typeface="Chalkboard"/>
                <a:ea typeface="Chalkboard"/>
                <a:cs typeface="Chalkboard"/>
                <a:sym typeface="Chalkboard"/>
              </a:defRPr>
            </a:lvl1pPr>
          </a:lstStyle>
          <a:p>
            <a:pPr/>
            <a:r>
              <a:t>1. Multiply each input by its weight</a:t>
            </a:r>
          </a:p>
        </p:txBody>
      </p:sp>
      <p:sp>
        <p:nvSpPr>
          <p:cNvPr id="238" name="2. Add the weighted inputs"/>
          <p:cNvSpPr txBox="1"/>
          <p:nvPr/>
        </p:nvSpPr>
        <p:spPr>
          <a:xfrm>
            <a:off x="6800850" y="3914775"/>
            <a:ext cx="4762500" cy="3268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9A55B3"/>
                </a:solidFill>
                <a:latin typeface="Chalkboard"/>
                <a:ea typeface="Chalkboard"/>
                <a:cs typeface="Chalkboard"/>
                <a:sym typeface="Chalkboard"/>
              </a:defRPr>
            </a:lvl1pPr>
          </a:lstStyle>
          <a:p>
            <a:pPr/>
            <a:r>
              <a:t>2. Add the weighted inputs</a:t>
            </a:r>
          </a:p>
        </p:txBody>
      </p:sp>
      <p:sp>
        <p:nvSpPr>
          <p:cNvPr id="239" name="3. Add the bias"/>
          <p:cNvSpPr txBox="1"/>
          <p:nvPr/>
        </p:nvSpPr>
        <p:spPr>
          <a:xfrm>
            <a:off x="6800850" y="4486275"/>
            <a:ext cx="476250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424548"/>
                </a:solidFill>
                <a:latin typeface="Arial"/>
                <a:ea typeface="Arial"/>
                <a:cs typeface="Arial"/>
                <a:sym typeface="Arial"/>
              </a:defRPr>
            </a:lvl1pPr>
          </a:lstStyle>
          <a:p>
            <a:pPr/>
            <a:r>
              <a:t>3. Add the bias</a:t>
            </a:r>
          </a:p>
        </p:txBody>
      </p:sp>
      <p:sp>
        <p:nvSpPr>
          <p:cNvPr id="240" name="Remember"/>
          <p:cNvSpPr txBox="1"/>
          <p:nvPr/>
        </p:nvSpPr>
        <p:spPr>
          <a:xfrm>
            <a:off x="723900" y="5667375"/>
            <a:ext cx="29527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8E7052"/>
                </a:solidFill>
                <a:latin typeface="Chalkboard"/>
                <a:ea typeface="Chalkboard"/>
                <a:cs typeface="Chalkboard"/>
                <a:sym typeface="Chalkboard"/>
              </a:defRPr>
            </a:lvl1pPr>
          </a:lstStyle>
          <a:p>
            <a:pPr/>
            <a:r>
              <a:t>Remember</a:t>
            </a:r>
          </a:p>
        </p:txBody>
      </p:sp>
      <p:sp>
        <p:nvSpPr>
          <p:cNvPr id="241" name="Multiply → Add → Add bias"/>
          <p:cNvSpPr txBox="1"/>
          <p:nvPr/>
        </p:nvSpPr>
        <p:spPr>
          <a:xfrm>
            <a:off x="3914775" y="5648325"/>
            <a:ext cx="764857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424548"/>
                </a:solidFill>
                <a:latin typeface="Arial"/>
                <a:ea typeface="Arial"/>
                <a:cs typeface="Arial"/>
                <a:sym typeface="Arial"/>
              </a:defRPr>
            </a:lvl1pPr>
          </a:lstStyle>
          <a:p>
            <a:pPr/>
            <a:r>
              <a:t>Multiply → Add → Add bias</a:t>
            </a:r>
          </a:p>
        </p:txBody>
      </p:sp>
      <p:sp>
        <p:nvSpPr>
          <p:cNvPr id="242" name="Line"/>
          <p:cNvSpPr/>
          <p:nvPr/>
        </p:nvSpPr>
        <p:spPr>
          <a:xfrm>
            <a:off x="609600" y="6429375"/>
            <a:ext cx="10972800" cy="0"/>
          </a:xfrm>
          <a:prstGeom prst="line">
            <a:avLst/>
          </a:prstGeom>
          <a:ln>
            <a:solidFill>
              <a:srgbClr val="E0D5C5"/>
            </a:solidFill>
          </a:ln>
        </p:spPr>
        <p:txBody>
          <a:bodyPr lIns="45718" tIns="45718" rIns="45718" bIns="45718"/>
          <a:lstStyle/>
          <a:p>
            <a:pPr/>
          </a:p>
        </p:txBody>
      </p:sp>
      <p:sp>
        <p:nvSpPr>
          <p:cNvPr id="243" name="06"/>
          <p:cNvSpPr txBox="1"/>
          <p:nvPr/>
        </p:nvSpPr>
        <p:spPr>
          <a:xfrm>
            <a:off x="5715000" y="6515100"/>
            <a:ext cx="762000"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100">
                <a:solidFill>
                  <a:srgbClr val="858079"/>
                </a:solidFill>
                <a:latin typeface="Arial"/>
                <a:ea typeface="Arial"/>
                <a:cs typeface="Arial"/>
                <a:sym typeface="Arial"/>
              </a:defRPr>
            </a:lvl1pPr>
          </a:lstStyle>
          <a:p>
            <a:pPr/>
            <a:r>
              <a:t>06</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47" name="Rounded Rectangle"/>
          <p:cNvSpPr/>
          <p:nvPr/>
        </p:nvSpPr>
        <p:spPr>
          <a:xfrm>
            <a:off x="228600" y="228600"/>
            <a:ext cx="11734800" cy="6019800"/>
          </a:xfrm>
          <a:prstGeom prst="roundRect">
            <a:avLst>
              <a:gd name="adj" fmla="val 2848"/>
            </a:avLst>
          </a:prstGeom>
          <a:solidFill>
            <a:srgbClr val="FCFBF8"/>
          </a:solidFill>
          <a:ln>
            <a:solidFill>
              <a:srgbClr val="D9CDBB"/>
            </a:solidFill>
          </a:ln>
        </p:spPr>
        <p:txBody>
          <a:bodyPr lIns="0" tIns="0" rIns="0" bIns="0"/>
          <a:lstStyle/>
          <a:p>
            <a:pPr>
              <a:defRPr>
                <a:latin typeface="Calibri"/>
                <a:ea typeface="Calibri"/>
                <a:cs typeface="Calibri"/>
                <a:sym typeface="Calibri"/>
              </a:defRPr>
            </a:pPr>
          </a:p>
        </p:txBody>
      </p:sp>
      <p:sp>
        <p:nvSpPr>
          <p:cNvPr id="248" name="02"/>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07</a:t>
            </a:r>
          </a:p>
        </p:txBody>
      </p:sp>
      <p:sp>
        <p:nvSpPr>
          <p:cNvPr id="249" name="NEURAL NETWORKS"/>
          <p:cNvSpPr txBox="1"/>
          <p:nvPr/>
        </p:nvSpPr>
        <p:spPr>
          <a:xfrm>
            <a:off x="647700" y="723900"/>
            <a:ext cx="523875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424548"/>
                </a:solidFill>
                <a:latin typeface="Arial"/>
                <a:ea typeface="Arial"/>
                <a:cs typeface="Arial"/>
                <a:sym typeface="Arial"/>
              </a:defRPr>
            </a:lvl1pPr>
          </a:lstStyle>
          <a:p>
            <a:pPr/>
            <a:r>
              <a:t>NEURAL NETWORKS</a:t>
            </a:r>
          </a:p>
        </p:txBody>
      </p:sp>
      <p:sp>
        <p:nvSpPr>
          <p:cNvPr id="250" name="Spam or…"/>
          <p:cNvSpPr txBox="1"/>
          <p:nvPr/>
        </p:nvSpPr>
        <p:spPr>
          <a:xfrm>
            <a:off x="647700" y="1790700"/>
            <a:ext cx="5334000" cy="130210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4500">
                <a:solidFill>
                  <a:srgbClr val="28282A"/>
                </a:solidFill>
                <a:latin typeface="Arial"/>
                <a:ea typeface="Arial"/>
                <a:cs typeface="Arial"/>
                <a:sym typeface="Arial"/>
              </a:defRPr>
            </a:pPr>
            <a:r>
              <a:t>Spam or</a:t>
            </a:r>
          </a:p>
          <a:p>
            <a:pPr>
              <a:defRPr b="1" sz="4500">
                <a:solidFill>
                  <a:srgbClr val="28282A"/>
                </a:solidFill>
                <a:latin typeface="Arial"/>
                <a:ea typeface="Arial"/>
                <a:cs typeface="Arial"/>
                <a:sym typeface="Arial"/>
              </a:defRPr>
            </a:pPr>
            <a:r>
              <a:t>Not Spam?</a:t>
            </a:r>
          </a:p>
        </p:txBody>
      </p:sp>
      <p:sp>
        <p:nvSpPr>
          <p:cNvPr id="251" name="How an MLP turns…"/>
          <p:cNvSpPr txBox="1"/>
          <p:nvPr/>
        </p:nvSpPr>
        <p:spPr>
          <a:xfrm>
            <a:off x="647700" y="3895725"/>
            <a:ext cx="5238750" cy="68226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2100">
                <a:solidFill>
                  <a:srgbClr val="424548"/>
                </a:solidFill>
                <a:latin typeface="Chalkboard"/>
                <a:ea typeface="Chalkboard"/>
                <a:cs typeface="Chalkboard"/>
                <a:sym typeface="Chalkboard"/>
              </a:defRPr>
            </a:pPr>
            <a:r>
              <a:t>How an MLP turns</a:t>
            </a:r>
          </a:p>
          <a:p>
            <a:pPr>
              <a:defRPr sz="2100">
                <a:solidFill>
                  <a:srgbClr val="424548"/>
                </a:solidFill>
                <a:latin typeface="Chalkboard"/>
                <a:ea typeface="Chalkboard"/>
                <a:cs typeface="Chalkboard"/>
                <a:sym typeface="Chalkboard"/>
              </a:defRPr>
            </a:pPr>
            <a:r>
              <a:t>email features into a decision</a:t>
            </a:r>
          </a:p>
        </p:txBody>
      </p:sp>
      <p:pic>
        <p:nvPicPr>
          <p:cNvPr id="252" name="image3.png" descr="image3.png"/>
          <p:cNvPicPr>
            <a:picLocks noChangeAspect="1"/>
          </p:cNvPicPr>
          <p:nvPr/>
        </p:nvPicPr>
        <p:blipFill>
          <a:blip r:embed="rId3">
            <a:extLst/>
          </a:blip>
          <a:stretch>
            <a:fillRect/>
          </a:stretch>
        </p:blipFill>
        <p:spPr>
          <a:xfrm>
            <a:off x="6286500" y="666750"/>
            <a:ext cx="5334000" cy="5334000"/>
          </a:xfrm>
          <a:prstGeom prst="rect">
            <a:avLst/>
          </a:prstGeom>
          <a:ln w="12700">
            <a:miter lim="400000"/>
          </a:ln>
        </p:spPr>
      </p:pic>
      <p:sp>
        <p:nvSpPr>
          <p:cNvPr id="25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254" name="Worked example: four input features…"/>
          <p:cNvSpPr txBox="1"/>
          <p:nvPr/>
        </p:nvSpPr>
        <p:spPr>
          <a:xfrm>
            <a:off x="647700" y="5162550"/>
            <a:ext cx="5238750" cy="555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8E7052"/>
                </a:solidFill>
                <a:latin typeface="Chalkboard"/>
                <a:ea typeface="Chalkboard"/>
                <a:cs typeface="Chalkboard"/>
                <a:sym typeface="Chalkboard"/>
              </a:defRPr>
            </a:pPr>
            <a:r>
              <a:t>Worked example: four input features</a:t>
            </a:r>
          </a:p>
          <a:p>
            <a:pPr>
              <a:defRPr sz="1700">
                <a:solidFill>
                  <a:srgbClr val="8E7052"/>
                </a:solidFill>
                <a:latin typeface="Chalkboard"/>
                <a:ea typeface="Chalkboard"/>
                <a:cs typeface="Chalkboard"/>
                <a:sym typeface="Chalkboard"/>
              </a:defRPr>
            </a:pPr>
            <a:r>
              <a:t>and two possible classes.</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58"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259"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260" name="The classification problem"/>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The classification problem</a:t>
            </a:r>
          </a:p>
        </p:txBody>
      </p:sp>
      <p:sp>
        <p:nvSpPr>
          <p:cNvPr id="261" name="An email becomes numeric features, then a probability and a class."/>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An email becomes numeric features, then a probability and a class.</a:t>
            </a:r>
          </a:p>
        </p:txBody>
      </p:sp>
      <p:sp>
        <p:nvSpPr>
          <p:cNvPr id="262" name="03"/>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08</a:t>
            </a:r>
          </a:p>
        </p:txBody>
      </p:sp>
      <p:sp>
        <p:nvSpPr>
          <p:cNvPr id="263" name="Shape"/>
          <p:cNvSpPr/>
          <p:nvPr/>
        </p:nvSpPr>
        <p:spPr>
          <a:xfrm rot="21557999">
            <a:off x="628650" y="2219324"/>
            <a:ext cx="3114677" cy="25908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8" y="159"/>
                </a:moveTo>
                <a:lnTo>
                  <a:pt x="7580" y="0"/>
                </a:lnTo>
                <a:lnTo>
                  <a:pt x="15523" y="159"/>
                </a:lnTo>
                <a:lnTo>
                  <a:pt x="21468" y="79"/>
                </a:lnTo>
                <a:lnTo>
                  <a:pt x="21600" y="10800"/>
                </a:lnTo>
                <a:lnTo>
                  <a:pt x="21534" y="21441"/>
                </a:lnTo>
                <a:lnTo>
                  <a:pt x="14020" y="21600"/>
                </a:lnTo>
                <a:lnTo>
                  <a:pt x="6506" y="21441"/>
                </a:lnTo>
                <a:lnTo>
                  <a:pt x="66" y="21521"/>
                </a:lnTo>
                <a:lnTo>
                  <a:pt x="0" y="10800"/>
                </a:lnTo>
                <a:lnTo>
                  <a:pt x="198" y="159"/>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264" name="EXAMPLE EMAIL"/>
          <p:cNvSpPr txBox="1"/>
          <p:nvPr/>
        </p:nvSpPr>
        <p:spPr>
          <a:xfrm>
            <a:off x="866775" y="2437654"/>
            <a:ext cx="2638425" cy="2015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000">
                <a:solidFill>
                  <a:srgbClr val="62616A"/>
                </a:solidFill>
                <a:latin typeface="Chalkboard"/>
                <a:ea typeface="Chalkboard"/>
                <a:cs typeface="Chalkboard"/>
                <a:sym typeface="Chalkboard"/>
              </a:defRPr>
            </a:lvl1pPr>
          </a:lstStyle>
          <a:p>
            <a:pPr/>
            <a:r>
              <a:t>EXAMPLE EMAIL</a:t>
            </a:r>
          </a:p>
        </p:txBody>
      </p:sp>
      <p:sp>
        <p:nvSpPr>
          <p:cNvPr id="265" name="You WON a FREE iPhone!"/>
          <p:cNvSpPr txBox="1"/>
          <p:nvPr/>
        </p:nvSpPr>
        <p:spPr>
          <a:xfrm>
            <a:off x="866775" y="2765520"/>
            <a:ext cx="2638425" cy="7840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28282A"/>
                </a:solidFill>
                <a:latin typeface="Chalkboard"/>
                <a:ea typeface="Chalkboard"/>
                <a:cs typeface="Chalkboard"/>
                <a:sym typeface="Chalkboard"/>
              </a:defRPr>
            </a:lvl1pPr>
          </a:lstStyle>
          <a:p>
            <a:pPr/>
            <a:r>
              <a:t>You WON a FREE iPhone!</a:t>
            </a:r>
          </a:p>
        </p:txBody>
      </p:sp>
      <p:sp>
        <p:nvSpPr>
          <p:cNvPr id="266" name="Congratulations!…"/>
          <p:cNvSpPr txBox="1"/>
          <p:nvPr/>
        </p:nvSpPr>
        <p:spPr>
          <a:xfrm>
            <a:off x="866775" y="3575405"/>
            <a:ext cx="2638425" cy="754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700">
                <a:solidFill>
                  <a:srgbClr val="28282A"/>
                </a:solidFill>
                <a:latin typeface="Arial"/>
                <a:ea typeface="Arial"/>
                <a:cs typeface="Arial"/>
                <a:sym typeface="Arial"/>
              </a:defRPr>
            </a:pPr>
            <a:r>
              <a:t>Congratulations!</a:t>
            </a:r>
          </a:p>
          <a:p>
            <a:pPr>
              <a:defRPr sz="1700">
                <a:solidFill>
                  <a:srgbClr val="28282A"/>
                </a:solidFill>
                <a:latin typeface="Arial"/>
                <a:ea typeface="Arial"/>
                <a:cs typeface="Arial"/>
                <a:sym typeface="Arial"/>
              </a:defRPr>
            </a:pPr>
            <a:r>
              <a:t>Click here now to claim your prize.</a:t>
            </a:r>
          </a:p>
        </p:txBody>
      </p:sp>
      <p:sp>
        <p:nvSpPr>
          <p:cNvPr id="267" name="special-offer@deals.com"/>
          <p:cNvSpPr txBox="1"/>
          <p:nvPr/>
        </p:nvSpPr>
        <p:spPr>
          <a:xfrm>
            <a:off x="866775" y="4463472"/>
            <a:ext cx="2638425" cy="1884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62616A"/>
                </a:solidFill>
                <a:latin typeface="Chalkboard"/>
                <a:ea typeface="Chalkboard"/>
                <a:cs typeface="Chalkboard"/>
                <a:sym typeface="Chalkboard"/>
              </a:defRPr>
            </a:lvl1pPr>
          </a:lstStyle>
          <a:p>
            <a:pPr/>
            <a:r>
              <a:t>special-offer@deals.com</a:t>
            </a:r>
          </a:p>
        </p:txBody>
      </p:sp>
      <p:sp>
        <p:nvSpPr>
          <p:cNvPr id="268" name="[1, 1, 1, 0]ᵀ"/>
          <p:cNvSpPr txBox="1"/>
          <p:nvPr/>
        </p:nvSpPr>
        <p:spPr>
          <a:xfrm>
            <a:off x="4095750" y="2646875"/>
            <a:ext cx="2571750" cy="4021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424548"/>
                </a:solidFill>
                <a:latin typeface="Chalkboard"/>
                <a:ea typeface="Chalkboard"/>
                <a:cs typeface="Chalkboard"/>
                <a:sym typeface="Chalkboard"/>
              </a:defRPr>
            </a:lvl1pPr>
          </a:lstStyle>
          <a:p>
            <a:pPr/>
            <a:r>
              <a:t>[1, 1, 1, 0]ᵀ</a:t>
            </a:r>
          </a:p>
        </p:txBody>
      </p:sp>
      <p:sp>
        <p:nvSpPr>
          <p:cNvPr id="269" name="Line"/>
          <p:cNvSpPr/>
          <p:nvPr/>
        </p:nvSpPr>
        <p:spPr>
          <a:xfrm>
            <a:off x="3933825" y="3372808"/>
            <a:ext cx="2781301" cy="159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602"/>
                </a:moveTo>
                <a:lnTo>
                  <a:pt x="1733" y="0"/>
                </a:lnTo>
                <a:lnTo>
                  <a:pt x="3558" y="4224"/>
                </a:lnTo>
                <a:lnTo>
                  <a:pt x="5402" y="11915"/>
                </a:lnTo>
                <a:lnTo>
                  <a:pt x="7208" y="12916"/>
                </a:lnTo>
                <a:lnTo>
                  <a:pt x="8939" y="922"/>
                </a:lnTo>
                <a:lnTo>
                  <a:pt x="10772" y="6750"/>
                </a:lnTo>
                <a:lnTo>
                  <a:pt x="12562" y="4893"/>
                </a:lnTo>
                <a:lnTo>
                  <a:pt x="14454" y="21045"/>
                </a:lnTo>
                <a:lnTo>
                  <a:pt x="16257" y="21516"/>
                </a:lnTo>
                <a:lnTo>
                  <a:pt x="18057" y="21600"/>
                </a:lnTo>
                <a:lnTo>
                  <a:pt x="19737" y="562"/>
                </a:lnTo>
                <a:lnTo>
                  <a:pt x="21600" y="11602"/>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270" name="Line"/>
          <p:cNvSpPr/>
          <p:nvPr/>
        </p:nvSpPr>
        <p:spPr>
          <a:xfrm>
            <a:off x="6620781" y="333580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271" name="Feature extraction"/>
          <p:cNvSpPr txBox="1"/>
          <p:nvPr/>
        </p:nvSpPr>
        <p:spPr>
          <a:xfrm>
            <a:off x="4095750" y="3846439"/>
            <a:ext cx="255270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62616A"/>
                </a:solidFill>
                <a:latin typeface="Chalkboard"/>
                <a:ea typeface="Chalkboard"/>
                <a:cs typeface="Chalkboard"/>
                <a:sym typeface="Chalkboard"/>
              </a:defRPr>
            </a:lvl1pPr>
          </a:lstStyle>
          <a:p>
            <a:pPr/>
            <a:r>
              <a:t>Feature extraction</a:t>
            </a:r>
          </a:p>
        </p:txBody>
      </p:sp>
      <p:sp>
        <p:nvSpPr>
          <p:cNvPr id="272" name="Shape"/>
          <p:cNvSpPr/>
          <p:nvPr/>
        </p:nvSpPr>
        <p:spPr>
          <a:xfrm>
            <a:off x="6994114" y="2758570"/>
            <a:ext cx="1260195" cy="12599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273" name="MLP"/>
          <p:cNvSpPr txBox="1"/>
          <p:nvPr/>
        </p:nvSpPr>
        <p:spPr>
          <a:xfrm>
            <a:off x="7038975" y="3192811"/>
            <a:ext cx="1162050"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424548"/>
                </a:solidFill>
                <a:latin typeface="Chalkboard"/>
                <a:ea typeface="Chalkboard"/>
                <a:cs typeface="Chalkboard"/>
                <a:sym typeface="Chalkboard"/>
              </a:defRPr>
            </a:lvl1pPr>
          </a:lstStyle>
          <a:p>
            <a:pPr/>
            <a:r>
              <a:t>MLP</a:t>
            </a:r>
          </a:p>
        </p:txBody>
      </p:sp>
      <p:sp>
        <p:nvSpPr>
          <p:cNvPr id="274" name="Line"/>
          <p:cNvSpPr/>
          <p:nvPr/>
        </p:nvSpPr>
        <p:spPr>
          <a:xfrm rot="21557999">
            <a:off x="8372475" y="2590799"/>
            <a:ext cx="895351" cy="790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64" y="19759"/>
                </a:lnTo>
                <a:lnTo>
                  <a:pt x="3416" y="17792"/>
                </a:lnTo>
                <a:lnTo>
                  <a:pt x="5452" y="16258"/>
                </a:lnTo>
                <a:lnTo>
                  <a:pt x="7205" y="14406"/>
                </a:lnTo>
                <a:lnTo>
                  <a:pt x="9164" y="12785"/>
                </a:lnTo>
                <a:lnTo>
                  <a:pt x="10818" y="10821"/>
                </a:lnTo>
                <a:lnTo>
                  <a:pt x="12543" y="8935"/>
                </a:lnTo>
                <a:lnTo>
                  <a:pt x="14202" y="6975"/>
                </a:lnTo>
                <a:lnTo>
                  <a:pt x="16052" y="5232"/>
                </a:lnTo>
                <a:lnTo>
                  <a:pt x="18050" y="3657"/>
                </a:lnTo>
                <a:lnTo>
                  <a:pt x="19708" y="1696"/>
                </a:lnTo>
                <a:lnTo>
                  <a:pt x="21600" y="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275" name="Line"/>
          <p:cNvSpPr/>
          <p:nvPr/>
        </p:nvSpPr>
        <p:spPr>
          <a:xfrm>
            <a:off x="9166938" y="2590799"/>
            <a:ext cx="100887" cy="966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917" y="21600"/>
                </a:moveTo>
                <a:lnTo>
                  <a:pt x="21600" y="0"/>
                </a:lnTo>
                <a:lnTo>
                  <a:pt x="0" y="6324"/>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276" name="Line"/>
          <p:cNvSpPr/>
          <p:nvPr/>
        </p:nvSpPr>
        <p:spPr>
          <a:xfrm>
            <a:off x="8372475" y="3381375"/>
            <a:ext cx="895351" cy="1143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75" y="1859"/>
                </a:lnTo>
                <a:lnTo>
                  <a:pt x="3695" y="3675"/>
                </a:lnTo>
                <a:lnTo>
                  <a:pt x="5512" y="5487"/>
                </a:lnTo>
                <a:lnTo>
                  <a:pt x="7310" y="7286"/>
                </a:lnTo>
                <a:lnTo>
                  <a:pt x="8927" y="8942"/>
                </a:lnTo>
                <a:lnTo>
                  <a:pt x="10897" y="10876"/>
                </a:lnTo>
                <a:lnTo>
                  <a:pt x="12622" y="12617"/>
                </a:lnTo>
                <a:lnTo>
                  <a:pt x="14589" y="14548"/>
                </a:lnTo>
                <a:lnTo>
                  <a:pt x="16318" y="16292"/>
                </a:lnTo>
                <a:lnTo>
                  <a:pt x="18134" y="18105"/>
                </a:lnTo>
                <a:lnTo>
                  <a:pt x="19732" y="19747"/>
                </a:lnTo>
                <a:lnTo>
                  <a:pt x="21600" y="2160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277" name="Line"/>
          <p:cNvSpPr/>
          <p:nvPr/>
        </p:nvSpPr>
        <p:spPr>
          <a:xfrm>
            <a:off x="9173770" y="4422001"/>
            <a:ext cx="94057" cy="1023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859"/>
                </a:moveTo>
                <a:lnTo>
                  <a:pt x="21600" y="21600"/>
                </a:lnTo>
                <a:lnTo>
                  <a:pt x="16478" y="0"/>
                </a:lnTo>
              </a:path>
            </a:pathLst>
          </a:custGeom>
          <a:ln w="20479">
            <a:solidFill>
              <a:srgbClr val="B07A3F"/>
            </a:solidFill>
            <a:prstDash val="dash"/>
          </a:ln>
        </p:spPr>
        <p:txBody>
          <a:bodyPr lIns="0" tIns="0" rIns="0" bIns="0"/>
          <a:lstStyle/>
          <a:p>
            <a:pPr>
              <a:defRPr>
                <a:latin typeface="Calibri"/>
                <a:ea typeface="Calibri"/>
                <a:cs typeface="Calibri"/>
                <a:sym typeface="Calibri"/>
              </a:defRPr>
            </a:pPr>
          </a:p>
        </p:txBody>
      </p:sp>
      <p:sp>
        <p:nvSpPr>
          <p:cNvPr id="278" name="Spam"/>
          <p:cNvSpPr txBox="1"/>
          <p:nvPr/>
        </p:nvSpPr>
        <p:spPr>
          <a:xfrm>
            <a:off x="9610725" y="2205975"/>
            <a:ext cx="1971675" cy="4648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8E7052"/>
                </a:solidFill>
                <a:latin typeface="Chalkboard"/>
                <a:ea typeface="Chalkboard"/>
                <a:cs typeface="Chalkboard"/>
                <a:sym typeface="Chalkboard"/>
              </a:defRPr>
            </a:lvl1pPr>
          </a:lstStyle>
          <a:p>
            <a:pPr/>
            <a:r>
              <a:t>Spam</a:t>
            </a:r>
          </a:p>
        </p:txBody>
      </p:sp>
      <p:sp>
        <p:nvSpPr>
          <p:cNvPr id="279" name="p = 0.94"/>
          <p:cNvSpPr txBox="1"/>
          <p:nvPr/>
        </p:nvSpPr>
        <p:spPr>
          <a:xfrm>
            <a:off x="9610725" y="2848238"/>
            <a:ext cx="1971675" cy="35189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200">
                <a:solidFill>
                  <a:srgbClr val="8E7052"/>
                </a:solidFill>
                <a:latin typeface="Chalkboard"/>
                <a:ea typeface="Chalkboard"/>
                <a:cs typeface="Chalkboard"/>
                <a:sym typeface="Chalkboard"/>
              </a:defRPr>
            </a:lvl1pPr>
          </a:lstStyle>
          <a:p>
            <a:pPr/>
            <a:r>
              <a:t>p = 0.94</a:t>
            </a:r>
          </a:p>
        </p:txBody>
      </p:sp>
      <p:sp>
        <p:nvSpPr>
          <p:cNvPr id="280" name="Not Spam"/>
          <p:cNvSpPr txBox="1"/>
          <p:nvPr/>
        </p:nvSpPr>
        <p:spPr>
          <a:xfrm>
            <a:off x="9305925" y="4270891"/>
            <a:ext cx="2276475" cy="4021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500">
                <a:solidFill>
                  <a:srgbClr val="424548"/>
                </a:solidFill>
                <a:latin typeface="Chalkboard"/>
                <a:ea typeface="Chalkboard"/>
                <a:cs typeface="Chalkboard"/>
                <a:sym typeface="Chalkboard"/>
              </a:defRPr>
            </a:lvl1pPr>
          </a:lstStyle>
          <a:p>
            <a:pPr/>
            <a:r>
              <a:t>Not Spam</a:t>
            </a:r>
          </a:p>
        </p:txBody>
      </p:sp>
      <p:sp>
        <p:nvSpPr>
          <p:cNvPr id="281" name="Other possible outcome"/>
          <p:cNvSpPr txBox="1"/>
          <p:nvPr/>
        </p:nvSpPr>
        <p:spPr>
          <a:xfrm>
            <a:off x="9305925" y="4850906"/>
            <a:ext cx="2276475" cy="2137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62616A"/>
                </a:solidFill>
                <a:latin typeface="Chalkboard"/>
                <a:ea typeface="Chalkboard"/>
                <a:cs typeface="Chalkboard"/>
                <a:sym typeface="Chalkboard"/>
              </a:defRPr>
            </a:lvl1pPr>
          </a:lstStyle>
          <a:p>
            <a:pPr/>
            <a:r>
              <a:t>Other possible outcome</a:t>
            </a:r>
          </a:p>
        </p:txBody>
      </p:sp>
      <p:sp>
        <p:nvSpPr>
          <p:cNvPr id="282" name="Binary labels: Spam = 1, Not Spam = 0. The MLP operates on numbers."/>
          <p:cNvSpPr txBox="1"/>
          <p:nvPr/>
        </p:nvSpPr>
        <p:spPr>
          <a:xfrm>
            <a:off x="638175" y="5895975"/>
            <a:ext cx="1090612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Training pairs features x with a known label y: Spam = 1, Not Spam = 0.</a:t>
            </a:r>
          </a:p>
        </p:txBody>
      </p:sp>
      <p:sp>
        <p:nvSpPr>
          <p:cNvPr id="283"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284"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285" name="Input x: numeric features"/>
          <p:cNvSpPr txBox="1"/>
          <p:nvPr/>
        </p:nvSpPr>
        <p:spPr>
          <a:xfrm>
            <a:off x="4191000" y="2190750"/>
            <a:ext cx="2667000" cy="238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355D83"/>
                </a:solidFill>
                <a:latin typeface="Chalkboard"/>
                <a:ea typeface="Chalkboard"/>
                <a:cs typeface="Chalkboard"/>
                <a:sym typeface="Chalkboard"/>
              </a:defRPr>
            </a:lvl1pPr>
          </a:lstStyle>
          <a:p>
            <a:pPr/>
            <a:r>
              <a:t>Input x: numeric features</a:t>
            </a:r>
          </a:p>
        </p:txBody>
      </p:sp>
      <p:sp>
        <p:nvSpPr>
          <p:cNvPr id="286" name="p estimates P(spam). Here, P(not spam) = 1 − 0.94 = 0.06."/>
          <p:cNvSpPr txBox="1"/>
          <p:nvPr/>
        </p:nvSpPr>
        <p:spPr>
          <a:xfrm>
            <a:off x="733425" y="5248275"/>
            <a:ext cx="1066800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424548"/>
                </a:solidFill>
                <a:latin typeface="Arial"/>
                <a:ea typeface="Arial"/>
                <a:cs typeface="Arial"/>
                <a:sym typeface="Arial"/>
              </a:defRPr>
            </a:lvl1pPr>
          </a:lstStyle>
          <a:p>
            <a:pPr/>
            <a:r>
              <a:t>p estimates P(spam). Here, P(not spam) = 1 − 0.94 = 0.06.</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290"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29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292" name="Four clues become four numbers"/>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Four clues become four numbers</a:t>
            </a:r>
          </a:p>
        </p:txBody>
      </p:sp>
      <p:sp>
        <p:nvSpPr>
          <p:cNvPr id="293" name="Each binary feature answers one yes-or-no question about the example email."/>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Each binary feature answers one yes-or-no question about the example email.</a:t>
            </a:r>
          </a:p>
        </p:txBody>
      </p:sp>
      <p:sp>
        <p:nvSpPr>
          <p:cNvPr id="294" name="04"/>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09</a:t>
            </a:r>
          </a:p>
        </p:txBody>
      </p:sp>
      <p:sp>
        <p:nvSpPr>
          <p:cNvPr id="295" name="“FREE”, “WON”, “prize”"/>
          <p:cNvSpPr txBox="1"/>
          <p:nvPr/>
        </p:nvSpPr>
        <p:spPr>
          <a:xfrm>
            <a:off x="638175" y="2159180"/>
            <a:ext cx="3848100"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8E7052"/>
                </a:solidFill>
                <a:latin typeface="Chalkboard"/>
                <a:ea typeface="Chalkboard"/>
                <a:cs typeface="Chalkboard"/>
                <a:sym typeface="Chalkboard"/>
              </a:defRPr>
            </a:lvl1pPr>
          </a:lstStyle>
          <a:p>
            <a:pPr/>
            <a:r>
              <a:t>“FREE”, “WON”, “prize”</a:t>
            </a:r>
          </a:p>
        </p:txBody>
      </p:sp>
      <p:sp>
        <p:nvSpPr>
          <p:cNvPr id="296" name="Line"/>
          <p:cNvSpPr/>
          <p:nvPr/>
        </p:nvSpPr>
        <p:spPr>
          <a:xfrm>
            <a:off x="4495800" y="2347033"/>
            <a:ext cx="1276352" cy="136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951"/>
                </a:moveTo>
                <a:lnTo>
                  <a:pt x="1722" y="1629"/>
                </a:lnTo>
                <a:lnTo>
                  <a:pt x="3628" y="11558"/>
                </a:lnTo>
                <a:lnTo>
                  <a:pt x="5379" y="6966"/>
                </a:lnTo>
                <a:lnTo>
                  <a:pt x="7268" y="15316"/>
                </a:lnTo>
                <a:lnTo>
                  <a:pt x="9015" y="10347"/>
                </a:lnTo>
                <a:lnTo>
                  <a:pt x="10823" y="11093"/>
                </a:lnTo>
                <a:lnTo>
                  <a:pt x="12505" y="0"/>
                </a:lnTo>
                <a:lnTo>
                  <a:pt x="14432" y="11965"/>
                </a:lnTo>
                <a:lnTo>
                  <a:pt x="16107" y="243"/>
                </a:lnTo>
                <a:lnTo>
                  <a:pt x="18135" y="21600"/>
                </a:lnTo>
                <a:lnTo>
                  <a:pt x="19773" y="6441"/>
                </a:lnTo>
                <a:lnTo>
                  <a:pt x="21600" y="8951"/>
                </a:lnTo>
              </a:path>
            </a:pathLst>
          </a:custGeom>
          <a:ln w="20479">
            <a:solidFill>
              <a:srgbClr val="2A9D8F"/>
            </a:solidFill>
            <a:prstDash val="dashDot"/>
          </a:ln>
        </p:spPr>
        <p:txBody>
          <a:bodyPr lIns="0" tIns="0" rIns="0" bIns="0"/>
          <a:lstStyle/>
          <a:p>
            <a:pPr>
              <a:defRPr>
                <a:latin typeface="Calibri"/>
                <a:ea typeface="Calibri"/>
                <a:cs typeface="Calibri"/>
                <a:sym typeface="Calibri"/>
              </a:defRPr>
            </a:pPr>
          </a:p>
        </p:txBody>
      </p:sp>
      <p:sp>
        <p:nvSpPr>
          <p:cNvPr id="297" name="Line"/>
          <p:cNvSpPr/>
          <p:nvPr/>
        </p:nvSpPr>
        <p:spPr>
          <a:xfrm>
            <a:off x="5677806" y="230710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B07A3F"/>
            </a:solidFill>
          </a:ln>
        </p:spPr>
        <p:txBody>
          <a:bodyPr lIns="0" tIns="0" rIns="0" bIns="0"/>
          <a:lstStyle/>
          <a:p>
            <a:pPr>
              <a:defRPr>
                <a:latin typeface="Calibri"/>
                <a:ea typeface="Calibri"/>
                <a:cs typeface="Calibri"/>
                <a:sym typeface="Calibri"/>
              </a:defRPr>
            </a:pPr>
          </a:p>
        </p:txBody>
      </p:sp>
      <p:sp>
        <p:nvSpPr>
          <p:cNvPr id="298" name="Spam-like words"/>
          <p:cNvSpPr txBox="1"/>
          <p:nvPr/>
        </p:nvSpPr>
        <p:spPr>
          <a:xfrm>
            <a:off x="6019800" y="2157339"/>
            <a:ext cx="3467100" cy="3525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8282A"/>
                </a:solidFill>
                <a:latin typeface="Chalkboard"/>
                <a:ea typeface="Chalkboard"/>
                <a:cs typeface="Chalkboard"/>
                <a:sym typeface="Chalkboard"/>
              </a:defRPr>
            </a:lvl1pPr>
          </a:lstStyle>
          <a:p>
            <a:pPr/>
            <a:r>
              <a:t>Spam-like words</a:t>
            </a:r>
          </a:p>
        </p:txBody>
      </p:sp>
      <p:sp>
        <p:nvSpPr>
          <p:cNvPr id="299" name="Shape"/>
          <p:cNvSpPr/>
          <p:nvPr/>
        </p:nvSpPr>
        <p:spPr>
          <a:xfrm rot="21557999">
            <a:off x="10354847" y="2088456"/>
            <a:ext cx="534628" cy="5345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300" name="1"/>
          <p:cNvSpPr txBox="1"/>
          <p:nvPr/>
        </p:nvSpPr>
        <p:spPr>
          <a:xfrm>
            <a:off x="10401300" y="2157844"/>
            <a:ext cx="43815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424548"/>
                </a:solidFill>
                <a:latin typeface="Chalkboard"/>
                <a:ea typeface="Chalkboard"/>
                <a:cs typeface="Chalkboard"/>
                <a:sym typeface="Chalkboard"/>
              </a:defRPr>
            </a:lvl1pPr>
          </a:lstStyle>
          <a:p>
            <a:pPr/>
            <a:r>
              <a:t>1</a:t>
            </a:r>
          </a:p>
        </p:txBody>
      </p:sp>
      <p:sp>
        <p:nvSpPr>
          <p:cNvPr id="301" name="x₁"/>
          <p:cNvSpPr txBox="1"/>
          <p:nvPr/>
        </p:nvSpPr>
        <p:spPr>
          <a:xfrm>
            <a:off x="9848850" y="2157411"/>
            <a:ext cx="54292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62616A"/>
                </a:solidFill>
                <a:latin typeface="Chalkboard"/>
                <a:ea typeface="Chalkboard"/>
                <a:cs typeface="Chalkboard"/>
                <a:sym typeface="Chalkboard"/>
              </a:defRPr>
            </a:lvl1pPr>
          </a:lstStyle>
          <a:p>
            <a:pPr/>
            <a:r>
              <a:t>x₁</a:t>
            </a:r>
          </a:p>
        </p:txBody>
      </p:sp>
      <p:sp>
        <p:nvSpPr>
          <p:cNvPr id="302" name="“Click here” link"/>
          <p:cNvSpPr txBox="1"/>
          <p:nvPr/>
        </p:nvSpPr>
        <p:spPr>
          <a:xfrm>
            <a:off x="638175" y="2997380"/>
            <a:ext cx="3848100"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8E7052"/>
                </a:solidFill>
                <a:latin typeface="Chalkboard"/>
                <a:ea typeface="Chalkboard"/>
                <a:cs typeface="Chalkboard"/>
                <a:sym typeface="Chalkboard"/>
              </a:defRPr>
            </a:lvl1pPr>
          </a:lstStyle>
          <a:p>
            <a:pPr/>
            <a:r>
              <a:t>“Click here” link</a:t>
            </a:r>
          </a:p>
        </p:txBody>
      </p:sp>
      <p:sp>
        <p:nvSpPr>
          <p:cNvPr id="303" name="Line"/>
          <p:cNvSpPr/>
          <p:nvPr/>
        </p:nvSpPr>
        <p:spPr>
          <a:xfrm>
            <a:off x="4495800" y="3182734"/>
            <a:ext cx="1276352" cy="153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454"/>
                </a:moveTo>
                <a:lnTo>
                  <a:pt x="1835" y="14380"/>
                </a:lnTo>
                <a:lnTo>
                  <a:pt x="3576" y="9432"/>
                </a:lnTo>
                <a:lnTo>
                  <a:pt x="5454" y="15960"/>
                </a:lnTo>
                <a:lnTo>
                  <a:pt x="7224" y="13412"/>
                </a:lnTo>
                <a:lnTo>
                  <a:pt x="9092" y="19109"/>
                </a:lnTo>
                <a:lnTo>
                  <a:pt x="10803" y="11727"/>
                </a:lnTo>
                <a:lnTo>
                  <a:pt x="12462" y="0"/>
                </a:lnTo>
                <a:lnTo>
                  <a:pt x="14386" y="10328"/>
                </a:lnTo>
                <a:lnTo>
                  <a:pt x="16106" y="3622"/>
                </a:lnTo>
                <a:lnTo>
                  <a:pt x="18122" y="21600"/>
                </a:lnTo>
                <a:lnTo>
                  <a:pt x="19912" y="20752"/>
                </a:lnTo>
                <a:lnTo>
                  <a:pt x="21600" y="11454"/>
                </a:lnTo>
              </a:path>
            </a:pathLst>
          </a:custGeom>
          <a:ln w="20479">
            <a:solidFill>
              <a:srgbClr val="7B6BA8"/>
            </a:solidFill>
            <a:prstDash val="dash"/>
          </a:ln>
        </p:spPr>
        <p:txBody>
          <a:bodyPr lIns="0" tIns="0" rIns="0" bIns="0"/>
          <a:lstStyle/>
          <a:p>
            <a:pPr>
              <a:defRPr>
                <a:latin typeface="Calibri"/>
                <a:ea typeface="Calibri"/>
                <a:cs typeface="Calibri"/>
                <a:sym typeface="Calibri"/>
              </a:defRPr>
            </a:pPr>
          </a:p>
        </p:txBody>
      </p:sp>
      <p:sp>
        <p:nvSpPr>
          <p:cNvPr id="304" name="Line"/>
          <p:cNvSpPr/>
          <p:nvPr/>
        </p:nvSpPr>
        <p:spPr>
          <a:xfrm>
            <a:off x="5677806" y="314530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2A9D8F"/>
            </a:solidFill>
            <a:prstDash val="dashDot"/>
          </a:ln>
        </p:spPr>
        <p:txBody>
          <a:bodyPr lIns="0" tIns="0" rIns="0" bIns="0"/>
          <a:lstStyle/>
          <a:p>
            <a:pPr>
              <a:defRPr>
                <a:latin typeface="Calibri"/>
                <a:ea typeface="Calibri"/>
                <a:cs typeface="Calibri"/>
                <a:sym typeface="Calibri"/>
              </a:defRPr>
            </a:pPr>
          </a:p>
        </p:txBody>
      </p:sp>
      <p:sp>
        <p:nvSpPr>
          <p:cNvPr id="305" name="Suspicious link"/>
          <p:cNvSpPr txBox="1"/>
          <p:nvPr/>
        </p:nvSpPr>
        <p:spPr>
          <a:xfrm>
            <a:off x="6019800" y="2995539"/>
            <a:ext cx="3467100" cy="3525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8282A"/>
                </a:solidFill>
                <a:latin typeface="Chalkboard"/>
                <a:ea typeface="Chalkboard"/>
                <a:cs typeface="Chalkboard"/>
                <a:sym typeface="Chalkboard"/>
              </a:defRPr>
            </a:lvl1pPr>
          </a:lstStyle>
          <a:p>
            <a:pPr/>
            <a:r>
              <a:t>Suspicious link</a:t>
            </a:r>
          </a:p>
        </p:txBody>
      </p:sp>
      <p:sp>
        <p:nvSpPr>
          <p:cNvPr id="306" name="Shape"/>
          <p:cNvSpPr/>
          <p:nvPr/>
        </p:nvSpPr>
        <p:spPr>
          <a:xfrm rot="42001">
            <a:off x="10354847" y="2926656"/>
            <a:ext cx="534628" cy="5345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307" name="1"/>
          <p:cNvSpPr txBox="1"/>
          <p:nvPr/>
        </p:nvSpPr>
        <p:spPr>
          <a:xfrm>
            <a:off x="10401300" y="2996044"/>
            <a:ext cx="43815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424548"/>
                </a:solidFill>
                <a:latin typeface="Chalkboard"/>
                <a:ea typeface="Chalkboard"/>
                <a:cs typeface="Chalkboard"/>
                <a:sym typeface="Chalkboard"/>
              </a:defRPr>
            </a:lvl1pPr>
          </a:lstStyle>
          <a:p>
            <a:pPr/>
            <a:r>
              <a:t>1</a:t>
            </a:r>
          </a:p>
        </p:txBody>
      </p:sp>
      <p:sp>
        <p:nvSpPr>
          <p:cNvPr id="308" name="x₂"/>
          <p:cNvSpPr txBox="1"/>
          <p:nvPr/>
        </p:nvSpPr>
        <p:spPr>
          <a:xfrm>
            <a:off x="9848850" y="2995611"/>
            <a:ext cx="54292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62616A"/>
                </a:solidFill>
                <a:latin typeface="Chalkboard"/>
                <a:ea typeface="Chalkboard"/>
                <a:cs typeface="Chalkboard"/>
                <a:sym typeface="Chalkboard"/>
              </a:defRPr>
            </a:lvl1pPr>
          </a:lstStyle>
          <a:p>
            <a:pPr/>
            <a:r>
              <a:t>x₂</a:t>
            </a:r>
          </a:p>
        </p:txBody>
      </p:sp>
      <p:sp>
        <p:nvSpPr>
          <p:cNvPr id="309" name="CAPITALS and !!!"/>
          <p:cNvSpPr txBox="1"/>
          <p:nvPr/>
        </p:nvSpPr>
        <p:spPr>
          <a:xfrm>
            <a:off x="638175" y="3835580"/>
            <a:ext cx="3848100"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8E7052"/>
                </a:solidFill>
                <a:latin typeface="Chalkboard"/>
                <a:ea typeface="Chalkboard"/>
                <a:cs typeface="Chalkboard"/>
                <a:sym typeface="Chalkboard"/>
              </a:defRPr>
            </a:lvl1pPr>
          </a:lstStyle>
          <a:p>
            <a:pPr/>
            <a:r>
              <a:t>CAPITALS and !!!</a:t>
            </a:r>
          </a:p>
        </p:txBody>
      </p:sp>
      <p:sp>
        <p:nvSpPr>
          <p:cNvPr id="310" name="Line"/>
          <p:cNvSpPr/>
          <p:nvPr/>
        </p:nvSpPr>
        <p:spPr>
          <a:xfrm>
            <a:off x="4495800" y="4023757"/>
            <a:ext cx="1276352" cy="137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326"/>
                </a:moveTo>
                <a:lnTo>
                  <a:pt x="1895" y="17071"/>
                </a:lnTo>
                <a:lnTo>
                  <a:pt x="3706" y="18157"/>
                </a:lnTo>
                <a:lnTo>
                  <a:pt x="5310" y="0"/>
                </a:lnTo>
                <a:lnTo>
                  <a:pt x="7268" y="14574"/>
                </a:lnTo>
                <a:lnTo>
                  <a:pt x="9101" y="17627"/>
                </a:lnTo>
                <a:lnTo>
                  <a:pt x="10805" y="8827"/>
                </a:lnTo>
                <a:lnTo>
                  <a:pt x="12662" y="14031"/>
                </a:lnTo>
                <a:lnTo>
                  <a:pt x="14332" y="2037"/>
                </a:lnTo>
                <a:lnTo>
                  <a:pt x="16344" y="21600"/>
                </a:lnTo>
                <a:lnTo>
                  <a:pt x="17963" y="4894"/>
                </a:lnTo>
                <a:lnTo>
                  <a:pt x="19718" y="726"/>
                </a:lnTo>
                <a:lnTo>
                  <a:pt x="21600" y="8326"/>
                </a:lnTo>
              </a:path>
            </a:pathLst>
          </a:custGeom>
          <a:ln w="20479">
            <a:solidFill>
              <a:srgbClr val="355070"/>
            </a:solidFill>
          </a:ln>
        </p:spPr>
        <p:txBody>
          <a:bodyPr lIns="0" tIns="0" rIns="0" bIns="0"/>
          <a:lstStyle/>
          <a:p>
            <a:pPr>
              <a:defRPr>
                <a:latin typeface="Calibri"/>
                <a:ea typeface="Calibri"/>
                <a:cs typeface="Calibri"/>
                <a:sym typeface="Calibri"/>
              </a:defRPr>
            </a:pPr>
          </a:p>
        </p:txBody>
      </p:sp>
      <p:sp>
        <p:nvSpPr>
          <p:cNvPr id="311" name="Line"/>
          <p:cNvSpPr/>
          <p:nvPr/>
        </p:nvSpPr>
        <p:spPr>
          <a:xfrm>
            <a:off x="5677806" y="398350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7B6BA8"/>
            </a:solidFill>
            <a:prstDash val="dash"/>
          </a:ln>
        </p:spPr>
        <p:txBody>
          <a:bodyPr lIns="0" tIns="0" rIns="0" bIns="0"/>
          <a:lstStyle/>
          <a:p>
            <a:pPr>
              <a:defRPr>
                <a:latin typeface="Calibri"/>
                <a:ea typeface="Calibri"/>
                <a:cs typeface="Calibri"/>
                <a:sym typeface="Calibri"/>
              </a:defRPr>
            </a:pPr>
          </a:p>
        </p:txBody>
      </p:sp>
      <p:sp>
        <p:nvSpPr>
          <p:cNvPr id="312" name="Aggressive formatting"/>
          <p:cNvSpPr txBox="1"/>
          <p:nvPr/>
        </p:nvSpPr>
        <p:spPr>
          <a:xfrm>
            <a:off x="6019800" y="3833739"/>
            <a:ext cx="3467100" cy="3525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8282A"/>
                </a:solidFill>
                <a:latin typeface="Chalkboard"/>
                <a:ea typeface="Chalkboard"/>
                <a:cs typeface="Chalkboard"/>
                <a:sym typeface="Chalkboard"/>
              </a:defRPr>
            </a:lvl1pPr>
          </a:lstStyle>
          <a:p>
            <a:pPr/>
            <a:r>
              <a:t>Aggressive formatting</a:t>
            </a:r>
          </a:p>
        </p:txBody>
      </p:sp>
      <p:sp>
        <p:nvSpPr>
          <p:cNvPr id="313" name="Shape"/>
          <p:cNvSpPr/>
          <p:nvPr/>
        </p:nvSpPr>
        <p:spPr>
          <a:xfrm rot="21557999">
            <a:off x="10354847" y="3764855"/>
            <a:ext cx="534628" cy="5345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314" name="1"/>
          <p:cNvSpPr txBox="1"/>
          <p:nvPr/>
        </p:nvSpPr>
        <p:spPr>
          <a:xfrm>
            <a:off x="10401300" y="3834244"/>
            <a:ext cx="43815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424548"/>
                </a:solidFill>
                <a:latin typeface="Chalkboard"/>
                <a:ea typeface="Chalkboard"/>
                <a:cs typeface="Chalkboard"/>
                <a:sym typeface="Chalkboard"/>
              </a:defRPr>
            </a:lvl1pPr>
          </a:lstStyle>
          <a:p>
            <a:pPr/>
            <a:r>
              <a:t>1</a:t>
            </a:r>
          </a:p>
        </p:txBody>
      </p:sp>
      <p:sp>
        <p:nvSpPr>
          <p:cNvPr id="315" name="x₃"/>
          <p:cNvSpPr txBox="1"/>
          <p:nvPr/>
        </p:nvSpPr>
        <p:spPr>
          <a:xfrm>
            <a:off x="9848850" y="3833811"/>
            <a:ext cx="54292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62616A"/>
                </a:solidFill>
                <a:latin typeface="Chalkboard"/>
                <a:ea typeface="Chalkboard"/>
                <a:cs typeface="Chalkboard"/>
                <a:sym typeface="Chalkboard"/>
              </a:defRPr>
            </a:lvl1pPr>
          </a:lstStyle>
          <a:p>
            <a:pPr/>
            <a:r>
              <a:t>x₃</a:t>
            </a:r>
          </a:p>
        </p:txBody>
      </p:sp>
      <p:sp>
        <p:nvSpPr>
          <p:cNvPr id="316" name="Unknown sender"/>
          <p:cNvSpPr txBox="1"/>
          <p:nvPr/>
        </p:nvSpPr>
        <p:spPr>
          <a:xfrm>
            <a:off x="638175" y="4673780"/>
            <a:ext cx="3848100"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100">
                <a:solidFill>
                  <a:srgbClr val="62616A"/>
                </a:solidFill>
                <a:latin typeface="Chalkboard"/>
                <a:ea typeface="Chalkboard"/>
                <a:cs typeface="Chalkboard"/>
                <a:sym typeface="Chalkboard"/>
              </a:defRPr>
            </a:lvl1pPr>
          </a:lstStyle>
          <a:p>
            <a:pPr/>
            <a:r>
              <a:t>Unknown sender</a:t>
            </a:r>
          </a:p>
        </p:txBody>
      </p:sp>
      <p:sp>
        <p:nvSpPr>
          <p:cNvPr id="317" name="Line"/>
          <p:cNvSpPr/>
          <p:nvPr/>
        </p:nvSpPr>
        <p:spPr>
          <a:xfrm>
            <a:off x="4495800" y="4859094"/>
            <a:ext cx="1276352" cy="158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124"/>
                </a:moveTo>
                <a:lnTo>
                  <a:pt x="1803" y="11329"/>
                </a:lnTo>
                <a:lnTo>
                  <a:pt x="3532" y="5632"/>
                </a:lnTo>
                <a:lnTo>
                  <a:pt x="5413" y="12171"/>
                </a:lnTo>
                <a:lnTo>
                  <a:pt x="7190" y="10335"/>
                </a:lnTo>
                <a:lnTo>
                  <a:pt x="9010" y="11899"/>
                </a:lnTo>
                <a:lnTo>
                  <a:pt x="10671" y="742"/>
                </a:lnTo>
                <a:lnTo>
                  <a:pt x="12462" y="0"/>
                </a:lnTo>
                <a:lnTo>
                  <a:pt x="14530" y="21600"/>
                </a:lnTo>
                <a:lnTo>
                  <a:pt x="16316" y="20405"/>
                </a:lnTo>
                <a:lnTo>
                  <a:pt x="18095" y="18792"/>
                </a:lnTo>
                <a:lnTo>
                  <a:pt x="19721" y="4737"/>
                </a:lnTo>
                <a:lnTo>
                  <a:pt x="21600" y="11124"/>
                </a:lnTo>
              </a:path>
            </a:pathLst>
          </a:custGeom>
          <a:ln w="20479">
            <a:solidFill>
              <a:srgbClr val="2A9D8F"/>
            </a:solidFill>
            <a:prstDash val="dashDot"/>
          </a:ln>
        </p:spPr>
        <p:txBody>
          <a:bodyPr lIns="0" tIns="0" rIns="0" bIns="0"/>
          <a:lstStyle/>
          <a:p>
            <a:pPr>
              <a:defRPr>
                <a:latin typeface="Calibri"/>
                <a:ea typeface="Calibri"/>
                <a:cs typeface="Calibri"/>
                <a:sym typeface="Calibri"/>
              </a:defRPr>
            </a:pPr>
          </a:p>
        </p:txBody>
      </p:sp>
      <p:sp>
        <p:nvSpPr>
          <p:cNvPr id="318" name="Line"/>
          <p:cNvSpPr/>
          <p:nvPr/>
        </p:nvSpPr>
        <p:spPr>
          <a:xfrm>
            <a:off x="5677806" y="482170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B07A3F"/>
            </a:solidFill>
          </a:ln>
        </p:spPr>
        <p:txBody>
          <a:bodyPr lIns="0" tIns="0" rIns="0" bIns="0"/>
          <a:lstStyle/>
          <a:p>
            <a:pPr>
              <a:defRPr>
                <a:latin typeface="Calibri"/>
                <a:ea typeface="Calibri"/>
                <a:cs typeface="Calibri"/>
                <a:sym typeface="Calibri"/>
              </a:defRPr>
            </a:pPr>
          </a:p>
        </p:txBody>
      </p:sp>
      <p:sp>
        <p:nvSpPr>
          <p:cNvPr id="319" name="Trusted sender"/>
          <p:cNvSpPr txBox="1"/>
          <p:nvPr/>
        </p:nvSpPr>
        <p:spPr>
          <a:xfrm>
            <a:off x="6019800" y="4671939"/>
            <a:ext cx="3467100" cy="3525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28282A"/>
                </a:solidFill>
                <a:latin typeface="Chalkboard"/>
                <a:ea typeface="Chalkboard"/>
                <a:cs typeface="Chalkboard"/>
                <a:sym typeface="Chalkboard"/>
              </a:defRPr>
            </a:lvl1pPr>
          </a:lstStyle>
          <a:p>
            <a:pPr/>
            <a:r>
              <a:t>Trusted sender</a:t>
            </a:r>
          </a:p>
        </p:txBody>
      </p:sp>
      <p:sp>
        <p:nvSpPr>
          <p:cNvPr id="320" name="Shape"/>
          <p:cNvSpPr/>
          <p:nvPr/>
        </p:nvSpPr>
        <p:spPr>
          <a:xfrm rot="21557999">
            <a:off x="10354847" y="4603055"/>
            <a:ext cx="534628" cy="5345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321" name="0"/>
          <p:cNvSpPr txBox="1"/>
          <p:nvPr/>
        </p:nvSpPr>
        <p:spPr>
          <a:xfrm>
            <a:off x="10401300" y="4672444"/>
            <a:ext cx="43815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62616A"/>
                </a:solidFill>
                <a:latin typeface="Chalkboard"/>
                <a:ea typeface="Chalkboard"/>
                <a:cs typeface="Chalkboard"/>
                <a:sym typeface="Chalkboard"/>
              </a:defRPr>
            </a:lvl1pPr>
          </a:lstStyle>
          <a:p>
            <a:pPr/>
            <a:r>
              <a:t>0</a:t>
            </a:r>
          </a:p>
        </p:txBody>
      </p:sp>
      <p:sp>
        <p:nvSpPr>
          <p:cNvPr id="322" name="x₄"/>
          <p:cNvSpPr txBox="1"/>
          <p:nvPr/>
        </p:nvSpPr>
        <p:spPr>
          <a:xfrm>
            <a:off x="9848850" y="4672011"/>
            <a:ext cx="542925" cy="381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900">
                <a:solidFill>
                  <a:srgbClr val="62616A"/>
                </a:solidFill>
                <a:latin typeface="Chalkboard"/>
                <a:ea typeface="Chalkboard"/>
                <a:cs typeface="Chalkboard"/>
                <a:sym typeface="Chalkboard"/>
              </a:defRPr>
            </a:lvl1pPr>
          </a:lstStyle>
          <a:p>
            <a:pPr/>
            <a:r>
              <a:t>x₄</a:t>
            </a:r>
          </a:p>
        </p:txBody>
      </p:sp>
      <p:sp>
        <p:nvSpPr>
          <p:cNvPr id="323" name="X = [1, 1, 1, 0]ᵀ"/>
          <p:cNvSpPr txBox="1"/>
          <p:nvPr/>
        </p:nvSpPr>
        <p:spPr>
          <a:xfrm>
            <a:off x="723900" y="5886450"/>
            <a:ext cx="4429125" cy="33728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2000">
                <a:solidFill>
                  <a:srgbClr val="424548"/>
                </a:solidFill>
                <a:latin typeface="Chalkboard"/>
                <a:ea typeface="Chalkboard"/>
                <a:cs typeface="Chalkboard"/>
                <a:sym typeface="Chalkboard"/>
              </a:defRPr>
            </a:lvl1pPr>
          </a:lstStyle>
          <a:p>
            <a:pPr/>
            <a:r>
              <a:t>x = [1, 1, 1, 0]ᵀ</a:t>
            </a:r>
          </a:p>
        </p:txBody>
      </p:sp>
      <p:sp>
        <p:nvSpPr>
          <p:cNvPr id="324" name="Real text models often use TF-IDF or embeddings."/>
          <p:cNvSpPr txBox="1"/>
          <p:nvPr/>
        </p:nvSpPr>
        <p:spPr>
          <a:xfrm>
            <a:off x="5381625" y="5905500"/>
            <a:ext cx="607695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62616A"/>
                </a:solidFill>
                <a:latin typeface="Arial"/>
                <a:ea typeface="Arial"/>
                <a:cs typeface="Arial"/>
                <a:sym typeface="Arial"/>
              </a:defRPr>
            </a:lvl1pPr>
          </a:lstStyle>
          <a:p>
            <a:pPr/>
            <a:r>
              <a:t>TF-IDF and embeddings provide richer numeric text features.</a:t>
            </a:r>
          </a:p>
        </p:txBody>
      </p:sp>
      <p:sp>
        <p:nvSpPr>
          <p:cNvPr id="325"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326"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327" name="1 = feature present     0 = feature absent"/>
          <p:cNvSpPr txBox="1"/>
          <p:nvPr/>
        </p:nvSpPr>
        <p:spPr>
          <a:xfrm>
            <a:off x="723900" y="1714500"/>
            <a:ext cx="10572750" cy="2765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287B95"/>
                </a:solidFill>
                <a:latin typeface="Chalkboard"/>
                <a:ea typeface="Chalkboard"/>
                <a:cs typeface="Chalkboard"/>
                <a:sym typeface="Chalkboard"/>
              </a:defRPr>
            </a:lvl1pPr>
          </a:lstStyle>
          <a:p>
            <a:pPr/>
            <a:r>
              <a:t>1 = feature present     0 = feature absent</a:t>
            </a:r>
          </a:p>
        </p:txBody>
      </p:sp>
      <p:sp>
        <p:nvSpPr>
          <p:cNvPr id="328" name="Keep this feature order for every email. x₄ = 0 means the trusted-sender feature is absent."/>
          <p:cNvSpPr txBox="1"/>
          <p:nvPr/>
        </p:nvSpPr>
        <p:spPr>
          <a:xfrm>
            <a:off x="723900" y="5305425"/>
            <a:ext cx="10715625" cy="228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Keep this feature order for every email. x₄ = 0 means the trusted-sender feature is absent.</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32"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333"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334" name="Inside one neuron"/>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Inside one neuron</a:t>
            </a:r>
          </a:p>
        </p:txBody>
      </p:sp>
      <p:sp>
        <p:nvSpPr>
          <p:cNvPr id="335" name="A worked example: multiply inputs by weights, add a bias, then apply an activation."/>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A worked example: multiply inputs by weights, add a bias, then apply an activation.</a:t>
            </a:r>
          </a:p>
        </p:txBody>
      </p:sp>
      <p:sp>
        <p:nvSpPr>
          <p:cNvPr id="336" name="05"/>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10</a:t>
            </a:r>
          </a:p>
        </p:txBody>
      </p:sp>
      <p:sp>
        <p:nvSpPr>
          <p:cNvPr id="337"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338"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339" name="Chart"/>
          <p:cNvGraphicFramePr/>
          <p:nvPr/>
        </p:nvGraphicFramePr>
        <p:xfrm>
          <a:off x="667253" y="3287094"/>
          <a:ext cx="5578541" cy="2292151"/>
        </p:xfrm>
        <a:graphic xmlns:a="http://schemas.openxmlformats.org/drawingml/2006/main">
          <a:graphicData uri="http://schemas.openxmlformats.org/drawingml/2006/chart">
            <c:chart xmlns:c="http://schemas.openxmlformats.org/drawingml/2006/chart" r:id="rId3"/>
          </a:graphicData>
        </a:graphic>
      </p:graphicFrame>
      <p:sp>
        <p:nvSpPr>
          <p:cNvPr id="340" name="1  Multiply each input by its weight"/>
          <p:cNvSpPr txBox="1"/>
          <p:nvPr/>
        </p:nvSpPr>
        <p:spPr>
          <a:xfrm>
            <a:off x="723900" y="1790700"/>
            <a:ext cx="576262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1  Multiply each input by its weight</a:t>
            </a:r>
          </a:p>
        </p:txBody>
      </p:sp>
      <p:sp>
        <p:nvSpPr>
          <p:cNvPr id="341" name="Inputs from the email: x = [1, 1, 1, 0]"/>
          <p:cNvSpPr txBox="1"/>
          <p:nvPr/>
        </p:nvSpPr>
        <p:spPr>
          <a:xfrm>
            <a:off x="723900" y="2190750"/>
            <a:ext cx="5695950" cy="221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424548"/>
                </a:solidFill>
                <a:latin typeface="Arial"/>
                <a:ea typeface="Arial"/>
                <a:cs typeface="Arial"/>
                <a:sym typeface="Arial"/>
              </a:defRPr>
            </a:lvl1pPr>
          </a:lstStyle>
          <a:p>
            <a:pPr/>
            <a:r>
              <a:t>Inputs from the email: x = [1, 1, 1, 0]</a:t>
            </a:r>
          </a:p>
        </p:txBody>
      </p:sp>
      <p:sp>
        <p:nvSpPr>
          <p:cNvPr id="342" name="x₁ × w₁ = 1 × 1.5 = 1.5"/>
          <p:cNvSpPr txBox="1"/>
          <p:nvPr/>
        </p:nvSpPr>
        <p:spPr>
          <a:xfrm>
            <a:off x="723900" y="2619375"/>
            <a:ext cx="27622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38779"/>
                </a:solidFill>
                <a:latin typeface="Arial"/>
                <a:ea typeface="Arial"/>
                <a:cs typeface="Arial"/>
                <a:sym typeface="Arial"/>
              </a:defRPr>
            </a:lvl1pPr>
          </a:lstStyle>
          <a:p>
            <a:pPr/>
            <a:r>
              <a:t>x₁ × w₁ = 1 × 1.5 = 1.5</a:t>
            </a:r>
          </a:p>
        </p:txBody>
      </p:sp>
      <p:sp>
        <p:nvSpPr>
          <p:cNvPr id="343" name="x₂ × w₂ = 1 × 0.3 = 0.3"/>
          <p:cNvSpPr txBox="1"/>
          <p:nvPr/>
        </p:nvSpPr>
        <p:spPr>
          <a:xfrm>
            <a:off x="3600450" y="2619375"/>
            <a:ext cx="2838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355D83"/>
                </a:solidFill>
                <a:latin typeface="Arial"/>
                <a:ea typeface="Arial"/>
                <a:cs typeface="Arial"/>
                <a:sym typeface="Arial"/>
              </a:defRPr>
            </a:lvl1pPr>
          </a:lstStyle>
          <a:p>
            <a:pPr/>
            <a:r>
              <a:t>x₂ × w₂ = 1 × 0.3 = 0.3</a:t>
            </a:r>
          </a:p>
        </p:txBody>
      </p:sp>
      <p:sp>
        <p:nvSpPr>
          <p:cNvPr id="344" name="x₃ × w₃ = 1 × 0.8 = 0.8"/>
          <p:cNvSpPr txBox="1"/>
          <p:nvPr/>
        </p:nvSpPr>
        <p:spPr>
          <a:xfrm>
            <a:off x="723900" y="2981325"/>
            <a:ext cx="2809875"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9B702C"/>
                </a:solidFill>
                <a:latin typeface="Arial"/>
                <a:ea typeface="Arial"/>
                <a:cs typeface="Arial"/>
                <a:sym typeface="Arial"/>
              </a:defRPr>
            </a:lvl1pPr>
          </a:lstStyle>
          <a:p>
            <a:pPr/>
            <a:r>
              <a:t>x₃ × w₃ = 1 × 0.8 = 0.8</a:t>
            </a:r>
          </a:p>
        </p:txBody>
      </p:sp>
      <p:sp>
        <p:nvSpPr>
          <p:cNvPr id="345" name="x₄ × w₄ = 0 × w₄ = 0"/>
          <p:cNvSpPr txBox="1"/>
          <p:nvPr/>
        </p:nvSpPr>
        <p:spPr>
          <a:xfrm>
            <a:off x="3600450" y="2981325"/>
            <a:ext cx="2838450" cy="241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8754A0"/>
                </a:solidFill>
                <a:latin typeface="Arial"/>
                <a:ea typeface="Arial"/>
                <a:cs typeface="Arial"/>
                <a:sym typeface="Arial"/>
              </a:defRPr>
            </a:lvl1pPr>
          </a:lstStyle>
          <a:p>
            <a:pPr/>
            <a:r>
              <a:t>x₄ × w₄ = 0 × w₄ = 0</a:t>
            </a:r>
          </a:p>
        </p:txBody>
      </p:sp>
      <p:sp>
        <p:nvSpPr>
          <p:cNvPr id="346" name="2  Add the contributions"/>
          <p:cNvSpPr txBox="1"/>
          <p:nvPr/>
        </p:nvSpPr>
        <p:spPr>
          <a:xfrm>
            <a:off x="6953250" y="1790700"/>
            <a:ext cx="442912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2  Add the contributions</a:t>
            </a:r>
          </a:p>
        </p:txBody>
      </p:sp>
      <p:sp>
        <p:nvSpPr>
          <p:cNvPr id="347" name="1.5 + 0.3 + 0.8 + 0 = 2.6"/>
          <p:cNvSpPr txBox="1"/>
          <p:nvPr/>
        </p:nvSpPr>
        <p:spPr>
          <a:xfrm>
            <a:off x="6953250" y="2200275"/>
            <a:ext cx="4448175"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424548"/>
                </a:solidFill>
                <a:latin typeface="Arial"/>
                <a:ea typeface="Arial"/>
                <a:cs typeface="Arial"/>
                <a:sym typeface="Arial"/>
              </a:defRPr>
            </a:lvl1pPr>
          </a:lstStyle>
          <a:p>
            <a:pPr/>
            <a:r>
              <a:t>1.5 + 0.3 + 0.8 + 0 = 2.6</a:t>
            </a:r>
          </a:p>
        </p:txBody>
      </p:sp>
      <p:sp>
        <p:nvSpPr>
          <p:cNvPr id="348" name="A zero input contributes 0, whatever its weight."/>
          <p:cNvSpPr txBox="1"/>
          <p:nvPr/>
        </p:nvSpPr>
        <p:spPr>
          <a:xfrm>
            <a:off x="6953250" y="2609850"/>
            <a:ext cx="4429125"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424548"/>
                </a:solidFill>
                <a:latin typeface="Arial"/>
                <a:ea typeface="Arial"/>
                <a:cs typeface="Arial"/>
                <a:sym typeface="Arial"/>
              </a:defRPr>
            </a:lvl1pPr>
          </a:lstStyle>
          <a:p>
            <a:pPr/>
            <a:r>
              <a:t>A zero input contributes 0, whatever its weight.</a:t>
            </a:r>
          </a:p>
        </p:txBody>
      </p:sp>
      <p:sp>
        <p:nvSpPr>
          <p:cNvPr id="349" name="3  Add the bias"/>
          <p:cNvSpPr txBox="1"/>
          <p:nvPr/>
        </p:nvSpPr>
        <p:spPr>
          <a:xfrm>
            <a:off x="6953250" y="3143250"/>
            <a:ext cx="444817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3  Add the bias</a:t>
            </a:r>
          </a:p>
        </p:txBody>
      </p:sp>
      <p:sp>
        <p:nvSpPr>
          <p:cNvPr id="350" name="z = 2.6 + (−0.5) = 2.1"/>
          <p:cNvSpPr txBox="1"/>
          <p:nvPr/>
        </p:nvSpPr>
        <p:spPr>
          <a:xfrm>
            <a:off x="6953250" y="3533775"/>
            <a:ext cx="4429125"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8E7052"/>
                </a:solidFill>
                <a:latin typeface="Arial"/>
                <a:ea typeface="Arial"/>
                <a:cs typeface="Arial"/>
                <a:sym typeface="Arial"/>
              </a:defRPr>
            </a:lvl1pPr>
          </a:lstStyle>
          <a:p>
            <a:pPr/>
            <a:r>
              <a:t>z = 2.6 + (−0.5) = 2.1</a:t>
            </a:r>
          </a:p>
        </p:txBody>
      </p:sp>
      <p:sp>
        <p:nvSpPr>
          <p:cNvPr id="351" name="The bias shifts the total. z is the value…"/>
          <p:cNvSpPr txBox="1"/>
          <p:nvPr/>
        </p:nvSpPr>
        <p:spPr>
          <a:xfrm>
            <a:off x="6953250" y="3943350"/>
            <a:ext cx="443865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424548"/>
                </a:solidFill>
                <a:latin typeface="Arial"/>
                <a:ea typeface="Arial"/>
                <a:cs typeface="Arial"/>
                <a:sym typeface="Arial"/>
              </a:defRPr>
            </a:pPr>
            <a:r>
              <a:t>The bias shifts the total. z is the value</a:t>
            </a:r>
          </a:p>
          <a:p>
            <a:pPr>
              <a:defRPr sz="1400">
                <a:solidFill>
                  <a:srgbClr val="424548"/>
                </a:solidFill>
                <a:latin typeface="Arial"/>
                <a:ea typeface="Arial"/>
                <a:cs typeface="Arial"/>
                <a:sym typeface="Arial"/>
              </a:defRPr>
            </a:pPr>
            <a:r>
              <a:t>before activation.</a:t>
            </a:r>
          </a:p>
        </p:txBody>
      </p:sp>
      <p:sp>
        <p:nvSpPr>
          <p:cNvPr id="352" name="4  Apply ReLU and pass the result"/>
          <p:cNvSpPr txBox="1"/>
          <p:nvPr/>
        </p:nvSpPr>
        <p:spPr>
          <a:xfrm>
            <a:off x="6953250" y="4562475"/>
            <a:ext cx="45529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4  Apply ReLU and pass the result</a:t>
            </a:r>
          </a:p>
        </p:txBody>
      </p:sp>
      <p:sp>
        <p:nvSpPr>
          <p:cNvPr id="353" name="a = max(0, 2.1) = 2.1"/>
          <p:cNvSpPr txBox="1"/>
          <p:nvPr/>
        </p:nvSpPr>
        <p:spPr>
          <a:xfrm>
            <a:off x="6953250" y="4933950"/>
            <a:ext cx="4524375"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2000">
                <a:solidFill>
                  <a:srgbClr val="238779"/>
                </a:solidFill>
                <a:latin typeface="Arial"/>
                <a:ea typeface="Arial"/>
                <a:cs typeface="Arial"/>
                <a:sym typeface="Arial"/>
              </a:defRPr>
            </a:lvl1pPr>
          </a:lstStyle>
          <a:p>
            <a:pPr/>
            <a:r>
              <a:t>a = max(0, 2.1) = 2.1</a:t>
            </a:r>
          </a:p>
        </p:txBody>
      </p:sp>
      <p:sp>
        <p:nvSpPr>
          <p:cNvPr id="354" name="Positive z passes through. Negative z becomes 0."/>
          <p:cNvSpPr txBox="1"/>
          <p:nvPr/>
        </p:nvSpPr>
        <p:spPr>
          <a:xfrm>
            <a:off x="6953250" y="5353050"/>
            <a:ext cx="4572000" cy="1850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424548"/>
                </a:solidFill>
                <a:latin typeface="Arial"/>
                <a:ea typeface="Arial"/>
                <a:cs typeface="Arial"/>
                <a:sym typeface="Arial"/>
              </a:defRPr>
            </a:lvl1pPr>
          </a:lstStyle>
          <a:p>
            <a:pPr/>
            <a:r>
              <a:t>Positive z passes through. Negative z becomes 0.</a:t>
            </a:r>
          </a:p>
        </p:txBody>
      </p:sp>
      <p:sp>
        <p:nvSpPr>
          <p:cNvPr id="355" name="Weights and bias are learned during training."/>
          <p:cNvSpPr txBox="1"/>
          <p:nvPr/>
        </p:nvSpPr>
        <p:spPr>
          <a:xfrm>
            <a:off x="723900" y="5886450"/>
            <a:ext cx="5238750" cy="238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424548"/>
                </a:solidFill>
                <a:latin typeface="Chalkboard"/>
                <a:ea typeface="Chalkboard"/>
                <a:cs typeface="Chalkboard"/>
                <a:sym typeface="Chalkboard"/>
              </a:defRPr>
            </a:lvl1pPr>
          </a:lstStyle>
          <a:p>
            <a:pPr/>
            <a:r>
              <a:t>Training learns the weights and bias.</a:t>
            </a:r>
          </a:p>
        </p:txBody>
      </p:sp>
      <p:sp>
        <p:nvSpPr>
          <p:cNvPr id="356" name="Output a = 2.1 feeds the next layer."/>
          <p:cNvSpPr txBox="1"/>
          <p:nvPr/>
        </p:nvSpPr>
        <p:spPr>
          <a:xfrm>
            <a:off x="6400800" y="5886450"/>
            <a:ext cx="5124450" cy="2387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500">
                <a:solidFill>
                  <a:srgbClr val="424548"/>
                </a:solidFill>
                <a:latin typeface="Chalkboard"/>
                <a:ea typeface="Chalkboard"/>
                <a:cs typeface="Chalkboard"/>
                <a:sym typeface="Chalkboard"/>
              </a:defRPr>
            </a:lvl1pPr>
          </a:lstStyle>
          <a:p>
            <a:pPr/>
            <a:r>
              <a:t>Activation a = 2.1 feeds the next layer.</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360" name="Rounded Rectangle"/>
          <p:cNvSpPr/>
          <p:nvPr/>
        </p:nvSpPr>
        <p:spPr>
          <a:xfrm>
            <a:off x="457200" y="1647825"/>
            <a:ext cx="11277600" cy="4114800"/>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361"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362" name="A network of weighted connections"/>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A network of weighted connections</a:t>
            </a:r>
          </a:p>
        </p:txBody>
      </p:sp>
      <p:sp>
        <p:nvSpPr>
          <p:cNvPr id="363" name="The 4–3–2–1 architecture combines simple features into a spam probability."/>
          <p:cNvSpPr txBox="1"/>
          <p:nvPr/>
        </p:nvSpPr>
        <p:spPr>
          <a:xfrm>
            <a:off x="628650" y="1223941"/>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In this fully connected MLP, each neuron receives every output from the previous layer.</a:t>
            </a:r>
          </a:p>
        </p:txBody>
      </p:sp>
      <p:sp>
        <p:nvSpPr>
          <p:cNvPr id="364" name="06"/>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11</a:t>
            </a:r>
          </a:p>
        </p:txBody>
      </p:sp>
      <p:sp>
        <p:nvSpPr>
          <p:cNvPr id="365" name="Line"/>
          <p:cNvSpPr/>
          <p:nvPr/>
        </p:nvSpPr>
        <p:spPr>
          <a:xfrm>
            <a:off x="1383535" y="2853289"/>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78" y="1636"/>
                </a:lnTo>
                <a:lnTo>
                  <a:pt x="3643" y="3927"/>
                </a:lnTo>
                <a:lnTo>
                  <a:pt x="5355" y="5063"/>
                </a:lnTo>
                <a:lnTo>
                  <a:pt x="7261" y="7657"/>
                </a:lnTo>
                <a:lnTo>
                  <a:pt x="9059" y="9440"/>
                </a:lnTo>
                <a:lnTo>
                  <a:pt x="10837" y="11076"/>
                </a:lnTo>
                <a:lnTo>
                  <a:pt x="12579" y="12440"/>
                </a:lnTo>
                <a:lnTo>
                  <a:pt x="14446" y="14745"/>
                </a:lnTo>
                <a:lnTo>
                  <a:pt x="16213" y="16299"/>
                </a:lnTo>
                <a:lnTo>
                  <a:pt x="18015" y="18115"/>
                </a:lnTo>
                <a:lnTo>
                  <a:pt x="19739" y="19345"/>
                </a:lnTo>
                <a:lnTo>
                  <a:pt x="21600" y="21600"/>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366" name="Line"/>
          <p:cNvSpPr/>
          <p:nvPr/>
        </p:nvSpPr>
        <p:spPr>
          <a:xfrm rot="21557999">
            <a:off x="1373533" y="2891495"/>
            <a:ext cx="1756355" cy="70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70" y="1975"/>
                </a:lnTo>
                <a:lnTo>
                  <a:pt x="3639" y="3697"/>
                </a:lnTo>
                <a:lnTo>
                  <a:pt x="5468" y="5570"/>
                </a:lnTo>
                <a:lnTo>
                  <a:pt x="7185" y="7162"/>
                </a:lnTo>
                <a:lnTo>
                  <a:pt x="9000" y="8999"/>
                </a:lnTo>
                <a:lnTo>
                  <a:pt x="10744" y="10661"/>
                </a:lnTo>
                <a:lnTo>
                  <a:pt x="12642" y="12704"/>
                </a:lnTo>
                <a:lnTo>
                  <a:pt x="14439" y="14497"/>
                </a:lnTo>
                <a:lnTo>
                  <a:pt x="16180" y="16151"/>
                </a:lnTo>
                <a:lnTo>
                  <a:pt x="18008" y="18019"/>
                </a:lnTo>
                <a:lnTo>
                  <a:pt x="19823" y="19858"/>
                </a:lnTo>
                <a:lnTo>
                  <a:pt x="21600" y="21600"/>
                </a:lnTo>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367" name="Line"/>
          <p:cNvSpPr/>
          <p:nvPr/>
        </p:nvSpPr>
        <p:spPr>
          <a:xfrm rot="21557999">
            <a:off x="1358132" y="2920831"/>
            <a:ext cx="1787157" cy="11894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03" y="1805"/>
                </a:lnTo>
                <a:lnTo>
                  <a:pt x="3564" y="3546"/>
                </a:lnTo>
                <a:lnTo>
                  <a:pt x="5471" y="5507"/>
                </a:lnTo>
                <a:lnTo>
                  <a:pt x="7200" y="7200"/>
                </a:lnTo>
                <a:lnTo>
                  <a:pt x="8983" y="8974"/>
                </a:lnTo>
                <a:lnTo>
                  <a:pt x="10760" y="10740"/>
                </a:lnTo>
                <a:lnTo>
                  <a:pt x="12653" y="12680"/>
                </a:lnTo>
                <a:lnTo>
                  <a:pt x="14431" y="14446"/>
                </a:lnTo>
                <a:lnTo>
                  <a:pt x="16208" y="16212"/>
                </a:lnTo>
                <a:lnTo>
                  <a:pt x="17945" y="17917"/>
                </a:lnTo>
                <a:lnTo>
                  <a:pt x="19790" y="19784"/>
                </a:lnTo>
                <a:lnTo>
                  <a:pt x="21600" y="21600"/>
                </a:lnTo>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368" name="Line"/>
          <p:cNvSpPr/>
          <p:nvPr/>
        </p:nvSpPr>
        <p:spPr>
          <a:xfrm>
            <a:off x="1383535" y="3126657"/>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60" y="20251"/>
                </a:lnTo>
                <a:lnTo>
                  <a:pt x="3551" y="17630"/>
                </a:lnTo>
                <a:lnTo>
                  <a:pt x="5335" y="15713"/>
                </a:lnTo>
                <a:lnTo>
                  <a:pt x="7254" y="14809"/>
                </a:lnTo>
                <a:lnTo>
                  <a:pt x="8980" y="12452"/>
                </a:lnTo>
                <a:lnTo>
                  <a:pt x="10811" y="10885"/>
                </a:lnTo>
                <a:lnTo>
                  <a:pt x="12601" y="9010"/>
                </a:lnTo>
                <a:lnTo>
                  <a:pt x="14475" y="7760"/>
                </a:lnTo>
                <a:lnTo>
                  <a:pt x="16214" y="5503"/>
                </a:lnTo>
                <a:lnTo>
                  <a:pt x="17945" y="3185"/>
                </a:lnTo>
                <a:lnTo>
                  <a:pt x="19767" y="1549"/>
                </a:lnTo>
                <a:lnTo>
                  <a:pt x="21600" y="0"/>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369" name="Line"/>
          <p:cNvSpPr/>
          <p:nvPr/>
        </p:nvSpPr>
        <p:spPr>
          <a:xfrm>
            <a:off x="1383535" y="3400025"/>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61" y="2255"/>
                </a:lnTo>
                <a:lnTo>
                  <a:pt x="3546" y="3197"/>
                </a:lnTo>
                <a:lnTo>
                  <a:pt x="5396" y="5368"/>
                </a:lnTo>
                <a:lnTo>
                  <a:pt x="7165" y="6934"/>
                </a:lnTo>
                <a:lnTo>
                  <a:pt x="8979" y="8845"/>
                </a:lnTo>
                <a:lnTo>
                  <a:pt x="10737" y="10330"/>
                </a:lnTo>
                <a:lnTo>
                  <a:pt x="12567" y="12349"/>
                </a:lnTo>
                <a:lnTo>
                  <a:pt x="14400" y="14402"/>
                </a:lnTo>
                <a:lnTo>
                  <a:pt x="16263" y="16676"/>
                </a:lnTo>
                <a:lnTo>
                  <a:pt x="18028" y="18211"/>
                </a:lnTo>
                <a:lnTo>
                  <a:pt x="19822" y="19965"/>
                </a:lnTo>
                <a:lnTo>
                  <a:pt x="21600" y="21600"/>
                </a:lnTo>
              </a:path>
            </a:pathLst>
          </a:custGeom>
          <a:ln w="20479">
            <a:solidFill>
              <a:srgbClr val="B07A3F"/>
            </a:solidFill>
            <a:prstDash val="dashDot"/>
          </a:ln>
        </p:spPr>
        <p:txBody>
          <a:bodyPr lIns="0" tIns="0" rIns="0" bIns="0"/>
          <a:lstStyle/>
          <a:p>
            <a:pPr>
              <a:defRPr>
                <a:latin typeface="Calibri"/>
                <a:ea typeface="Calibri"/>
                <a:cs typeface="Calibri"/>
                <a:sym typeface="Calibri"/>
              </a:defRPr>
            </a:pPr>
          </a:p>
        </p:txBody>
      </p:sp>
      <p:sp>
        <p:nvSpPr>
          <p:cNvPr id="370" name="Line"/>
          <p:cNvSpPr/>
          <p:nvPr/>
        </p:nvSpPr>
        <p:spPr>
          <a:xfrm>
            <a:off x="1373533" y="3438230"/>
            <a:ext cx="1756355" cy="70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36" y="1640"/>
                </a:lnTo>
                <a:lnTo>
                  <a:pt x="3530" y="3424"/>
                </a:lnTo>
                <a:lnTo>
                  <a:pt x="5346" y="5264"/>
                </a:lnTo>
                <a:lnTo>
                  <a:pt x="7159" y="7098"/>
                </a:lnTo>
                <a:lnTo>
                  <a:pt x="8998" y="8996"/>
                </a:lnTo>
                <a:lnTo>
                  <a:pt x="10864" y="10960"/>
                </a:lnTo>
                <a:lnTo>
                  <a:pt x="12614" y="12636"/>
                </a:lnTo>
                <a:lnTo>
                  <a:pt x="14436" y="14489"/>
                </a:lnTo>
                <a:lnTo>
                  <a:pt x="16235" y="16287"/>
                </a:lnTo>
                <a:lnTo>
                  <a:pt x="18060" y="18149"/>
                </a:lnTo>
                <a:lnTo>
                  <a:pt x="19747" y="19667"/>
                </a:lnTo>
                <a:lnTo>
                  <a:pt x="21600" y="2160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371" name="Line"/>
          <p:cNvSpPr/>
          <p:nvPr/>
        </p:nvSpPr>
        <p:spPr>
          <a:xfrm>
            <a:off x="1373533" y="3164862"/>
            <a:ext cx="1756355" cy="70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68" y="19971"/>
                </a:lnTo>
                <a:lnTo>
                  <a:pt x="3558" y="17895"/>
                </a:lnTo>
                <a:lnTo>
                  <a:pt x="5357" y="16094"/>
                </a:lnTo>
                <a:lnTo>
                  <a:pt x="7224" y="14461"/>
                </a:lnTo>
                <a:lnTo>
                  <a:pt x="9007" y="12619"/>
                </a:lnTo>
                <a:lnTo>
                  <a:pt x="10852" y="10929"/>
                </a:lnTo>
                <a:lnTo>
                  <a:pt x="12668" y="9170"/>
                </a:lnTo>
                <a:lnTo>
                  <a:pt x="14446" y="7314"/>
                </a:lnTo>
                <a:lnTo>
                  <a:pt x="16152" y="5279"/>
                </a:lnTo>
                <a:lnTo>
                  <a:pt x="18063" y="3756"/>
                </a:lnTo>
                <a:lnTo>
                  <a:pt x="19784" y="1759"/>
                </a:lnTo>
                <a:lnTo>
                  <a:pt x="21600" y="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372" name="Line"/>
          <p:cNvSpPr/>
          <p:nvPr/>
        </p:nvSpPr>
        <p:spPr>
          <a:xfrm>
            <a:off x="1383535" y="3673392"/>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26" y="19245"/>
                </a:lnTo>
                <a:lnTo>
                  <a:pt x="3611" y="18085"/>
                </a:lnTo>
                <a:lnTo>
                  <a:pt x="5468" y="16711"/>
                </a:lnTo>
                <a:lnTo>
                  <a:pt x="7216" y="14522"/>
                </a:lnTo>
                <a:lnTo>
                  <a:pt x="8958" y="12282"/>
                </a:lnTo>
                <a:lnTo>
                  <a:pt x="10836" y="11074"/>
                </a:lnTo>
                <a:lnTo>
                  <a:pt x="12622" y="9167"/>
                </a:lnTo>
                <a:lnTo>
                  <a:pt x="14384" y="7079"/>
                </a:lnTo>
                <a:lnTo>
                  <a:pt x="16170" y="5173"/>
                </a:lnTo>
                <a:lnTo>
                  <a:pt x="18008" y="3659"/>
                </a:lnTo>
                <a:lnTo>
                  <a:pt x="19775" y="1613"/>
                </a:lnTo>
                <a:lnTo>
                  <a:pt x="21600" y="0"/>
                </a:lnTo>
              </a:path>
            </a:pathLst>
          </a:custGeom>
          <a:ln w="20479">
            <a:solidFill>
              <a:srgbClr val="355070"/>
            </a:solidFill>
            <a:prstDash val="dashDot"/>
          </a:ln>
        </p:spPr>
        <p:txBody>
          <a:bodyPr lIns="0" tIns="0" rIns="0" bIns="0"/>
          <a:lstStyle/>
          <a:p>
            <a:pPr>
              <a:defRPr>
                <a:latin typeface="Calibri"/>
                <a:ea typeface="Calibri"/>
                <a:cs typeface="Calibri"/>
                <a:sym typeface="Calibri"/>
              </a:defRPr>
            </a:pPr>
          </a:p>
        </p:txBody>
      </p:sp>
      <p:sp>
        <p:nvSpPr>
          <p:cNvPr id="373" name="Line"/>
          <p:cNvSpPr/>
          <p:nvPr/>
        </p:nvSpPr>
        <p:spPr>
          <a:xfrm>
            <a:off x="1383535" y="3946759"/>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82" y="1664"/>
                </a:lnTo>
                <a:lnTo>
                  <a:pt x="3532" y="3090"/>
                </a:lnTo>
                <a:lnTo>
                  <a:pt x="5426" y="5596"/>
                </a:lnTo>
                <a:lnTo>
                  <a:pt x="7205" y="7236"/>
                </a:lnTo>
                <a:lnTo>
                  <a:pt x="8968" y="8759"/>
                </a:lnTo>
                <a:lnTo>
                  <a:pt x="10750" y="10425"/>
                </a:lnTo>
                <a:lnTo>
                  <a:pt x="12619" y="12741"/>
                </a:lnTo>
                <a:lnTo>
                  <a:pt x="14375" y="14212"/>
                </a:lnTo>
                <a:lnTo>
                  <a:pt x="16218" y="16338"/>
                </a:lnTo>
                <a:lnTo>
                  <a:pt x="17976" y="17821"/>
                </a:lnTo>
                <a:lnTo>
                  <a:pt x="19751" y="19431"/>
                </a:lnTo>
                <a:lnTo>
                  <a:pt x="21600" y="2160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374" name="Line"/>
          <p:cNvSpPr/>
          <p:nvPr/>
        </p:nvSpPr>
        <p:spPr>
          <a:xfrm>
            <a:off x="1358132" y="3194199"/>
            <a:ext cx="1787157" cy="11894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57" y="19886"/>
                </a:lnTo>
                <a:lnTo>
                  <a:pt x="3578" y="17967"/>
                </a:lnTo>
                <a:lnTo>
                  <a:pt x="5445" y="16267"/>
                </a:lnTo>
                <a:lnTo>
                  <a:pt x="7185" y="14378"/>
                </a:lnTo>
                <a:lnTo>
                  <a:pt x="8990" y="12584"/>
                </a:lnTo>
                <a:lnTo>
                  <a:pt x="10765" y="10747"/>
                </a:lnTo>
                <a:lnTo>
                  <a:pt x="12530" y="8895"/>
                </a:lnTo>
                <a:lnTo>
                  <a:pt x="14442" y="7263"/>
                </a:lnTo>
                <a:lnTo>
                  <a:pt x="16218" y="5428"/>
                </a:lnTo>
                <a:lnTo>
                  <a:pt x="17944" y="3516"/>
                </a:lnTo>
                <a:lnTo>
                  <a:pt x="19864" y="1896"/>
                </a:lnTo>
                <a:lnTo>
                  <a:pt x="21600" y="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375" name="Line"/>
          <p:cNvSpPr/>
          <p:nvPr/>
        </p:nvSpPr>
        <p:spPr>
          <a:xfrm rot="21557999">
            <a:off x="1373533" y="3711597"/>
            <a:ext cx="1756355" cy="70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32" y="19881"/>
                </a:lnTo>
                <a:lnTo>
                  <a:pt x="3638" y="18095"/>
                </a:lnTo>
                <a:lnTo>
                  <a:pt x="5394" y="16185"/>
                </a:lnTo>
                <a:lnTo>
                  <a:pt x="7148" y="14270"/>
                </a:lnTo>
                <a:lnTo>
                  <a:pt x="9041" y="12703"/>
                </a:lnTo>
                <a:lnTo>
                  <a:pt x="10758" y="10696"/>
                </a:lnTo>
                <a:lnTo>
                  <a:pt x="12589" y="8972"/>
                </a:lnTo>
                <a:lnTo>
                  <a:pt x="14404" y="7209"/>
                </a:lnTo>
                <a:lnTo>
                  <a:pt x="16233" y="5483"/>
                </a:lnTo>
                <a:lnTo>
                  <a:pt x="18032" y="3679"/>
                </a:lnTo>
                <a:lnTo>
                  <a:pt x="19835" y="1888"/>
                </a:lnTo>
                <a:lnTo>
                  <a:pt x="21600" y="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376" name="Line"/>
          <p:cNvSpPr/>
          <p:nvPr/>
        </p:nvSpPr>
        <p:spPr>
          <a:xfrm>
            <a:off x="1383535" y="4220126"/>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22" y="19967"/>
                </a:lnTo>
                <a:lnTo>
                  <a:pt x="3639" y="18292"/>
                </a:lnTo>
                <a:lnTo>
                  <a:pt x="5382" y="16068"/>
                </a:lnTo>
                <a:lnTo>
                  <a:pt x="7126" y="13843"/>
                </a:lnTo>
                <a:lnTo>
                  <a:pt x="8984" y="12483"/>
                </a:lnTo>
                <a:lnTo>
                  <a:pt x="10853" y="11201"/>
                </a:lnTo>
                <a:lnTo>
                  <a:pt x="12527" y="8450"/>
                </a:lnTo>
                <a:lnTo>
                  <a:pt x="14415" y="7310"/>
                </a:lnTo>
                <a:lnTo>
                  <a:pt x="16164" y="5130"/>
                </a:lnTo>
                <a:lnTo>
                  <a:pt x="17952" y="3239"/>
                </a:lnTo>
                <a:lnTo>
                  <a:pt x="19854" y="2205"/>
                </a:lnTo>
                <a:lnTo>
                  <a:pt x="21600"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377" name="Line"/>
          <p:cNvSpPr/>
          <p:nvPr/>
        </p:nvSpPr>
        <p:spPr>
          <a:xfrm>
            <a:off x="3437125" y="3126657"/>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94" y="1754"/>
                </a:lnTo>
                <a:lnTo>
                  <a:pt x="3541" y="3158"/>
                </a:lnTo>
                <a:lnTo>
                  <a:pt x="5355" y="5062"/>
                </a:lnTo>
                <a:lnTo>
                  <a:pt x="7227" y="7404"/>
                </a:lnTo>
                <a:lnTo>
                  <a:pt x="8970" y="8774"/>
                </a:lnTo>
                <a:lnTo>
                  <a:pt x="10853" y="11199"/>
                </a:lnTo>
                <a:lnTo>
                  <a:pt x="12620" y="12752"/>
                </a:lnTo>
                <a:lnTo>
                  <a:pt x="14420" y="14550"/>
                </a:lnTo>
                <a:lnTo>
                  <a:pt x="16156" y="15872"/>
                </a:lnTo>
                <a:lnTo>
                  <a:pt x="18054" y="18405"/>
                </a:lnTo>
                <a:lnTo>
                  <a:pt x="19859" y="20246"/>
                </a:lnTo>
                <a:lnTo>
                  <a:pt x="21600" y="21600"/>
                </a:lnTo>
              </a:path>
            </a:pathLst>
          </a:custGeom>
          <a:ln w="20479">
            <a:solidFill>
              <a:srgbClr val="355070"/>
            </a:solidFill>
            <a:prstDash val="dashDot"/>
          </a:ln>
        </p:spPr>
        <p:txBody>
          <a:bodyPr lIns="0" tIns="0" rIns="0" bIns="0"/>
          <a:lstStyle/>
          <a:p>
            <a:pPr>
              <a:defRPr>
                <a:latin typeface="Calibri"/>
                <a:ea typeface="Calibri"/>
                <a:cs typeface="Calibri"/>
                <a:sym typeface="Calibri"/>
              </a:defRPr>
            </a:pPr>
          </a:p>
        </p:txBody>
      </p:sp>
      <p:sp>
        <p:nvSpPr>
          <p:cNvPr id="378" name="Line"/>
          <p:cNvSpPr/>
          <p:nvPr/>
        </p:nvSpPr>
        <p:spPr>
          <a:xfrm>
            <a:off x="3427124" y="3164862"/>
            <a:ext cx="1756354" cy="70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21" y="1853"/>
                </a:lnTo>
                <a:lnTo>
                  <a:pt x="3626" y="3664"/>
                </a:lnTo>
                <a:lnTo>
                  <a:pt x="5441" y="5502"/>
                </a:lnTo>
                <a:lnTo>
                  <a:pt x="7136" y="7039"/>
                </a:lnTo>
                <a:lnTo>
                  <a:pt x="9005" y="9011"/>
                </a:lnTo>
                <a:lnTo>
                  <a:pt x="10871" y="10978"/>
                </a:lnTo>
                <a:lnTo>
                  <a:pt x="12582" y="12556"/>
                </a:lnTo>
                <a:lnTo>
                  <a:pt x="14335" y="14236"/>
                </a:lnTo>
                <a:lnTo>
                  <a:pt x="16182" y="16155"/>
                </a:lnTo>
                <a:lnTo>
                  <a:pt x="17938" y="17845"/>
                </a:lnTo>
                <a:lnTo>
                  <a:pt x="19829" y="19873"/>
                </a:lnTo>
                <a:lnTo>
                  <a:pt x="21600" y="2160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379" name="Line"/>
          <p:cNvSpPr/>
          <p:nvPr/>
        </p:nvSpPr>
        <p:spPr>
          <a:xfrm>
            <a:off x="3437125" y="3400025"/>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49" y="20171"/>
                </a:lnTo>
                <a:lnTo>
                  <a:pt x="3610" y="18074"/>
                </a:lnTo>
                <a:lnTo>
                  <a:pt x="5406" y="16247"/>
                </a:lnTo>
                <a:lnTo>
                  <a:pt x="7150" y="14026"/>
                </a:lnTo>
                <a:lnTo>
                  <a:pt x="9000" y="12600"/>
                </a:lnTo>
                <a:lnTo>
                  <a:pt x="10745" y="10385"/>
                </a:lnTo>
                <a:lnTo>
                  <a:pt x="12669" y="9519"/>
                </a:lnTo>
                <a:lnTo>
                  <a:pt x="14451" y="7581"/>
                </a:lnTo>
                <a:lnTo>
                  <a:pt x="16154" y="5051"/>
                </a:lnTo>
                <a:lnTo>
                  <a:pt x="17990" y="3522"/>
                </a:lnTo>
                <a:lnTo>
                  <a:pt x="19825" y="1987"/>
                </a:lnTo>
                <a:lnTo>
                  <a:pt x="21600"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380" name="Line"/>
          <p:cNvSpPr/>
          <p:nvPr/>
        </p:nvSpPr>
        <p:spPr>
          <a:xfrm>
            <a:off x="3437125" y="3673392"/>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71" y="2332"/>
                </a:lnTo>
                <a:lnTo>
                  <a:pt x="3662" y="4063"/>
                </a:lnTo>
                <a:lnTo>
                  <a:pt x="5350" y="5021"/>
                </a:lnTo>
                <a:lnTo>
                  <a:pt x="7266" y="7695"/>
                </a:lnTo>
                <a:lnTo>
                  <a:pt x="9068" y="9514"/>
                </a:lnTo>
                <a:lnTo>
                  <a:pt x="10758" y="10485"/>
                </a:lnTo>
                <a:lnTo>
                  <a:pt x="12620" y="12749"/>
                </a:lnTo>
                <a:lnTo>
                  <a:pt x="14470" y="14925"/>
                </a:lnTo>
                <a:lnTo>
                  <a:pt x="16130" y="15671"/>
                </a:lnTo>
                <a:lnTo>
                  <a:pt x="17932" y="17486"/>
                </a:lnTo>
                <a:lnTo>
                  <a:pt x="19777" y="19629"/>
                </a:lnTo>
                <a:lnTo>
                  <a:pt x="21600" y="21600"/>
                </a:lnTo>
              </a:path>
            </a:pathLst>
          </a:custGeom>
          <a:ln w="20479">
            <a:solidFill>
              <a:srgbClr val="C65D4B"/>
            </a:solidFill>
            <a:prstDash val="dash"/>
          </a:ln>
        </p:spPr>
        <p:txBody>
          <a:bodyPr lIns="0" tIns="0" rIns="0" bIns="0"/>
          <a:lstStyle/>
          <a:p>
            <a:pPr>
              <a:defRPr>
                <a:latin typeface="Calibri"/>
                <a:ea typeface="Calibri"/>
                <a:cs typeface="Calibri"/>
                <a:sym typeface="Calibri"/>
              </a:defRPr>
            </a:pPr>
          </a:p>
        </p:txBody>
      </p:sp>
      <p:sp>
        <p:nvSpPr>
          <p:cNvPr id="381" name="Line"/>
          <p:cNvSpPr/>
          <p:nvPr/>
        </p:nvSpPr>
        <p:spPr>
          <a:xfrm>
            <a:off x="3427124" y="3438230"/>
            <a:ext cx="1756354" cy="7014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53" y="19683"/>
                </a:lnTo>
                <a:lnTo>
                  <a:pt x="3526" y="17816"/>
                </a:lnTo>
                <a:lnTo>
                  <a:pt x="5420" y="16249"/>
                </a:lnTo>
                <a:lnTo>
                  <a:pt x="7138" y="14244"/>
                </a:lnTo>
                <a:lnTo>
                  <a:pt x="9072" y="12780"/>
                </a:lnTo>
                <a:lnTo>
                  <a:pt x="10822" y="10854"/>
                </a:lnTo>
                <a:lnTo>
                  <a:pt x="12572" y="8930"/>
                </a:lnTo>
                <a:lnTo>
                  <a:pt x="14373" y="7133"/>
                </a:lnTo>
                <a:lnTo>
                  <a:pt x="16266" y="5566"/>
                </a:lnTo>
                <a:lnTo>
                  <a:pt x="17992" y="3579"/>
                </a:lnTo>
                <a:lnTo>
                  <a:pt x="19850" y="1926"/>
                </a:lnTo>
                <a:lnTo>
                  <a:pt x="21600" y="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382" name="Line"/>
          <p:cNvSpPr/>
          <p:nvPr/>
        </p:nvSpPr>
        <p:spPr>
          <a:xfrm>
            <a:off x="3437125" y="3946759"/>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61" y="20258"/>
                </a:lnTo>
                <a:lnTo>
                  <a:pt x="3613" y="18101"/>
                </a:lnTo>
                <a:lnTo>
                  <a:pt x="5333" y="15696"/>
                </a:lnTo>
                <a:lnTo>
                  <a:pt x="7131" y="13880"/>
                </a:lnTo>
                <a:lnTo>
                  <a:pt x="9046" y="12948"/>
                </a:lnTo>
                <a:lnTo>
                  <a:pt x="10766" y="10547"/>
                </a:lnTo>
                <a:lnTo>
                  <a:pt x="12638" y="9282"/>
                </a:lnTo>
                <a:lnTo>
                  <a:pt x="14405" y="7239"/>
                </a:lnTo>
                <a:lnTo>
                  <a:pt x="16174" y="5202"/>
                </a:lnTo>
                <a:lnTo>
                  <a:pt x="18023" y="3772"/>
                </a:lnTo>
                <a:lnTo>
                  <a:pt x="19805" y="1836"/>
                </a:lnTo>
                <a:lnTo>
                  <a:pt x="21600" y="0"/>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383" name="Line"/>
          <p:cNvSpPr/>
          <p:nvPr/>
        </p:nvSpPr>
        <p:spPr>
          <a:xfrm>
            <a:off x="5490714" y="3400025"/>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78" y="1631"/>
                </a:lnTo>
                <a:lnTo>
                  <a:pt x="3602" y="3614"/>
                </a:lnTo>
                <a:lnTo>
                  <a:pt x="5451" y="5783"/>
                </a:lnTo>
                <a:lnTo>
                  <a:pt x="7253" y="7599"/>
                </a:lnTo>
                <a:lnTo>
                  <a:pt x="8964" y="8732"/>
                </a:lnTo>
                <a:lnTo>
                  <a:pt x="10743" y="10370"/>
                </a:lnTo>
                <a:lnTo>
                  <a:pt x="12605" y="12636"/>
                </a:lnTo>
                <a:lnTo>
                  <a:pt x="14328" y="13857"/>
                </a:lnTo>
                <a:lnTo>
                  <a:pt x="16157" y="15877"/>
                </a:lnTo>
                <a:lnTo>
                  <a:pt x="17996" y="17967"/>
                </a:lnTo>
                <a:lnTo>
                  <a:pt x="19804" y="19830"/>
                </a:lnTo>
                <a:lnTo>
                  <a:pt x="21600" y="21600"/>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384" name="Line"/>
          <p:cNvSpPr/>
          <p:nvPr/>
        </p:nvSpPr>
        <p:spPr>
          <a:xfrm>
            <a:off x="5490714" y="3673392"/>
            <a:ext cx="1736351" cy="2311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87" y="19703"/>
                </a:lnTo>
                <a:lnTo>
                  <a:pt x="3632" y="18239"/>
                </a:lnTo>
                <a:lnTo>
                  <a:pt x="5362" y="15917"/>
                </a:lnTo>
                <a:lnTo>
                  <a:pt x="7172" y="14191"/>
                </a:lnTo>
                <a:lnTo>
                  <a:pt x="9065" y="13085"/>
                </a:lnTo>
                <a:lnTo>
                  <a:pt x="10787" y="10703"/>
                </a:lnTo>
                <a:lnTo>
                  <a:pt x="12590" y="8925"/>
                </a:lnTo>
                <a:lnTo>
                  <a:pt x="14338" y="6737"/>
                </a:lnTo>
                <a:lnTo>
                  <a:pt x="16272" y="5937"/>
                </a:lnTo>
                <a:lnTo>
                  <a:pt x="18041" y="3911"/>
                </a:lnTo>
                <a:lnTo>
                  <a:pt x="19772" y="1589"/>
                </a:lnTo>
                <a:lnTo>
                  <a:pt x="21600" y="0"/>
                </a:lnTo>
              </a:path>
            </a:pathLst>
          </a:custGeom>
          <a:ln w="20479">
            <a:solidFill>
              <a:srgbClr val="B07A3F"/>
            </a:solidFill>
            <a:prstDash val="dashDot"/>
          </a:ln>
        </p:spPr>
        <p:txBody>
          <a:bodyPr lIns="0" tIns="0" rIns="0" bIns="0"/>
          <a:lstStyle/>
          <a:p>
            <a:pPr>
              <a:defRPr>
                <a:latin typeface="Calibri"/>
                <a:ea typeface="Calibri"/>
                <a:cs typeface="Calibri"/>
                <a:sym typeface="Calibri"/>
              </a:defRPr>
            </a:pPr>
          </a:p>
        </p:txBody>
      </p:sp>
      <p:sp>
        <p:nvSpPr>
          <p:cNvPr id="385" name="Shape"/>
          <p:cNvSpPr/>
          <p:nvPr/>
        </p:nvSpPr>
        <p:spPr>
          <a:xfrm>
            <a:off x="1058961" y="2667000"/>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386" name="Shape"/>
          <p:cNvSpPr/>
          <p:nvPr/>
        </p:nvSpPr>
        <p:spPr>
          <a:xfrm>
            <a:off x="1058961" y="3213735"/>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387" name="Shape"/>
          <p:cNvSpPr/>
          <p:nvPr/>
        </p:nvSpPr>
        <p:spPr>
          <a:xfrm>
            <a:off x="1058961" y="3760470"/>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388" name="Shape"/>
          <p:cNvSpPr/>
          <p:nvPr/>
        </p:nvSpPr>
        <p:spPr>
          <a:xfrm>
            <a:off x="1058961" y="4307204"/>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389" name="Shape"/>
          <p:cNvSpPr/>
          <p:nvPr/>
        </p:nvSpPr>
        <p:spPr>
          <a:xfrm>
            <a:off x="3112550" y="2940368"/>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390" name="Shape"/>
          <p:cNvSpPr/>
          <p:nvPr/>
        </p:nvSpPr>
        <p:spPr>
          <a:xfrm>
            <a:off x="3112550" y="3487103"/>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391" name="Shape"/>
          <p:cNvSpPr/>
          <p:nvPr/>
        </p:nvSpPr>
        <p:spPr>
          <a:xfrm>
            <a:off x="3112550" y="4033837"/>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392" name="Shape"/>
          <p:cNvSpPr/>
          <p:nvPr/>
        </p:nvSpPr>
        <p:spPr>
          <a:xfrm>
            <a:off x="5166140" y="3213735"/>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393" name="Shape"/>
          <p:cNvSpPr/>
          <p:nvPr/>
        </p:nvSpPr>
        <p:spPr>
          <a:xfrm>
            <a:off x="5166140" y="3760470"/>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394" name="Shape"/>
          <p:cNvSpPr/>
          <p:nvPr/>
        </p:nvSpPr>
        <p:spPr>
          <a:xfrm>
            <a:off x="7219730" y="3487103"/>
            <a:ext cx="334176" cy="3341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395"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396"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397" name="Input layer…"/>
          <p:cNvSpPr txBox="1"/>
          <p:nvPr/>
        </p:nvSpPr>
        <p:spPr>
          <a:xfrm>
            <a:off x="762000" y="1857375"/>
            <a:ext cx="1524000" cy="555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700">
                <a:solidFill>
                  <a:srgbClr val="424548"/>
                </a:solidFill>
                <a:latin typeface="Chalkboard"/>
                <a:ea typeface="Chalkboard"/>
                <a:cs typeface="Chalkboard"/>
                <a:sym typeface="Chalkboard"/>
              </a:defRPr>
            </a:pPr>
            <a:r>
              <a:t>Input layer</a:t>
            </a:r>
          </a:p>
          <a:p>
            <a:pPr algn="ctr">
              <a:defRPr sz="1700">
                <a:solidFill>
                  <a:srgbClr val="424548"/>
                </a:solidFill>
                <a:latin typeface="Chalkboard"/>
                <a:ea typeface="Chalkboard"/>
                <a:cs typeface="Chalkboard"/>
                <a:sym typeface="Chalkboard"/>
              </a:defRPr>
            </a:pPr>
            <a:r>
              <a:t>4 inputs</a:t>
            </a:r>
          </a:p>
        </p:txBody>
      </p:sp>
      <p:sp>
        <p:nvSpPr>
          <p:cNvPr id="398" name="Hidden layer 1…"/>
          <p:cNvSpPr txBox="1"/>
          <p:nvPr/>
        </p:nvSpPr>
        <p:spPr>
          <a:xfrm>
            <a:off x="2800350" y="1857375"/>
            <a:ext cx="1524000" cy="555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700">
                <a:solidFill>
                  <a:srgbClr val="424548"/>
                </a:solidFill>
                <a:latin typeface="Chalkboard"/>
                <a:ea typeface="Chalkboard"/>
                <a:cs typeface="Chalkboard"/>
                <a:sym typeface="Chalkboard"/>
              </a:defRPr>
            </a:pPr>
            <a:r>
              <a:t>Hidden layer 1</a:t>
            </a:r>
          </a:p>
          <a:p>
            <a:pPr algn="ctr">
              <a:defRPr sz="1700">
                <a:solidFill>
                  <a:srgbClr val="424548"/>
                </a:solidFill>
                <a:latin typeface="Chalkboard"/>
                <a:ea typeface="Chalkboard"/>
                <a:cs typeface="Chalkboard"/>
                <a:sym typeface="Chalkboard"/>
              </a:defRPr>
            </a:pPr>
            <a:r>
              <a:t>3 neurons</a:t>
            </a:r>
          </a:p>
        </p:txBody>
      </p:sp>
      <p:sp>
        <p:nvSpPr>
          <p:cNvPr id="399" name="Hidden layer 2…"/>
          <p:cNvSpPr txBox="1"/>
          <p:nvPr/>
        </p:nvSpPr>
        <p:spPr>
          <a:xfrm>
            <a:off x="4857750" y="1857375"/>
            <a:ext cx="1524000" cy="555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700">
                <a:solidFill>
                  <a:srgbClr val="424548"/>
                </a:solidFill>
                <a:latin typeface="Chalkboard"/>
                <a:ea typeface="Chalkboard"/>
                <a:cs typeface="Chalkboard"/>
                <a:sym typeface="Chalkboard"/>
              </a:defRPr>
            </a:pPr>
            <a:r>
              <a:t>Hidden layer 2</a:t>
            </a:r>
          </a:p>
          <a:p>
            <a:pPr algn="ctr">
              <a:defRPr sz="1700">
                <a:solidFill>
                  <a:srgbClr val="424548"/>
                </a:solidFill>
                <a:latin typeface="Chalkboard"/>
                <a:ea typeface="Chalkboard"/>
                <a:cs typeface="Chalkboard"/>
                <a:sym typeface="Chalkboard"/>
              </a:defRPr>
            </a:pPr>
            <a:r>
              <a:t>2 neurons</a:t>
            </a:r>
          </a:p>
        </p:txBody>
      </p:sp>
      <p:sp>
        <p:nvSpPr>
          <p:cNvPr id="400" name="Output…"/>
          <p:cNvSpPr txBox="1"/>
          <p:nvPr/>
        </p:nvSpPr>
        <p:spPr>
          <a:xfrm>
            <a:off x="6915150" y="1857375"/>
            <a:ext cx="1524000" cy="555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700">
                <a:solidFill>
                  <a:srgbClr val="424548"/>
                </a:solidFill>
                <a:latin typeface="Chalkboard"/>
                <a:ea typeface="Chalkboard"/>
                <a:cs typeface="Chalkboard"/>
                <a:sym typeface="Chalkboard"/>
              </a:defRPr>
            </a:pPr>
            <a:r>
              <a:t>Output</a:t>
            </a:r>
          </a:p>
          <a:p>
            <a:pPr algn="ctr">
              <a:defRPr sz="1700">
                <a:solidFill>
                  <a:srgbClr val="424548"/>
                </a:solidFill>
                <a:latin typeface="Chalkboard"/>
                <a:ea typeface="Chalkboard"/>
                <a:cs typeface="Chalkboard"/>
                <a:sym typeface="Chalkboard"/>
              </a:defRPr>
            </a:pPr>
            <a:r>
              <a:t>1 neuron</a:t>
            </a:r>
          </a:p>
        </p:txBody>
      </p:sp>
      <p:sp>
        <p:nvSpPr>
          <p:cNvPr id="401" name="x₁"/>
          <p:cNvSpPr txBox="1"/>
          <p:nvPr/>
        </p:nvSpPr>
        <p:spPr>
          <a:xfrm>
            <a:off x="723900" y="2686050"/>
            <a:ext cx="323850"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424548"/>
                </a:solidFill>
                <a:latin typeface="Chalkboard"/>
                <a:ea typeface="Chalkboard"/>
                <a:cs typeface="Chalkboard"/>
                <a:sym typeface="Chalkboard"/>
              </a:defRPr>
            </a:lvl1pPr>
          </a:lstStyle>
          <a:p>
            <a:pPr/>
            <a:r>
              <a:t>x₁</a:t>
            </a:r>
          </a:p>
        </p:txBody>
      </p:sp>
      <p:sp>
        <p:nvSpPr>
          <p:cNvPr id="402" name="x₂"/>
          <p:cNvSpPr txBox="1"/>
          <p:nvPr/>
        </p:nvSpPr>
        <p:spPr>
          <a:xfrm>
            <a:off x="723900" y="3232785"/>
            <a:ext cx="32385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424548"/>
                </a:solidFill>
                <a:latin typeface="Chalkboard"/>
                <a:ea typeface="Chalkboard"/>
                <a:cs typeface="Chalkboard"/>
                <a:sym typeface="Chalkboard"/>
              </a:defRPr>
            </a:lvl1pPr>
          </a:lstStyle>
          <a:p>
            <a:pPr/>
            <a:r>
              <a:t>x₂</a:t>
            </a:r>
          </a:p>
        </p:txBody>
      </p:sp>
      <p:sp>
        <p:nvSpPr>
          <p:cNvPr id="403" name="x₃"/>
          <p:cNvSpPr txBox="1"/>
          <p:nvPr/>
        </p:nvSpPr>
        <p:spPr>
          <a:xfrm>
            <a:off x="723900" y="3779520"/>
            <a:ext cx="32385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424548"/>
                </a:solidFill>
                <a:latin typeface="Chalkboard"/>
                <a:ea typeface="Chalkboard"/>
                <a:cs typeface="Chalkboard"/>
                <a:sym typeface="Chalkboard"/>
              </a:defRPr>
            </a:lvl1pPr>
          </a:lstStyle>
          <a:p>
            <a:pPr/>
            <a:r>
              <a:t>x₃</a:t>
            </a:r>
          </a:p>
        </p:txBody>
      </p:sp>
      <p:sp>
        <p:nvSpPr>
          <p:cNvPr id="404" name="x₄"/>
          <p:cNvSpPr txBox="1"/>
          <p:nvPr/>
        </p:nvSpPr>
        <p:spPr>
          <a:xfrm>
            <a:off x="723900" y="4326254"/>
            <a:ext cx="323850" cy="355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424548"/>
                </a:solidFill>
                <a:latin typeface="Chalkboard"/>
                <a:ea typeface="Chalkboard"/>
                <a:cs typeface="Chalkboard"/>
                <a:sym typeface="Chalkboard"/>
              </a:defRPr>
            </a:lvl1pPr>
          </a:lstStyle>
          <a:p>
            <a:pPr/>
            <a:r>
              <a:t>x₄</a:t>
            </a:r>
          </a:p>
        </p:txBody>
      </p:sp>
      <p:sp>
        <p:nvSpPr>
          <p:cNvPr id="405" name="w = 1.5"/>
          <p:cNvSpPr txBox="1"/>
          <p:nvPr/>
        </p:nvSpPr>
        <p:spPr>
          <a:xfrm>
            <a:off x="1952625" y="2714625"/>
            <a:ext cx="952500" cy="2765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8E7052"/>
                </a:solidFill>
                <a:latin typeface="Chalkboard"/>
                <a:ea typeface="Chalkboard"/>
                <a:cs typeface="Chalkboard"/>
                <a:sym typeface="Chalkboard"/>
              </a:defRPr>
            </a:lvl1pPr>
          </a:lstStyle>
          <a:p>
            <a:pPr/>
            <a:r>
              <a:t>w = 1.5</a:t>
            </a:r>
          </a:p>
        </p:txBody>
      </p:sp>
      <p:sp>
        <p:nvSpPr>
          <p:cNvPr id="406" name="+ b₁"/>
          <p:cNvSpPr txBox="1"/>
          <p:nvPr/>
        </p:nvSpPr>
        <p:spPr>
          <a:xfrm>
            <a:off x="3514725" y="2876550"/>
            <a:ext cx="666750" cy="342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8E7052"/>
                </a:solidFill>
                <a:latin typeface="Chalkboard"/>
                <a:ea typeface="Chalkboard"/>
                <a:cs typeface="Chalkboard"/>
                <a:sym typeface="Chalkboard"/>
              </a:defRPr>
            </a:lvl1pPr>
          </a:lstStyle>
          <a:p>
            <a:pPr/>
            <a:r>
              <a:t>+ b₁</a:t>
            </a:r>
          </a:p>
        </p:txBody>
      </p:sp>
      <p:sp>
        <p:nvSpPr>
          <p:cNvPr id="407" name="4 × 3 = 12 weights"/>
          <p:cNvSpPr txBox="1"/>
          <p:nvPr/>
        </p:nvSpPr>
        <p:spPr>
          <a:xfrm>
            <a:off x="1552575" y="4772025"/>
            <a:ext cx="2047875"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355D83"/>
                </a:solidFill>
                <a:latin typeface="Chalkboard"/>
                <a:ea typeface="Chalkboard"/>
                <a:cs typeface="Chalkboard"/>
                <a:sym typeface="Chalkboard"/>
              </a:defRPr>
            </a:lvl1pPr>
          </a:lstStyle>
          <a:p>
            <a:pPr/>
            <a:r>
              <a:t>4 × 3 = 12 weights</a:t>
            </a:r>
          </a:p>
        </p:txBody>
      </p:sp>
      <p:sp>
        <p:nvSpPr>
          <p:cNvPr id="408" name="3 × 2 = 6 weights"/>
          <p:cNvSpPr txBox="1"/>
          <p:nvPr/>
        </p:nvSpPr>
        <p:spPr>
          <a:xfrm>
            <a:off x="3657600" y="4772025"/>
            <a:ext cx="2047875"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355D83"/>
                </a:solidFill>
                <a:latin typeface="Chalkboard"/>
                <a:ea typeface="Chalkboard"/>
                <a:cs typeface="Chalkboard"/>
                <a:sym typeface="Chalkboard"/>
              </a:defRPr>
            </a:lvl1pPr>
          </a:lstStyle>
          <a:p>
            <a:pPr/>
            <a:r>
              <a:t>3 × 2 = 6 weights</a:t>
            </a:r>
          </a:p>
        </p:txBody>
      </p:sp>
      <p:sp>
        <p:nvSpPr>
          <p:cNvPr id="409" name="2 × 1 = 2 weights"/>
          <p:cNvSpPr txBox="1"/>
          <p:nvPr/>
        </p:nvSpPr>
        <p:spPr>
          <a:xfrm>
            <a:off x="5753100" y="4772025"/>
            <a:ext cx="2047875" cy="3048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355D83"/>
                </a:solidFill>
                <a:latin typeface="Chalkboard"/>
                <a:ea typeface="Chalkboard"/>
                <a:cs typeface="Chalkboard"/>
                <a:sym typeface="Chalkboard"/>
              </a:defRPr>
            </a:lvl1pPr>
          </a:lstStyle>
          <a:p>
            <a:pPr/>
            <a:r>
              <a:t>2 × 1 = 2 weights</a:t>
            </a:r>
          </a:p>
        </p:txBody>
      </p:sp>
      <p:sp>
        <p:nvSpPr>
          <p:cNvPr id="410" name="At each neuron:  z = Σ(w × input) + b,   then a = f(z)"/>
          <p:cNvSpPr txBox="1"/>
          <p:nvPr/>
        </p:nvSpPr>
        <p:spPr>
          <a:xfrm>
            <a:off x="733425" y="5238750"/>
            <a:ext cx="7381875" cy="355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424548"/>
                </a:solidFill>
                <a:latin typeface="Chalkboard"/>
                <a:ea typeface="Chalkboard"/>
                <a:cs typeface="Chalkboard"/>
                <a:sym typeface="Chalkboard"/>
              </a:defRPr>
            </a:lvl1pPr>
          </a:lstStyle>
          <a:p>
            <a:pPr/>
            <a:r>
              <a:t>At each neuron:  z = Σ(w × input) + b,   then a = f(z)</a:t>
            </a:r>
          </a:p>
        </p:txBody>
      </p:sp>
      <p:sp>
        <p:nvSpPr>
          <p:cNvPr id="411" name="Weights scale signals"/>
          <p:cNvSpPr txBox="1"/>
          <p:nvPr/>
        </p:nvSpPr>
        <p:spPr>
          <a:xfrm>
            <a:off x="8553450" y="1828800"/>
            <a:ext cx="29527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Weights scale signals</a:t>
            </a:r>
          </a:p>
        </p:txBody>
      </p:sp>
      <p:sp>
        <p:nvSpPr>
          <p:cNvPr id="412" name="Example: input 1 × weight 1.5…"/>
          <p:cNvSpPr txBox="1"/>
          <p:nvPr/>
        </p:nvSpPr>
        <p:spPr>
          <a:xfrm>
            <a:off x="8553450" y="2257425"/>
            <a:ext cx="2895600" cy="1213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424548"/>
                </a:solidFill>
                <a:latin typeface="Arial"/>
                <a:ea typeface="Arial"/>
                <a:cs typeface="Arial"/>
                <a:sym typeface="Arial"/>
              </a:defRPr>
            </a:pPr>
            <a:r>
              <a:t>Example: input 1 × weight 1.5</a:t>
            </a:r>
          </a:p>
          <a:p>
            <a:pPr>
              <a:defRPr sz="1400">
                <a:solidFill>
                  <a:srgbClr val="424548"/>
                </a:solidFill>
                <a:latin typeface="Arial"/>
                <a:ea typeface="Arial"/>
                <a:cs typeface="Arial"/>
                <a:sym typeface="Arial"/>
              </a:defRPr>
            </a:pPr>
            <a:r>
              <a:t>contributes 1.5 to the next neuron.</a:t>
            </a:r>
          </a:p>
          <a:p>
            <a:pPr>
              <a:defRPr sz="1400">
                <a:solidFill>
                  <a:srgbClr val="424548"/>
                </a:solidFill>
                <a:latin typeface="Arial"/>
                <a:ea typeface="Arial"/>
                <a:cs typeface="Arial"/>
                <a:sym typeface="Arial"/>
              </a:defRPr>
            </a:pPr>
            <a:r>
              <a:t>A larger magnitude has more influence.</a:t>
            </a:r>
          </a:p>
          <a:p>
            <a:pPr>
              <a:defRPr sz="1400">
                <a:solidFill>
                  <a:srgbClr val="424548"/>
                </a:solidFill>
                <a:latin typeface="Arial"/>
                <a:ea typeface="Arial"/>
                <a:cs typeface="Arial"/>
                <a:sym typeface="Arial"/>
              </a:defRPr>
            </a:pPr>
            <a:r>
              <a:t>The sign adds or subtracts</a:t>
            </a:r>
          </a:p>
          <a:p>
            <a:pPr>
              <a:defRPr sz="1400">
                <a:solidFill>
                  <a:srgbClr val="424548"/>
                </a:solidFill>
                <a:latin typeface="Arial"/>
                <a:ea typeface="Arial"/>
                <a:cs typeface="Arial"/>
                <a:sym typeface="Arial"/>
              </a:defRPr>
            </a:pPr>
            <a:r>
              <a:t>for nonnegative inputs.</a:t>
            </a:r>
          </a:p>
        </p:txBody>
      </p:sp>
      <p:sp>
        <p:nvSpPr>
          <p:cNvPr id="413" name="Biases shift the total"/>
          <p:cNvSpPr txBox="1"/>
          <p:nvPr/>
        </p:nvSpPr>
        <p:spPr>
          <a:xfrm>
            <a:off x="8553450" y="3676650"/>
            <a:ext cx="294322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8E7052"/>
                </a:solidFill>
                <a:latin typeface="Chalkboard"/>
                <a:ea typeface="Chalkboard"/>
                <a:cs typeface="Chalkboard"/>
                <a:sym typeface="Chalkboard"/>
              </a:defRPr>
            </a:lvl1pPr>
          </a:lstStyle>
          <a:p>
            <a:pPr/>
            <a:r>
              <a:t>Biases shift the total</a:t>
            </a:r>
          </a:p>
        </p:txBody>
      </p:sp>
      <p:sp>
        <p:nvSpPr>
          <p:cNvPr id="414" name="Each hidden and output neuron…"/>
          <p:cNvSpPr txBox="1"/>
          <p:nvPr/>
        </p:nvSpPr>
        <p:spPr>
          <a:xfrm>
            <a:off x="8553450" y="4095750"/>
            <a:ext cx="2962275" cy="6414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Each hidden and output neuron</a:t>
            </a:r>
          </a:p>
          <a:p>
            <a:pPr>
              <a:defRPr sz="1500">
                <a:solidFill>
                  <a:srgbClr val="424548"/>
                </a:solidFill>
                <a:latin typeface="Arial"/>
                <a:ea typeface="Arial"/>
                <a:cs typeface="Arial"/>
                <a:sym typeface="Arial"/>
              </a:defRPr>
            </a:pPr>
            <a:r>
              <a:t>has its own bias, added before</a:t>
            </a:r>
          </a:p>
          <a:p>
            <a:pPr>
              <a:defRPr sz="1500">
                <a:solidFill>
                  <a:srgbClr val="424548"/>
                </a:solidFill>
                <a:latin typeface="Arial"/>
                <a:ea typeface="Arial"/>
                <a:cs typeface="Arial"/>
                <a:sym typeface="Arial"/>
              </a:defRPr>
            </a:pPr>
            <a:r>
              <a:t>the activation function.</a:t>
            </a:r>
          </a:p>
        </p:txBody>
      </p:sp>
      <p:sp>
        <p:nvSpPr>
          <p:cNvPr id="415" name="Training adjusts both"/>
          <p:cNvSpPr txBox="1"/>
          <p:nvPr/>
        </p:nvSpPr>
        <p:spPr>
          <a:xfrm>
            <a:off x="8553450" y="4924425"/>
            <a:ext cx="297180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38779"/>
                </a:solidFill>
                <a:latin typeface="Chalkboard"/>
                <a:ea typeface="Chalkboard"/>
                <a:cs typeface="Chalkboard"/>
                <a:sym typeface="Chalkboard"/>
              </a:defRPr>
            </a:lvl1pPr>
          </a:lstStyle>
          <a:p>
            <a:pPr/>
            <a:r>
              <a:t>Training adjusts both</a:t>
            </a:r>
          </a:p>
        </p:txBody>
      </p:sp>
      <p:sp>
        <p:nvSpPr>
          <p:cNvPr id="416" name="Updates to weights and biases…"/>
          <p:cNvSpPr txBox="1"/>
          <p:nvPr/>
        </p:nvSpPr>
        <p:spPr>
          <a:xfrm>
            <a:off x="8553450" y="5276850"/>
            <a:ext cx="295275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424548"/>
                </a:solidFill>
                <a:latin typeface="Arial"/>
                <a:ea typeface="Arial"/>
                <a:cs typeface="Arial"/>
                <a:sym typeface="Arial"/>
              </a:defRPr>
            </a:pPr>
            <a:r>
              <a:t>Updates to weights and biases</a:t>
            </a:r>
          </a:p>
          <a:p>
            <a:pPr>
              <a:defRPr sz="1400">
                <a:solidFill>
                  <a:srgbClr val="424548"/>
                </a:solidFill>
                <a:latin typeface="Arial"/>
                <a:ea typeface="Arial"/>
                <a:cs typeface="Arial"/>
                <a:sym typeface="Arial"/>
              </a:defRPr>
            </a:pPr>
            <a:r>
              <a:t>help reduce prediction error.</a:t>
            </a:r>
          </a:p>
        </p:txBody>
      </p:sp>
      <p:sp>
        <p:nvSpPr>
          <p:cNvPr id="417" name="20 weights + 6 biases = 26 trainable parameters. Input nodes have no bias."/>
          <p:cNvSpPr txBox="1"/>
          <p:nvPr/>
        </p:nvSpPr>
        <p:spPr>
          <a:xfrm>
            <a:off x="638175" y="5895975"/>
            <a:ext cx="10906125" cy="246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700">
                <a:solidFill>
                  <a:srgbClr val="62616A"/>
                </a:solidFill>
                <a:latin typeface="Arial"/>
                <a:ea typeface="Arial"/>
                <a:cs typeface="Arial"/>
                <a:sym typeface="Arial"/>
              </a:defRPr>
            </a:lvl1pPr>
          </a:lstStyle>
          <a:p>
            <a:pPr/>
            <a:r>
              <a:t>20 weights + 6 biases = 26 trainable parameters. Input nodes have no bias.</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21" name="matrix-title"/>
          <p:cNvSpPr txBox="1"/>
          <p:nvPr/>
        </p:nvSpPr>
        <p:spPr>
          <a:xfrm>
            <a:off x="628650" y="520788"/>
            <a:ext cx="10906125" cy="4443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The 4–3–2–1 MLP in matrix notation</a:t>
            </a:r>
          </a:p>
        </p:txBody>
      </p:sp>
      <p:sp>
        <p:nvSpPr>
          <p:cNvPr id="422" name="matrix-subtitle"/>
          <p:cNvSpPr txBox="1"/>
          <p:nvPr/>
        </p:nvSpPr>
        <p:spPr>
          <a:xfrm>
            <a:off x="628650" y="1228725"/>
            <a:ext cx="1090612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1500">
                <a:solidFill>
                  <a:srgbClr val="62616A"/>
                </a:solidFill>
                <a:latin typeface="Arial"/>
                <a:ea typeface="Arial"/>
                <a:cs typeface="Arial"/>
                <a:sym typeface="Arial"/>
              </a:defRPr>
            </a:lvl1pPr>
          </a:lstStyle>
          <a:p>
            <a:pPr/>
            <a:r>
              <a:t>W = weights, b = biases, z = totals before activation, a = activations. Superscripts label layers.</a:t>
            </a:r>
          </a:p>
        </p:txBody>
      </p:sp>
      <p:sp>
        <p:nvSpPr>
          <p:cNvPr id="423" name="matrix-accent-line"/>
          <p:cNvSpPr/>
          <p:nvPr/>
        </p:nvSpPr>
        <p:spPr>
          <a:xfrm>
            <a:off x="628650" y="1562100"/>
            <a:ext cx="2028826" cy="0"/>
          </a:xfrm>
          <a:prstGeom prst="line">
            <a:avLst/>
          </a:prstGeom>
          <a:ln w="14288">
            <a:solidFill>
              <a:srgbClr val="C9AD7E"/>
            </a:solidFill>
          </a:ln>
        </p:spPr>
        <p:txBody>
          <a:bodyPr lIns="45718" tIns="45718" rIns="45718" bIns="45718"/>
          <a:lstStyle/>
          <a:p>
            <a:pPr/>
          </a:p>
        </p:txBody>
      </p:sp>
      <p:sp>
        <p:nvSpPr>
          <p:cNvPr id="424" name="matrix-panel"/>
          <p:cNvSpPr/>
          <p:nvPr/>
        </p:nvSpPr>
        <p:spPr>
          <a:xfrm>
            <a:off x="457200" y="1647825"/>
            <a:ext cx="11277600" cy="4086225"/>
          </a:xfrm>
          <a:prstGeom prst="roundRect">
            <a:avLst>
              <a:gd name="adj" fmla="val 3730"/>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425" name="matrix-input"/>
          <p:cNvSpPr txBox="1"/>
          <p:nvPr/>
        </p:nvSpPr>
        <p:spPr>
          <a:xfrm>
            <a:off x="838200" y="1790699"/>
            <a:ext cx="10287000" cy="304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8E7052"/>
                </a:solidFill>
                <a:latin typeface="Chalkboard"/>
                <a:ea typeface="Chalkboard"/>
                <a:cs typeface="Chalkboard"/>
                <a:sym typeface="Chalkboard"/>
              </a:defRPr>
            </a:lvl1pPr>
          </a:lstStyle>
          <a:p>
            <a:pPr/>
            <a:r>
              <a:t>Input vector     x = [x₁  x₂  x₃  x₄]ᵀ ∈ ℝ⁴</a:t>
            </a:r>
          </a:p>
        </p:txBody>
      </p:sp>
      <p:sp>
        <p:nvSpPr>
          <p:cNvPr id="426" name="layer1-label"/>
          <p:cNvSpPr txBox="1"/>
          <p:nvPr/>
        </p:nvSpPr>
        <p:spPr>
          <a:xfrm>
            <a:off x="838200" y="2426962"/>
            <a:ext cx="1562100" cy="480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8E7052"/>
                </a:solidFill>
                <a:latin typeface="Chalkboard"/>
                <a:ea typeface="Chalkboard"/>
                <a:cs typeface="Chalkboard"/>
                <a:sym typeface="Chalkboard"/>
              </a:defRPr>
            </a:pPr>
            <a:r>
              <a:t>Hidden layer 1</a:t>
            </a:r>
          </a:p>
          <a:p>
            <a:pPr>
              <a:defRPr sz="1500">
                <a:solidFill>
                  <a:srgbClr val="8E7052"/>
                </a:solidFill>
                <a:latin typeface="Chalkboard"/>
                <a:ea typeface="Chalkboard"/>
                <a:cs typeface="Chalkboard"/>
                <a:sym typeface="Chalkboard"/>
              </a:defRPr>
            </a:pPr>
            <a:r>
              <a:t>3 neurons</a:t>
            </a:r>
          </a:p>
        </p:txBody>
      </p:sp>
      <p:sp>
        <p:nvSpPr>
          <p:cNvPr id="427" name="layer1-equation"/>
          <p:cNvSpPr txBox="1"/>
          <p:nvPr/>
        </p:nvSpPr>
        <p:spPr>
          <a:xfrm>
            <a:off x="2476500" y="2364196"/>
            <a:ext cx="2714625" cy="5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400">
                <a:solidFill>
                  <a:srgbClr val="28282A"/>
                </a:solidFill>
                <a:latin typeface="Chalkboard"/>
                <a:ea typeface="Chalkboard"/>
                <a:cs typeface="Chalkboard"/>
                <a:sym typeface="Chalkboard"/>
              </a:defRPr>
            </a:pPr>
            <a:r>
              <a:t>z⁽¹⁾ = W⁽¹⁾x + b⁽¹⁾</a:t>
            </a:r>
          </a:p>
          <a:p>
            <a:pPr>
              <a:defRPr sz="1400">
                <a:solidFill>
                  <a:srgbClr val="28282A"/>
                </a:solidFill>
                <a:latin typeface="Chalkboard"/>
                <a:ea typeface="Chalkboard"/>
                <a:cs typeface="Chalkboard"/>
                <a:sym typeface="Chalkboard"/>
              </a:defRPr>
            </a:pPr>
            <a:r>
              <a:t>a⁽¹⁾ = ReLU(z⁽¹⁾)</a:t>
            </a:r>
          </a:p>
        </p:txBody>
      </p:sp>
      <p:sp>
        <p:nvSpPr>
          <p:cNvPr id="428" name="layer1-weight"/>
          <p:cNvSpPr txBox="1"/>
          <p:nvPr/>
        </p:nvSpPr>
        <p:spPr>
          <a:xfrm>
            <a:off x="5219700" y="2190749"/>
            <a:ext cx="4095750" cy="876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28282A"/>
                </a:solidFill>
                <a:latin typeface="Chalkboard"/>
                <a:ea typeface="Chalkboard"/>
                <a:cs typeface="Chalkboard"/>
                <a:sym typeface="Chalkboard"/>
              </a:defRPr>
            </a:pPr>
            <a:r>
              <a:t>W⁽¹⁾ = ⎡w₁₁⁽¹⁾  w₁₂⁽¹⁾  w₁₃⁽¹⁾  w₁₄⁽¹⁾⎤</a:t>
            </a:r>
          </a:p>
          <a:p>
            <a:pPr>
              <a:defRPr sz="1200">
                <a:solidFill>
                  <a:srgbClr val="28282A"/>
                </a:solidFill>
                <a:latin typeface="Chalkboard"/>
                <a:ea typeface="Chalkboard"/>
                <a:cs typeface="Chalkboard"/>
                <a:sym typeface="Chalkboard"/>
              </a:defRPr>
            </a:pPr>
            <a:r>
              <a:t>          ⎢w₂₁⁽¹⁾  w₂₂⁽¹⁾  w₂₃⁽¹⁾  w₂₄⁽¹⁾⎥</a:t>
            </a:r>
          </a:p>
          <a:p>
            <a:pPr>
              <a:defRPr sz="1200">
                <a:solidFill>
                  <a:srgbClr val="28282A"/>
                </a:solidFill>
                <a:latin typeface="Chalkboard"/>
                <a:ea typeface="Chalkboard"/>
                <a:cs typeface="Chalkboard"/>
                <a:sym typeface="Chalkboard"/>
              </a:defRPr>
            </a:pPr>
            <a:r>
              <a:t>          ⎣w₃₁⁽¹⁾  w₃₂⁽¹⁾  w₃₃⁽¹⁾  w₃₄⁽¹⁾⎦</a:t>
            </a:r>
          </a:p>
        </p:txBody>
      </p:sp>
      <p:sp>
        <p:nvSpPr>
          <p:cNvPr id="429" name="layer1-bias"/>
          <p:cNvSpPr txBox="1"/>
          <p:nvPr/>
        </p:nvSpPr>
        <p:spPr>
          <a:xfrm>
            <a:off x="9410700" y="2190749"/>
            <a:ext cx="1676400" cy="8763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28282A"/>
                </a:solidFill>
                <a:latin typeface="Chalkboard"/>
                <a:ea typeface="Chalkboard"/>
                <a:cs typeface="Chalkboard"/>
                <a:sym typeface="Chalkboard"/>
              </a:defRPr>
            </a:pPr>
            <a:r>
              <a:t>b⁽¹⁾ = ⎡b₁⁽¹⁾⎤</a:t>
            </a:r>
          </a:p>
          <a:p>
            <a:pPr>
              <a:defRPr sz="1200">
                <a:solidFill>
                  <a:srgbClr val="28282A"/>
                </a:solidFill>
                <a:latin typeface="Chalkboard"/>
                <a:ea typeface="Chalkboard"/>
                <a:cs typeface="Chalkboard"/>
                <a:sym typeface="Chalkboard"/>
              </a:defRPr>
            </a:pPr>
            <a:r>
              <a:t>          ⎢b₂⁽¹⁾⎥</a:t>
            </a:r>
          </a:p>
          <a:p>
            <a:pPr>
              <a:defRPr sz="1200">
                <a:solidFill>
                  <a:srgbClr val="28282A"/>
                </a:solidFill>
                <a:latin typeface="Chalkboard"/>
                <a:ea typeface="Chalkboard"/>
                <a:cs typeface="Chalkboard"/>
                <a:sym typeface="Chalkboard"/>
              </a:defRPr>
            </a:pPr>
            <a:r>
              <a:t>          ⎣b₃⁽¹⁾⎦</a:t>
            </a:r>
          </a:p>
        </p:txBody>
      </p:sp>
      <p:sp>
        <p:nvSpPr>
          <p:cNvPr id="430" name="matrix-rule-1"/>
          <p:cNvSpPr/>
          <p:nvPr/>
        </p:nvSpPr>
        <p:spPr>
          <a:xfrm>
            <a:off x="838200" y="3209925"/>
            <a:ext cx="10287001" cy="0"/>
          </a:xfrm>
          <a:prstGeom prst="line">
            <a:avLst/>
          </a:prstGeom>
          <a:ln w="7620">
            <a:solidFill>
              <a:srgbClr val="E5DCCF"/>
            </a:solidFill>
          </a:ln>
        </p:spPr>
        <p:txBody>
          <a:bodyPr lIns="45718" tIns="45718" rIns="45718" bIns="45718"/>
          <a:lstStyle/>
          <a:p>
            <a:pPr/>
          </a:p>
        </p:txBody>
      </p:sp>
      <p:sp>
        <p:nvSpPr>
          <p:cNvPr id="431" name="layer2-label"/>
          <p:cNvSpPr txBox="1"/>
          <p:nvPr/>
        </p:nvSpPr>
        <p:spPr>
          <a:xfrm>
            <a:off x="838200" y="3598538"/>
            <a:ext cx="1562100" cy="480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8E7052"/>
                </a:solidFill>
                <a:latin typeface="Chalkboard"/>
                <a:ea typeface="Chalkboard"/>
                <a:cs typeface="Chalkboard"/>
                <a:sym typeface="Chalkboard"/>
              </a:defRPr>
            </a:pPr>
            <a:r>
              <a:t>Hidden layer 2</a:t>
            </a:r>
          </a:p>
          <a:p>
            <a:pPr>
              <a:defRPr sz="1500">
                <a:solidFill>
                  <a:srgbClr val="8E7052"/>
                </a:solidFill>
                <a:latin typeface="Chalkboard"/>
                <a:ea typeface="Chalkboard"/>
                <a:cs typeface="Chalkboard"/>
                <a:sym typeface="Chalkboard"/>
              </a:defRPr>
            </a:pPr>
            <a:r>
              <a:t>2 neurons</a:t>
            </a:r>
          </a:p>
        </p:txBody>
      </p:sp>
      <p:sp>
        <p:nvSpPr>
          <p:cNvPr id="432" name="layer2-equation"/>
          <p:cNvSpPr txBox="1"/>
          <p:nvPr/>
        </p:nvSpPr>
        <p:spPr>
          <a:xfrm>
            <a:off x="2476500" y="3535771"/>
            <a:ext cx="2714625" cy="5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400">
                <a:solidFill>
                  <a:srgbClr val="28282A"/>
                </a:solidFill>
                <a:latin typeface="Chalkboard"/>
                <a:ea typeface="Chalkboard"/>
                <a:cs typeface="Chalkboard"/>
                <a:sym typeface="Chalkboard"/>
              </a:defRPr>
            </a:pPr>
            <a:r>
              <a:t>z⁽²⁾ = W⁽²⁾a⁽¹⁾ + b⁽²⁾</a:t>
            </a:r>
          </a:p>
          <a:p>
            <a:pPr>
              <a:defRPr sz="1400">
                <a:solidFill>
                  <a:srgbClr val="28282A"/>
                </a:solidFill>
                <a:latin typeface="Chalkboard"/>
                <a:ea typeface="Chalkboard"/>
                <a:cs typeface="Chalkboard"/>
                <a:sym typeface="Chalkboard"/>
              </a:defRPr>
            </a:pPr>
            <a:r>
              <a:t>a⁽²⁾ = ReLU(z⁽²⁾)</a:t>
            </a:r>
          </a:p>
        </p:txBody>
      </p:sp>
      <p:sp>
        <p:nvSpPr>
          <p:cNvPr id="433" name="layer2-weight"/>
          <p:cNvSpPr txBox="1"/>
          <p:nvPr/>
        </p:nvSpPr>
        <p:spPr>
          <a:xfrm>
            <a:off x="5219700" y="3511549"/>
            <a:ext cx="365760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28282A"/>
                </a:solidFill>
                <a:latin typeface="Chalkboard"/>
                <a:ea typeface="Chalkboard"/>
                <a:cs typeface="Chalkboard"/>
                <a:sym typeface="Chalkboard"/>
              </a:defRPr>
            </a:pPr>
            <a:r>
              <a:t>W⁽²⁾ = ⎡w₁₁⁽²⁾  w₁₂⁽²⁾  w₁₃⁽²⁾⎤</a:t>
            </a:r>
          </a:p>
          <a:p>
            <a:pPr>
              <a:defRPr sz="1200">
                <a:solidFill>
                  <a:srgbClr val="28282A"/>
                </a:solidFill>
                <a:latin typeface="Chalkboard"/>
                <a:ea typeface="Chalkboard"/>
                <a:cs typeface="Chalkboard"/>
                <a:sym typeface="Chalkboard"/>
              </a:defRPr>
            </a:pPr>
            <a:r>
              <a:t>          ⎣w₂₁⁽²⁾  w₂₂⁽²⁾  w₂₃⁽²⁾⎦</a:t>
            </a:r>
          </a:p>
        </p:txBody>
      </p:sp>
      <p:sp>
        <p:nvSpPr>
          <p:cNvPr id="434" name="layer2-bias"/>
          <p:cNvSpPr txBox="1"/>
          <p:nvPr/>
        </p:nvSpPr>
        <p:spPr>
          <a:xfrm>
            <a:off x="9410700" y="3511549"/>
            <a:ext cx="1676400"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28282A"/>
                </a:solidFill>
                <a:latin typeface="Chalkboard"/>
                <a:ea typeface="Chalkboard"/>
                <a:cs typeface="Chalkboard"/>
                <a:sym typeface="Chalkboard"/>
              </a:defRPr>
            </a:pPr>
            <a:r>
              <a:t>b⁽²⁾ = ⎡b₁⁽²⁾⎤</a:t>
            </a:r>
          </a:p>
          <a:p>
            <a:pPr>
              <a:defRPr sz="1200">
                <a:solidFill>
                  <a:srgbClr val="28282A"/>
                </a:solidFill>
                <a:latin typeface="Chalkboard"/>
                <a:ea typeface="Chalkboard"/>
                <a:cs typeface="Chalkboard"/>
                <a:sym typeface="Chalkboard"/>
              </a:defRPr>
            </a:pPr>
            <a:r>
              <a:t>          ⎣b₂⁽²⁾⎦</a:t>
            </a:r>
          </a:p>
        </p:txBody>
      </p:sp>
      <p:sp>
        <p:nvSpPr>
          <p:cNvPr id="435" name="matrix-rule-2"/>
          <p:cNvSpPr/>
          <p:nvPr/>
        </p:nvSpPr>
        <p:spPr>
          <a:xfrm>
            <a:off x="838200" y="4352925"/>
            <a:ext cx="10287001" cy="0"/>
          </a:xfrm>
          <a:prstGeom prst="line">
            <a:avLst/>
          </a:prstGeom>
          <a:ln w="7620">
            <a:solidFill>
              <a:srgbClr val="E5DCCF"/>
            </a:solidFill>
          </a:ln>
        </p:spPr>
        <p:txBody>
          <a:bodyPr lIns="45718" tIns="45718" rIns="45718" bIns="45718"/>
          <a:lstStyle/>
          <a:p>
            <a:pPr/>
          </a:p>
        </p:txBody>
      </p:sp>
      <p:sp>
        <p:nvSpPr>
          <p:cNvPr id="436" name="output-label"/>
          <p:cNvSpPr txBox="1"/>
          <p:nvPr/>
        </p:nvSpPr>
        <p:spPr>
          <a:xfrm>
            <a:off x="838200" y="4789163"/>
            <a:ext cx="1562100" cy="480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500">
                <a:solidFill>
                  <a:srgbClr val="8E7052"/>
                </a:solidFill>
                <a:latin typeface="Chalkboard"/>
                <a:ea typeface="Chalkboard"/>
                <a:cs typeface="Chalkboard"/>
                <a:sym typeface="Chalkboard"/>
              </a:defRPr>
            </a:pPr>
            <a:r>
              <a:t>Output layer</a:t>
            </a:r>
          </a:p>
          <a:p>
            <a:pPr>
              <a:defRPr sz="1500">
                <a:solidFill>
                  <a:srgbClr val="8E7052"/>
                </a:solidFill>
                <a:latin typeface="Chalkboard"/>
                <a:ea typeface="Chalkboard"/>
                <a:cs typeface="Chalkboard"/>
                <a:sym typeface="Chalkboard"/>
              </a:defRPr>
            </a:pPr>
            <a:r>
              <a:t>1 neuron</a:t>
            </a:r>
          </a:p>
        </p:txBody>
      </p:sp>
      <p:sp>
        <p:nvSpPr>
          <p:cNvPr id="437" name="output-equation"/>
          <p:cNvSpPr txBox="1"/>
          <p:nvPr/>
        </p:nvSpPr>
        <p:spPr>
          <a:xfrm>
            <a:off x="2476500" y="4726396"/>
            <a:ext cx="2714625" cy="5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400">
                <a:solidFill>
                  <a:srgbClr val="28282A"/>
                </a:solidFill>
                <a:latin typeface="Chalkboard"/>
                <a:ea typeface="Chalkboard"/>
                <a:cs typeface="Chalkboard"/>
                <a:sym typeface="Chalkboard"/>
              </a:defRPr>
            </a:pPr>
            <a:r>
              <a:t>z⁽³⁾ = W⁽³⁾a⁽²⁾ + b⁽³⁾</a:t>
            </a:r>
          </a:p>
          <a:p>
            <a:pPr>
              <a:defRPr sz="1400">
                <a:solidFill>
                  <a:srgbClr val="28282A"/>
                </a:solidFill>
                <a:latin typeface="Chalkboard"/>
                <a:ea typeface="Chalkboard"/>
                <a:cs typeface="Chalkboard"/>
                <a:sym typeface="Chalkboard"/>
              </a:defRPr>
            </a:pPr>
            <a:r>
              <a:t>ŷ = σ(z⁽³⁾)</a:t>
            </a:r>
          </a:p>
        </p:txBody>
      </p:sp>
      <p:sp>
        <p:nvSpPr>
          <p:cNvPr id="438" name="output-weight"/>
          <p:cNvSpPr txBox="1"/>
          <p:nvPr/>
        </p:nvSpPr>
        <p:spPr>
          <a:xfrm>
            <a:off x="5219700" y="4876799"/>
            <a:ext cx="36576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8282A"/>
                </a:solidFill>
                <a:latin typeface="Chalkboard"/>
                <a:ea typeface="Chalkboard"/>
                <a:cs typeface="Chalkboard"/>
                <a:sym typeface="Chalkboard"/>
              </a:defRPr>
            </a:lvl1pPr>
          </a:lstStyle>
          <a:p>
            <a:pPr/>
            <a:r>
              <a:t>W⁽³⁾ = [w₁₁⁽³⁾  w₁₂⁽³⁾]</a:t>
            </a:r>
          </a:p>
        </p:txBody>
      </p:sp>
      <p:sp>
        <p:nvSpPr>
          <p:cNvPr id="439" name="output-bias"/>
          <p:cNvSpPr txBox="1"/>
          <p:nvPr/>
        </p:nvSpPr>
        <p:spPr>
          <a:xfrm>
            <a:off x="9410700" y="4876799"/>
            <a:ext cx="167640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28282A"/>
                </a:solidFill>
                <a:latin typeface="Chalkboard"/>
                <a:ea typeface="Chalkboard"/>
                <a:cs typeface="Chalkboard"/>
                <a:sym typeface="Chalkboard"/>
              </a:defRPr>
            </a:lvl1pPr>
          </a:lstStyle>
          <a:p>
            <a:pPr/>
            <a:r>
              <a:t>b⁽³⁾ = [b₁⁽³⁾]</a:t>
            </a:r>
          </a:p>
        </p:txBody>
      </p:sp>
      <p:sp>
        <p:nvSpPr>
          <p:cNvPr id="440" name="matrix-footer-band"/>
          <p:cNvSpPr/>
          <p:nvPr/>
        </p:nvSpPr>
        <p:spPr>
          <a:xfrm>
            <a:off x="457200" y="5791200"/>
            <a:ext cx="11277600" cy="514350"/>
          </a:xfrm>
          <a:prstGeom prst="roundRect">
            <a:avLst>
              <a:gd name="adj" fmla="val 29630"/>
            </a:avLst>
          </a:prstGeom>
          <a:solidFill>
            <a:srgbClr val="F8E8B5"/>
          </a:solidFill>
          <a:ln w="12700">
            <a:miter lim="400000"/>
          </a:ln>
        </p:spPr>
        <p:txBody>
          <a:bodyPr lIns="0" tIns="0" rIns="0" bIns="0"/>
          <a:lstStyle/>
          <a:p>
            <a:pPr>
              <a:defRPr>
                <a:latin typeface="Calibri"/>
                <a:ea typeface="Calibri"/>
                <a:cs typeface="Calibri"/>
                <a:sym typeface="Calibri"/>
              </a:defRPr>
            </a:pPr>
          </a:p>
        </p:txBody>
      </p:sp>
      <p:sp>
        <p:nvSpPr>
          <p:cNvPr id="441" name="matrix-footer-copy"/>
          <p:cNvSpPr txBox="1"/>
          <p:nvPr/>
        </p:nvSpPr>
        <p:spPr>
          <a:xfrm>
            <a:off x="638175" y="5895975"/>
            <a:ext cx="10906125" cy="3755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300">
                <a:solidFill>
                  <a:srgbClr val="62616A"/>
                </a:solidFill>
                <a:latin typeface="Arial"/>
                <a:ea typeface="Arial"/>
                <a:cs typeface="Arial"/>
                <a:sym typeface="Arial"/>
              </a:defRPr>
            </a:pPr>
            <a:r>
              <a:t>Rows = receiving neurons. Columns = inputs. Weight matrices: 3×4, 2×3, 1×2.</a:t>
            </a:r>
          </a:p>
          <a:p>
            <a:pPr algn="ctr">
              <a:defRPr sz="1300">
                <a:solidFill>
                  <a:srgbClr val="62616A"/>
                </a:solidFill>
                <a:latin typeface="Arial"/>
                <a:ea typeface="Arial"/>
                <a:cs typeface="Arial"/>
                <a:sym typeface="Arial"/>
              </a:defRPr>
            </a:pPr>
            <a:r>
              <a:t>Each bias vector has one value per receiving neuron: 3, 2, then 1.</a:t>
            </a:r>
          </a:p>
        </p:txBody>
      </p:sp>
      <p:sp>
        <p:nvSpPr>
          <p:cNvPr id="442" name="matrix-bottom-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443" name="matrix-page"/>
          <p:cNvSpPr txBox="1"/>
          <p:nvPr/>
        </p:nvSpPr>
        <p:spPr>
          <a:xfrm>
            <a:off x="5810250" y="6526909"/>
            <a:ext cx="5715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15</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447"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448"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449" name="Forward propagation produces a probability"/>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Forward propagation produces a probability</a:t>
            </a:r>
          </a:p>
        </p:txBody>
      </p:sp>
      <p:sp>
        <p:nvSpPr>
          <p:cNvPr id="450" name="Hidden activations feed the output neuron. Sigmoid converts its score to a value from 0 to 1."/>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Hidden activations feed the output neuron. Sigmoid converts its score to a value from 0 to 1.</a:t>
            </a:r>
          </a:p>
        </p:txBody>
      </p:sp>
      <p:sp>
        <p:nvSpPr>
          <p:cNvPr id="451" name="11"/>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16</a:t>
            </a:r>
          </a:p>
        </p:txBody>
      </p:sp>
      <p:sp>
        <p:nvSpPr>
          <p:cNvPr id="452" name="Line"/>
          <p:cNvSpPr/>
          <p:nvPr/>
        </p:nvSpPr>
        <p:spPr>
          <a:xfrm>
            <a:off x="1228403" y="2639632"/>
            <a:ext cx="1391294"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82" y="1688"/>
                </a:lnTo>
                <a:lnTo>
                  <a:pt x="3526" y="3154"/>
                </a:lnTo>
                <a:lnTo>
                  <a:pt x="5312" y="4869"/>
                </a:lnTo>
                <a:lnTo>
                  <a:pt x="7262" y="7576"/>
                </a:lnTo>
                <a:lnTo>
                  <a:pt x="9094" y="9569"/>
                </a:lnTo>
                <a:lnTo>
                  <a:pt x="10763" y="10575"/>
                </a:lnTo>
                <a:lnTo>
                  <a:pt x="12691" y="13152"/>
                </a:lnTo>
                <a:lnTo>
                  <a:pt x="14428" y="14569"/>
                </a:lnTo>
                <a:lnTo>
                  <a:pt x="16238" y="16429"/>
                </a:lnTo>
                <a:lnTo>
                  <a:pt x="17960" y="17758"/>
                </a:lnTo>
                <a:lnTo>
                  <a:pt x="19733" y="19396"/>
                </a:lnTo>
                <a:lnTo>
                  <a:pt x="21600" y="21600"/>
                </a:lnTo>
              </a:path>
            </a:pathLst>
          </a:custGeom>
          <a:ln w="20479">
            <a:solidFill>
              <a:srgbClr val="B07A3F"/>
            </a:solidFill>
            <a:prstDash val="dash"/>
          </a:ln>
        </p:spPr>
        <p:txBody>
          <a:bodyPr lIns="0" tIns="0" rIns="0" bIns="0"/>
          <a:lstStyle/>
          <a:p>
            <a:pPr>
              <a:defRPr>
                <a:latin typeface="Calibri"/>
                <a:ea typeface="Calibri"/>
                <a:cs typeface="Calibri"/>
                <a:sym typeface="Calibri"/>
              </a:defRPr>
            </a:pPr>
          </a:p>
        </p:txBody>
      </p:sp>
      <p:sp>
        <p:nvSpPr>
          <p:cNvPr id="453" name="Line"/>
          <p:cNvSpPr/>
          <p:nvPr/>
        </p:nvSpPr>
        <p:spPr>
          <a:xfrm>
            <a:off x="1211867" y="2691015"/>
            <a:ext cx="1424367" cy="7044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13" y="1624"/>
                </a:lnTo>
                <a:lnTo>
                  <a:pt x="3574" y="3548"/>
                </a:lnTo>
                <a:lnTo>
                  <a:pt x="5393" y="5385"/>
                </a:lnTo>
                <a:lnTo>
                  <a:pt x="7071" y="6939"/>
                </a:lnTo>
                <a:lnTo>
                  <a:pt x="8965" y="8930"/>
                </a:lnTo>
                <a:lnTo>
                  <a:pt x="10729" y="10657"/>
                </a:lnTo>
                <a:lnTo>
                  <a:pt x="12503" y="12404"/>
                </a:lnTo>
                <a:lnTo>
                  <a:pt x="14446" y="14494"/>
                </a:lnTo>
                <a:lnTo>
                  <a:pt x="16168" y="16136"/>
                </a:lnTo>
                <a:lnTo>
                  <a:pt x="18113" y="18228"/>
                </a:lnTo>
                <a:lnTo>
                  <a:pt x="19819" y="19839"/>
                </a:lnTo>
                <a:lnTo>
                  <a:pt x="21600" y="2160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454" name="Line"/>
          <p:cNvSpPr/>
          <p:nvPr/>
        </p:nvSpPr>
        <p:spPr>
          <a:xfrm>
            <a:off x="1189031" y="2726303"/>
            <a:ext cx="1470038" cy="121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71" y="1887"/>
                </a:lnTo>
                <a:lnTo>
                  <a:pt x="3513" y="3495"/>
                </a:lnTo>
                <a:lnTo>
                  <a:pt x="5336" y="5322"/>
                </a:lnTo>
                <a:lnTo>
                  <a:pt x="7295" y="7315"/>
                </a:lnTo>
                <a:lnTo>
                  <a:pt x="8976" y="8970"/>
                </a:lnTo>
                <a:lnTo>
                  <a:pt x="10838" y="10847"/>
                </a:lnTo>
                <a:lnTo>
                  <a:pt x="12521" y="12505"/>
                </a:lnTo>
                <a:lnTo>
                  <a:pt x="14303" y="14282"/>
                </a:lnTo>
                <a:lnTo>
                  <a:pt x="16235" y="16243"/>
                </a:lnTo>
                <a:lnTo>
                  <a:pt x="17951" y="17941"/>
                </a:lnTo>
                <a:lnTo>
                  <a:pt x="19695" y="19673"/>
                </a:lnTo>
                <a:lnTo>
                  <a:pt x="21600" y="2160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455" name="Line"/>
          <p:cNvSpPr/>
          <p:nvPr/>
        </p:nvSpPr>
        <p:spPr>
          <a:xfrm>
            <a:off x="1228403" y="2928557"/>
            <a:ext cx="1391294"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903" y="20423"/>
                </a:lnTo>
                <a:lnTo>
                  <a:pt x="3591" y="17944"/>
                </a:lnTo>
                <a:lnTo>
                  <a:pt x="5364" y="15983"/>
                </a:lnTo>
                <a:lnTo>
                  <a:pt x="7085" y="13703"/>
                </a:lnTo>
                <a:lnTo>
                  <a:pt x="8999" y="12591"/>
                </a:lnTo>
                <a:lnTo>
                  <a:pt x="10709" y="10250"/>
                </a:lnTo>
                <a:lnTo>
                  <a:pt x="12589" y="8936"/>
                </a:lnTo>
                <a:lnTo>
                  <a:pt x="14419" y="7316"/>
                </a:lnTo>
                <a:lnTo>
                  <a:pt x="16326" y="6166"/>
                </a:lnTo>
                <a:lnTo>
                  <a:pt x="18054" y="3927"/>
                </a:lnTo>
                <a:lnTo>
                  <a:pt x="19903" y="2426"/>
                </a:lnTo>
                <a:lnTo>
                  <a:pt x="21600" y="0"/>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456" name="Line"/>
          <p:cNvSpPr/>
          <p:nvPr/>
        </p:nvSpPr>
        <p:spPr>
          <a:xfrm>
            <a:off x="1228403" y="3217482"/>
            <a:ext cx="1391294"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25" y="1348"/>
                </a:lnTo>
                <a:lnTo>
                  <a:pt x="3645" y="3872"/>
                </a:lnTo>
                <a:lnTo>
                  <a:pt x="5304" y="4817"/>
                </a:lnTo>
                <a:lnTo>
                  <a:pt x="7208" y="7250"/>
                </a:lnTo>
                <a:lnTo>
                  <a:pt x="9025" y="9152"/>
                </a:lnTo>
                <a:lnTo>
                  <a:pt x="10826" y="10956"/>
                </a:lnTo>
                <a:lnTo>
                  <a:pt x="12644" y="12869"/>
                </a:lnTo>
                <a:lnTo>
                  <a:pt x="14432" y="14592"/>
                </a:lnTo>
                <a:lnTo>
                  <a:pt x="16179" y="16071"/>
                </a:lnTo>
                <a:lnTo>
                  <a:pt x="17974" y="17845"/>
                </a:lnTo>
                <a:lnTo>
                  <a:pt x="19677" y="19054"/>
                </a:lnTo>
                <a:lnTo>
                  <a:pt x="21600" y="21600"/>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457" name="Line"/>
          <p:cNvSpPr/>
          <p:nvPr/>
        </p:nvSpPr>
        <p:spPr>
          <a:xfrm rot="21557999">
            <a:off x="1211867" y="3268867"/>
            <a:ext cx="1424367" cy="7044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14" y="1829"/>
                </a:lnTo>
                <a:lnTo>
                  <a:pt x="3529" y="3456"/>
                </a:lnTo>
                <a:lnTo>
                  <a:pt x="5340" y="5278"/>
                </a:lnTo>
                <a:lnTo>
                  <a:pt x="7206" y="7212"/>
                </a:lnTo>
                <a:lnTo>
                  <a:pt x="8967" y="8934"/>
                </a:lnTo>
                <a:lnTo>
                  <a:pt x="10756" y="10711"/>
                </a:lnTo>
                <a:lnTo>
                  <a:pt x="12627" y="12654"/>
                </a:lnTo>
                <a:lnTo>
                  <a:pt x="14451" y="14504"/>
                </a:lnTo>
                <a:lnTo>
                  <a:pt x="16106" y="16009"/>
                </a:lnTo>
                <a:lnTo>
                  <a:pt x="17982" y="17964"/>
                </a:lnTo>
                <a:lnTo>
                  <a:pt x="19682" y="19561"/>
                </a:lnTo>
                <a:lnTo>
                  <a:pt x="21600" y="2160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458" name="Line"/>
          <p:cNvSpPr/>
          <p:nvPr/>
        </p:nvSpPr>
        <p:spPr>
          <a:xfrm rot="21557999">
            <a:off x="1211867" y="2979940"/>
            <a:ext cx="1424367" cy="7044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22" y="19642"/>
                </a:lnTo>
                <a:lnTo>
                  <a:pt x="3547" y="17894"/>
                </a:lnTo>
                <a:lnTo>
                  <a:pt x="5467" y="16335"/>
                </a:lnTo>
                <a:lnTo>
                  <a:pt x="7243" y="14487"/>
                </a:lnTo>
                <a:lnTo>
                  <a:pt x="8988" y="12576"/>
                </a:lnTo>
                <a:lnTo>
                  <a:pt x="10878" y="10958"/>
                </a:lnTo>
                <a:lnTo>
                  <a:pt x="12494" y="8787"/>
                </a:lnTo>
                <a:lnTo>
                  <a:pt x="14403" y="7206"/>
                </a:lnTo>
                <a:lnTo>
                  <a:pt x="16148" y="5294"/>
                </a:lnTo>
                <a:lnTo>
                  <a:pt x="17996" y="3592"/>
                </a:lnTo>
                <a:lnTo>
                  <a:pt x="19766" y="1731"/>
                </a:lnTo>
                <a:lnTo>
                  <a:pt x="21600" y="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459" name="Line"/>
          <p:cNvSpPr/>
          <p:nvPr/>
        </p:nvSpPr>
        <p:spPr>
          <a:xfrm>
            <a:off x="1228403" y="3506406"/>
            <a:ext cx="1391294"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05" y="19222"/>
                </a:lnTo>
                <a:lnTo>
                  <a:pt x="3618" y="18112"/>
                </a:lnTo>
                <a:lnTo>
                  <a:pt x="5351" y="15905"/>
                </a:lnTo>
                <a:lnTo>
                  <a:pt x="7105" y="13825"/>
                </a:lnTo>
                <a:lnTo>
                  <a:pt x="8902" y="12004"/>
                </a:lnTo>
                <a:lnTo>
                  <a:pt x="10790" y="10739"/>
                </a:lnTo>
                <a:lnTo>
                  <a:pt x="12727" y="9768"/>
                </a:lnTo>
                <a:lnTo>
                  <a:pt x="14357" y="6938"/>
                </a:lnTo>
                <a:lnTo>
                  <a:pt x="16151" y="5105"/>
                </a:lnTo>
                <a:lnTo>
                  <a:pt x="17913" y="3073"/>
                </a:lnTo>
                <a:lnTo>
                  <a:pt x="19760" y="1556"/>
                </a:lnTo>
                <a:lnTo>
                  <a:pt x="21600"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460" name="Line"/>
          <p:cNvSpPr/>
          <p:nvPr/>
        </p:nvSpPr>
        <p:spPr>
          <a:xfrm>
            <a:off x="1228403" y="3795331"/>
            <a:ext cx="1391294"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95" y="1767"/>
                </a:lnTo>
                <a:lnTo>
                  <a:pt x="3533" y="3191"/>
                </a:lnTo>
                <a:lnTo>
                  <a:pt x="5421" y="5526"/>
                </a:lnTo>
                <a:lnTo>
                  <a:pt x="7184" y="7102"/>
                </a:lnTo>
                <a:lnTo>
                  <a:pt x="9101" y="9611"/>
                </a:lnTo>
                <a:lnTo>
                  <a:pt x="10796" y="10776"/>
                </a:lnTo>
                <a:lnTo>
                  <a:pt x="12591" y="12546"/>
                </a:lnTo>
                <a:lnTo>
                  <a:pt x="14366" y="14194"/>
                </a:lnTo>
                <a:lnTo>
                  <a:pt x="16226" y="16358"/>
                </a:lnTo>
                <a:lnTo>
                  <a:pt x="17952" y="17709"/>
                </a:lnTo>
                <a:lnTo>
                  <a:pt x="19809" y="19853"/>
                </a:lnTo>
                <a:lnTo>
                  <a:pt x="21600" y="2160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461" name="Line"/>
          <p:cNvSpPr/>
          <p:nvPr/>
        </p:nvSpPr>
        <p:spPr>
          <a:xfrm rot="21557999">
            <a:off x="1189031" y="3015228"/>
            <a:ext cx="1470038" cy="121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678" y="19652"/>
                </a:lnTo>
                <a:lnTo>
                  <a:pt x="3716" y="18141"/>
                </a:lnTo>
                <a:lnTo>
                  <a:pt x="5369" y="16163"/>
                </a:lnTo>
                <a:lnTo>
                  <a:pt x="7189" y="14387"/>
                </a:lnTo>
                <a:lnTo>
                  <a:pt x="8997" y="12596"/>
                </a:lnTo>
                <a:lnTo>
                  <a:pt x="10785" y="10781"/>
                </a:lnTo>
                <a:lnTo>
                  <a:pt x="12722" y="9148"/>
                </a:lnTo>
                <a:lnTo>
                  <a:pt x="14290" y="7067"/>
                </a:lnTo>
                <a:lnTo>
                  <a:pt x="16185" y="5381"/>
                </a:lnTo>
                <a:lnTo>
                  <a:pt x="17920" y="3503"/>
                </a:lnTo>
                <a:lnTo>
                  <a:pt x="19849" y="1860"/>
                </a:lnTo>
                <a:lnTo>
                  <a:pt x="21600" y="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462" name="Line"/>
          <p:cNvSpPr/>
          <p:nvPr/>
        </p:nvSpPr>
        <p:spPr>
          <a:xfrm>
            <a:off x="1211867" y="3557792"/>
            <a:ext cx="1424367" cy="7044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10" y="19619"/>
                </a:lnTo>
                <a:lnTo>
                  <a:pt x="3474" y="17745"/>
                </a:lnTo>
                <a:lnTo>
                  <a:pt x="5417" y="16234"/>
                </a:lnTo>
                <a:lnTo>
                  <a:pt x="7252" y="14506"/>
                </a:lnTo>
                <a:lnTo>
                  <a:pt x="8970" y="12539"/>
                </a:lnTo>
                <a:lnTo>
                  <a:pt x="10798" y="10796"/>
                </a:lnTo>
                <a:lnTo>
                  <a:pt x="12490" y="8778"/>
                </a:lnTo>
                <a:lnTo>
                  <a:pt x="14333" y="7064"/>
                </a:lnTo>
                <a:lnTo>
                  <a:pt x="16169" y="5337"/>
                </a:lnTo>
                <a:lnTo>
                  <a:pt x="18064" y="3729"/>
                </a:lnTo>
                <a:lnTo>
                  <a:pt x="19674" y="1544"/>
                </a:lnTo>
                <a:lnTo>
                  <a:pt x="21600" y="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463" name="Line"/>
          <p:cNvSpPr/>
          <p:nvPr/>
        </p:nvSpPr>
        <p:spPr>
          <a:xfrm>
            <a:off x="1228403" y="4084256"/>
            <a:ext cx="1391294"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688" y="19122"/>
                </a:lnTo>
                <a:lnTo>
                  <a:pt x="3662" y="18373"/>
                </a:lnTo>
                <a:lnTo>
                  <a:pt x="5514" y="16892"/>
                </a:lnTo>
                <a:lnTo>
                  <a:pt x="7121" y="13923"/>
                </a:lnTo>
                <a:lnTo>
                  <a:pt x="9046" y="12879"/>
                </a:lnTo>
                <a:lnTo>
                  <a:pt x="10869" y="11216"/>
                </a:lnTo>
                <a:lnTo>
                  <a:pt x="12666" y="9400"/>
                </a:lnTo>
                <a:lnTo>
                  <a:pt x="14493" y="7763"/>
                </a:lnTo>
                <a:lnTo>
                  <a:pt x="16203" y="5419"/>
                </a:lnTo>
                <a:lnTo>
                  <a:pt x="18097" y="4188"/>
                </a:lnTo>
                <a:lnTo>
                  <a:pt x="19815" y="1893"/>
                </a:lnTo>
                <a:lnTo>
                  <a:pt x="21600" y="0"/>
                </a:lnTo>
              </a:path>
            </a:pathLst>
          </a:custGeom>
          <a:ln w="20479">
            <a:solidFill>
              <a:srgbClr val="C65D4B"/>
            </a:solidFill>
            <a:prstDash val="dashDot"/>
          </a:ln>
        </p:spPr>
        <p:txBody>
          <a:bodyPr lIns="0" tIns="0" rIns="0" bIns="0"/>
          <a:lstStyle/>
          <a:p>
            <a:pPr>
              <a:defRPr>
                <a:latin typeface="Calibri"/>
                <a:ea typeface="Calibri"/>
                <a:cs typeface="Calibri"/>
                <a:sym typeface="Calibri"/>
              </a:defRPr>
            </a:pPr>
          </a:p>
        </p:txBody>
      </p:sp>
      <p:sp>
        <p:nvSpPr>
          <p:cNvPr id="464" name="Line"/>
          <p:cNvSpPr/>
          <p:nvPr/>
        </p:nvSpPr>
        <p:spPr>
          <a:xfrm>
            <a:off x="2981001" y="2928557"/>
            <a:ext cx="1391295"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911" y="2476"/>
                </a:lnTo>
                <a:lnTo>
                  <a:pt x="3729" y="4382"/>
                </a:lnTo>
                <a:lnTo>
                  <a:pt x="5490" y="5948"/>
                </a:lnTo>
                <a:lnTo>
                  <a:pt x="7273" y="7645"/>
                </a:lnTo>
                <a:lnTo>
                  <a:pt x="8971" y="8824"/>
                </a:lnTo>
                <a:lnTo>
                  <a:pt x="10877" y="11268"/>
                </a:lnTo>
                <a:lnTo>
                  <a:pt x="12513" y="12073"/>
                </a:lnTo>
                <a:lnTo>
                  <a:pt x="14486" y="14920"/>
                </a:lnTo>
                <a:lnTo>
                  <a:pt x="16318" y="16917"/>
                </a:lnTo>
                <a:lnTo>
                  <a:pt x="17924" y="17537"/>
                </a:lnTo>
                <a:lnTo>
                  <a:pt x="19721" y="19319"/>
                </a:lnTo>
                <a:lnTo>
                  <a:pt x="21600" y="21600"/>
                </a:lnTo>
              </a:path>
            </a:pathLst>
          </a:custGeom>
          <a:ln w="20479">
            <a:solidFill>
              <a:srgbClr val="B07A3F"/>
            </a:solidFill>
            <a:prstDash val="dash"/>
          </a:ln>
        </p:spPr>
        <p:txBody>
          <a:bodyPr lIns="0" tIns="0" rIns="0" bIns="0"/>
          <a:lstStyle/>
          <a:p>
            <a:pPr>
              <a:defRPr>
                <a:latin typeface="Calibri"/>
                <a:ea typeface="Calibri"/>
                <a:cs typeface="Calibri"/>
                <a:sym typeface="Calibri"/>
              </a:defRPr>
            </a:pPr>
          </a:p>
        </p:txBody>
      </p:sp>
      <p:sp>
        <p:nvSpPr>
          <p:cNvPr id="465" name="Line"/>
          <p:cNvSpPr/>
          <p:nvPr/>
        </p:nvSpPr>
        <p:spPr>
          <a:xfrm>
            <a:off x="2964465" y="2979940"/>
            <a:ext cx="1424368" cy="7044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99" y="1798"/>
                </a:lnTo>
                <a:lnTo>
                  <a:pt x="3665" y="3731"/>
                </a:lnTo>
                <a:lnTo>
                  <a:pt x="5441" y="5483"/>
                </a:lnTo>
                <a:lnTo>
                  <a:pt x="7132" y="7062"/>
                </a:lnTo>
                <a:lnTo>
                  <a:pt x="8971" y="8942"/>
                </a:lnTo>
                <a:lnTo>
                  <a:pt x="10742" y="10684"/>
                </a:lnTo>
                <a:lnTo>
                  <a:pt x="12595" y="12589"/>
                </a:lnTo>
                <a:lnTo>
                  <a:pt x="14491" y="14584"/>
                </a:lnTo>
                <a:lnTo>
                  <a:pt x="16159" y="16117"/>
                </a:lnTo>
                <a:lnTo>
                  <a:pt x="18054" y="18109"/>
                </a:lnTo>
                <a:lnTo>
                  <a:pt x="19744" y="19687"/>
                </a:lnTo>
                <a:lnTo>
                  <a:pt x="21600" y="2160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466" name="Line"/>
          <p:cNvSpPr/>
          <p:nvPr/>
        </p:nvSpPr>
        <p:spPr>
          <a:xfrm>
            <a:off x="2981001" y="3217482"/>
            <a:ext cx="1391295"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739" y="19430"/>
                </a:lnTo>
                <a:lnTo>
                  <a:pt x="3512" y="17467"/>
                </a:lnTo>
                <a:lnTo>
                  <a:pt x="5347" y="15877"/>
                </a:lnTo>
                <a:lnTo>
                  <a:pt x="7301" y="15010"/>
                </a:lnTo>
                <a:lnTo>
                  <a:pt x="8949" y="12291"/>
                </a:lnTo>
                <a:lnTo>
                  <a:pt x="10837" y="11025"/>
                </a:lnTo>
                <a:lnTo>
                  <a:pt x="12547" y="8680"/>
                </a:lnTo>
                <a:lnTo>
                  <a:pt x="14483" y="7702"/>
                </a:lnTo>
                <a:lnTo>
                  <a:pt x="16266" y="5799"/>
                </a:lnTo>
                <a:lnTo>
                  <a:pt x="17971" y="3427"/>
                </a:lnTo>
                <a:lnTo>
                  <a:pt x="19874" y="2247"/>
                </a:lnTo>
                <a:lnTo>
                  <a:pt x="21600" y="0"/>
                </a:lnTo>
              </a:path>
            </a:pathLst>
          </a:custGeom>
          <a:ln w="20479">
            <a:solidFill>
              <a:srgbClr val="B07A3F"/>
            </a:solidFill>
            <a:prstDash val="dash"/>
          </a:ln>
        </p:spPr>
        <p:txBody>
          <a:bodyPr lIns="0" tIns="0" rIns="0" bIns="0"/>
          <a:lstStyle/>
          <a:p>
            <a:pPr>
              <a:defRPr>
                <a:latin typeface="Calibri"/>
                <a:ea typeface="Calibri"/>
                <a:cs typeface="Calibri"/>
                <a:sym typeface="Calibri"/>
              </a:defRPr>
            </a:pPr>
          </a:p>
        </p:txBody>
      </p:sp>
      <p:sp>
        <p:nvSpPr>
          <p:cNvPr id="467" name="Line"/>
          <p:cNvSpPr/>
          <p:nvPr/>
        </p:nvSpPr>
        <p:spPr>
          <a:xfrm>
            <a:off x="2981001" y="3506406"/>
            <a:ext cx="1391295"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28" y="1363"/>
                </a:lnTo>
                <a:lnTo>
                  <a:pt x="3510" y="3057"/>
                </a:lnTo>
                <a:lnTo>
                  <a:pt x="5506" y="6045"/>
                </a:lnTo>
                <a:lnTo>
                  <a:pt x="7268" y="7615"/>
                </a:lnTo>
                <a:lnTo>
                  <a:pt x="9108" y="9652"/>
                </a:lnTo>
                <a:lnTo>
                  <a:pt x="10706" y="10232"/>
                </a:lnTo>
                <a:lnTo>
                  <a:pt x="12599" y="12597"/>
                </a:lnTo>
                <a:lnTo>
                  <a:pt x="14324" y="13940"/>
                </a:lnTo>
                <a:lnTo>
                  <a:pt x="16221" y="16328"/>
                </a:lnTo>
                <a:lnTo>
                  <a:pt x="17877" y="17255"/>
                </a:lnTo>
                <a:lnTo>
                  <a:pt x="19818" y="19910"/>
                </a:lnTo>
                <a:lnTo>
                  <a:pt x="21600" y="21600"/>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468" name="Line"/>
          <p:cNvSpPr/>
          <p:nvPr/>
        </p:nvSpPr>
        <p:spPr>
          <a:xfrm>
            <a:off x="2964465" y="3268867"/>
            <a:ext cx="1424368" cy="7044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54" y="19910"/>
                </a:lnTo>
                <a:lnTo>
                  <a:pt x="3688" y="18177"/>
                </a:lnTo>
                <a:lnTo>
                  <a:pt x="5379" y="16157"/>
                </a:lnTo>
                <a:lnTo>
                  <a:pt x="7185" y="14370"/>
                </a:lnTo>
                <a:lnTo>
                  <a:pt x="9045" y="12691"/>
                </a:lnTo>
                <a:lnTo>
                  <a:pt x="10925" y="11053"/>
                </a:lnTo>
                <a:lnTo>
                  <a:pt x="12589" y="8978"/>
                </a:lnTo>
                <a:lnTo>
                  <a:pt x="14417" y="7235"/>
                </a:lnTo>
                <a:lnTo>
                  <a:pt x="16326" y="5654"/>
                </a:lnTo>
                <a:lnTo>
                  <a:pt x="18050" y="3701"/>
                </a:lnTo>
                <a:lnTo>
                  <a:pt x="19878" y="1957"/>
                </a:lnTo>
                <a:lnTo>
                  <a:pt x="21600" y="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469" name="Line"/>
          <p:cNvSpPr/>
          <p:nvPr/>
        </p:nvSpPr>
        <p:spPr>
          <a:xfrm>
            <a:off x="2981001" y="3795331"/>
            <a:ext cx="1391295"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926" y="20564"/>
                </a:lnTo>
                <a:lnTo>
                  <a:pt x="3602" y="18014"/>
                </a:lnTo>
                <a:lnTo>
                  <a:pt x="5331" y="15779"/>
                </a:lnTo>
                <a:lnTo>
                  <a:pt x="7097" y="13776"/>
                </a:lnTo>
                <a:lnTo>
                  <a:pt x="9099" y="13201"/>
                </a:lnTo>
                <a:lnTo>
                  <a:pt x="10829" y="10978"/>
                </a:lnTo>
                <a:lnTo>
                  <a:pt x="12668" y="9414"/>
                </a:lnTo>
                <a:lnTo>
                  <a:pt x="14317" y="6698"/>
                </a:lnTo>
                <a:lnTo>
                  <a:pt x="16322" y="6141"/>
                </a:lnTo>
                <a:lnTo>
                  <a:pt x="18091" y="4154"/>
                </a:lnTo>
                <a:lnTo>
                  <a:pt x="19906" y="2440"/>
                </a:lnTo>
                <a:lnTo>
                  <a:pt x="21600" y="0"/>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470" name="Line"/>
          <p:cNvSpPr/>
          <p:nvPr/>
        </p:nvSpPr>
        <p:spPr>
          <a:xfrm>
            <a:off x="4733602" y="3217482"/>
            <a:ext cx="1391295"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914" y="2491"/>
                </a:lnTo>
                <a:lnTo>
                  <a:pt x="3557" y="3341"/>
                </a:lnTo>
                <a:lnTo>
                  <a:pt x="5406" y="5438"/>
                </a:lnTo>
                <a:lnTo>
                  <a:pt x="7268" y="7615"/>
                </a:lnTo>
                <a:lnTo>
                  <a:pt x="8974" y="8841"/>
                </a:lnTo>
                <a:lnTo>
                  <a:pt x="10742" y="10447"/>
                </a:lnTo>
                <a:lnTo>
                  <a:pt x="12486" y="11909"/>
                </a:lnTo>
                <a:lnTo>
                  <a:pt x="14483" y="14902"/>
                </a:lnTo>
                <a:lnTo>
                  <a:pt x="16314" y="16890"/>
                </a:lnTo>
                <a:lnTo>
                  <a:pt x="18129" y="18781"/>
                </a:lnTo>
                <a:lnTo>
                  <a:pt x="19791" y="19744"/>
                </a:lnTo>
                <a:lnTo>
                  <a:pt x="21600" y="21600"/>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471" name="Line"/>
          <p:cNvSpPr/>
          <p:nvPr/>
        </p:nvSpPr>
        <p:spPr>
          <a:xfrm>
            <a:off x="4733602" y="3506406"/>
            <a:ext cx="1391295" cy="2293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922" y="20541"/>
                </a:lnTo>
                <a:lnTo>
                  <a:pt x="3715" y="18701"/>
                </a:lnTo>
                <a:lnTo>
                  <a:pt x="5440" y="16444"/>
                </a:lnTo>
                <a:lnTo>
                  <a:pt x="7082" y="13681"/>
                </a:lnTo>
                <a:lnTo>
                  <a:pt x="9002" y="12614"/>
                </a:lnTo>
                <a:lnTo>
                  <a:pt x="10711" y="10262"/>
                </a:lnTo>
                <a:lnTo>
                  <a:pt x="12560" y="8755"/>
                </a:lnTo>
                <a:lnTo>
                  <a:pt x="14529" y="7980"/>
                </a:lnTo>
                <a:lnTo>
                  <a:pt x="16148" y="5086"/>
                </a:lnTo>
                <a:lnTo>
                  <a:pt x="18085" y="4118"/>
                </a:lnTo>
                <a:lnTo>
                  <a:pt x="19863" y="2184"/>
                </a:lnTo>
                <a:lnTo>
                  <a:pt x="21600" y="0"/>
                </a:lnTo>
              </a:path>
            </a:pathLst>
          </a:custGeom>
          <a:ln w="20479">
            <a:solidFill>
              <a:srgbClr val="B07A3F"/>
            </a:solidFill>
            <a:prstDash val="dash"/>
          </a:ln>
        </p:spPr>
        <p:txBody>
          <a:bodyPr lIns="0" tIns="0" rIns="0" bIns="0"/>
          <a:lstStyle/>
          <a:p>
            <a:pPr>
              <a:defRPr>
                <a:latin typeface="Calibri"/>
                <a:ea typeface="Calibri"/>
                <a:cs typeface="Calibri"/>
                <a:sym typeface="Calibri"/>
              </a:defRPr>
            </a:pPr>
          </a:p>
        </p:txBody>
      </p:sp>
      <p:sp>
        <p:nvSpPr>
          <p:cNvPr id="472" name="Shape"/>
          <p:cNvSpPr/>
          <p:nvPr/>
        </p:nvSpPr>
        <p:spPr>
          <a:xfrm>
            <a:off x="855980" y="2419025"/>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473" name="1"/>
          <p:cNvSpPr txBox="1"/>
          <p:nvPr/>
        </p:nvSpPr>
        <p:spPr>
          <a:xfrm>
            <a:off x="809625" y="2465314"/>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1</a:t>
            </a:r>
          </a:p>
        </p:txBody>
      </p:sp>
      <p:sp>
        <p:nvSpPr>
          <p:cNvPr id="474" name="Shape"/>
          <p:cNvSpPr/>
          <p:nvPr/>
        </p:nvSpPr>
        <p:spPr>
          <a:xfrm>
            <a:off x="855980" y="2996875"/>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475" name="1"/>
          <p:cNvSpPr txBox="1"/>
          <p:nvPr/>
        </p:nvSpPr>
        <p:spPr>
          <a:xfrm>
            <a:off x="809625" y="3043164"/>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1</a:t>
            </a:r>
          </a:p>
        </p:txBody>
      </p:sp>
      <p:sp>
        <p:nvSpPr>
          <p:cNvPr id="476" name="Shape"/>
          <p:cNvSpPr/>
          <p:nvPr/>
        </p:nvSpPr>
        <p:spPr>
          <a:xfrm>
            <a:off x="855980" y="3574724"/>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477" name="1"/>
          <p:cNvSpPr txBox="1"/>
          <p:nvPr/>
        </p:nvSpPr>
        <p:spPr>
          <a:xfrm>
            <a:off x="809625" y="3621014"/>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1</a:t>
            </a:r>
          </a:p>
        </p:txBody>
      </p:sp>
      <p:sp>
        <p:nvSpPr>
          <p:cNvPr id="478" name="Shape"/>
          <p:cNvSpPr/>
          <p:nvPr/>
        </p:nvSpPr>
        <p:spPr>
          <a:xfrm>
            <a:off x="855980" y="4152574"/>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479" name="0"/>
          <p:cNvSpPr txBox="1"/>
          <p:nvPr/>
        </p:nvSpPr>
        <p:spPr>
          <a:xfrm>
            <a:off x="809625" y="4198864"/>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0</a:t>
            </a:r>
          </a:p>
        </p:txBody>
      </p:sp>
      <p:sp>
        <p:nvSpPr>
          <p:cNvPr id="480" name="Shape"/>
          <p:cNvSpPr/>
          <p:nvPr/>
        </p:nvSpPr>
        <p:spPr>
          <a:xfrm>
            <a:off x="2608581" y="2707950"/>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481" name="2.1"/>
          <p:cNvSpPr txBox="1"/>
          <p:nvPr/>
        </p:nvSpPr>
        <p:spPr>
          <a:xfrm>
            <a:off x="2562225" y="2754239"/>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2.1</a:t>
            </a:r>
          </a:p>
        </p:txBody>
      </p:sp>
      <p:sp>
        <p:nvSpPr>
          <p:cNvPr id="482" name="Shape"/>
          <p:cNvSpPr/>
          <p:nvPr/>
        </p:nvSpPr>
        <p:spPr>
          <a:xfrm>
            <a:off x="2608581" y="3285799"/>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483" name="1.4"/>
          <p:cNvSpPr txBox="1"/>
          <p:nvPr/>
        </p:nvSpPr>
        <p:spPr>
          <a:xfrm>
            <a:off x="2562225" y="3332089"/>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1.4</a:t>
            </a:r>
          </a:p>
        </p:txBody>
      </p:sp>
      <p:sp>
        <p:nvSpPr>
          <p:cNvPr id="484" name="Shape"/>
          <p:cNvSpPr/>
          <p:nvPr/>
        </p:nvSpPr>
        <p:spPr>
          <a:xfrm>
            <a:off x="2608581" y="3863649"/>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485" name="0"/>
          <p:cNvSpPr txBox="1"/>
          <p:nvPr/>
        </p:nvSpPr>
        <p:spPr>
          <a:xfrm>
            <a:off x="2562225" y="3909939"/>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0</a:t>
            </a:r>
          </a:p>
        </p:txBody>
      </p:sp>
      <p:sp>
        <p:nvSpPr>
          <p:cNvPr id="486" name="Shape"/>
          <p:cNvSpPr/>
          <p:nvPr/>
        </p:nvSpPr>
        <p:spPr>
          <a:xfrm>
            <a:off x="4361181" y="2996875"/>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487" name="2.6"/>
          <p:cNvSpPr txBox="1"/>
          <p:nvPr/>
        </p:nvSpPr>
        <p:spPr>
          <a:xfrm>
            <a:off x="4314825" y="3043164"/>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2.6</a:t>
            </a:r>
          </a:p>
        </p:txBody>
      </p:sp>
      <p:sp>
        <p:nvSpPr>
          <p:cNvPr id="488" name="Shape"/>
          <p:cNvSpPr/>
          <p:nvPr/>
        </p:nvSpPr>
        <p:spPr>
          <a:xfrm>
            <a:off x="4361181" y="3574724"/>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489" name="0.2"/>
          <p:cNvSpPr txBox="1"/>
          <p:nvPr/>
        </p:nvSpPr>
        <p:spPr>
          <a:xfrm>
            <a:off x="4314825" y="3621014"/>
            <a:ext cx="4762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a:solidFill>
                  <a:srgbClr val="28282A"/>
                </a:solidFill>
                <a:latin typeface="Chalkboard"/>
                <a:ea typeface="Chalkboard"/>
                <a:cs typeface="Chalkboard"/>
                <a:sym typeface="Chalkboard"/>
              </a:defRPr>
            </a:lvl1pPr>
          </a:lstStyle>
          <a:p>
            <a:pPr/>
            <a:r>
              <a:t>0.2</a:t>
            </a:r>
          </a:p>
        </p:txBody>
      </p:sp>
      <p:sp>
        <p:nvSpPr>
          <p:cNvPr id="490" name="Shape"/>
          <p:cNvSpPr/>
          <p:nvPr/>
        </p:nvSpPr>
        <p:spPr>
          <a:xfrm>
            <a:off x="6113781" y="3285799"/>
            <a:ext cx="386122" cy="3860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491" name="0.94"/>
          <p:cNvSpPr txBox="1"/>
          <p:nvPr/>
        </p:nvSpPr>
        <p:spPr>
          <a:xfrm>
            <a:off x="6067425" y="3344621"/>
            <a:ext cx="476250" cy="26400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8E7052"/>
                </a:solidFill>
                <a:latin typeface="Chalkboard"/>
                <a:ea typeface="Chalkboard"/>
                <a:cs typeface="Chalkboard"/>
                <a:sym typeface="Chalkboard"/>
              </a:defRPr>
            </a:lvl1pPr>
          </a:lstStyle>
          <a:p>
            <a:pPr/>
            <a:r>
              <a:t>0.94</a:t>
            </a:r>
          </a:p>
        </p:txBody>
      </p:sp>
      <p:sp>
        <p:nvSpPr>
          <p:cNvPr id="492" name="Input"/>
          <p:cNvSpPr txBox="1"/>
          <p:nvPr/>
        </p:nvSpPr>
        <p:spPr>
          <a:xfrm>
            <a:off x="523875" y="1977784"/>
            <a:ext cx="12477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424548"/>
                </a:solidFill>
                <a:latin typeface="Chalkboard"/>
                <a:ea typeface="Chalkboard"/>
                <a:cs typeface="Chalkboard"/>
                <a:sym typeface="Chalkboard"/>
              </a:defRPr>
            </a:lvl1pPr>
          </a:lstStyle>
          <a:p>
            <a:pPr/>
            <a:r>
              <a:t>Input</a:t>
            </a:r>
          </a:p>
        </p:txBody>
      </p:sp>
      <p:sp>
        <p:nvSpPr>
          <p:cNvPr id="493" name="Hidden 1"/>
          <p:cNvSpPr txBox="1"/>
          <p:nvPr/>
        </p:nvSpPr>
        <p:spPr>
          <a:xfrm>
            <a:off x="2276475" y="1977784"/>
            <a:ext cx="12477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424548"/>
                </a:solidFill>
                <a:latin typeface="Chalkboard"/>
                <a:ea typeface="Chalkboard"/>
                <a:cs typeface="Chalkboard"/>
                <a:sym typeface="Chalkboard"/>
              </a:defRPr>
            </a:lvl1pPr>
          </a:lstStyle>
          <a:p>
            <a:pPr/>
            <a:r>
              <a:t>Hidden 1</a:t>
            </a:r>
          </a:p>
        </p:txBody>
      </p:sp>
      <p:sp>
        <p:nvSpPr>
          <p:cNvPr id="494" name="Hidden 2"/>
          <p:cNvSpPr txBox="1"/>
          <p:nvPr/>
        </p:nvSpPr>
        <p:spPr>
          <a:xfrm>
            <a:off x="4029075" y="1977784"/>
            <a:ext cx="12477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424548"/>
                </a:solidFill>
                <a:latin typeface="Chalkboard"/>
                <a:ea typeface="Chalkboard"/>
                <a:cs typeface="Chalkboard"/>
                <a:sym typeface="Chalkboard"/>
              </a:defRPr>
            </a:lvl1pPr>
          </a:lstStyle>
          <a:p>
            <a:pPr/>
            <a:r>
              <a:t>Hidden 2</a:t>
            </a:r>
          </a:p>
        </p:txBody>
      </p:sp>
      <p:sp>
        <p:nvSpPr>
          <p:cNvPr id="495" name="Output"/>
          <p:cNvSpPr txBox="1"/>
          <p:nvPr/>
        </p:nvSpPr>
        <p:spPr>
          <a:xfrm>
            <a:off x="5781675" y="1977784"/>
            <a:ext cx="12477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600">
                <a:solidFill>
                  <a:srgbClr val="8E7052"/>
                </a:solidFill>
                <a:latin typeface="Chalkboard"/>
                <a:ea typeface="Chalkboard"/>
                <a:cs typeface="Chalkboard"/>
                <a:sym typeface="Chalkboard"/>
              </a:defRPr>
            </a:lvl1pPr>
          </a:lstStyle>
          <a:p>
            <a:pPr/>
            <a:r>
              <a:t>Output</a:t>
            </a:r>
          </a:p>
        </p:txBody>
      </p:sp>
      <p:sp>
        <p:nvSpPr>
          <p:cNvPr id="496" name="Illustrative activations"/>
          <p:cNvSpPr txBox="1"/>
          <p:nvPr/>
        </p:nvSpPr>
        <p:spPr>
          <a:xfrm>
            <a:off x="685800" y="4953000"/>
            <a:ext cx="5953125" cy="5559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424548"/>
                </a:solidFill>
                <a:latin typeface="Chalkboard"/>
                <a:ea typeface="Chalkboard"/>
                <a:cs typeface="Chalkboard"/>
                <a:sym typeface="Chalkboard"/>
              </a:defRPr>
            </a:pPr>
            <a:r>
              <a:t>Hidden layers use ReLU.</a:t>
            </a:r>
          </a:p>
          <a:p>
            <a:pPr>
              <a:defRPr sz="1700">
                <a:solidFill>
                  <a:srgbClr val="424548"/>
                </a:solidFill>
                <a:latin typeface="Chalkboard"/>
                <a:ea typeface="Chalkboard"/>
                <a:cs typeface="Chalkboard"/>
                <a:sym typeface="Chalkboard"/>
              </a:defRPr>
            </a:pPr>
            <a:r>
              <a:t>These values illustrate one forward pass.</a:t>
            </a:r>
          </a:p>
        </p:txBody>
      </p:sp>
      <p:sp>
        <p:nvSpPr>
          <p:cNvPr id="497" name="The example output is 0.94. Hidden layers use ReLU, while the final output uses sigmoid."/>
          <p:cNvSpPr txBox="1"/>
          <p:nvPr/>
        </p:nvSpPr>
        <p:spPr>
          <a:xfrm>
            <a:off x="638175" y="5895975"/>
            <a:ext cx="1090612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Sigmoid(2.75) ≈ 0.94. A forward pass uses the current weights and biases without changing them.</a:t>
            </a:r>
          </a:p>
        </p:txBody>
      </p:sp>
      <p:sp>
        <p:nvSpPr>
          <p:cNvPr id="498"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499"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graphicFrame>
        <p:nvGraphicFramePr>
          <p:cNvPr id="500" name="Chart"/>
          <p:cNvGraphicFramePr/>
          <p:nvPr/>
        </p:nvGraphicFramePr>
        <p:xfrm>
          <a:off x="7116537" y="1836637"/>
          <a:ext cx="4343039" cy="2876307"/>
        </p:xfrm>
        <a:graphic xmlns:a="http://schemas.openxmlformats.org/drawingml/2006/main">
          <a:graphicData uri="http://schemas.openxmlformats.org/drawingml/2006/chart">
            <c:chart xmlns:c="http://schemas.openxmlformats.org/drawingml/2006/chart" r:id="rId3"/>
          </a:graphicData>
        </a:graphic>
      </p:graphicFrame>
      <p:sp>
        <p:nvSpPr>
          <p:cNvPr id="501" name="Example output weights: [1, 1], bias: −0.05"/>
          <p:cNvSpPr txBox="1"/>
          <p:nvPr/>
        </p:nvSpPr>
        <p:spPr>
          <a:xfrm>
            <a:off x="7162800" y="4857750"/>
            <a:ext cx="4410075"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8E7052"/>
                </a:solidFill>
                <a:latin typeface="Arial"/>
                <a:ea typeface="Arial"/>
                <a:cs typeface="Arial"/>
                <a:sym typeface="Arial"/>
              </a:defRPr>
            </a:lvl1pPr>
          </a:lstStyle>
          <a:p>
            <a:pPr/>
            <a:r>
              <a:t>Example output weights: [1, 1], bias: −0.05</a:t>
            </a:r>
          </a:p>
        </p:txBody>
      </p:sp>
      <p:sp>
        <p:nvSpPr>
          <p:cNvPr id="502" name="z = 2.6 + 0.2 − 0.05 = 2.75"/>
          <p:cNvSpPr txBox="1"/>
          <p:nvPr/>
        </p:nvSpPr>
        <p:spPr>
          <a:xfrm>
            <a:off x="7162800" y="5191125"/>
            <a:ext cx="4410075" cy="3429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700">
                <a:solidFill>
                  <a:srgbClr val="8E7052"/>
                </a:solidFill>
                <a:latin typeface="Chalkboard"/>
                <a:ea typeface="Chalkboard"/>
                <a:cs typeface="Chalkboard"/>
                <a:sym typeface="Chalkboard"/>
              </a:defRPr>
            </a:lvl1pPr>
          </a:lstStyle>
          <a:p>
            <a:pPr/>
            <a:r>
              <a:t>z = 2.6 + 0.2 − 0.05 = 2.75</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06"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50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508" name="A threshold turns probability into a class"/>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A threshold turns probability into a class</a:t>
            </a:r>
          </a:p>
        </p:txBody>
      </p:sp>
      <p:sp>
        <p:nvSpPr>
          <p:cNvPr id="509" name="At a threshold of 0.5, this email falls on the Spam side."/>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At a threshold of 0.5, this email falls on the Spam side.</a:t>
            </a:r>
          </a:p>
        </p:txBody>
      </p:sp>
      <p:sp>
        <p:nvSpPr>
          <p:cNvPr id="510" name="12"/>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17</a:t>
            </a:r>
          </a:p>
        </p:txBody>
      </p:sp>
      <p:sp>
        <p:nvSpPr>
          <p:cNvPr id="511" name="Line"/>
          <p:cNvSpPr/>
          <p:nvPr/>
        </p:nvSpPr>
        <p:spPr>
          <a:xfrm>
            <a:off x="885825" y="3641361"/>
            <a:ext cx="5095877" cy="149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9720"/>
                </a:moveTo>
                <a:lnTo>
                  <a:pt x="1802" y="10314"/>
                </a:lnTo>
                <a:lnTo>
                  <a:pt x="3588" y="5556"/>
                </a:lnTo>
                <a:lnTo>
                  <a:pt x="5432" y="20734"/>
                </a:lnTo>
                <a:lnTo>
                  <a:pt x="7204" y="11062"/>
                </a:lnTo>
                <a:lnTo>
                  <a:pt x="8987" y="5311"/>
                </a:lnTo>
                <a:lnTo>
                  <a:pt x="10831" y="20217"/>
                </a:lnTo>
                <a:lnTo>
                  <a:pt x="12591" y="6733"/>
                </a:lnTo>
                <a:lnTo>
                  <a:pt x="14403" y="10631"/>
                </a:lnTo>
                <a:lnTo>
                  <a:pt x="16172" y="0"/>
                </a:lnTo>
                <a:lnTo>
                  <a:pt x="18035" y="21600"/>
                </a:lnTo>
                <a:lnTo>
                  <a:pt x="19810" y="13134"/>
                </a:lnTo>
                <a:lnTo>
                  <a:pt x="21600" y="9720"/>
                </a:lnTo>
              </a:path>
            </a:pathLst>
          </a:custGeom>
          <a:ln w="20479">
            <a:solidFill>
              <a:srgbClr val="C65D4B"/>
            </a:solidFill>
          </a:ln>
        </p:spPr>
        <p:txBody>
          <a:bodyPr lIns="0" tIns="0" rIns="0" bIns="0"/>
          <a:lstStyle/>
          <a:p>
            <a:pPr>
              <a:defRPr>
                <a:latin typeface="Calibri"/>
                <a:ea typeface="Calibri"/>
                <a:cs typeface="Calibri"/>
                <a:sym typeface="Calibri"/>
              </a:defRPr>
            </a:pPr>
          </a:p>
        </p:txBody>
      </p:sp>
      <p:sp>
        <p:nvSpPr>
          <p:cNvPr id="512" name="Line"/>
          <p:cNvSpPr/>
          <p:nvPr/>
        </p:nvSpPr>
        <p:spPr>
          <a:xfrm>
            <a:off x="5981700" y="3639810"/>
            <a:ext cx="5095877" cy="160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096"/>
                </a:moveTo>
                <a:lnTo>
                  <a:pt x="1787" y="6956"/>
                </a:lnTo>
                <a:lnTo>
                  <a:pt x="3628" y="20078"/>
                </a:lnTo>
                <a:lnTo>
                  <a:pt x="5384" y="6166"/>
                </a:lnTo>
                <a:lnTo>
                  <a:pt x="7233" y="21600"/>
                </a:lnTo>
                <a:lnTo>
                  <a:pt x="8997" y="10252"/>
                </a:lnTo>
                <a:lnTo>
                  <a:pt x="10765" y="0"/>
                </a:lnTo>
                <a:lnTo>
                  <a:pt x="12590" y="7799"/>
                </a:lnTo>
                <a:lnTo>
                  <a:pt x="14392" y="8528"/>
                </a:lnTo>
                <a:lnTo>
                  <a:pt x="16228" y="19832"/>
                </a:lnTo>
                <a:lnTo>
                  <a:pt x="17986" y="6509"/>
                </a:lnTo>
                <a:lnTo>
                  <a:pt x="19829" y="20419"/>
                </a:lnTo>
                <a:lnTo>
                  <a:pt x="21600" y="11096"/>
                </a:lnTo>
              </a:path>
            </a:pathLst>
          </a:custGeom>
          <a:ln w="20479">
            <a:solidFill>
              <a:srgbClr val="B07A3F"/>
            </a:solidFill>
          </a:ln>
        </p:spPr>
        <p:txBody>
          <a:bodyPr lIns="0" tIns="0" rIns="0" bIns="0"/>
          <a:lstStyle/>
          <a:p>
            <a:pPr>
              <a:defRPr>
                <a:latin typeface="Calibri"/>
                <a:ea typeface="Calibri"/>
                <a:cs typeface="Calibri"/>
                <a:sym typeface="Calibri"/>
              </a:defRPr>
            </a:pPr>
          </a:p>
        </p:txBody>
      </p:sp>
      <p:sp>
        <p:nvSpPr>
          <p:cNvPr id="513" name="Line"/>
          <p:cNvSpPr/>
          <p:nvPr/>
        </p:nvSpPr>
        <p:spPr>
          <a:xfrm>
            <a:off x="880170" y="3533775"/>
            <a:ext cx="13091" cy="2286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332" y="0"/>
                </a:moveTo>
                <a:lnTo>
                  <a:pt x="18222" y="2309"/>
                </a:lnTo>
                <a:lnTo>
                  <a:pt x="898" y="3117"/>
                </a:lnTo>
                <a:lnTo>
                  <a:pt x="12700" y="5593"/>
                </a:lnTo>
                <a:lnTo>
                  <a:pt x="21600" y="7902"/>
                </a:lnTo>
                <a:lnTo>
                  <a:pt x="0" y="8466"/>
                </a:lnTo>
                <a:lnTo>
                  <a:pt x="14846" y="11116"/>
                </a:lnTo>
                <a:lnTo>
                  <a:pt x="17527" y="13069"/>
                </a:lnTo>
                <a:lnTo>
                  <a:pt x="7481" y="14294"/>
                </a:lnTo>
                <a:lnTo>
                  <a:pt x="11913" y="16348"/>
                </a:lnTo>
                <a:lnTo>
                  <a:pt x="8094" y="17929"/>
                </a:lnTo>
                <a:lnTo>
                  <a:pt x="7735" y="19709"/>
                </a:lnTo>
                <a:lnTo>
                  <a:pt x="9332" y="21600"/>
                </a:lnTo>
              </a:path>
            </a:pathLst>
          </a:custGeom>
          <a:ln w="20479">
            <a:solidFill>
              <a:srgbClr val="C65D4B"/>
            </a:solidFill>
          </a:ln>
        </p:spPr>
        <p:txBody>
          <a:bodyPr lIns="0" tIns="0" rIns="0" bIns="0"/>
          <a:lstStyle/>
          <a:p>
            <a:pPr>
              <a:defRPr>
                <a:latin typeface="Calibri"/>
                <a:ea typeface="Calibri"/>
                <a:cs typeface="Calibri"/>
                <a:sym typeface="Calibri"/>
              </a:defRPr>
            </a:pPr>
          </a:p>
        </p:txBody>
      </p:sp>
      <p:sp>
        <p:nvSpPr>
          <p:cNvPr id="514" name="0"/>
          <p:cNvSpPr txBox="1"/>
          <p:nvPr/>
        </p:nvSpPr>
        <p:spPr>
          <a:xfrm>
            <a:off x="476250" y="3975195"/>
            <a:ext cx="819150"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62616A"/>
                </a:solidFill>
                <a:latin typeface="Chalkboard"/>
                <a:ea typeface="Chalkboard"/>
                <a:cs typeface="Chalkboard"/>
                <a:sym typeface="Chalkboard"/>
              </a:defRPr>
            </a:lvl1pPr>
          </a:lstStyle>
          <a:p>
            <a:pPr/>
            <a:r>
              <a:t>0</a:t>
            </a:r>
          </a:p>
        </p:txBody>
      </p:sp>
      <p:sp>
        <p:nvSpPr>
          <p:cNvPr id="515" name="Line"/>
          <p:cNvSpPr/>
          <p:nvPr/>
        </p:nvSpPr>
        <p:spPr>
          <a:xfrm>
            <a:off x="3426786" y="3533775"/>
            <a:ext cx="15424" cy="2286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71" y="0"/>
                </a:moveTo>
                <a:lnTo>
                  <a:pt x="7181" y="1625"/>
                </a:lnTo>
                <a:lnTo>
                  <a:pt x="21600" y="4398"/>
                </a:lnTo>
                <a:lnTo>
                  <a:pt x="17149" y="5898"/>
                </a:lnTo>
                <a:lnTo>
                  <a:pt x="12384" y="7376"/>
                </a:lnTo>
                <a:lnTo>
                  <a:pt x="20450" y="9720"/>
                </a:lnTo>
                <a:lnTo>
                  <a:pt x="6926" y="10608"/>
                </a:lnTo>
                <a:lnTo>
                  <a:pt x="0" y="11941"/>
                </a:lnTo>
                <a:lnTo>
                  <a:pt x="1408" y="13836"/>
                </a:lnTo>
                <a:lnTo>
                  <a:pt x="9953" y="16212"/>
                </a:lnTo>
                <a:lnTo>
                  <a:pt x="3537" y="17579"/>
                </a:lnTo>
                <a:lnTo>
                  <a:pt x="21393" y="20584"/>
                </a:lnTo>
                <a:lnTo>
                  <a:pt x="9771" y="21600"/>
                </a:lnTo>
              </a:path>
            </a:pathLst>
          </a:custGeom>
          <a:ln w="20479">
            <a:solidFill>
              <a:srgbClr val="7B6BA8"/>
            </a:solidFill>
            <a:prstDash val="dash"/>
          </a:ln>
        </p:spPr>
        <p:txBody>
          <a:bodyPr lIns="0" tIns="0" rIns="0" bIns="0"/>
          <a:lstStyle/>
          <a:p>
            <a:pPr>
              <a:defRPr>
                <a:latin typeface="Calibri"/>
                <a:ea typeface="Calibri"/>
                <a:cs typeface="Calibri"/>
                <a:sym typeface="Calibri"/>
              </a:defRPr>
            </a:pPr>
          </a:p>
        </p:txBody>
      </p:sp>
      <p:sp>
        <p:nvSpPr>
          <p:cNvPr id="516" name="0.25"/>
          <p:cNvSpPr txBox="1"/>
          <p:nvPr/>
        </p:nvSpPr>
        <p:spPr>
          <a:xfrm>
            <a:off x="3024188" y="3975195"/>
            <a:ext cx="819152"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62616A"/>
                </a:solidFill>
                <a:latin typeface="Chalkboard"/>
                <a:ea typeface="Chalkboard"/>
                <a:cs typeface="Chalkboard"/>
                <a:sym typeface="Chalkboard"/>
              </a:defRPr>
            </a:lvl1pPr>
          </a:lstStyle>
          <a:p>
            <a:pPr/>
            <a:r>
              <a:t>0.25</a:t>
            </a:r>
          </a:p>
        </p:txBody>
      </p:sp>
      <p:sp>
        <p:nvSpPr>
          <p:cNvPr id="517" name="Line"/>
          <p:cNvSpPr/>
          <p:nvPr/>
        </p:nvSpPr>
        <p:spPr>
          <a:xfrm>
            <a:off x="5973886" y="3533775"/>
            <a:ext cx="16366" cy="2286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313" y="0"/>
                </a:moveTo>
                <a:lnTo>
                  <a:pt x="16667" y="2255"/>
                </a:lnTo>
                <a:lnTo>
                  <a:pt x="5411" y="3249"/>
                </a:lnTo>
                <a:lnTo>
                  <a:pt x="5783" y="5076"/>
                </a:lnTo>
                <a:lnTo>
                  <a:pt x="8168" y="7046"/>
                </a:lnTo>
                <a:lnTo>
                  <a:pt x="9500" y="8942"/>
                </a:lnTo>
                <a:lnTo>
                  <a:pt x="0" y="10062"/>
                </a:lnTo>
                <a:lnTo>
                  <a:pt x="9906" y="12571"/>
                </a:lnTo>
                <a:lnTo>
                  <a:pt x="21600" y="15208"/>
                </a:lnTo>
                <a:lnTo>
                  <a:pt x="6514" y="15928"/>
                </a:lnTo>
                <a:lnTo>
                  <a:pt x="15881" y="18399"/>
                </a:lnTo>
                <a:lnTo>
                  <a:pt x="20586" y="20535"/>
                </a:lnTo>
                <a:lnTo>
                  <a:pt x="10313" y="21600"/>
                </a:lnTo>
              </a:path>
            </a:pathLst>
          </a:custGeom>
          <a:ln w="20479">
            <a:solidFill>
              <a:srgbClr val="B07A3F"/>
            </a:solidFill>
          </a:ln>
        </p:spPr>
        <p:txBody>
          <a:bodyPr lIns="0" tIns="0" rIns="0" bIns="0"/>
          <a:lstStyle/>
          <a:p>
            <a:pPr>
              <a:defRPr>
                <a:latin typeface="Calibri"/>
                <a:ea typeface="Calibri"/>
                <a:cs typeface="Calibri"/>
                <a:sym typeface="Calibri"/>
              </a:defRPr>
            </a:pPr>
          </a:p>
        </p:txBody>
      </p:sp>
      <p:sp>
        <p:nvSpPr>
          <p:cNvPr id="518" name="0.5"/>
          <p:cNvSpPr txBox="1"/>
          <p:nvPr/>
        </p:nvSpPr>
        <p:spPr>
          <a:xfrm>
            <a:off x="5572125" y="3975195"/>
            <a:ext cx="819150"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62616A"/>
                </a:solidFill>
                <a:latin typeface="Chalkboard"/>
                <a:ea typeface="Chalkboard"/>
                <a:cs typeface="Chalkboard"/>
                <a:sym typeface="Chalkboard"/>
              </a:defRPr>
            </a:lvl1pPr>
          </a:lstStyle>
          <a:p>
            <a:pPr/>
            <a:r>
              <a:t>0.5</a:t>
            </a:r>
          </a:p>
        </p:txBody>
      </p:sp>
      <p:sp>
        <p:nvSpPr>
          <p:cNvPr id="519" name="Line"/>
          <p:cNvSpPr/>
          <p:nvPr/>
        </p:nvSpPr>
        <p:spPr>
          <a:xfrm>
            <a:off x="8521957" y="3533775"/>
            <a:ext cx="15342" cy="2286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4" y="0"/>
                </a:moveTo>
                <a:lnTo>
                  <a:pt x="18402" y="2309"/>
                </a:lnTo>
                <a:lnTo>
                  <a:pt x="3907" y="3137"/>
                </a:lnTo>
                <a:lnTo>
                  <a:pt x="2191" y="4821"/>
                </a:lnTo>
                <a:lnTo>
                  <a:pt x="10414" y="7173"/>
                </a:lnTo>
                <a:lnTo>
                  <a:pt x="15593" y="9321"/>
                </a:lnTo>
                <a:lnTo>
                  <a:pt x="15471" y="11112"/>
                </a:lnTo>
                <a:lnTo>
                  <a:pt x="1907" y="12002"/>
                </a:lnTo>
                <a:lnTo>
                  <a:pt x="21600" y="15124"/>
                </a:lnTo>
                <a:lnTo>
                  <a:pt x="3712" y="15723"/>
                </a:lnTo>
                <a:lnTo>
                  <a:pt x="0" y="17274"/>
                </a:lnTo>
                <a:lnTo>
                  <a:pt x="20505" y="20450"/>
                </a:lnTo>
                <a:lnTo>
                  <a:pt x="10814" y="21600"/>
                </a:lnTo>
              </a:path>
            </a:pathLst>
          </a:custGeom>
          <a:ln w="20479">
            <a:solidFill>
              <a:srgbClr val="355070"/>
            </a:solidFill>
          </a:ln>
        </p:spPr>
        <p:txBody>
          <a:bodyPr lIns="0" tIns="0" rIns="0" bIns="0"/>
          <a:lstStyle/>
          <a:p>
            <a:pPr>
              <a:defRPr>
                <a:latin typeface="Calibri"/>
                <a:ea typeface="Calibri"/>
                <a:cs typeface="Calibri"/>
                <a:sym typeface="Calibri"/>
              </a:defRPr>
            </a:pPr>
          </a:p>
        </p:txBody>
      </p:sp>
      <p:sp>
        <p:nvSpPr>
          <p:cNvPr id="520" name="0.75"/>
          <p:cNvSpPr txBox="1"/>
          <p:nvPr/>
        </p:nvSpPr>
        <p:spPr>
          <a:xfrm>
            <a:off x="8120063" y="3975195"/>
            <a:ext cx="819152"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62616A"/>
                </a:solidFill>
                <a:latin typeface="Chalkboard"/>
                <a:ea typeface="Chalkboard"/>
                <a:cs typeface="Chalkboard"/>
                <a:sym typeface="Chalkboard"/>
              </a:defRPr>
            </a:lvl1pPr>
          </a:lstStyle>
          <a:p>
            <a:pPr/>
            <a:r>
              <a:t>0.75</a:t>
            </a:r>
          </a:p>
        </p:txBody>
      </p:sp>
      <p:sp>
        <p:nvSpPr>
          <p:cNvPr id="521" name="Line"/>
          <p:cNvSpPr/>
          <p:nvPr/>
        </p:nvSpPr>
        <p:spPr>
          <a:xfrm>
            <a:off x="11071808" y="3533775"/>
            <a:ext cx="12702" cy="2286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53" y="0"/>
                </a:moveTo>
                <a:lnTo>
                  <a:pt x="6903" y="1650"/>
                </a:lnTo>
                <a:lnTo>
                  <a:pt x="14978" y="3875"/>
                </a:lnTo>
                <a:lnTo>
                  <a:pt x="5580" y="5180"/>
                </a:lnTo>
                <a:lnTo>
                  <a:pt x="13270" y="7385"/>
                </a:lnTo>
                <a:lnTo>
                  <a:pt x="0" y="8486"/>
                </a:lnTo>
                <a:lnTo>
                  <a:pt x="21600" y="11424"/>
                </a:lnTo>
                <a:lnTo>
                  <a:pt x="645" y="12120"/>
                </a:lnTo>
                <a:lnTo>
                  <a:pt x="1997" y="13991"/>
                </a:lnTo>
                <a:lnTo>
                  <a:pt x="3716" y="15882"/>
                </a:lnTo>
                <a:lnTo>
                  <a:pt x="8027" y="17909"/>
                </a:lnTo>
                <a:lnTo>
                  <a:pt x="18458" y="20259"/>
                </a:lnTo>
                <a:lnTo>
                  <a:pt x="9753" y="21600"/>
                </a:lnTo>
              </a:path>
            </a:pathLst>
          </a:custGeom>
          <a:ln w="20479">
            <a:solidFill>
              <a:srgbClr val="2A9D8F"/>
            </a:solidFill>
            <a:prstDash val="dashDot"/>
          </a:ln>
        </p:spPr>
        <p:txBody>
          <a:bodyPr lIns="0" tIns="0" rIns="0" bIns="0"/>
          <a:lstStyle/>
          <a:p>
            <a:pPr>
              <a:defRPr>
                <a:latin typeface="Calibri"/>
                <a:ea typeface="Calibri"/>
                <a:cs typeface="Calibri"/>
                <a:sym typeface="Calibri"/>
              </a:defRPr>
            </a:pPr>
          </a:p>
        </p:txBody>
      </p:sp>
      <p:sp>
        <p:nvSpPr>
          <p:cNvPr id="522" name="1"/>
          <p:cNvSpPr txBox="1"/>
          <p:nvPr/>
        </p:nvSpPr>
        <p:spPr>
          <a:xfrm>
            <a:off x="10668000" y="3975195"/>
            <a:ext cx="819150"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000">
                <a:solidFill>
                  <a:srgbClr val="62616A"/>
                </a:solidFill>
                <a:latin typeface="Chalkboard"/>
                <a:ea typeface="Chalkboard"/>
                <a:cs typeface="Chalkboard"/>
                <a:sym typeface="Chalkboard"/>
              </a:defRPr>
            </a:lvl1pPr>
          </a:lstStyle>
          <a:p>
            <a:pPr/>
            <a:r>
              <a:t>1</a:t>
            </a:r>
          </a:p>
        </p:txBody>
      </p:sp>
      <p:sp>
        <p:nvSpPr>
          <p:cNvPr id="523" name="Line"/>
          <p:cNvSpPr/>
          <p:nvPr/>
        </p:nvSpPr>
        <p:spPr>
          <a:xfrm>
            <a:off x="5974265" y="2667000"/>
            <a:ext cx="14852" cy="8286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3" y="0"/>
                </a:moveTo>
                <a:lnTo>
                  <a:pt x="9073" y="1769"/>
                </a:lnTo>
                <a:lnTo>
                  <a:pt x="21600" y="3793"/>
                </a:lnTo>
                <a:lnTo>
                  <a:pt x="10726" y="5398"/>
                </a:lnTo>
                <a:lnTo>
                  <a:pt x="0" y="7006"/>
                </a:lnTo>
                <a:lnTo>
                  <a:pt x="10209" y="8989"/>
                </a:lnTo>
                <a:lnTo>
                  <a:pt x="21540" y="10992"/>
                </a:lnTo>
                <a:lnTo>
                  <a:pt x="20598" y="12775"/>
                </a:lnTo>
                <a:lnTo>
                  <a:pt x="13542" y="14449"/>
                </a:lnTo>
                <a:lnTo>
                  <a:pt x="13737" y="16252"/>
                </a:lnTo>
                <a:lnTo>
                  <a:pt x="10489" y="17994"/>
                </a:lnTo>
                <a:lnTo>
                  <a:pt x="8298" y="19755"/>
                </a:lnTo>
                <a:lnTo>
                  <a:pt x="10813" y="21600"/>
                </a:lnTo>
              </a:path>
            </a:pathLst>
          </a:custGeom>
          <a:ln w="20479">
            <a:solidFill>
              <a:srgbClr val="C65D4B"/>
            </a:solidFill>
          </a:ln>
        </p:spPr>
        <p:txBody>
          <a:bodyPr lIns="0" tIns="0" rIns="0" bIns="0"/>
          <a:lstStyle/>
          <a:p>
            <a:pPr>
              <a:defRPr>
                <a:latin typeface="Calibri"/>
                <a:ea typeface="Calibri"/>
                <a:cs typeface="Calibri"/>
                <a:sym typeface="Calibri"/>
              </a:defRPr>
            </a:pPr>
          </a:p>
        </p:txBody>
      </p:sp>
      <p:sp>
        <p:nvSpPr>
          <p:cNvPr id="524" name="Line"/>
          <p:cNvSpPr/>
          <p:nvPr/>
        </p:nvSpPr>
        <p:spPr>
          <a:xfrm>
            <a:off x="5936126" y="3401331"/>
            <a:ext cx="91149" cy="943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21600"/>
                </a:lnTo>
                <a:lnTo>
                  <a:pt x="21600" y="0"/>
                </a:lnTo>
              </a:path>
            </a:pathLst>
          </a:custGeom>
          <a:ln w="20479">
            <a:solidFill>
              <a:srgbClr val="7B6BA8"/>
            </a:solidFill>
            <a:prstDash val="dash"/>
          </a:ln>
        </p:spPr>
        <p:txBody>
          <a:bodyPr lIns="0" tIns="0" rIns="0" bIns="0"/>
          <a:lstStyle/>
          <a:p>
            <a:pPr>
              <a:defRPr>
                <a:latin typeface="Calibri"/>
                <a:ea typeface="Calibri"/>
                <a:cs typeface="Calibri"/>
                <a:sym typeface="Calibri"/>
              </a:defRPr>
            </a:pPr>
          </a:p>
        </p:txBody>
      </p:sp>
      <p:sp>
        <p:nvSpPr>
          <p:cNvPr id="525" name="threshold = 0.5"/>
          <p:cNvSpPr txBox="1"/>
          <p:nvPr/>
        </p:nvSpPr>
        <p:spPr>
          <a:xfrm>
            <a:off x="4333875" y="2178398"/>
            <a:ext cx="3390900" cy="3771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A88B59"/>
                </a:solidFill>
                <a:latin typeface="Chalkboard"/>
                <a:ea typeface="Chalkboard"/>
                <a:cs typeface="Chalkboard"/>
                <a:sym typeface="Chalkboard"/>
              </a:defRPr>
            </a:lvl1pPr>
          </a:lstStyle>
          <a:p>
            <a:pPr/>
            <a:r>
              <a:t>threshold = 0.5</a:t>
            </a:r>
          </a:p>
        </p:txBody>
      </p:sp>
      <p:sp>
        <p:nvSpPr>
          <p:cNvPr id="526" name="Shape"/>
          <p:cNvSpPr/>
          <p:nvPr/>
        </p:nvSpPr>
        <p:spPr>
          <a:xfrm>
            <a:off x="10295373" y="3478219"/>
            <a:ext cx="343691" cy="3436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527" name="0.94"/>
          <p:cNvSpPr txBox="1"/>
          <p:nvPr/>
        </p:nvSpPr>
        <p:spPr>
          <a:xfrm>
            <a:off x="9799318" y="2755334"/>
            <a:ext cx="1333502" cy="4900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3100">
                <a:solidFill>
                  <a:srgbClr val="8E7052"/>
                </a:solidFill>
                <a:latin typeface="Chalkboard"/>
                <a:ea typeface="Chalkboard"/>
                <a:cs typeface="Chalkboard"/>
                <a:sym typeface="Chalkboard"/>
              </a:defRPr>
            </a:lvl1pPr>
          </a:lstStyle>
          <a:p>
            <a:pPr/>
            <a:r>
              <a:t>0.94</a:t>
            </a:r>
          </a:p>
        </p:txBody>
      </p:sp>
      <p:sp>
        <p:nvSpPr>
          <p:cNvPr id="528" name="Not Spam"/>
          <p:cNvSpPr txBox="1"/>
          <p:nvPr/>
        </p:nvSpPr>
        <p:spPr>
          <a:xfrm>
            <a:off x="942975" y="4531747"/>
            <a:ext cx="3495675" cy="4900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100">
                <a:solidFill>
                  <a:srgbClr val="424548"/>
                </a:solidFill>
                <a:latin typeface="Chalkboard"/>
                <a:ea typeface="Chalkboard"/>
                <a:cs typeface="Chalkboard"/>
                <a:sym typeface="Chalkboard"/>
              </a:defRPr>
            </a:lvl1pPr>
          </a:lstStyle>
          <a:p>
            <a:pPr/>
            <a:r>
              <a:t>Not Spam</a:t>
            </a:r>
          </a:p>
        </p:txBody>
      </p:sp>
      <p:sp>
        <p:nvSpPr>
          <p:cNvPr id="529" name="Spam"/>
          <p:cNvSpPr txBox="1"/>
          <p:nvPr/>
        </p:nvSpPr>
        <p:spPr>
          <a:xfrm>
            <a:off x="8629650" y="4531747"/>
            <a:ext cx="2438400" cy="49008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3100">
                <a:solidFill>
                  <a:srgbClr val="8E7052"/>
                </a:solidFill>
                <a:latin typeface="Chalkboard"/>
                <a:ea typeface="Chalkboard"/>
                <a:cs typeface="Chalkboard"/>
                <a:sym typeface="Chalkboard"/>
              </a:defRPr>
            </a:lvl1pPr>
          </a:lstStyle>
          <a:p>
            <a:pPr/>
            <a:r>
              <a:t>Spam</a:t>
            </a:r>
          </a:p>
        </p:txBody>
      </p:sp>
      <p:sp>
        <p:nvSpPr>
          <p:cNvPr id="530" name="0.94 &gt; 0.5"/>
          <p:cNvSpPr txBox="1"/>
          <p:nvPr/>
        </p:nvSpPr>
        <p:spPr>
          <a:xfrm>
            <a:off x="6553200" y="5238750"/>
            <a:ext cx="4972050" cy="3268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z="2000">
                <a:solidFill>
                  <a:srgbClr val="8E7052"/>
                </a:solidFill>
                <a:latin typeface="Chalkboard"/>
                <a:ea typeface="Chalkboard"/>
                <a:cs typeface="Chalkboard"/>
                <a:sym typeface="Chalkboard"/>
              </a:defRPr>
            </a:lvl1pPr>
          </a:lstStyle>
          <a:p>
            <a:pPr/>
            <a:r>
              <a:t>0.94 ≥ 0.5: classify as Spam</a:t>
            </a:r>
          </a:p>
        </p:txBody>
      </p:sp>
      <p:sp>
        <p:nvSpPr>
          <p:cNvPr id="531" name="Choose the threshold according to the cost of false positives and missed spam."/>
          <p:cNvSpPr txBox="1"/>
          <p:nvPr/>
        </p:nvSpPr>
        <p:spPr>
          <a:xfrm>
            <a:off x="638175" y="5895975"/>
            <a:ext cx="10906125"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400">
                <a:solidFill>
                  <a:srgbClr val="62616A"/>
                </a:solidFill>
                <a:latin typeface="Arial"/>
                <a:ea typeface="Arial"/>
                <a:cs typeface="Arial"/>
                <a:sym typeface="Arial"/>
              </a:defRPr>
            </a:pPr>
            <a:r>
              <a:t>Higher threshold: fewer legitimate emails flagged, but more spam missed.</a:t>
            </a:r>
          </a:p>
          <a:p>
            <a:pPr algn="ctr">
              <a:defRPr sz="1400">
                <a:solidFill>
                  <a:srgbClr val="62616A"/>
                </a:solidFill>
                <a:latin typeface="Arial"/>
                <a:ea typeface="Arial"/>
                <a:cs typeface="Arial"/>
                <a:sym typeface="Arial"/>
              </a:defRPr>
            </a:pPr>
            <a:r>
              <a:t>Lower threshold: more spam caught, but more legitimate emails flagged.</a:t>
            </a:r>
          </a:p>
        </p:txBody>
      </p:sp>
      <p:sp>
        <p:nvSpPr>
          <p:cNvPr id="532"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533"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34" name="Decision rule"/>
          <p:cNvSpPr txBox="1"/>
          <p:nvPr/>
        </p:nvSpPr>
        <p:spPr>
          <a:xfrm>
            <a:off x="762000" y="2028825"/>
            <a:ext cx="281940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Decision rule</a:t>
            </a:r>
          </a:p>
        </p:txBody>
      </p:sp>
      <p:sp>
        <p:nvSpPr>
          <p:cNvPr id="535" name="p &lt; 0.5: Not Spam…"/>
          <p:cNvSpPr txBox="1"/>
          <p:nvPr/>
        </p:nvSpPr>
        <p:spPr>
          <a:xfrm>
            <a:off x="762000" y="2419350"/>
            <a:ext cx="3048000" cy="5009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700">
                <a:solidFill>
                  <a:srgbClr val="424548"/>
                </a:solidFill>
                <a:latin typeface="Arial"/>
                <a:ea typeface="Arial"/>
                <a:cs typeface="Arial"/>
                <a:sym typeface="Arial"/>
              </a:defRPr>
            </a:pPr>
            <a:r>
              <a:t>p &lt; 0.5: Not Spam</a:t>
            </a:r>
          </a:p>
          <a:p>
            <a:pPr>
              <a:defRPr sz="1700">
                <a:solidFill>
                  <a:srgbClr val="424548"/>
                </a:solidFill>
                <a:latin typeface="Arial"/>
                <a:ea typeface="Arial"/>
                <a:cs typeface="Arial"/>
                <a:sym typeface="Arial"/>
              </a:defRPr>
            </a:pPr>
            <a:r>
              <a:t>p ≥ 0.5: Spam</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39"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540"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541" name="Training learns from prediction errors"/>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Training learns from prediction errors</a:t>
            </a:r>
          </a:p>
        </p:txBody>
      </p:sp>
      <p:sp>
        <p:nvSpPr>
          <p:cNvPr id="542" name="Compare the prediction with the true label, then send gradients backward."/>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Compare the prediction with the true label, then send gradients backward.</a:t>
            </a:r>
          </a:p>
        </p:txBody>
      </p:sp>
      <p:sp>
        <p:nvSpPr>
          <p:cNvPr id="543" name="13"/>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18</a:t>
            </a:r>
          </a:p>
        </p:txBody>
      </p:sp>
      <p:sp>
        <p:nvSpPr>
          <p:cNvPr id="544" name="Shape"/>
          <p:cNvSpPr/>
          <p:nvPr/>
        </p:nvSpPr>
        <p:spPr>
          <a:xfrm>
            <a:off x="993406" y="2158586"/>
            <a:ext cx="1279288" cy="12790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545" name="ŷ = 0.35"/>
          <p:cNvSpPr txBox="1"/>
          <p:nvPr/>
        </p:nvSpPr>
        <p:spPr>
          <a:xfrm>
            <a:off x="1038225" y="2595994"/>
            <a:ext cx="118110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424548"/>
                </a:solidFill>
                <a:latin typeface="Chalkboard"/>
                <a:ea typeface="Chalkboard"/>
                <a:cs typeface="Chalkboard"/>
                <a:sym typeface="Chalkboard"/>
              </a:defRPr>
            </a:lvl1pPr>
          </a:lstStyle>
          <a:p>
            <a:pPr/>
            <a:r>
              <a:t>ŷ = 0.35</a:t>
            </a:r>
          </a:p>
        </p:txBody>
      </p:sp>
      <p:sp>
        <p:nvSpPr>
          <p:cNvPr id="546" name="Line"/>
          <p:cNvSpPr/>
          <p:nvPr/>
        </p:nvSpPr>
        <p:spPr>
          <a:xfrm>
            <a:off x="2381250" y="2785970"/>
            <a:ext cx="2771777" cy="130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8068"/>
                </a:moveTo>
                <a:lnTo>
                  <a:pt x="1841" y="16748"/>
                </a:lnTo>
                <a:lnTo>
                  <a:pt x="3623" y="13078"/>
                </a:lnTo>
                <a:lnTo>
                  <a:pt x="5399" y="7789"/>
                </a:lnTo>
                <a:lnTo>
                  <a:pt x="7254" y="19682"/>
                </a:lnTo>
                <a:lnTo>
                  <a:pt x="8962" y="0"/>
                </a:lnTo>
                <a:lnTo>
                  <a:pt x="10765" y="633"/>
                </a:lnTo>
                <a:lnTo>
                  <a:pt x="12663" y="21411"/>
                </a:lnTo>
                <a:lnTo>
                  <a:pt x="14387" y="5341"/>
                </a:lnTo>
                <a:lnTo>
                  <a:pt x="16193" y="6494"/>
                </a:lnTo>
                <a:lnTo>
                  <a:pt x="18063" y="21600"/>
                </a:lnTo>
                <a:lnTo>
                  <a:pt x="19836" y="15850"/>
                </a:lnTo>
                <a:lnTo>
                  <a:pt x="21600" y="8068"/>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547" name="Line"/>
          <p:cNvSpPr/>
          <p:nvPr/>
        </p:nvSpPr>
        <p:spPr>
          <a:xfrm>
            <a:off x="5058681" y="274525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C65D4B"/>
            </a:solidFill>
            <a:prstDash val="dash"/>
          </a:ln>
        </p:spPr>
        <p:txBody>
          <a:bodyPr lIns="0" tIns="0" rIns="0" bIns="0"/>
          <a:lstStyle/>
          <a:p>
            <a:pPr>
              <a:defRPr>
                <a:latin typeface="Calibri"/>
                <a:ea typeface="Calibri"/>
                <a:cs typeface="Calibri"/>
                <a:sym typeface="Calibri"/>
              </a:defRPr>
            </a:pPr>
          </a:p>
        </p:txBody>
      </p:sp>
      <p:sp>
        <p:nvSpPr>
          <p:cNvPr id="548" name="Shape"/>
          <p:cNvSpPr/>
          <p:nvPr/>
        </p:nvSpPr>
        <p:spPr>
          <a:xfrm>
            <a:off x="5270132" y="2158586"/>
            <a:ext cx="1279288" cy="12790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549" name="y = 1"/>
          <p:cNvSpPr txBox="1"/>
          <p:nvPr/>
        </p:nvSpPr>
        <p:spPr>
          <a:xfrm>
            <a:off x="5314950" y="2595994"/>
            <a:ext cx="118110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424548"/>
                </a:solidFill>
                <a:latin typeface="Chalkboard"/>
                <a:ea typeface="Chalkboard"/>
                <a:cs typeface="Chalkboard"/>
                <a:sym typeface="Chalkboard"/>
              </a:defRPr>
            </a:lvl1pPr>
          </a:lstStyle>
          <a:p>
            <a:pPr/>
            <a:r>
              <a:t>y = 1</a:t>
            </a:r>
          </a:p>
        </p:txBody>
      </p:sp>
      <p:sp>
        <p:nvSpPr>
          <p:cNvPr id="550" name="Line"/>
          <p:cNvSpPr/>
          <p:nvPr/>
        </p:nvSpPr>
        <p:spPr>
          <a:xfrm>
            <a:off x="6657975" y="2783239"/>
            <a:ext cx="2990851" cy="161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0145"/>
                </a:moveTo>
                <a:lnTo>
                  <a:pt x="1818" y="13481"/>
                </a:lnTo>
                <a:lnTo>
                  <a:pt x="3659" y="21024"/>
                </a:lnTo>
                <a:lnTo>
                  <a:pt x="5448" y="19023"/>
                </a:lnTo>
                <a:lnTo>
                  <a:pt x="7145" y="0"/>
                </a:lnTo>
                <a:lnTo>
                  <a:pt x="9062" y="21600"/>
                </a:lnTo>
                <a:lnTo>
                  <a:pt x="10837" y="17024"/>
                </a:lnTo>
                <a:lnTo>
                  <a:pt x="12596" y="9372"/>
                </a:lnTo>
                <a:lnTo>
                  <a:pt x="14378" y="6113"/>
                </a:lnTo>
                <a:lnTo>
                  <a:pt x="16194" y="9047"/>
                </a:lnTo>
                <a:lnTo>
                  <a:pt x="18052" y="19821"/>
                </a:lnTo>
                <a:lnTo>
                  <a:pt x="19798" y="9759"/>
                </a:lnTo>
                <a:lnTo>
                  <a:pt x="21600" y="10145"/>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551" name="Line"/>
          <p:cNvSpPr/>
          <p:nvPr/>
        </p:nvSpPr>
        <p:spPr>
          <a:xfrm>
            <a:off x="9554481" y="274525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C65D4B"/>
            </a:solidFill>
            <a:prstDash val="dash"/>
          </a:ln>
        </p:spPr>
        <p:txBody>
          <a:bodyPr lIns="0" tIns="0" rIns="0" bIns="0"/>
          <a:lstStyle/>
          <a:p>
            <a:pPr>
              <a:defRPr>
                <a:latin typeface="Calibri"/>
                <a:ea typeface="Calibri"/>
                <a:cs typeface="Calibri"/>
                <a:sym typeface="Calibri"/>
              </a:defRPr>
            </a:pPr>
          </a:p>
        </p:txBody>
      </p:sp>
      <p:sp>
        <p:nvSpPr>
          <p:cNvPr id="552" name="Shape"/>
          <p:cNvSpPr/>
          <p:nvPr/>
        </p:nvSpPr>
        <p:spPr>
          <a:xfrm rot="42001">
            <a:off x="9765931" y="2158586"/>
            <a:ext cx="1279288" cy="12790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8"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553" name="Loss"/>
          <p:cNvSpPr txBox="1"/>
          <p:nvPr/>
        </p:nvSpPr>
        <p:spPr>
          <a:xfrm>
            <a:off x="9810750" y="2602261"/>
            <a:ext cx="1181100"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8E7052"/>
                </a:solidFill>
                <a:latin typeface="Chalkboard"/>
                <a:ea typeface="Chalkboard"/>
                <a:cs typeface="Chalkboard"/>
                <a:sym typeface="Chalkboard"/>
              </a:defRPr>
            </a:lvl1pPr>
          </a:lstStyle>
          <a:p>
            <a:pPr/>
            <a:r>
              <a:t>Loss</a:t>
            </a:r>
          </a:p>
        </p:txBody>
      </p:sp>
      <p:sp>
        <p:nvSpPr>
          <p:cNvPr id="554" name="Predict"/>
          <p:cNvSpPr txBox="1"/>
          <p:nvPr/>
        </p:nvSpPr>
        <p:spPr>
          <a:xfrm>
            <a:off x="361950" y="1797062"/>
            <a:ext cx="25336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62616A"/>
                </a:solidFill>
                <a:latin typeface="Chalkboard"/>
                <a:ea typeface="Chalkboard"/>
                <a:cs typeface="Chalkboard"/>
                <a:sym typeface="Chalkboard"/>
              </a:defRPr>
            </a:lvl1pPr>
          </a:lstStyle>
          <a:p>
            <a:pPr/>
            <a:r>
              <a:t>Predict</a:t>
            </a:r>
          </a:p>
        </p:txBody>
      </p:sp>
      <p:sp>
        <p:nvSpPr>
          <p:cNvPr id="555" name="Compare label"/>
          <p:cNvSpPr txBox="1"/>
          <p:nvPr/>
        </p:nvSpPr>
        <p:spPr>
          <a:xfrm>
            <a:off x="4638675" y="1797062"/>
            <a:ext cx="25336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62616A"/>
                </a:solidFill>
                <a:latin typeface="Chalkboard"/>
                <a:ea typeface="Chalkboard"/>
                <a:cs typeface="Chalkboard"/>
                <a:sym typeface="Chalkboard"/>
              </a:defRPr>
            </a:lvl1pPr>
          </a:lstStyle>
          <a:p>
            <a:pPr/>
            <a:r>
              <a:t>Compare label</a:t>
            </a:r>
          </a:p>
        </p:txBody>
      </p:sp>
      <p:sp>
        <p:nvSpPr>
          <p:cNvPr id="556" name="Measure error"/>
          <p:cNvSpPr txBox="1"/>
          <p:nvPr/>
        </p:nvSpPr>
        <p:spPr>
          <a:xfrm>
            <a:off x="9134475" y="1797062"/>
            <a:ext cx="25336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900">
                <a:solidFill>
                  <a:srgbClr val="62616A"/>
                </a:solidFill>
                <a:latin typeface="Chalkboard"/>
                <a:ea typeface="Chalkboard"/>
                <a:cs typeface="Chalkboard"/>
                <a:sym typeface="Chalkboard"/>
              </a:defRPr>
            </a:lvl1pPr>
          </a:lstStyle>
          <a:p>
            <a:pPr/>
            <a:r>
              <a:t>Measure error</a:t>
            </a:r>
          </a:p>
        </p:txBody>
      </p:sp>
      <p:sp>
        <p:nvSpPr>
          <p:cNvPr id="557" name="Line"/>
          <p:cNvSpPr/>
          <p:nvPr/>
        </p:nvSpPr>
        <p:spPr>
          <a:xfrm>
            <a:off x="10365061" y="3619500"/>
            <a:ext cx="15046" cy="8286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02" y="0"/>
                </a:moveTo>
                <a:lnTo>
                  <a:pt x="9201" y="1767"/>
                </a:lnTo>
                <a:lnTo>
                  <a:pt x="13531" y="3646"/>
                </a:lnTo>
                <a:lnTo>
                  <a:pt x="6190" y="5313"/>
                </a:lnTo>
                <a:lnTo>
                  <a:pt x="21600" y="7392"/>
                </a:lnTo>
                <a:lnTo>
                  <a:pt x="2382" y="8844"/>
                </a:lnTo>
                <a:lnTo>
                  <a:pt x="2902" y="10653"/>
                </a:lnTo>
                <a:lnTo>
                  <a:pt x="11921" y="12617"/>
                </a:lnTo>
                <a:lnTo>
                  <a:pt x="8106" y="14347"/>
                </a:lnTo>
                <a:lnTo>
                  <a:pt x="0" y="16000"/>
                </a:lnTo>
                <a:lnTo>
                  <a:pt x="8289" y="17951"/>
                </a:lnTo>
                <a:lnTo>
                  <a:pt x="5419" y="19699"/>
                </a:lnTo>
                <a:lnTo>
                  <a:pt x="11002" y="2160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558" name="Line"/>
          <p:cNvSpPr/>
          <p:nvPr/>
        </p:nvSpPr>
        <p:spPr>
          <a:xfrm>
            <a:off x="10327151" y="4353831"/>
            <a:ext cx="91149" cy="943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800" y="21600"/>
                </a:lnTo>
                <a:lnTo>
                  <a:pt x="21600" y="0"/>
                </a:lnTo>
              </a:path>
            </a:pathLst>
          </a:custGeom>
          <a:ln w="20479">
            <a:solidFill>
              <a:srgbClr val="C65D4B"/>
            </a:solidFill>
            <a:prstDash val="dash"/>
          </a:ln>
        </p:spPr>
        <p:txBody>
          <a:bodyPr lIns="0" tIns="0" rIns="0" bIns="0"/>
          <a:lstStyle/>
          <a:p>
            <a:pPr>
              <a:defRPr>
                <a:latin typeface="Calibri"/>
                <a:ea typeface="Calibri"/>
                <a:cs typeface="Calibri"/>
                <a:sym typeface="Calibri"/>
              </a:defRPr>
            </a:pPr>
          </a:p>
        </p:txBody>
      </p:sp>
      <p:sp>
        <p:nvSpPr>
          <p:cNvPr id="559" name="Line"/>
          <p:cNvSpPr/>
          <p:nvPr/>
        </p:nvSpPr>
        <p:spPr>
          <a:xfrm>
            <a:off x="6696075" y="4716226"/>
            <a:ext cx="2905126" cy="13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2802"/>
                </a:moveTo>
                <a:lnTo>
                  <a:pt x="19774" y="7289"/>
                </a:lnTo>
                <a:lnTo>
                  <a:pt x="18026" y="18245"/>
                </a:lnTo>
                <a:lnTo>
                  <a:pt x="16219" y="16756"/>
                </a:lnTo>
                <a:lnTo>
                  <a:pt x="14442" y="21600"/>
                </a:lnTo>
                <a:lnTo>
                  <a:pt x="12545" y="1298"/>
                </a:lnTo>
                <a:lnTo>
                  <a:pt x="10739" y="0"/>
                </a:lnTo>
                <a:lnTo>
                  <a:pt x="9005" y="13784"/>
                </a:lnTo>
                <a:lnTo>
                  <a:pt x="7169" y="6249"/>
                </a:lnTo>
                <a:lnTo>
                  <a:pt x="5351" y="2481"/>
                </a:lnTo>
                <a:lnTo>
                  <a:pt x="3614" y="15847"/>
                </a:lnTo>
                <a:lnTo>
                  <a:pt x="1774" y="7231"/>
                </a:lnTo>
                <a:lnTo>
                  <a:pt x="0" y="12802"/>
                </a:lnTo>
              </a:path>
            </a:pathLst>
          </a:custGeom>
          <a:ln w="20479">
            <a:solidFill>
              <a:srgbClr val="355070"/>
            </a:solidFill>
            <a:prstDash val="dashDot"/>
          </a:ln>
        </p:spPr>
        <p:txBody>
          <a:bodyPr lIns="0" tIns="0" rIns="0" bIns="0"/>
          <a:lstStyle/>
          <a:p>
            <a:pPr>
              <a:defRPr>
                <a:latin typeface="Calibri"/>
                <a:ea typeface="Calibri"/>
                <a:cs typeface="Calibri"/>
                <a:sym typeface="Calibri"/>
              </a:defRPr>
            </a:pPr>
          </a:p>
        </p:txBody>
      </p:sp>
      <p:sp>
        <p:nvSpPr>
          <p:cNvPr id="560" name="Line"/>
          <p:cNvSpPr/>
          <p:nvPr/>
        </p:nvSpPr>
        <p:spPr>
          <a:xfrm>
            <a:off x="6696075" y="467882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0479">
            <a:solidFill>
              <a:srgbClr val="355070"/>
            </a:solidFill>
            <a:prstDash val="dashDot"/>
          </a:ln>
        </p:spPr>
        <p:txBody>
          <a:bodyPr lIns="0" tIns="0" rIns="0" bIns="0"/>
          <a:lstStyle/>
          <a:p>
            <a:pPr>
              <a:defRPr>
                <a:latin typeface="Calibri"/>
                <a:ea typeface="Calibri"/>
                <a:cs typeface="Calibri"/>
                <a:sym typeface="Calibri"/>
              </a:defRPr>
            </a:pPr>
          </a:p>
        </p:txBody>
      </p:sp>
      <p:sp>
        <p:nvSpPr>
          <p:cNvPr id="561" name="Backpropagate"/>
          <p:cNvSpPr txBox="1"/>
          <p:nvPr/>
        </p:nvSpPr>
        <p:spPr>
          <a:xfrm>
            <a:off x="7410450" y="4289520"/>
            <a:ext cx="2800350" cy="32683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000">
                <a:solidFill>
                  <a:srgbClr val="8E7052"/>
                </a:solidFill>
                <a:latin typeface="Chalkboard"/>
                <a:ea typeface="Chalkboard"/>
                <a:cs typeface="Chalkboard"/>
                <a:sym typeface="Chalkboard"/>
              </a:defRPr>
            </a:lvl1pPr>
          </a:lstStyle>
          <a:p>
            <a:pPr/>
            <a:r>
              <a:t>Backpropagate</a:t>
            </a:r>
          </a:p>
        </p:txBody>
      </p:sp>
      <p:sp>
        <p:nvSpPr>
          <p:cNvPr id="562" name="Update weights"/>
          <p:cNvSpPr txBox="1"/>
          <p:nvPr/>
        </p:nvSpPr>
        <p:spPr>
          <a:xfrm>
            <a:off x="3952875" y="4552950"/>
            <a:ext cx="2638425"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a:solidFill>
                  <a:srgbClr val="424548"/>
                </a:solidFill>
                <a:latin typeface="Chalkboard"/>
                <a:ea typeface="Chalkboard"/>
                <a:cs typeface="Chalkboard"/>
                <a:sym typeface="Chalkboard"/>
              </a:defRPr>
            </a:lvl1pPr>
          </a:lstStyle>
          <a:p>
            <a:pPr/>
            <a:r>
              <a:t>Update w and b</a:t>
            </a:r>
          </a:p>
        </p:txBody>
      </p:sp>
      <p:sp>
        <p:nvSpPr>
          <p:cNvPr id="563" name="Line"/>
          <p:cNvSpPr/>
          <p:nvPr/>
        </p:nvSpPr>
        <p:spPr>
          <a:xfrm>
            <a:off x="1581150" y="4718934"/>
            <a:ext cx="2238376" cy="12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9022"/>
                </a:moveTo>
                <a:lnTo>
                  <a:pt x="19786" y="6193"/>
                </a:lnTo>
                <a:lnTo>
                  <a:pt x="18060" y="21600"/>
                </a:lnTo>
                <a:lnTo>
                  <a:pt x="16207" y="10492"/>
                </a:lnTo>
                <a:lnTo>
                  <a:pt x="14460" y="21542"/>
                </a:lnTo>
                <a:lnTo>
                  <a:pt x="12557" y="0"/>
                </a:lnTo>
                <a:lnTo>
                  <a:pt x="10797" y="8434"/>
                </a:lnTo>
                <a:lnTo>
                  <a:pt x="9055" y="20387"/>
                </a:lnTo>
                <a:lnTo>
                  <a:pt x="7207" y="10524"/>
                </a:lnTo>
                <a:lnTo>
                  <a:pt x="5422" y="13642"/>
                </a:lnTo>
                <a:lnTo>
                  <a:pt x="3637" y="16630"/>
                </a:lnTo>
                <a:lnTo>
                  <a:pt x="1800" y="8974"/>
                </a:lnTo>
                <a:lnTo>
                  <a:pt x="0" y="9022"/>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564" name="Line"/>
          <p:cNvSpPr/>
          <p:nvPr/>
        </p:nvSpPr>
        <p:spPr>
          <a:xfrm>
            <a:off x="1581150" y="467882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0800"/>
                </a:lnTo>
                <a:lnTo>
                  <a:pt x="21600" y="21600"/>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565" name="Line"/>
          <p:cNvSpPr/>
          <p:nvPr/>
        </p:nvSpPr>
        <p:spPr>
          <a:xfrm>
            <a:off x="1572925" y="3619500"/>
            <a:ext cx="14697" cy="8001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88" y="21600"/>
                </a:moveTo>
                <a:lnTo>
                  <a:pt x="17023" y="19891"/>
                </a:lnTo>
                <a:lnTo>
                  <a:pt x="5309" y="17875"/>
                </a:lnTo>
                <a:lnTo>
                  <a:pt x="19160" y="16330"/>
                </a:lnTo>
                <a:lnTo>
                  <a:pt x="1227" y="14201"/>
                </a:lnTo>
                <a:lnTo>
                  <a:pt x="4632" y="12463"/>
                </a:lnTo>
                <a:lnTo>
                  <a:pt x="6468" y="10697"/>
                </a:lnTo>
                <a:lnTo>
                  <a:pt x="0" y="8778"/>
                </a:lnTo>
                <a:lnTo>
                  <a:pt x="9791" y="7158"/>
                </a:lnTo>
                <a:lnTo>
                  <a:pt x="1211" y="5200"/>
                </a:lnTo>
                <a:lnTo>
                  <a:pt x="14274" y="3640"/>
                </a:lnTo>
                <a:lnTo>
                  <a:pt x="21600" y="1975"/>
                </a:lnTo>
                <a:lnTo>
                  <a:pt x="12088"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566" name="Line"/>
          <p:cNvSpPr/>
          <p:nvPr/>
        </p:nvSpPr>
        <p:spPr>
          <a:xfrm>
            <a:off x="1535576" y="3619500"/>
            <a:ext cx="91149" cy="943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lnTo>
                  <a:pt x="10800" y="0"/>
                </a:lnTo>
                <a:lnTo>
                  <a:pt x="0" y="2160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567" name="w"/>
          <p:cNvSpPr txBox="1"/>
          <p:nvPr/>
        </p:nvSpPr>
        <p:spPr>
          <a:xfrm>
            <a:off x="3314700" y="5039662"/>
            <a:ext cx="381000" cy="4648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424548"/>
                </a:solidFill>
                <a:latin typeface="Chalkboard"/>
                <a:ea typeface="Chalkboard"/>
                <a:cs typeface="Chalkboard"/>
                <a:sym typeface="Chalkboard"/>
              </a:defRPr>
            </a:lvl1pPr>
          </a:lstStyle>
          <a:p>
            <a:pPr/>
            <a:r>
              <a:t>w</a:t>
            </a:r>
          </a:p>
        </p:txBody>
      </p:sp>
      <p:sp>
        <p:nvSpPr>
          <p:cNvPr id="568" name="new"/>
          <p:cNvSpPr txBox="1"/>
          <p:nvPr/>
        </p:nvSpPr>
        <p:spPr>
          <a:xfrm>
            <a:off x="3629025" y="5287721"/>
            <a:ext cx="609600" cy="26400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424548"/>
                </a:solidFill>
                <a:latin typeface="Chalkboard"/>
                <a:ea typeface="Chalkboard"/>
                <a:cs typeface="Chalkboard"/>
                <a:sym typeface="Chalkboard"/>
              </a:defRPr>
            </a:lvl1pPr>
          </a:lstStyle>
          <a:p>
            <a:pPr/>
            <a:r>
              <a:t>new</a:t>
            </a:r>
          </a:p>
        </p:txBody>
      </p:sp>
      <p:sp>
        <p:nvSpPr>
          <p:cNvPr id="569" name="="/>
          <p:cNvSpPr txBox="1"/>
          <p:nvPr/>
        </p:nvSpPr>
        <p:spPr>
          <a:xfrm>
            <a:off x="4343400" y="5052195"/>
            <a:ext cx="428625" cy="4397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424548"/>
                </a:solidFill>
                <a:latin typeface="Chalkboard"/>
                <a:ea typeface="Chalkboard"/>
                <a:cs typeface="Chalkboard"/>
                <a:sym typeface="Chalkboard"/>
              </a:defRPr>
            </a:lvl1pPr>
          </a:lstStyle>
          <a:p>
            <a:pPr/>
            <a:r>
              <a:t>=</a:t>
            </a:r>
          </a:p>
        </p:txBody>
      </p:sp>
      <p:sp>
        <p:nvSpPr>
          <p:cNvPr id="570" name="w"/>
          <p:cNvSpPr txBox="1"/>
          <p:nvPr/>
        </p:nvSpPr>
        <p:spPr>
          <a:xfrm>
            <a:off x="4981575" y="5039662"/>
            <a:ext cx="381000" cy="46484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3000">
                <a:solidFill>
                  <a:srgbClr val="424548"/>
                </a:solidFill>
                <a:latin typeface="Chalkboard"/>
                <a:ea typeface="Chalkboard"/>
                <a:cs typeface="Chalkboard"/>
                <a:sym typeface="Chalkboard"/>
              </a:defRPr>
            </a:lvl1pPr>
          </a:lstStyle>
          <a:p>
            <a:pPr/>
            <a:r>
              <a:t>w</a:t>
            </a:r>
          </a:p>
        </p:txBody>
      </p:sp>
      <p:sp>
        <p:nvSpPr>
          <p:cNvPr id="571" name="old"/>
          <p:cNvSpPr txBox="1"/>
          <p:nvPr/>
        </p:nvSpPr>
        <p:spPr>
          <a:xfrm>
            <a:off x="5314950" y="5287721"/>
            <a:ext cx="495300" cy="26400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424548"/>
                </a:solidFill>
                <a:latin typeface="Chalkboard"/>
                <a:ea typeface="Chalkboard"/>
                <a:cs typeface="Chalkboard"/>
                <a:sym typeface="Chalkboard"/>
              </a:defRPr>
            </a:lvl1pPr>
          </a:lstStyle>
          <a:p>
            <a:pPr/>
            <a:r>
              <a:t>old</a:t>
            </a:r>
          </a:p>
        </p:txBody>
      </p:sp>
      <p:sp>
        <p:nvSpPr>
          <p:cNvPr id="572" name="− η"/>
          <p:cNvSpPr txBox="1"/>
          <p:nvPr/>
        </p:nvSpPr>
        <p:spPr>
          <a:xfrm>
            <a:off x="6096000" y="4992686"/>
            <a:ext cx="1076325" cy="558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2800">
                <a:solidFill>
                  <a:srgbClr val="424548"/>
                </a:solidFill>
                <a:latin typeface="Chalkboard"/>
                <a:ea typeface="Chalkboard"/>
                <a:cs typeface="Chalkboard"/>
                <a:sym typeface="Chalkboard"/>
              </a:defRPr>
            </a:lvl1pPr>
          </a:lstStyle>
          <a:p>
            <a:pPr/>
            <a:r>
              <a:t>− η</a:t>
            </a:r>
          </a:p>
        </p:txBody>
      </p:sp>
      <p:sp>
        <p:nvSpPr>
          <p:cNvPr id="573" name="∂L"/>
          <p:cNvSpPr txBox="1"/>
          <p:nvPr/>
        </p:nvSpPr>
        <p:spPr>
          <a:xfrm>
            <a:off x="7419975" y="4923354"/>
            <a:ext cx="942975" cy="4021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500">
                <a:solidFill>
                  <a:srgbClr val="424548"/>
                </a:solidFill>
                <a:latin typeface="Chalkboard"/>
                <a:ea typeface="Chalkboard"/>
                <a:cs typeface="Chalkboard"/>
                <a:sym typeface="Chalkboard"/>
              </a:defRPr>
            </a:lvl1pPr>
          </a:lstStyle>
          <a:p>
            <a:pPr/>
            <a:r>
              <a:t>∂L</a:t>
            </a:r>
          </a:p>
        </p:txBody>
      </p:sp>
      <p:sp>
        <p:nvSpPr>
          <p:cNvPr id="574" name="Line"/>
          <p:cNvSpPr/>
          <p:nvPr/>
        </p:nvSpPr>
        <p:spPr>
          <a:xfrm>
            <a:off x="7419975" y="5314948"/>
            <a:ext cx="942976" cy="2"/>
          </a:xfrm>
          <a:prstGeom prst="line">
            <a:avLst/>
          </a:prstGeom>
          <a:ln w="20479">
            <a:solidFill>
              <a:srgbClr val="C65D4B"/>
            </a:solidFill>
            <a:prstDash val="dash"/>
          </a:ln>
        </p:spPr>
        <p:txBody>
          <a:bodyPr lIns="45718" tIns="45718" rIns="45718" bIns="45718"/>
          <a:lstStyle/>
          <a:p>
            <a:pPr/>
          </a:p>
        </p:txBody>
      </p:sp>
      <p:sp>
        <p:nvSpPr>
          <p:cNvPr id="575" name="∂w"/>
          <p:cNvSpPr txBox="1"/>
          <p:nvPr/>
        </p:nvSpPr>
        <p:spPr>
          <a:xfrm>
            <a:off x="7419975" y="5323404"/>
            <a:ext cx="942975" cy="40219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500">
                <a:solidFill>
                  <a:srgbClr val="424548"/>
                </a:solidFill>
                <a:latin typeface="Chalkboard"/>
                <a:ea typeface="Chalkboard"/>
                <a:cs typeface="Chalkboard"/>
                <a:sym typeface="Chalkboard"/>
              </a:defRPr>
            </a:lvl1pPr>
          </a:lstStyle>
          <a:p>
            <a:pPr/>
            <a:r>
              <a:t>∂w</a:t>
            </a:r>
          </a:p>
        </p:txBody>
      </p:sp>
      <p:sp>
        <p:nvSpPr>
          <p:cNvPr id="576" name="Repeat over labeled emails. Backpropagation computes gradients; gradient descent uses them."/>
          <p:cNvSpPr txBox="1"/>
          <p:nvPr/>
        </p:nvSpPr>
        <p:spPr>
          <a:xfrm>
            <a:off x="638175" y="5895975"/>
            <a:ext cx="10906125"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400">
                <a:solidFill>
                  <a:srgbClr val="62616A"/>
                </a:solidFill>
                <a:latin typeface="Arial"/>
                <a:ea typeface="Arial"/>
                <a:cs typeface="Arial"/>
                <a:sym typeface="Arial"/>
              </a:defRPr>
            </a:pPr>
            <a:r>
              <a:t>η is the learning rate: it sets the update size. ∂L/∂w is the weight’s gradient.</a:t>
            </a:r>
          </a:p>
          <a:p>
            <a:pPr algn="ctr">
              <a:defRPr sz="1400">
                <a:solidFill>
                  <a:srgbClr val="62616A"/>
                </a:solidFill>
                <a:latin typeface="Arial"/>
                <a:ea typeface="Arial"/>
                <a:cs typeface="Arial"/>
                <a:sym typeface="Arial"/>
              </a:defRPr>
            </a:pPr>
            <a:r>
              <a:t>Backpropagation computes gradients. Gradient descent updates weights and biases.</a:t>
            </a:r>
          </a:p>
        </p:txBody>
      </p:sp>
      <p:sp>
        <p:nvSpPr>
          <p:cNvPr id="577"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578"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579" name="Earlier training prediction"/>
          <p:cNvSpPr txBox="1"/>
          <p:nvPr/>
        </p:nvSpPr>
        <p:spPr>
          <a:xfrm>
            <a:off x="2314575" y="3486150"/>
            <a:ext cx="2438400" cy="1850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300">
                <a:solidFill>
                  <a:srgbClr val="62616A"/>
                </a:solidFill>
                <a:latin typeface="Arial"/>
                <a:ea typeface="Arial"/>
                <a:cs typeface="Arial"/>
                <a:sym typeface="Arial"/>
              </a:defRPr>
            </a:lvl1pPr>
          </a:lstStyle>
          <a:p>
            <a:pPr/>
            <a:r>
              <a:t>Earlier training prediction</a:t>
            </a:r>
          </a:p>
        </p:txBody>
      </p:sp>
      <p:sp>
        <p:nvSpPr>
          <p:cNvPr id="580" name="Known label: Spam"/>
          <p:cNvSpPr txBox="1"/>
          <p:nvPr/>
        </p:nvSpPr>
        <p:spPr>
          <a:xfrm>
            <a:off x="4876800" y="3495675"/>
            <a:ext cx="2276475"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400">
                <a:solidFill>
                  <a:srgbClr val="62616A"/>
                </a:solidFill>
                <a:latin typeface="Arial"/>
                <a:ea typeface="Arial"/>
                <a:cs typeface="Arial"/>
                <a:sym typeface="Arial"/>
              </a:defRPr>
            </a:lvl1pPr>
          </a:lstStyle>
          <a:p>
            <a:pPr/>
            <a:r>
              <a:t>Known label: Spam</a:t>
            </a:r>
          </a:p>
        </p:txBody>
      </p:sp>
      <p:sp>
        <p:nvSpPr>
          <p:cNvPr id="581" name="Binary cross-entropy:…"/>
          <p:cNvSpPr txBox="1"/>
          <p:nvPr/>
        </p:nvSpPr>
        <p:spPr>
          <a:xfrm>
            <a:off x="7400925" y="3448050"/>
            <a:ext cx="2657475"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400">
                <a:solidFill>
                  <a:srgbClr val="A45F57"/>
                </a:solidFill>
                <a:latin typeface="Arial"/>
                <a:ea typeface="Arial"/>
                <a:cs typeface="Arial"/>
                <a:sym typeface="Arial"/>
              </a:defRPr>
            </a:pPr>
            <a:r>
              <a:t>Binary cross-entropy:</a:t>
            </a:r>
          </a:p>
          <a:p>
            <a:pPr>
              <a:defRPr sz="1400">
                <a:solidFill>
                  <a:srgbClr val="A45F57"/>
                </a:solidFill>
                <a:latin typeface="Arial"/>
                <a:ea typeface="Arial"/>
                <a:cs typeface="Arial"/>
                <a:sym typeface="Arial"/>
              </a:defRPr>
            </a:pPr>
            <a:r>
              <a:t>L = −ln(0.35) ≈ 1.05</a:t>
            </a:r>
          </a:p>
        </p:txBody>
      </p:sp>
      <p:sp>
        <p:nvSpPr>
          <p:cNvPr id="582" name="Gradients measure how each parameter affects the loss."/>
          <p:cNvSpPr txBox="1"/>
          <p:nvPr/>
        </p:nvSpPr>
        <p:spPr>
          <a:xfrm>
            <a:off x="2619375" y="4029075"/>
            <a:ext cx="6419850"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Gradients measure how each parameter affects the loss.</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586"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587"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588" name="Examples teach shared patterns"/>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Examples teach shared patterns</a:t>
            </a:r>
          </a:p>
        </p:txBody>
      </p:sp>
      <p:sp>
        <p:nvSpPr>
          <p:cNvPr id="589" name="The same learned weights process both training emails and new emails."/>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The same learned weights process both training emails and new emails.</a:t>
            </a:r>
          </a:p>
        </p:txBody>
      </p:sp>
      <p:sp>
        <p:nvSpPr>
          <p:cNvPr id="590" name="14"/>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19</a:t>
            </a:r>
          </a:p>
        </p:txBody>
      </p:sp>
      <p:sp>
        <p:nvSpPr>
          <p:cNvPr id="591" name="“FREE prize!!! Click now”"/>
          <p:cNvSpPr txBox="1"/>
          <p:nvPr/>
        </p:nvSpPr>
        <p:spPr>
          <a:xfrm>
            <a:off x="647700" y="2222427"/>
            <a:ext cx="4524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8282A"/>
                </a:solidFill>
                <a:latin typeface="Chalkboard"/>
                <a:ea typeface="Chalkboard"/>
                <a:cs typeface="Chalkboard"/>
                <a:sym typeface="Chalkboard"/>
              </a:defRPr>
            </a:lvl1pPr>
          </a:lstStyle>
          <a:p>
            <a:pPr/>
            <a:r>
              <a:t>“FREE prize!!! Click now”</a:t>
            </a:r>
          </a:p>
        </p:txBody>
      </p:sp>
      <p:sp>
        <p:nvSpPr>
          <p:cNvPr id="592" name="Spam"/>
          <p:cNvSpPr txBox="1"/>
          <p:nvPr/>
        </p:nvSpPr>
        <p:spPr>
          <a:xfrm>
            <a:off x="5143500" y="2222427"/>
            <a:ext cx="1476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8E7052"/>
                </a:solidFill>
                <a:latin typeface="Chalkboard"/>
                <a:ea typeface="Chalkboard"/>
                <a:cs typeface="Chalkboard"/>
                <a:sym typeface="Chalkboard"/>
              </a:defRPr>
            </a:lvl1pPr>
          </a:lstStyle>
          <a:p>
            <a:pPr/>
            <a:r>
              <a:t>Spam</a:t>
            </a:r>
          </a:p>
        </p:txBody>
      </p:sp>
      <p:sp>
        <p:nvSpPr>
          <p:cNvPr id="593" name="“You won $10,000”"/>
          <p:cNvSpPr txBox="1"/>
          <p:nvPr/>
        </p:nvSpPr>
        <p:spPr>
          <a:xfrm>
            <a:off x="647700" y="2812977"/>
            <a:ext cx="4524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8282A"/>
                </a:solidFill>
                <a:latin typeface="Chalkboard"/>
                <a:ea typeface="Chalkboard"/>
                <a:cs typeface="Chalkboard"/>
                <a:sym typeface="Chalkboard"/>
              </a:defRPr>
            </a:lvl1pPr>
          </a:lstStyle>
          <a:p>
            <a:pPr/>
            <a:r>
              <a:t>“You won $10,000”</a:t>
            </a:r>
          </a:p>
        </p:txBody>
      </p:sp>
      <p:sp>
        <p:nvSpPr>
          <p:cNvPr id="594" name="Spam"/>
          <p:cNvSpPr txBox="1"/>
          <p:nvPr/>
        </p:nvSpPr>
        <p:spPr>
          <a:xfrm>
            <a:off x="5143500" y="2812977"/>
            <a:ext cx="1476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8E7052"/>
                </a:solidFill>
                <a:latin typeface="Chalkboard"/>
                <a:ea typeface="Chalkboard"/>
                <a:cs typeface="Chalkboard"/>
                <a:sym typeface="Chalkboard"/>
              </a:defRPr>
            </a:lvl1pPr>
          </a:lstStyle>
          <a:p>
            <a:pPr/>
            <a:r>
              <a:t>Spam</a:t>
            </a:r>
          </a:p>
        </p:txBody>
      </p:sp>
      <p:sp>
        <p:nvSpPr>
          <p:cNvPr id="595" name="“Verify your account here”"/>
          <p:cNvSpPr txBox="1"/>
          <p:nvPr/>
        </p:nvSpPr>
        <p:spPr>
          <a:xfrm>
            <a:off x="647700" y="3403527"/>
            <a:ext cx="4524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8282A"/>
                </a:solidFill>
                <a:latin typeface="Chalkboard"/>
                <a:ea typeface="Chalkboard"/>
                <a:cs typeface="Chalkboard"/>
                <a:sym typeface="Chalkboard"/>
              </a:defRPr>
            </a:lvl1pPr>
          </a:lstStyle>
          <a:p>
            <a:pPr/>
            <a:r>
              <a:t>“Verify your account here”</a:t>
            </a:r>
          </a:p>
        </p:txBody>
      </p:sp>
      <p:sp>
        <p:nvSpPr>
          <p:cNvPr id="596" name="Spam"/>
          <p:cNvSpPr txBox="1"/>
          <p:nvPr/>
        </p:nvSpPr>
        <p:spPr>
          <a:xfrm>
            <a:off x="5143500" y="3403527"/>
            <a:ext cx="1476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8E7052"/>
                </a:solidFill>
                <a:latin typeface="Chalkboard"/>
                <a:ea typeface="Chalkboard"/>
                <a:cs typeface="Chalkboard"/>
                <a:sym typeface="Chalkboard"/>
              </a:defRPr>
            </a:lvl1pPr>
          </a:lstStyle>
          <a:p>
            <a:pPr/>
            <a:r>
              <a:t>Spam</a:t>
            </a:r>
          </a:p>
        </p:txBody>
      </p:sp>
      <p:sp>
        <p:nvSpPr>
          <p:cNvPr id="597" name="“Meeting moved to 3 PM”"/>
          <p:cNvSpPr txBox="1"/>
          <p:nvPr/>
        </p:nvSpPr>
        <p:spPr>
          <a:xfrm>
            <a:off x="647700" y="3994077"/>
            <a:ext cx="4524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8282A"/>
                </a:solidFill>
                <a:latin typeface="Chalkboard"/>
                <a:ea typeface="Chalkboard"/>
                <a:cs typeface="Chalkboard"/>
                <a:sym typeface="Chalkboard"/>
              </a:defRPr>
            </a:lvl1pPr>
          </a:lstStyle>
          <a:p>
            <a:pPr/>
            <a:r>
              <a:t>“Meeting moved to 3 PM”</a:t>
            </a:r>
          </a:p>
        </p:txBody>
      </p:sp>
      <p:sp>
        <p:nvSpPr>
          <p:cNvPr id="598" name="Not Spam"/>
          <p:cNvSpPr txBox="1"/>
          <p:nvPr/>
        </p:nvSpPr>
        <p:spPr>
          <a:xfrm>
            <a:off x="5143500" y="3994077"/>
            <a:ext cx="1476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424548"/>
                </a:solidFill>
                <a:latin typeface="Chalkboard"/>
                <a:ea typeface="Chalkboard"/>
                <a:cs typeface="Chalkboard"/>
                <a:sym typeface="Chalkboard"/>
              </a:defRPr>
            </a:lvl1pPr>
          </a:lstStyle>
          <a:p>
            <a:pPr/>
            <a:r>
              <a:t>Not Spam</a:t>
            </a:r>
          </a:p>
        </p:txBody>
      </p:sp>
      <p:sp>
        <p:nvSpPr>
          <p:cNvPr id="599" name="“Here is the report”"/>
          <p:cNvSpPr txBox="1"/>
          <p:nvPr/>
        </p:nvSpPr>
        <p:spPr>
          <a:xfrm>
            <a:off x="647700" y="4584627"/>
            <a:ext cx="4524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8282A"/>
                </a:solidFill>
                <a:latin typeface="Chalkboard"/>
                <a:ea typeface="Chalkboard"/>
                <a:cs typeface="Chalkboard"/>
                <a:sym typeface="Chalkboard"/>
              </a:defRPr>
            </a:lvl1pPr>
          </a:lstStyle>
          <a:p>
            <a:pPr/>
            <a:r>
              <a:t>“Here is the report”</a:t>
            </a:r>
          </a:p>
        </p:txBody>
      </p:sp>
      <p:sp>
        <p:nvSpPr>
          <p:cNvPr id="600" name="Not Spam"/>
          <p:cNvSpPr txBox="1"/>
          <p:nvPr/>
        </p:nvSpPr>
        <p:spPr>
          <a:xfrm>
            <a:off x="5143500" y="4584627"/>
            <a:ext cx="1476375"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424548"/>
                </a:solidFill>
                <a:latin typeface="Chalkboard"/>
                <a:ea typeface="Chalkboard"/>
                <a:cs typeface="Chalkboard"/>
                <a:sym typeface="Chalkboard"/>
              </a:defRPr>
            </a:lvl1pPr>
          </a:lstStyle>
          <a:p>
            <a:pPr/>
            <a:r>
              <a:t>Not Spam</a:t>
            </a:r>
          </a:p>
        </p:txBody>
      </p:sp>
      <p:sp>
        <p:nvSpPr>
          <p:cNvPr id="601" name="Line"/>
          <p:cNvSpPr/>
          <p:nvPr/>
        </p:nvSpPr>
        <p:spPr>
          <a:xfrm>
            <a:off x="6667500" y="3548753"/>
            <a:ext cx="1028701" cy="12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6835"/>
                </a:moveTo>
                <a:lnTo>
                  <a:pt x="1978" y="21600"/>
                </a:lnTo>
                <a:lnTo>
                  <a:pt x="3723" y="17060"/>
                </a:lnTo>
                <a:lnTo>
                  <a:pt x="5572" y="21068"/>
                </a:lnTo>
                <a:lnTo>
                  <a:pt x="7320" y="16745"/>
                </a:lnTo>
                <a:lnTo>
                  <a:pt x="8946" y="2399"/>
                </a:lnTo>
                <a:lnTo>
                  <a:pt x="10829" y="9201"/>
                </a:lnTo>
                <a:lnTo>
                  <a:pt x="12705" y="15505"/>
                </a:lnTo>
                <a:lnTo>
                  <a:pt x="14474" y="12940"/>
                </a:lnTo>
                <a:lnTo>
                  <a:pt x="16162" y="3684"/>
                </a:lnTo>
                <a:lnTo>
                  <a:pt x="17918" y="0"/>
                </a:lnTo>
                <a:lnTo>
                  <a:pt x="19931" y="17704"/>
                </a:lnTo>
                <a:lnTo>
                  <a:pt x="21600" y="6835"/>
                </a:lnTo>
              </a:path>
            </a:pathLst>
          </a:custGeom>
          <a:ln w="20479">
            <a:solidFill>
              <a:srgbClr val="355070"/>
            </a:solidFill>
          </a:ln>
        </p:spPr>
        <p:txBody>
          <a:bodyPr lIns="0" tIns="0" rIns="0" bIns="0"/>
          <a:lstStyle/>
          <a:p>
            <a:pPr>
              <a:defRPr>
                <a:latin typeface="Calibri"/>
                <a:ea typeface="Calibri"/>
                <a:cs typeface="Calibri"/>
                <a:sym typeface="Calibri"/>
              </a:defRPr>
            </a:pPr>
          </a:p>
        </p:txBody>
      </p:sp>
      <p:sp>
        <p:nvSpPr>
          <p:cNvPr id="602" name="Line"/>
          <p:cNvSpPr/>
          <p:nvPr/>
        </p:nvSpPr>
        <p:spPr>
          <a:xfrm>
            <a:off x="7601856" y="3507251"/>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C65D4B"/>
            </a:solidFill>
          </a:ln>
        </p:spPr>
        <p:txBody>
          <a:bodyPr lIns="0" tIns="0" rIns="0" bIns="0"/>
          <a:lstStyle/>
          <a:p>
            <a:pPr>
              <a:defRPr>
                <a:latin typeface="Calibri"/>
                <a:ea typeface="Calibri"/>
                <a:cs typeface="Calibri"/>
                <a:sym typeface="Calibri"/>
              </a:defRPr>
            </a:pPr>
          </a:p>
        </p:txBody>
      </p:sp>
      <p:sp>
        <p:nvSpPr>
          <p:cNvPr id="603" name="Line"/>
          <p:cNvSpPr/>
          <p:nvPr/>
        </p:nvSpPr>
        <p:spPr>
          <a:xfrm>
            <a:off x="8252841" y="2807485"/>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94" y="2187"/>
                </a:lnTo>
                <a:lnTo>
                  <a:pt x="3728" y="4127"/>
                </a:lnTo>
                <a:lnTo>
                  <a:pt x="5192" y="4544"/>
                </a:lnTo>
                <a:lnTo>
                  <a:pt x="7257" y="7433"/>
                </a:lnTo>
                <a:lnTo>
                  <a:pt x="8933" y="8726"/>
                </a:lnTo>
                <a:lnTo>
                  <a:pt x="10794" y="10774"/>
                </a:lnTo>
                <a:lnTo>
                  <a:pt x="12561" y="12439"/>
                </a:lnTo>
                <a:lnTo>
                  <a:pt x="14420" y="14481"/>
                </a:lnTo>
                <a:lnTo>
                  <a:pt x="15973" y="15263"/>
                </a:lnTo>
                <a:lnTo>
                  <a:pt x="18078" y="18322"/>
                </a:lnTo>
                <a:lnTo>
                  <a:pt x="19811" y="19847"/>
                </a:lnTo>
                <a:lnTo>
                  <a:pt x="21600" y="2160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04" name="Line"/>
          <p:cNvSpPr/>
          <p:nvPr/>
        </p:nvSpPr>
        <p:spPr>
          <a:xfrm>
            <a:off x="8228103" y="2860881"/>
            <a:ext cx="749121" cy="5456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571" y="1486"/>
                </a:lnTo>
                <a:lnTo>
                  <a:pt x="3847" y="3939"/>
                </a:lnTo>
                <a:lnTo>
                  <a:pt x="5616" y="5696"/>
                </a:lnTo>
                <a:lnTo>
                  <a:pt x="6986" y="6906"/>
                </a:lnTo>
                <a:lnTo>
                  <a:pt x="9110" y="9151"/>
                </a:lnTo>
                <a:lnTo>
                  <a:pt x="11026" y="11110"/>
                </a:lnTo>
                <a:lnTo>
                  <a:pt x="12494" y="12454"/>
                </a:lnTo>
                <a:lnTo>
                  <a:pt x="14211" y="14141"/>
                </a:lnTo>
                <a:lnTo>
                  <a:pt x="16385" y="16454"/>
                </a:lnTo>
                <a:lnTo>
                  <a:pt x="18028" y="18038"/>
                </a:lnTo>
                <a:lnTo>
                  <a:pt x="19928" y="19976"/>
                </a:lnTo>
                <a:lnTo>
                  <a:pt x="21600" y="2160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05" name="Line"/>
          <p:cNvSpPr/>
          <p:nvPr/>
        </p:nvSpPr>
        <p:spPr>
          <a:xfrm rot="42001">
            <a:off x="8201993" y="2888589"/>
            <a:ext cx="801337" cy="9728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640" y="1668"/>
                </a:lnTo>
                <a:lnTo>
                  <a:pt x="3777" y="3745"/>
                </a:lnTo>
                <a:lnTo>
                  <a:pt x="5423" y="5419"/>
                </a:lnTo>
                <a:lnTo>
                  <a:pt x="7150" y="7159"/>
                </a:lnTo>
                <a:lnTo>
                  <a:pt x="8819" y="8851"/>
                </a:lnTo>
                <a:lnTo>
                  <a:pt x="10570" y="10611"/>
                </a:lnTo>
                <a:lnTo>
                  <a:pt x="12582" y="12585"/>
                </a:lnTo>
                <a:lnTo>
                  <a:pt x="14245" y="14272"/>
                </a:lnTo>
                <a:lnTo>
                  <a:pt x="15996" y="16032"/>
                </a:lnTo>
                <a:lnTo>
                  <a:pt x="18200" y="18165"/>
                </a:lnTo>
                <a:lnTo>
                  <a:pt x="19614" y="19647"/>
                </a:lnTo>
                <a:lnTo>
                  <a:pt x="21600" y="21600"/>
                </a:lnTo>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06" name="Line"/>
          <p:cNvSpPr/>
          <p:nvPr/>
        </p:nvSpPr>
        <p:spPr>
          <a:xfrm>
            <a:off x="8252841" y="3048785"/>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569" y="18849"/>
                </a:lnTo>
                <a:lnTo>
                  <a:pt x="3565" y="17857"/>
                </a:lnTo>
                <a:lnTo>
                  <a:pt x="5178" y="15287"/>
                </a:lnTo>
                <a:lnTo>
                  <a:pt x="7359" y="15056"/>
                </a:lnTo>
                <a:lnTo>
                  <a:pt x="8869" y="12059"/>
                </a:lnTo>
                <a:lnTo>
                  <a:pt x="10551" y="9776"/>
                </a:lnTo>
                <a:lnTo>
                  <a:pt x="12650" y="9208"/>
                </a:lnTo>
                <a:lnTo>
                  <a:pt x="14553" y="7829"/>
                </a:lnTo>
                <a:lnTo>
                  <a:pt x="16371" y="6103"/>
                </a:lnTo>
                <a:lnTo>
                  <a:pt x="18134" y="4152"/>
                </a:lnTo>
                <a:lnTo>
                  <a:pt x="19682" y="1315"/>
                </a:lnTo>
                <a:lnTo>
                  <a:pt x="21600" y="0"/>
                </a:lnTo>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07" name="Line"/>
          <p:cNvSpPr/>
          <p:nvPr/>
        </p:nvSpPr>
        <p:spPr>
          <a:xfrm>
            <a:off x="8252841" y="32900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968" y="2491"/>
                </a:lnTo>
                <a:lnTo>
                  <a:pt x="3664" y="3864"/>
                </a:lnTo>
                <a:lnTo>
                  <a:pt x="5255" y="4803"/>
                </a:lnTo>
                <a:lnTo>
                  <a:pt x="7459" y="8266"/>
                </a:lnTo>
                <a:lnTo>
                  <a:pt x="9234" y="9963"/>
                </a:lnTo>
                <a:lnTo>
                  <a:pt x="10727" y="10499"/>
                </a:lnTo>
                <a:lnTo>
                  <a:pt x="12393" y="11749"/>
                </a:lnTo>
                <a:lnTo>
                  <a:pt x="14540" y="14976"/>
                </a:lnTo>
                <a:lnTo>
                  <a:pt x="16370" y="16899"/>
                </a:lnTo>
                <a:lnTo>
                  <a:pt x="18147" y="18607"/>
                </a:lnTo>
                <a:lnTo>
                  <a:pt x="19839" y="19962"/>
                </a:lnTo>
                <a:lnTo>
                  <a:pt x="21600" y="21600"/>
                </a:lnTo>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08" name="Line"/>
          <p:cNvSpPr/>
          <p:nvPr/>
        </p:nvSpPr>
        <p:spPr>
          <a:xfrm rot="42001">
            <a:off x="8228103" y="3343483"/>
            <a:ext cx="749121" cy="5456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561" y="1472"/>
                </a:lnTo>
                <a:lnTo>
                  <a:pt x="3607" y="3610"/>
                </a:lnTo>
                <a:lnTo>
                  <a:pt x="5184" y="5104"/>
                </a:lnTo>
                <a:lnTo>
                  <a:pt x="6958" y="6868"/>
                </a:lnTo>
                <a:lnTo>
                  <a:pt x="9096" y="9131"/>
                </a:lnTo>
                <a:lnTo>
                  <a:pt x="10918" y="10963"/>
                </a:lnTo>
                <a:lnTo>
                  <a:pt x="12449" y="12393"/>
                </a:lnTo>
                <a:lnTo>
                  <a:pt x="14628" y="14714"/>
                </a:lnTo>
                <a:lnTo>
                  <a:pt x="16253" y="16273"/>
                </a:lnTo>
                <a:lnTo>
                  <a:pt x="18203" y="18278"/>
                </a:lnTo>
                <a:lnTo>
                  <a:pt x="19823" y="19831"/>
                </a:lnTo>
                <a:lnTo>
                  <a:pt x="21600" y="21600"/>
                </a:lnTo>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09" name="Line"/>
          <p:cNvSpPr/>
          <p:nvPr/>
        </p:nvSpPr>
        <p:spPr>
          <a:xfrm rot="42001">
            <a:off x="8228103" y="3102181"/>
            <a:ext cx="749121" cy="5456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56" y="19877"/>
                </a:lnTo>
                <a:lnTo>
                  <a:pt x="3817" y="18298"/>
                </a:lnTo>
                <a:lnTo>
                  <a:pt x="5552" y="16409"/>
                </a:lnTo>
                <a:lnTo>
                  <a:pt x="7208" y="14411"/>
                </a:lnTo>
                <a:lnTo>
                  <a:pt x="8941" y="12519"/>
                </a:lnTo>
                <a:lnTo>
                  <a:pt x="10946" y="11000"/>
                </a:lnTo>
                <a:lnTo>
                  <a:pt x="12668" y="9093"/>
                </a:lnTo>
                <a:lnTo>
                  <a:pt x="14210" y="6940"/>
                </a:lnTo>
                <a:lnTo>
                  <a:pt x="16085" y="5242"/>
                </a:lnTo>
                <a:lnTo>
                  <a:pt x="18164" y="3825"/>
                </a:lnTo>
                <a:lnTo>
                  <a:pt x="19861" y="1884"/>
                </a:lnTo>
                <a:lnTo>
                  <a:pt x="21600" y="0"/>
                </a:lnTo>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10" name="Line"/>
          <p:cNvSpPr/>
          <p:nvPr/>
        </p:nvSpPr>
        <p:spPr>
          <a:xfrm>
            <a:off x="8252841" y="35313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00" y="19801"/>
                </a:lnTo>
                <a:lnTo>
                  <a:pt x="3713" y="18464"/>
                </a:lnTo>
                <a:lnTo>
                  <a:pt x="5143" y="15142"/>
                </a:lnTo>
                <a:lnTo>
                  <a:pt x="6936" y="13312"/>
                </a:lnTo>
                <a:lnTo>
                  <a:pt x="9206" y="13447"/>
                </a:lnTo>
                <a:lnTo>
                  <a:pt x="10818" y="10874"/>
                </a:lnTo>
                <a:lnTo>
                  <a:pt x="12830" y="9947"/>
                </a:lnTo>
                <a:lnTo>
                  <a:pt x="14334" y="6929"/>
                </a:lnTo>
                <a:lnTo>
                  <a:pt x="16259" y="5642"/>
                </a:lnTo>
                <a:lnTo>
                  <a:pt x="17995" y="3581"/>
                </a:lnTo>
                <a:lnTo>
                  <a:pt x="19973" y="2512"/>
                </a:lnTo>
                <a:lnTo>
                  <a:pt x="21600" y="0"/>
                </a:lnTo>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611" name="Line"/>
          <p:cNvSpPr/>
          <p:nvPr/>
        </p:nvSpPr>
        <p:spPr>
          <a:xfrm>
            <a:off x="8252841" y="37726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682" y="1315"/>
                </a:lnTo>
                <a:lnTo>
                  <a:pt x="3436" y="2924"/>
                </a:lnTo>
                <a:lnTo>
                  <a:pt x="5250" y="4781"/>
                </a:lnTo>
                <a:lnTo>
                  <a:pt x="7124" y="6889"/>
                </a:lnTo>
                <a:lnTo>
                  <a:pt x="8837" y="8329"/>
                </a:lnTo>
                <a:lnTo>
                  <a:pt x="10550" y="9770"/>
                </a:lnTo>
                <a:lnTo>
                  <a:pt x="12814" y="13482"/>
                </a:lnTo>
                <a:lnTo>
                  <a:pt x="14387" y="14348"/>
                </a:lnTo>
                <a:lnTo>
                  <a:pt x="16334" y="16753"/>
                </a:lnTo>
                <a:lnTo>
                  <a:pt x="18023" y="18096"/>
                </a:lnTo>
                <a:lnTo>
                  <a:pt x="19798" y="19792"/>
                </a:lnTo>
                <a:lnTo>
                  <a:pt x="21600" y="21600"/>
                </a:lnTo>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612" name="Line"/>
          <p:cNvSpPr/>
          <p:nvPr/>
        </p:nvSpPr>
        <p:spPr>
          <a:xfrm rot="42001">
            <a:off x="8201993" y="3129889"/>
            <a:ext cx="801337" cy="9728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582" y="19620"/>
                </a:lnTo>
                <a:lnTo>
                  <a:pt x="3769" y="18139"/>
                </a:lnTo>
                <a:lnTo>
                  <a:pt x="5438" y="16231"/>
                </a:lnTo>
                <a:lnTo>
                  <a:pt x="7103" y="14320"/>
                </a:lnTo>
                <a:lnTo>
                  <a:pt x="8842" y="12470"/>
                </a:lnTo>
                <a:lnTo>
                  <a:pt x="10895" y="10879"/>
                </a:lnTo>
                <a:lnTo>
                  <a:pt x="12449" y="8876"/>
                </a:lnTo>
                <a:lnTo>
                  <a:pt x="14512" y="7292"/>
                </a:lnTo>
                <a:lnTo>
                  <a:pt x="16086" y="5306"/>
                </a:lnTo>
                <a:lnTo>
                  <a:pt x="17866" y="3490"/>
                </a:lnTo>
                <a:lnTo>
                  <a:pt x="19752" y="1761"/>
                </a:lnTo>
                <a:lnTo>
                  <a:pt x="21600" y="0"/>
                </a:lnTo>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13" name="Line"/>
          <p:cNvSpPr/>
          <p:nvPr/>
        </p:nvSpPr>
        <p:spPr>
          <a:xfrm rot="21557999">
            <a:off x="8228103" y="3584783"/>
            <a:ext cx="749121" cy="5456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993" y="20065"/>
                </a:lnTo>
                <a:lnTo>
                  <a:pt x="3802" y="18277"/>
                </a:lnTo>
                <a:lnTo>
                  <a:pt x="5611" y="16490"/>
                </a:lnTo>
                <a:lnTo>
                  <a:pt x="7343" y="14596"/>
                </a:lnTo>
                <a:lnTo>
                  <a:pt x="8911" y="12478"/>
                </a:lnTo>
                <a:lnTo>
                  <a:pt x="10763" y="10749"/>
                </a:lnTo>
                <a:lnTo>
                  <a:pt x="12538" y="8915"/>
                </a:lnTo>
                <a:lnTo>
                  <a:pt x="14309" y="7075"/>
                </a:lnTo>
                <a:lnTo>
                  <a:pt x="16393" y="5665"/>
                </a:lnTo>
                <a:lnTo>
                  <a:pt x="17863" y="3412"/>
                </a:lnTo>
                <a:lnTo>
                  <a:pt x="19834" y="1846"/>
                </a:lnTo>
                <a:lnTo>
                  <a:pt x="21600" y="0"/>
                </a:lnTo>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614" name="Line"/>
          <p:cNvSpPr/>
          <p:nvPr/>
        </p:nvSpPr>
        <p:spPr>
          <a:xfrm>
            <a:off x="8252841" y="40139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47" y="19995"/>
                </a:lnTo>
                <a:lnTo>
                  <a:pt x="3617" y="18070"/>
                </a:lnTo>
                <a:lnTo>
                  <a:pt x="5511" y="16659"/>
                </a:lnTo>
                <a:lnTo>
                  <a:pt x="7170" y="14275"/>
                </a:lnTo>
                <a:lnTo>
                  <a:pt x="8848" y="11975"/>
                </a:lnTo>
                <a:lnTo>
                  <a:pt x="10681" y="10310"/>
                </a:lnTo>
                <a:lnTo>
                  <a:pt x="12420" y="8259"/>
                </a:lnTo>
                <a:lnTo>
                  <a:pt x="14588" y="7973"/>
                </a:lnTo>
                <a:lnTo>
                  <a:pt x="16008" y="4608"/>
                </a:lnTo>
                <a:lnTo>
                  <a:pt x="17886" y="3132"/>
                </a:lnTo>
                <a:lnTo>
                  <a:pt x="19993" y="2594"/>
                </a:lnTo>
                <a:lnTo>
                  <a:pt x="21600" y="0"/>
                </a:lnTo>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615" name="Line"/>
          <p:cNvSpPr/>
          <p:nvPr/>
        </p:nvSpPr>
        <p:spPr>
          <a:xfrm>
            <a:off x="9246616" y="3048785"/>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702" y="1395"/>
                </a:lnTo>
                <a:lnTo>
                  <a:pt x="3728" y="4127"/>
                </a:lnTo>
                <a:lnTo>
                  <a:pt x="5656" y="6453"/>
                </a:lnTo>
                <a:lnTo>
                  <a:pt x="7103" y="6799"/>
                </a:lnTo>
                <a:lnTo>
                  <a:pt x="9117" y="9483"/>
                </a:lnTo>
                <a:lnTo>
                  <a:pt x="10859" y="11041"/>
                </a:lnTo>
                <a:lnTo>
                  <a:pt x="12725" y="13113"/>
                </a:lnTo>
                <a:lnTo>
                  <a:pt x="14373" y="14289"/>
                </a:lnTo>
                <a:lnTo>
                  <a:pt x="16096" y="15772"/>
                </a:lnTo>
                <a:lnTo>
                  <a:pt x="17834" y="17318"/>
                </a:lnTo>
                <a:lnTo>
                  <a:pt x="19734" y="19528"/>
                </a:lnTo>
                <a:lnTo>
                  <a:pt x="21600" y="2160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616" name="Line"/>
          <p:cNvSpPr/>
          <p:nvPr/>
        </p:nvSpPr>
        <p:spPr>
          <a:xfrm rot="21557999">
            <a:off x="9221878" y="3102181"/>
            <a:ext cx="749121" cy="5456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981" y="2049"/>
                </a:lnTo>
                <a:lnTo>
                  <a:pt x="3626" y="3635"/>
                </a:lnTo>
                <a:lnTo>
                  <a:pt x="5161" y="5072"/>
                </a:lnTo>
                <a:lnTo>
                  <a:pt x="7303" y="7341"/>
                </a:lnTo>
                <a:lnTo>
                  <a:pt x="8769" y="8683"/>
                </a:lnTo>
                <a:lnTo>
                  <a:pt x="10742" y="10721"/>
                </a:lnTo>
                <a:lnTo>
                  <a:pt x="12516" y="12485"/>
                </a:lnTo>
                <a:lnTo>
                  <a:pt x="14230" y="14167"/>
                </a:lnTo>
                <a:lnTo>
                  <a:pt x="16178" y="16169"/>
                </a:lnTo>
                <a:lnTo>
                  <a:pt x="17968" y="17956"/>
                </a:lnTo>
                <a:lnTo>
                  <a:pt x="19920" y="19964"/>
                </a:lnTo>
                <a:lnTo>
                  <a:pt x="21600" y="2160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617" name="Line"/>
          <p:cNvSpPr/>
          <p:nvPr/>
        </p:nvSpPr>
        <p:spPr>
          <a:xfrm>
            <a:off x="9246616" y="32900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633" y="19112"/>
                </a:lnTo>
                <a:lnTo>
                  <a:pt x="3591" y="17965"/>
                </a:lnTo>
                <a:lnTo>
                  <a:pt x="5567" y="16888"/>
                </a:lnTo>
                <a:lnTo>
                  <a:pt x="7382" y="15149"/>
                </a:lnTo>
                <a:lnTo>
                  <a:pt x="8791" y="11741"/>
                </a:lnTo>
                <a:lnTo>
                  <a:pt x="10996" y="11609"/>
                </a:lnTo>
                <a:lnTo>
                  <a:pt x="12426" y="8282"/>
                </a:lnTo>
                <a:lnTo>
                  <a:pt x="14546" y="7800"/>
                </a:lnTo>
                <a:lnTo>
                  <a:pt x="16309" y="5850"/>
                </a:lnTo>
                <a:lnTo>
                  <a:pt x="17833" y="2912"/>
                </a:lnTo>
                <a:lnTo>
                  <a:pt x="19644" y="1158"/>
                </a:lnTo>
                <a:lnTo>
                  <a:pt x="21600" y="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618" name="Line"/>
          <p:cNvSpPr/>
          <p:nvPr/>
        </p:nvSpPr>
        <p:spPr>
          <a:xfrm>
            <a:off x="9246616" y="35313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677" y="1295"/>
                </a:lnTo>
                <a:lnTo>
                  <a:pt x="3427" y="2888"/>
                </a:lnTo>
                <a:lnTo>
                  <a:pt x="5299" y="4985"/>
                </a:lnTo>
                <a:lnTo>
                  <a:pt x="6981" y="6297"/>
                </a:lnTo>
                <a:lnTo>
                  <a:pt x="8855" y="8404"/>
                </a:lnTo>
                <a:lnTo>
                  <a:pt x="11032" y="11756"/>
                </a:lnTo>
                <a:lnTo>
                  <a:pt x="12365" y="11634"/>
                </a:lnTo>
                <a:lnTo>
                  <a:pt x="14502" y="14820"/>
                </a:lnTo>
                <a:lnTo>
                  <a:pt x="16214" y="16258"/>
                </a:lnTo>
                <a:lnTo>
                  <a:pt x="17918" y="17663"/>
                </a:lnTo>
                <a:lnTo>
                  <a:pt x="19697" y="19376"/>
                </a:lnTo>
                <a:lnTo>
                  <a:pt x="21600" y="2160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19" name="Line"/>
          <p:cNvSpPr/>
          <p:nvPr/>
        </p:nvSpPr>
        <p:spPr>
          <a:xfrm rot="21557999">
            <a:off x="9221878" y="3343483"/>
            <a:ext cx="749121" cy="5456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032" y="20118"/>
                </a:lnTo>
                <a:lnTo>
                  <a:pt x="3455" y="17801"/>
                </a:lnTo>
                <a:lnTo>
                  <a:pt x="5244" y="15986"/>
                </a:lnTo>
                <a:lnTo>
                  <a:pt x="7444" y="14735"/>
                </a:lnTo>
                <a:lnTo>
                  <a:pt x="9000" y="12599"/>
                </a:lnTo>
                <a:lnTo>
                  <a:pt x="10940" y="10993"/>
                </a:lnTo>
                <a:lnTo>
                  <a:pt x="12753" y="9210"/>
                </a:lnTo>
                <a:lnTo>
                  <a:pt x="14612" y="7491"/>
                </a:lnTo>
                <a:lnTo>
                  <a:pt x="16406" y="5682"/>
                </a:lnTo>
                <a:lnTo>
                  <a:pt x="18009" y="3612"/>
                </a:lnTo>
                <a:lnTo>
                  <a:pt x="19696" y="1657"/>
                </a:lnTo>
                <a:lnTo>
                  <a:pt x="21600" y="0"/>
                </a:lnTo>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620" name="Line"/>
          <p:cNvSpPr/>
          <p:nvPr/>
        </p:nvSpPr>
        <p:spPr>
          <a:xfrm>
            <a:off x="9246616" y="37726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847" y="19996"/>
                </a:lnTo>
                <a:lnTo>
                  <a:pt x="3574" y="17895"/>
                </a:lnTo>
                <a:lnTo>
                  <a:pt x="5426" y="16308"/>
                </a:lnTo>
                <a:lnTo>
                  <a:pt x="6954" y="13388"/>
                </a:lnTo>
                <a:lnTo>
                  <a:pt x="8939" y="12350"/>
                </a:lnTo>
                <a:lnTo>
                  <a:pt x="10700" y="10386"/>
                </a:lnTo>
                <a:lnTo>
                  <a:pt x="12629" y="9119"/>
                </a:lnTo>
                <a:lnTo>
                  <a:pt x="14525" y="7715"/>
                </a:lnTo>
                <a:lnTo>
                  <a:pt x="16364" y="6077"/>
                </a:lnTo>
                <a:lnTo>
                  <a:pt x="17898" y="3178"/>
                </a:lnTo>
                <a:lnTo>
                  <a:pt x="19912" y="2263"/>
                </a:lnTo>
                <a:lnTo>
                  <a:pt x="21600" y="0"/>
                </a:lnTo>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21" name="Line"/>
          <p:cNvSpPr/>
          <p:nvPr/>
        </p:nvSpPr>
        <p:spPr>
          <a:xfrm>
            <a:off x="10240391" y="32900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852" y="2015"/>
                </a:lnTo>
                <a:lnTo>
                  <a:pt x="3764" y="4276"/>
                </a:lnTo>
                <a:lnTo>
                  <a:pt x="5507" y="5840"/>
                </a:lnTo>
                <a:lnTo>
                  <a:pt x="7116" y="6856"/>
                </a:lnTo>
                <a:lnTo>
                  <a:pt x="8817" y="8248"/>
                </a:lnTo>
                <a:lnTo>
                  <a:pt x="10954" y="11434"/>
                </a:lnTo>
                <a:lnTo>
                  <a:pt x="12745" y="13199"/>
                </a:lnTo>
                <a:lnTo>
                  <a:pt x="14297" y="13977"/>
                </a:lnTo>
                <a:lnTo>
                  <a:pt x="16074" y="15683"/>
                </a:lnTo>
                <a:lnTo>
                  <a:pt x="17883" y="17518"/>
                </a:lnTo>
                <a:lnTo>
                  <a:pt x="20039" y="20785"/>
                </a:lnTo>
                <a:lnTo>
                  <a:pt x="21600" y="21600"/>
                </a:lnTo>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22" name="Line"/>
          <p:cNvSpPr/>
          <p:nvPr/>
        </p:nvSpPr>
        <p:spPr>
          <a:xfrm>
            <a:off x="10240391" y="3531384"/>
            <a:ext cx="699640" cy="169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1682" y="19314"/>
                </a:lnTo>
                <a:lnTo>
                  <a:pt x="3436" y="17323"/>
                </a:lnTo>
                <a:lnTo>
                  <a:pt x="5355" y="16013"/>
                </a:lnTo>
                <a:lnTo>
                  <a:pt x="7294" y="14786"/>
                </a:lnTo>
                <a:lnTo>
                  <a:pt x="8831" y="11906"/>
                </a:lnTo>
                <a:lnTo>
                  <a:pt x="10983" y="11555"/>
                </a:lnTo>
                <a:lnTo>
                  <a:pt x="12773" y="9713"/>
                </a:lnTo>
                <a:lnTo>
                  <a:pt x="14288" y="6740"/>
                </a:lnTo>
                <a:lnTo>
                  <a:pt x="16215" y="5461"/>
                </a:lnTo>
                <a:lnTo>
                  <a:pt x="18111" y="4059"/>
                </a:lnTo>
                <a:lnTo>
                  <a:pt x="19708" y="1421"/>
                </a:lnTo>
                <a:lnTo>
                  <a:pt x="21600" y="0"/>
                </a:lnTo>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623" name="Shape"/>
          <p:cNvSpPr/>
          <p:nvPr/>
        </p:nvSpPr>
        <p:spPr>
          <a:xfrm>
            <a:off x="7945615" y="2612405"/>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24" name="Shape"/>
          <p:cNvSpPr/>
          <p:nvPr/>
        </p:nvSpPr>
        <p:spPr>
          <a:xfrm>
            <a:off x="7945615" y="3095005"/>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25" name="Shape"/>
          <p:cNvSpPr/>
          <p:nvPr/>
        </p:nvSpPr>
        <p:spPr>
          <a:xfrm>
            <a:off x="7945615" y="3577604"/>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626" name="Shape"/>
          <p:cNvSpPr/>
          <p:nvPr/>
        </p:nvSpPr>
        <p:spPr>
          <a:xfrm>
            <a:off x="7945615" y="4060204"/>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627" name="Shape"/>
          <p:cNvSpPr/>
          <p:nvPr/>
        </p:nvSpPr>
        <p:spPr>
          <a:xfrm>
            <a:off x="8939390" y="2853705"/>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628" name="Shape"/>
          <p:cNvSpPr/>
          <p:nvPr/>
        </p:nvSpPr>
        <p:spPr>
          <a:xfrm>
            <a:off x="8939390" y="3336304"/>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FF0C7"/>
          </a:solidFill>
          <a:ln w="22384">
            <a:solidFill>
              <a:srgbClr val="B07A3F"/>
            </a:solidFill>
          </a:ln>
        </p:spPr>
        <p:txBody>
          <a:bodyPr lIns="0" tIns="0" rIns="0" bIns="0"/>
          <a:lstStyle/>
          <a:p>
            <a:pPr>
              <a:defRPr>
                <a:latin typeface="Calibri"/>
                <a:ea typeface="Calibri"/>
                <a:cs typeface="Calibri"/>
                <a:sym typeface="Calibri"/>
              </a:defRPr>
            </a:pPr>
          </a:p>
        </p:txBody>
      </p:sp>
      <p:sp>
        <p:nvSpPr>
          <p:cNvPr id="629" name="Shape"/>
          <p:cNvSpPr/>
          <p:nvPr/>
        </p:nvSpPr>
        <p:spPr>
          <a:xfrm>
            <a:off x="8939390" y="3818904"/>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630" name="Shape"/>
          <p:cNvSpPr/>
          <p:nvPr/>
        </p:nvSpPr>
        <p:spPr>
          <a:xfrm>
            <a:off x="9933165" y="3095005"/>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31" name="Shape"/>
          <p:cNvSpPr/>
          <p:nvPr/>
        </p:nvSpPr>
        <p:spPr>
          <a:xfrm>
            <a:off x="9933165" y="3577604"/>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FADADD"/>
          </a:solidFill>
          <a:ln w="22384">
            <a:solidFill>
              <a:srgbClr val="C65D4B"/>
            </a:solidFill>
          </a:ln>
        </p:spPr>
        <p:txBody>
          <a:bodyPr lIns="0" tIns="0" rIns="0" bIns="0"/>
          <a:lstStyle/>
          <a:p>
            <a:pPr>
              <a:defRPr>
                <a:latin typeface="Calibri"/>
                <a:ea typeface="Calibri"/>
                <a:cs typeface="Calibri"/>
                <a:sym typeface="Calibri"/>
              </a:defRPr>
            </a:pPr>
          </a:p>
        </p:txBody>
      </p:sp>
      <p:sp>
        <p:nvSpPr>
          <p:cNvPr id="632" name="Shape"/>
          <p:cNvSpPr/>
          <p:nvPr/>
        </p:nvSpPr>
        <p:spPr>
          <a:xfrm>
            <a:off x="10926940" y="3336304"/>
            <a:ext cx="322476" cy="3224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49"/>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4"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4" y="1159"/>
                </a:lnTo>
                <a:lnTo>
                  <a:pt x="16746" y="1669"/>
                </a:lnTo>
                <a:lnTo>
                  <a:pt x="17642"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ECE4F7"/>
          </a:solidFill>
          <a:ln w="22384">
            <a:solidFill>
              <a:srgbClr val="7B6BA8"/>
            </a:solidFill>
          </a:ln>
        </p:spPr>
        <p:txBody>
          <a:bodyPr lIns="0" tIns="0" rIns="0" bIns="0"/>
          <a:lstStyle/>
          <a:p>
            <a:pPr>
              <a:defRPr>
                <a:latin typeface="Calibri"/>
                <a:ea typeface="Calibri"/>
                <a:cs typeface="Calibri"/>
                <a:sym typeface="Calibri"/>
              </a:defRPr>
            </a:pPr>
          </a:p>
        </p:txBody>
      </p:sp>
      <p:sp>
        <p:nvSpPr>
          <p:cNvPr id="633" name="Shared weights"/>
          <p:cNvSpPr txBox="1"/>
          <p:nvPr/>
        </p:nvSpPr>
        <p:spPr>
          <a:xfrm>
            <a:off x="7715250" y="1986394"/>
            <a:ext cx="384810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424548"/>
                </a:solidFill>
                <a:latin typeface="Chalkboard"/>
                <a:ea typeface="Chalkboard"/>
                <a:cs typeface="Chalkboard"/>
                <a:sym typeface="Chalkboard"/>
              </a:defRPr>
            </a:lvl1pPr>
          </a:lstStyle>
          <a:p>
            <a:pPr/>
            <a:r>
              <a:t>Shared weights</a:t>
            </a:r>
          </a:p>
        </p:txBody>
      </p:sp>
      <p:sp>
        <p:nvSpPr>
          <p:cNvPr id="634" name="Promotional language…"/>
          <p:cNvSpPr txBox="1"/>
          <p:nvPr/>
        </p:nvSpPr>
        <p:spPr>
          <a:xfrm>
            <a:off x="7524750" y="4810125"/>
            <a:ext cx="4124325" cy="7213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62616A"/>
                </a:solidFill>
                <a:latin typeface="Chalkboard"/>
                <a:ea typeface="Chalkboard"/>
                <a:cs typeface="Chalkboard"/>
                <a:sym typeface="Chalkboard"/>
              </a:defRPr>
            </a:pPr>
            <a:r>
              <a:t>Possible learned combinations:</a:t>
            </a:r>
          </a:p>
          <a:p>
            <a:pPr>
              <a:defRPr sz="1500">
                <a:solidFill>
                  <a:srgbClr val="62616A"/>
                </a:solidFill>
                <a:latin typeface="Chalkboard"/>
                <a:ea typeface="Chalkboard"/>
                <a:cs typeface="Chalkboard"/>
                <a:sym typeface="Chalkboard"/>
              </a:defRPr>
            </a:pPr>
            <a:r>
              <a:t>promotional words, urgent links,</a:t>
            </a:r>
          </a:p>
          <a:p>
            <a:pPr>
              <a:defRPr sz="1500">
                <a:solidFill>
                  <a:srgbClr val="62616A"/>
                </a:solidFill>
                <a:latin typeface="Chalkboard"/>
                <a:ea typeface="Chalkboard"/>
                <a:cs typeface="Chalkboard"/>
                <a:sym typeface="Chalkboard"/>
              </a:defRPr>
            </a:pPr>
            <a:r>
              <a:t>and trusted-sender cues</a:t>
            </a:r>
          </a:p>
        </p:txBody>
      </p:sp>
      <p:sp>
        <p:nvSpPr>
          <p:cNvPr id="635" name="These are possible learned combinations. Individual neurons need not match human-readable concepts."/>
          <p:cNvSpPr txBox="1"/>
          <p:nvPr/>
        </p:nvSpPr>
        <p:spPr>
          <a:xfrm>
            <a:off x="628650" y="5967352"/>
            <a:ext cx="10906125"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62616A"/>
                </a:solidFill>
                <a:latin typeface="Arial"/>
                <a:ea typeface="Arial"/>
                <a:cs typeface="Arial"/>
                <a:sym typeface="Arial"/>
              </a:defRPr>
            </a:lvl1pPr>
          </a:lstStyle>
          <a:p>
            <a:pPr/>
            <a:r>
              <a:t>These are possible learned combinations. Individual neurons need not match human-readable concepts.</a:t>
            </a:r>
          </a:p>
        </p:txBody>
      </p:sp>
      <p:sp>
        <p:nvSpPr>
          <p:cNvPr id="636"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637"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638" name="Labeled training emails"/>
          <p:cNvSpPr txBox="1"/>
          <p:nvPr/>
        </p:nvSpPr>
        <p:spPr>
          <a:xfrm>
            <a:off x="752475" y="1743075"/>
            <a:ext cx="4667250" cy="2890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a:solidFill>
                  <a:srgbClr val="287B95"/>
                </a:solidFill>
                <a:latin typeface="Chalkboard"/>
                <a:ea typeface="Chalkboard"/>
                <a:cs typeface="Chalkboard"/>
                <a:sym typeface="Chalkboard"/>
              </a:defRPr>
            </a:lvl1pPr>
          </a:lstStyle>
          <a:p>
            <a:pPr/>
            <a:r>
              <a:t>Labeled training emails</a:t>
            </a:r>
          </a:p>
        </p:txBody>
      </p:sp>
      <p:sp>
        <p:nvSpPr>
          <p:cNvPr id="639" name="Learn from the training set. Check performance…"/>
          <p:cNvSpPr txBox="1"/>
          <p:nvPr/>
        </p:nvSpPr>
        <p:spPr>
          <a:xfrm>
            <a:off x="762000" y="5172075"/>
            <a:ext cx="6505575" cy="4255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sz="1500">
                <a:solidFill>
                  <a:srgbClr val="424548"/>
                </a:solidFill>
                <a:latin typeface="Arial"/>
                <a:ea typeface="Arial"/>
                <a:cs typeface="Arial"/>
                <a:sym typeface="Arial"/>
              </a:defRPr>
            </a:pPr>
            <a:r>
              <a:t>Learn from the training set. Check performance</a:t>
            </a:r>
          </a:p>
          <a:p>
            <a:pPr>
              <a:defRPr sz="1500">
                <a:solidFill>
                  <a:srgbClr val="424548"/>
                </a:solidFill>
                <a:latin typeface="Arial"/>
                <a:ea typeface="Arial"/>
                <a:cs typeface="Arial"/>
                <a:sym typeface="Arial"/>
              </a:defRPr>
            </a:pPr>
            <a:r>
              <a:t>on separate emails the model has never seen.</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8F6F2"/>
        </a:solidFill>
      </p:bgPr>
    </p:bg>
    <p:spTree>
      <p:nvGrpSpPr>
        <p:cNvPr id="1" name=""/>
        <p:cNvGrpSpPr/>
        <p:nvPr/>
      </p:nvGrpSpPr>
      <p:grpSpPr>
        <a:xfrm>
          <a:off x="0" y="0"/>
          <a:ext cx="0" cy="0"/>
          <a:chOff x="0" y="0"/>
          <a:chExt cx="0" cy="0"/>
        </a:xfrm>
      </p:grpSpPr>
      <p:sp>
        <p:nvSpPr>
          <p:cNvPr id="643" name="Rounded Rectangle"/>
          <p:cNvSpPr/>
          <p:nvPr/>
        </p:nvSpPr>
        <p:spPr>
          <a:xfrm>
            <a:off x="457200" y="1647825"/>
            <a:ext cx="11277600" cy="4086225"/>
          </a:xfrm>
          <a:prstGeom prst="roundRect">
            <a:avLst>
              <a:gd name="adj" fmla="val 4196"/>
            </a:avLst>
          </a:prstGeom>
          <a:solidFill>
            <a:srgbClr val="FCFBF8"/>
          </a:solidFill>
          <a:ln>
            <a:solidFill>
              <a:srgbClr val="E0D5C5"/>
            </a:solidFill>
          </a:ln>
        </p:spPr>
        <p:txBody>
          <a:bodyPr lIns="0" tIns="0" rIns="0" bIns="0"/>
          <a:lstStyle/>
          <a:p>
            <a:pPr>
              <a:defRPr>
                <a:latin typeface="Calibri"/>
                <a:ea typeface="Calibri"/>
                <a:cs typeface="Calibri"/>
                <a:sym typeface="Calibri"/>
              </a:defRPr>
            </a:pPr>
          </a:p>
        </p:txBody>
      </p:sp>
      <p:sp>
        <p:nvSpPr>
          <p:cNvPr id="644" name="Rounded Rectangle"/>
          <p:cNvSpPr/>
          <p:nvPr/>
        </p:nvSpPr>
        <p:spPr>
          <a:xfrm>
            <a:off x="457200" y="5800725"/>
            <a:ext cx="11277600" cy="504825"/>
          </a:xfrm>
          <a:prstGeom prst="roundRect">
            <a:avLst>
              <a:gd name="adj" fmla="val 33962"/>
            </a:avLst>
          </a:prstGeom>
          <a:solidFill>
            <a:srgbClr val="F6E7C3"/>
          </a:solidFill>
          <a:ln w="5715">
            <a:solidFill>
              <a:srgbClr val="EAD9B4"/>
            </a:solidFill>
          </a:ln>
        </p:spPr>
        <p:txBody>
          <a:bodyPr lIns="0" tIns="0" rIns="0" bIns="0"/>
          <a:lstStyle/>
          <a:p>
            <a:pPr>
              <a:defRPr>
                <a:latin typeface="Calibri"/>
                <a:ea typeface="Calibri"/>
                <a:cs typeface="Calibri"/>
                <a:sym typeface="Calibri"/>
              </a:defRPr>
            </a:pPr>
          </a:p>
        </p:txBody>
      </p:sp>
      <p:sp>
        <p:nvSpPr>
          <p:cNvPr id="645" name="The whole pipeline"/>
          <p:cNvSpPr txBox="1"/>
          <p:nvPr/>
        </p:nvSpPr>
        <p:spPr>
          <a:xfrm>
            <a:off x="609600" y="506502"/>
            <a:ext cx="10953750" cy="4443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100">
                <a:solidFill>
                  <a:srgbClr val="28282A"/>
                </a:solidFill>
                <a:latin typeface="Arial"/>
                <a:ea typeface="Arial"/>
                <a:cs typeface="Arial"/>
                <a:sym typeface="Arial"/>
              </a:defRPr>
            </a:lvl1pPr>
          </a:lstStyle>
          <a:p>
            <a:pPr/>
            <a:r>
              <a:t>The whole pipeline</a:t>
            </a:r>
          </a:p>
        </p:txBody>
      </p:sp>
      <p:sp>
        <p:nvSpPr>
          <p:cNvPr id="646" name="One forward pass transforms an email into a spam decision."/>
          <p:cNvSpPr txBox="1"/>
          <p:nvPr/>
        </p:nvSpPr>
        <p:spPr>
          <a:xfrm>
            <a:off x="628650" y="1212997"/>
            <a:ext cx="1093470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62616A"/>
                </a:solidFill>
                <a:latin typeface="Arial"/>
                <a:ea typeface="Arial"/>
                <a:cs typeface="Arial"/>
                <a:sym typeface="Arial"/>
              </a:defRPr>
            </a:lvl1pPr>
          </a:lstStyle>
          <a:p>
            <a:pPr/>
            <a:r>
              <a:t>One forward pass transforms an email into a spam decision.</a:t>
            </a:r>
          </a:p>
        </p:txBody>
      </p:sp>
      <p:sp>
        <p:nvSpPr>
          <p:cNvPr id="647" name="15"/>
          <p:cNvSpPr txBox="1"/>
          <p:nvPr/>
        </p:nvSpPr>
        <p:spPr>
          <a:xfrm>
            <a:off x="5715000" y="6536434"/>
            <a:ext cx="762000" cy="14783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100">
                <a:solidFill>
                  <a:srgbClr val="858079"/>
                </a:solidFill>
                <a:latin typeface="Arial"/>
                <a:ea typeface="Arial"/>
                <a:cs typeface="Arial"/>
                <a:sym typeface="Arial"/>
              </a:defRPr>
            </a:lvl1pPr>
          </a:lstStyle>
          <a:p>
            <a:pPr/>
            <a:r>
              <a:t>20</a:t>
            </a:r>
          </a:p>
        </p:txBody>
      </p:sp>
      <p:sp>
        <p:nvSpPr>
          <p:cNvPr id="648" name="Shape"/>
          <p:cNvSpPr/>
          <p:nvPr/>
        </p:nvSpPr>
        <p:spPr>
          <a:xfrm rot="21557999">
            <a:off x="803117" y="2006629"/>
            <a:ext cx="1374757" cy="13744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649" name="Email"/>
          <p:cNvSpPr txBox="1"/>
          <p:nvPr/>
        </p:nvSpPr>
        <p:spPr>
          <a:xfrm>
            <a:off x="847725" y="2497486"/>
            <a:ext cx="1276350"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424548"/>
                </a:solidFill>
                <a:latin typeface="Chalkboard"/>
                <a:ea typeface="Chalkboard"/>
                <a:cs typeface="Chalkboard"/>
                <a:sym typeface="Chalkboard"/>
              </a:defRPr>
            </a:lvl1pPr>
          </a:lstStyle>
          <a:p>
            <a:pPr/>
            <a:r>
              <a:t>Email</a:t>
            </a:r>
          </a:p>
        </p:txBody>
      </p:sp>
      <p:sp>
        <p:nvSpPr>
          <p:cNvPr id="650" name="Line"/>
          <p:cNvSpPr/>
          <p:nvPr/>
        </p:nvSpPr>
        <p:spPr>
          <a:xfrm>
            <a:off x="2295525" y="2678577"/>
            <a:ext cx="685802" cy="127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733"/>
                </a:moveTo>
                <a:lnTo>
                  <a:pt x="1814" y="13477"/>
                </a:lnTo>
                <a:lnTo>
                  <a:pt x="3492" y="6850"/>
                </a:lnTo>
                <a:lnTo>
                  <a:pt x="5423" y="13971"/>
                </a:lnTo>
                <a:lnTo>
                  <a:pt x="7124" y="8581"/>
                </a:lnTo>
                <a:lnTo>
                  <a:pt x="8926" y="8688"/>
                </a:lnTo>
                <a:lnTo>
                  <a:pt x="10836" y="14705"/>
                </a:lnTo>
                <a:lnTo>
                  <a:pt x="12617" y="13658"/>
                </a:lnTo>
                <a:lnTo>
                  <a:pt x="14167" y="0"/>
                </a:lnTo>
                <a:lnTo>
                  <a:pt x="16030" y="3454"/>
                </a:lnTo>
                <a:lnTo>
                  <a:pt x="18162" y="21600"/>
                </a:lnTo>
                <a:lnTo>
                  <a:pt x="19841" y="14979"/>
                </a:lnTo>
                <a:lnTo>
                  <a:pt x="21600" y="12733"/>
                </a:lnTo>
              </a:path>
            </a:pathLst>
          </a:custGeom>
          <a:ln w="20479">
            <a:solidFill>
              <a:srgbClr val="B07A3F"/>
            </a:solidFill>
            <a:prstDash val="dash"/>
          </a:ln>
        </p:spPr>
        <p:txBody>
          <a:bodyPr lIns="0" tIns="0" rIns="0" bIns="0"/>
          <a:lstStyle/>
          <a:p>
            <a:pPr>
              <a:defRPr>
                <a:latin typeface="Calibri"/>
                <a:ea typeface="Calibri"/>
                <a:cs typeface="Calibri"/>
                <a:sym typeface="Calibri"/>
              </a:defRPr>
            </a:pPr>
          </a:p>
        </p:txBody>
      </p:sp>
      <p:sp>
        <p:nvSpPr>
          <p:cNvPr id="651" name="Line"/>
          <p:cNvSpPr/>
          <p:nvPr/>
        </p:nvSpPr>
        <p:spPr>
          <a:xfrm>
            <a:off x="2886979" y="264047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652" name="Shape"/>
          <p:cNvSpPr/>
          <p:nvPr/>
        </p:nvSpPr>
        <p:spPr>
          <a:xfrm rot="21557999">
            <a:off x="3089117" y="2006629"/>
            <a:ext cx="1374758" cy="13744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CEAF7"/>
          </a:solidFill>
          <a:ln w="22384">
            <a:solidFill>
              <a:srgbClr val="355070"/>
            </a:solidFill>
          </a:ln>
        </p:spPr>
        <p:txBody>
          <a:bodyPr lIns="0" tIns="0" rIns="0" bIns="0"/>
          <a:lstStyle/>
          <a:p>
            <a:pPr>
              <a:defRPr>
                <a:latin typeface="Calibri"/>
                <a:ea typeface="Calibri"/>
                <a:cs typeface="Calibri"/>
                <a:sym typeface="Calibri"/>
              </a:defRPr>
            </a:pPr>
          </a:p>
        </p:txBody>
      </p:sp>
      <p:sp>
        <p:nvSpPr>
          <p:cNvPr id="653" name="Features"/>
          <p:cNvSpPr txBox="1"/>
          <p:nvPr/>
        </p:nvSpPr>
        <p:spPr>
          <a:xfrm>
            <a:off x="3133725" y="2497486"/>
            <a:ext cx="1276350"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424548"/>
                </a:solidFill>
                <a:latin typeface="Chalkboard"/>
                <a:ea typeface="Chalkboard"/>
                <a:cs typeface="Chalkboard"/>
                <a:sym typeface="Chalkboard"/>
              </a:defRPr>
            </a:lvl1pPr>
          </a:lstStyle>
          <a:p>
            <a:pPr/>
            <a:r>
              <a:t>Features</a:t>
            </a:r>
          </a:p>
        </p:txBody>
      </p:sp>
      <p:sp>
        <p:nvSpPr>
          <p:cNvPr id="654" name="Line"/>
          <p:cNvSpPr/>
          <p:nvPr/>
        </p:nvSpPr>
        <p:spPr>
          <a:xfrm>
            <a:off x="4581525" y="2678876"/>
            <a:ext cx="685802" cy="140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055"/>
                </a:moveTo>
                <a:lnTo>
                  <a:pt x="2015" y="21600"/>
                </a:lnTo>
                <a:lnTo>
                  <a:pt x="3792" y="20444"/>
                </a:lnTo>
                <a:lnTo>
                  <a:pt x="5426" y="12320"/>
                </a:lnTo>
                <a:lnTo>
                  <a:pt x="7120" y="7145"/>
                </a:lnTo>
                <a:lnTo>
                  <a:pt x="8984" y="10288"/>
                </a:lnTo>
                <a:lnTo>
                  <a:pt x="10808" y="11454"/>
                </a:lnTo>
                <a:lnTo>
                  <a:pt x="12660" y="13977"/>
                </a:lnTo>
                <a:lnTo>
                  <a:pt x="14174" y="0"/>
                </a:lnTo>
                <a:lnTo>
                  <a:pt x="16394" y="20567"/>
                </a:lnTo>
                <a:lnTo>
                  <a:pt x="17978" y="9965"/>
                </a:lnTo>
                <a:lnTo>
                  <a:pt x="19947" y="18269"/>
                </a:lnTo>
                <a:lnTo>
                  <a:pt x="21600" y="11055"/>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655" name="Line"/>
          <p:cNvSpPr/>
          <p:nvPr/>
        </p:nvSpPr>
        <p:spPr>
          <a:xfrm>
            <a:off x="5172981" y="264047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656" name="Shape"/>
          <p:cNvSpPr/>
          <p:nvPr/>
        </p:nvSpPr>
        <p:spPr>
          <a:xfrm>
            <a:off x="5375116" y="2006629"/>
            <a:ext cx="1374758" cy="13744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57" name="MLP"/>
          <p:cNvSpPr txBox="1"/>
          <p:nvPr/>
        </p:nvSpPr>
        <p:spPr>
          <a:xfrm>
            <a:off x="5419725" y="2497486"/>
            <a:ext cx="1276350"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424548"/>
                </a:solidFill>
                <a:latin typeface="Chalkboard"/>
                <a:ea typeface="Chalkboard"/>
                <a:cs typeface="Chalkboard"/>
                <a:sym typeface="Chalkboard"/>
              </a:defRPr>
            </a:lvl1pPr>
          </a:lstStyle>
          <a:p>
            <a:pPr/>
            <a:r>
              <a:t>MLP</a:t>
            </a:r>
          </a:p>
        </p:txBody>
      </p:sp>
      <p:sp>
        <p:nvSpPr>
          <p:cNvPr id="658" name="Line"/>
          <p:cNvSpPr/>
          <p:nvPr/>
        </p:nvSpPr>
        <p:spPr>
          <a:xfrm>
            <a:off x="6867525" y="2678709"/>
            <a:ext cx="685802" cy="143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060"/>
                </a:moveTo>
                <a:lnTo>
                  <a:pt x="1809" y="11479"/>
                </a:lnTo>
                <a:lnTo>
                  <a:pt x="3764" y="18907"/>
                </a:lnTo>
                <a:lnTo>
                  <a:pt x="5618" y="21476"/>
                </a:lnTo>
                <a:lnTo>
                  <a:pt x="7309" y="16297"/>
                </a:lnTo>
                <a:lnTo>
                  <a:pt x="8916" y="7053"/>
                </a:lnTo>
                <a:lnTo>
                  <a:pt x="10942" y="17875"/>
                </a:lnTo>
                <a:lnTo>
                  <a:pt x="12604" y="11266"/>
                </a:lnTo>
                <a:lnTo>
                  <a:pt x="14340" y="8198"/>
                </a:lnTo>
                <a:lnTo>
                  <a:pt x="15969" y="0"/>
                </a:lnTo>
                <a:lnTo>
                  <a:pt x="17931" y="7769"/>
                </a:lnTo>
                <a:lnTo>
                  <a:pt x="20020" y="21600"/>
                </a:lnTo>
                <a:lnTo>
                  <a:pt x="21600" y="11060"/>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659" name="Line"/>
          <p:cNvSpPr/>
          <p:nvPr/>
        </p:nvSpPr>
        <p:spPr>
          <a:xfrm>
            <a:off x="7458981" y="264047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660" name="Shape"/>
          <p:cNvSpPr/>
          <p:nvPr/>
        </p:nvSpPr>
        <p:spPr>
          <a:xfrm>
            <a:off x="7661116" y="2006629"/>
            <a:ext cx="1374758" cy="13744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61" name="P(spam)"/>
          <p:cNvSpPr txBox="1"/>
          <p:nvPr/>
        </p:nvSpPr>
        <p:spPr>
          <a:xfrm>
            <a:off x="7705725" y="2491219"/>
            <a:ext cx="1276350" cy="3896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400">
                <a:solidFill>
                  <a:srgbClr val="8E7052"/>
                </a:solidFill>
                <a:latin typeface="Chalkboard"/>
                <a:ea typeface="Chalkboard"/>
                <a:cs typeface="Chalkboard"/>
                <a:sym typeface="Chalkboard"/>
              </a:defRPr>
            </a:lvl1pPr>
          </a:lstStyle>
          <a:p>
            <a:pPr/>
            <a:r>
              <a:t>P(spam)</a:t>
            </a:r>
          </a:p>
        </p:txBody>
      </p:sp>
      <p:sp>
        <p:nvSpPr>
          <p:cNvPr id="662" name="Line"/>
          <p:cNvSpPr/>
          <p:nvPr/>
        </p:nvSpPr>
        <p:spPr>
          <a:xfrm>
            <a:off x="9153525" y="2677623"/>
            <a:ext cx="685802" cy="162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228"/>
                </a:moveTo>
                <a:lnTo>
                  <a:pt x="1535" y="0"/>
                </a:lnTo>
                <a:lnTo>
                  <a:pt x="3422" y="3702"/>
                </a:lnTo>
                <a:lnTo>
                  <a:pt x="5463" y="13880"/>
                </a:lnTo>
                <a:lnTo>
                  <a:pt x="7015" y="3416"/>
                </a:lnTo>
                <a:lnTo>
                  <a:pt x="9224" y="20716"/>
                </a:lnTo>
                <a:lnTo>
                  <a:pt x="10676" y="5961"/>
                </a:lnTo>
                <a:lnTo>
                  <a:pt x="12421" y="3660"/>
                </a:lnTo>
                <a:lnTo>
                  <a:pt x="14303" y="7124"/>
                </a:lnTo>
                <a:lnTo>
                  <a:pt x="16445" y="21600"/>
                </a:lnTo>
                <a:lnTo>
                  <a:pt x="17814" y="3357"/>
                </a:lnTo>
                <a:lnTo>
                  <a:pt x="20010" y="20118"/>
                </a:lnTo>
                <a:lnTo>
                  <a:pt x="21600" y="11228"/>
                </a:lnTo>
              </a:path>
            </a:pathLst>
          </a:custGeom>
          <a:ln w="20479">
            <a:solidFill>
              <a:srgbClr val="355070"/>
            </a:solidFill>
            <a:prstDash val="dash"/>
          </a:ln>
        </p:spPr>
        <p:txBody>
          <a:bodyPr lIns="0" tIns="0" rIns="0" bIns="0"/>
          <a:lstStyle/>
          <a:p>
            <a:pPr>
              <a:defRPr>
                <a:latin typeface="Calibri"/>
                <a:ea typeface="Calibri"/>
                <a:cs typeface="Calibri"/>
                <a:sym typeface="Calibri"/>
              </a:defRPr>
            </a:pPr>
          </a:p>
        </p:txBody>
      </p:sp>
      <p:sp>
        <p:nvSpPr>
          <p:cNvPr id="663" name="Line"/>
          <p:cNvSpPr/>
          <p:nvPr/>
        </p:nvSpPr>
        <p:spPr>
          <a:xfrm>
            <a:off x="9744981" y="264047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C65D4B"/>
            </a:solidFill>
            <a:prstDash val="dashDot"/>
          </a:ln>
        </p:spPr>
        <p:txBody>
          <a:bodyPr lIns="0" tIns="0" rIns="0" bIns="0"/>
          <a:lstStyle/>
          <a:p>
            <a:pPr>
              <a:defRPr>
                <a:latin typeface="Calibri"/>
                <a:ea typeface="Calibri"/>
                <a:cs typeface="Calibri"/>
                <a:sym typeface="Calibri"/>
              </a:defRPr>
            </a:pPr>
          </a:p>
        </p:txBody>
      </p:sp>
      <p:sp>
        <p:nvSpPr>
          <p:cNvPr id="664" name="Shape"/>
          <p:cNvSpPr/>
          <p:nvPr/>
        </p:nvSpPr>
        <p:spPr>
          <a:xfrm>
            <a:off x="9947116" y="2006629"/>
            <a:ext cx="1374758" cy="13744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677"/>
                </a:moveTo>
                <a:lnTo>
                  <a:pt x="21578" y="11746"/>
                </a:lnTo>
                <a:lnTo>
                  <a:pt x="21392" y="12799"/>
                </a:lnTo>
                <a:lnTo>
                  <a:pt x="21091" y="13821"/>
                </a:lnTo>
                <a:lnTo>
                  <a:pt x="20720" y="14817"/>
                </a:lnTo>
                <a:lnTo>
                  <a:pt x="20284" y="15786"/>
                </a:lnTo>
                <a:lnTo>
                  <a:pt x="19755" y="16710"/>
                </a:lnTo>
                <a:lnTo>
                  <a:pt x="19100" y="17550"/>
                </a:lnTo>
                <a:lnTo>
                  <a:pt x="18325" y="18276"/>
                </a:lnTo>
                <a:lnTo>
                  <a:pt x="17472" y="18897"/>
                </a:lnTo>
                <a:lnTo>
                  <a:pt x="16593" y="19457"/>
                </a:lnTo>
                <a:lnTo>
                  <a:pt x="15712" y="20004"/>
                </a:lnTo>
                <a:lnTo>
                  <a:pt x="14817" y="20550"/>
                </a:lnTo>
                <a:lnTo>
                  <a:pt x="13873" y="21047"/>
                </a:lnTo>
                <a:lnTo>
                  <a:pt x="12864" y="21417"/>
                </a:lnTo>
                <a:lnTo>
                  <a:pt x="11803" y="21600"/>
                </a:lnTo>
                <a:lnTo>
                  <a:pt x="10728" y="21594"/>
                </a:lnTo>
                <a:lnTo>
                  <a:pt x="9667" y="21451"/>
                </a:lnTo>
                <a:lnTo>
                  <a:pt x="8629" y="21230"/>
                </a:lnTo>
                <a:lnTo>
                  <a:pt x="7609" y="20960"/>
                </a:lnTo>
                <a:lnTo>
                  <a:pt x="6611" y="20619"/>
                </a:lnTo>
                <a:lnTo>
                  <a:pt x="5656" y="20168"/>
                </a:lnTo>
                <a:lnTo>
                  <a:pt x="4773" y="19591"/>
                </a:lnTo>
                <a:lnTo>
                  <a:pt x="3971" y="18912"/>
                </a:lnTo>
                <a:lnTo>
                  <a:pt x="3227" y="18179"/>
                </a:lnTo>
                <a:lnTo>
                  <a:pt x="2505" y="17427"/>
                </a:lnTo>
                <a:lnTo>
                  <a:pt x="1791" y="16650"/>
                </a:lnTo>
                <a:lnTo>
                  <a:pt x="1122" y="15813"/>
                </a:lnTo>
                <a:lnTo>
                  <a:pt x="570" y="14885"/>
                </a:lnTo>
                <a:lnTo>
                  <a:pt x="201" y="13871"/>
                </a:lnTo>
                <a:lnTo>
                  <a:pt x="27" y="12806"/>
                </a:lnTo>
                <a:lnTo>
                  <a:pt x="0" y="11734"/>
                </a:lnTo>
                <a:lnTo>
                  <a:pt x="50" y="10677"/>
                </a:lnTo>
                <a:lnTo>
                  <a:pt x="131" y="9633"/>
                </a:lnTo>
                <a:lnTo>
                  <a:pt x="255" y="8594"/>
                </a:lnTo>
                <a:lnTo>
                  <a:pt x="468" y="7564"/>
                </a:lnTo>
                <a:lnTo>
                  <a:pt x="810" y="6568"/>
                </a:lnTo>
                <a:lnTo>
                  <a:pt x="1278" y="5625"/>
                </a:lnTo>
                <a:lnTo>
                  <a:pt x="1836" y="4735"/>
                </a:lnTo>
                <a:lnTo>
                  <a:pt x="2442" y="3875"/>
                </a:lnTo>
                <a:lnTo>
                  <a:pt x="3087" y="3035"/>
                </a:lnTo>
                <a:lnTo>
                  <a:pt x="3801" y="2235"/>
                </a:lnTo>
                <a:lnTo>
                  <a:pt x="4620" y="1535"/>
                </a:lnTo>
                <a:lnTo>
                  <a:pt x="5554" y="995"/>
                </a:lnTo>
                <a:lnTo>
                  <a:pt x="6570" y="636"/>
                </a:lnTo>
                <a:lnTo>
                  <a:pt x="7617" y="421"/>
                </a:lnTo>
                <a:lnTo>
                  <a:pt x="8659" y="276"/>
                </a:lnTo>
                <a:lnTo>
                  <a:pt x="9691" y="149"/>
                </a:lnTo>
                <a:lnTo>
                  <a:pt x="10728" y="40"/>
                </a:lnTo>
                <a:lnTo>
                  <a:pt x="11779" y="0"/>
                </a:lnTo>
                <a:lnTo>
                  <a:pt x="12833" y="90"/>
                </a:lnTo>
                <a:lnTo>
                  <a:pt x="13865" y="333"/>
                </a:lnTo>
                <a:lnTo>
                  <a:pt x="14858" y="705"/>
                </a:lnTo>
                <a:lnTo>
                  <a:pt x="15815" y="1159"/>
                </a:lnTo>
                <a:lnTo>
                  <a:pt x="16746" y="1669"/>
                </a:lnTo>
                <a:lnTo>
                  <a:pt x="17643" y="2250"/>
                </a:lnTo>
                <a:lnTo>
                  <a:pt x="18466" y="2938"/>
                </a:lnTo>
                <a:lnTo>
                  <a:pt x="19163" y="3753"/>
                </a:lnTo>
                <a:lnTo>
                  <a:pt x="19709" y="4675"/>
                </a:lnTo>
                <a:lnTo>
                  <a:pt x="20127" y="5652"/>
                </a:lnTo>
                <a:lnTo>
                  <a:pt x="20480" y="6637"/>
                </a:lnTo>
                <a:lnTo>
                  <a:pt x="20824" y="7614"/>
                </a:lnTo>
                <a:lnTo>
                  <a:pt x="21163" y="8601"/>
                </a:lnTo>
                <a:lnTo>
                  <a:pt x="21447" y="9621"/>
                </a:lnTo>
                <a:lnTo>
                  <a:pt x="21600" y="10677"/>
                </a:lnTo>
                <a:close/>
              </a:path>
            </a:pathLst>
          </a:custGeom>
          <a:solidFill>
            <a:srgbClr val="DFF4EA"/>
          </a:solidFill>
          <a:ln w="22384">
            <a:solidFill>
              <a:srgbClr val="2A9D8F"/>
            </a:solidFill>
          </a:ln>
        </p:spPr>
        <p:txBody>
          <a:bodyPr lIns="0" tIns="0" rIns="0" bIns="0"/>
          <a:lstStyle/>
          <a:p>
            <a:pPr>
              <a:defRPr>
                <a:latin typeface="Calibri"/>
                <a:ea typeface="Calibri"/>
                <a:cs typeface="Calibri"/>
                <a:sym typeface="Calibri"/>
              </a:defRPr>
            </a:pPr>
          </a:p>
        </p:txBody>
      </p:sp>
      <p:sp>
        <p:nvSpPr>
          <p:cNvPr id="665" name="Decision"/>
          <p:cNvSpPr txBox="1"/>
          <p:nvPr/>
        </p:nvSpPr>
        <p:spPr>
          <a:xfrm>
            <a:off x="9991725" y="2497486"/>
            <a:ext cx="1276350"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8E7052"/>
                </a:solidFill>
                <a:latin typeface="Chalkboard"/>
                <a:ea typeface="Chalkboard"/>
                <a:cs typeface="Chalkboard"/>
                <a:sym typeface="Chalkboard"/>
              </a:defRPr>
            </a:lvl1pPr>
          </a:lstStyle>
          <a:p>
            <a:pPr/>
            <a:r>
              <a:t>Decision</a:t>
            </a:r>
          </a:p>
        </p:txBody>
      </p:sp>
      <p:sp>
        <p:nvSpPr>
          <p:cNvPr id="666" name="Raw text"/>
          <p:cNvSpPr txBox="1"/>
          <p:nvPr/>
        </p:nvSpPr>
        <p:spPr>
          <a:xfrm>
            <a:off x="628650" y="3954643"/>
            <a:ext cx="1762125"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100">
                <a:solidFill>
                  <a:srgbClr val="28282A"/>
                </a:solidFill>
                <a:latin typeface="Chalkboard"/>
                <a:ea typeface="Chalkboard"/>
                <a:cs typeface="Chalkboard"/>
                <a:sym typeface="Chalkboard"/>
              </a:defRPr>
            </a:lvl1pPr>
          </a:lstStyle>
          <a:p>
            <a:pPr/>
            <a:r>
              <a:t>Raw text</a:t>
            </a:r>
          </a:p>
        </p:txBody>
      </p:sp>
      <p:sp>
        <p:nvSpPr>
          <p:cNvPr id="667" name="[1, 1, 1, 0]ᵀ"/>
          <p:cNvSpPr txBox="1"/>
          <p:nvPr/>
        </p:nvSpPr>
        <p:spPr>
          <a:xfrm>
            <a:off x="2914650" y="3929752"/>
            <a:ext cx="1762125" cy="389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28282A"/>
                </a:solidFill>
                <a:latin typeface="Chalkboard"/>
                <a:ea typeface="Chalkboard"/>
                <a:cs typeface="Chalkboard"/>
                <a:sym typeface="Chalkboard"/>
              </a:defRPr>
            </a:lvl1pPr>
          </a:lstStyle>
          <a:p>
            <a:pPr/>
            <a:r>
              <a:t>[1, 1, 1, 0]ᵀ</a:t>
            </a:r>
          </a:p>
        </p:txBody>
      </p:sp>
      <p:sp>
        <p:nvSpPr>
          <p:cNvPr id="668" name="Weighted layers…"/>
          <p:cNvSpPr txBox="1"/>
          <p:nvPr/>
        </p:nvSpPr>
        <p:spPr>
          <a:xfrm>
            <a:off x="5200650" y="3781425"/>
            <a:ext cx="1905000" cy="5307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1600">
                <a:solidFill>
                  <a:srgbClr val="424548"/>
                </a:solidFill>
                <a:latin typeface="Chalkboard"/>
                <a:ea typeface="Chalkboard"/>
                <a:cs typeface="Chalkboard"/>
                <a:sym typeface="Chalkboard"/>
              </a:defRPr>
            </a:pPr>
            <a:r>
              <a:t>Weights + biases</a:t>
            </a:r>
          </a:p>
          <a:p>
            <a:pPr algn="ctr">
              <a:defRPr sz="1600">
                <a:solidFill>
                  <a:srgbClr val="424548"/>
                </a:solidFill>
                <a:latin typeface="Chalkboard"/>
                <a:ea typeface="Chalkboard"/>
                <a:cs typeface="Chalkboard"/>
                <a:sym typeface="Chalkboard"/>
              </a:defRPr>
            </a:pPr>
            <a:r>
              <a:t>ReLU, then sigmoid</a:t>
            </a:r>
          </a:p>
        </p:txBody>
      </p:sp>
      <p:sp>
        <p:nvSpPr>
          <p:cNvPr id="669" name="0.94"/>
          <p:cNvSpPr txBox="1"/>
          <p:nvPr/>
        </p:nvSpPr>
        <p:spPr>
          <a:xfrm>
            <a:off x="7486650" y="3935761"/>
            <a:ext cx="1762125" cy="37712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300">
                <a:solidFill>
                  <a:srgbClr val="8E7052"/>
                </a:solidFill>
                <a:latin typeface="Chalkboard"/>
                <a:ea typeface="Chalkboard"/>
                <a:cs typeface="Chalkboard"/>
                <a:sym typeface="Chalkboard"/>
              </a:defRPr>
            </a:lvl1pPr>
          </a:lstStyle>
          <a:p>
            <a:pPr/>
            <a:r>
              <a:t>0.94</a:t>
            </a:r>
          </a:p>
        </p:txBody>
      </p:sp>
      <p:sp>
        <p:nvSpPr>
          <p:cNvPr id="670" name="Spam"/>
          <p:cNvSpPr txBox="1"/>
          <p:nvPr/>
        </p:nvSpPr>
        <p:spPr>
          <a:xfrm>
            <a:off x="9772650" y="3954643"/>
            <a:ext cx="1762125" cy="33936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2100">
                <a:solidFill>
                  <a:srgbClr val="8E7052"/>
                </a:solidFill>
                <a:latin typeface="Chalkboard"/>
                <a:ea typeface="Chalkboard"/>
                <a:cs typeface="Chalkboard"/>
                <a:sym typeface="Chalkboard"/>
              </a:defRPr>
            </a:lvl1pPr>
          </a:lstStyle>
          <a:p>
            <a:pPr/>
            <a:r>
              <a:t>Spam</a:t>
            </a:r>
          </a:p>
        </p:txBody>
      </p:sp>
      <p:sp>
        <p:nvSpPr>
          <p:cNvPr id="671" name="During training"/>
          <p:cNvSpPr txBox="1"/>
          <p:nvPr/>
        </p:nvSpPr>
        <p:spPr>
          <a:xfrm>
            <a:off x="628650" y="5057775"/>
            <a:ext cx="2952750" cy="301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900">
                <a:solidFill>
                  <a:srgbClr val="424548"/>
                </a:solidFill>
                <a:latin typeface="Chalkboard"/>
                <a:ea typeface="Chalkboard"/>
                <a:cs typeface="Chalkboard"/>
                <a:sym typeface="Chalkboard"/>
              </a:defRPr>
            </a:lvl1pPr>
          </a:lstStyle>
          <a:p>
            <a:pPr/>
            <a:r>
              <a:t>During training</a:t>
            </a:r>
          </a:p>
        </p:txBody>
      </p:sp>
      <p:sp>
        <p:nvSpPr>
          <p:cNvPr id="672" name="Prediction"/>
          <p:cNvSpPr txBox="1"/>
          <p:nvPr/>
        </p:nvSpPr>
        <p:spPr>
          <a:xfrm>
            <a:off x="4010025" y="5084689"/>
            <a:ext cx="169545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8282A"/>
                </a:solidFill>
                <a:latin typeface="Chalkboard"/>
                <a:ea typeface="Chalkboard"/>
                <a:cs typeface="Chalkboard"/>
                <a:sym typeface="Chalkboard"/>
              </a:defRPr>
            </a:lvl1pPr>
          </a:lstStyle>
          <a:p>
            <a:pPr/>
            <a:r>
              <a:t>Prediction</a:t>
            </a:r>
          </a:p>
        </p:txBody>
      </p:sp>
      <p:sp>
        <p:nvSpPr>
          <p:cNvPr id="673" name="Loss"/>
          <p:cNvSpPr txBox="1"/>
          <p:nvPr/>
        </p:nvSpPr>
        <p:spPr>
          <a:xfrm>
            <a:off x="6438900" y="5084689"/>
            <a:ext cx="952500" cy="28907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a:solidFill>
                  <a:srgbClr val="28282A"/>
                </a:solidFill>
                <a:latin typeface="Chalkboard"/>
                <a:ea typeface="Chalkboard"/>
                <a:cs typeface="Chalkboard"/>
                <a:sym typeface="Chalkboard"/>
              </a:defRPr>
            </a:lvl1pPr>
          </a:lstStyle>
          <a:p>
            <a:pPr/>
            <a:r>
              <a:t>Loss</a:t>
            </a:r>
          </a:p>
        </p:txBody>
      </p:sp>
      <p:sp>
        <p:nvSpPr>
          <p:cNvPr id="674" name="Gradients"/>
          <p:cNvSpPr txBox="1"/>
          <p:nvPr/>
        </p:nvSpPr>
        <p:spPr>
          <a:xfrm>
            <a:off x="8143875" y="5076825"/>
            <a:ext cx="16668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600">
                <a:solidFill>
                  <a:srgbClr val="424548"/>
                </a:solidFill>
                <a:latin typeface="Chalkboard"/>
                <a:ea typeface="Chalkboard"/>
                <a:cs typeface="Chalkboard"/>
                <a:sym typeface="Chalkboard"/>
              </a:defRPr>
            </a:lvl1pPr>
          </a:lstStyle>
          <a:p>
            <a:pPr/>
            <a:r>
              <a:t>Gradients</a:t>
            </a:r>
          </a:p>
        </p:txBody>
      </p:sp>
      <p:sp>
        <p:nvSpPr>
          <p:cNvPr id="675" name="Line"/>
          <p:cNvSpPr/>
          <p:nvPr/>
        </p:nvSpPr>
        <p:spPr>
          <a:xfrm>
            <a:off x="5762625" y="5230429"/>
            <a:ext cx="438151" cy="1398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851"/>
                </a:moveTo>
                <a:lnTo>
                  <a:pt x="1639" y="7799"/>
                </a:lnTo>
                <a:lnTo>
                  <a:pt x="3304" y="3580"/>
                </a:lnTo>
                <a:lnTo>
                  <a:pt x="5386" y="12402"/>
                </a:lnTo>
                <a:lnTo>
                  <a:pt x="7271" y="15086"/>
                </a:lnTo>
                <a:lnTo>
                  <a:pt x="8665" y="2348"/>
                </a:lnTo>
                <a:lnTo>
                  <a:pt x="11079" y="21600"/>
                </a:lnTo>
                <a:lnTo>
                  <a:pt x="12813" y="19513"/>
                </a:lnTo>
                <a:lnTo>
                  <a:pt x="14267" y="8690"/>
                </a:lnTo>
                <a:lnTo>
                  <a:pt x="15972" y="5715"/>
                </a:lnTo>
                <a:lnTo>
                  <a:pt x="17590" y="0"/>
                </a:lnTo>
                <a:lnTo>
                  <a:pt x="19657" y="8378"/>
                </a:lnTo>
                <a:lnTo>
                  <a:pt x="21600" y="12851"/>
                </a:lnTo>
              </a:path>
            </a:pathLst>
          </a:custGeom>
          <a:ln w="20479">
            <a:solidFill>
              <a:srgbClr val="C65D4B"/>
            </a:solidFill>
            <a:prstDash val="dashDot"/>
          </a:ln>
        </p:spPr>
        <p:txBody>
          <a:bodyPr lIns="0" tIns="0" rIns="0" bIns="0"/>
          <a:lstStyle/>
          <a:p>
            <a:pPr>
              <a:defRPr>
                <a:latin typeface="Calibri"/>
                <a:ea typeface="Calibri"/>
                <a:cs typeface="Calibri"/>
                <a:sym typeface="Calibri"/>
              </a:defRPr>
            </a:pPr>
          </a:p>
        </p:txBody>
      </p:sp>
      <p:sp>
        <p:nvSpPr>
          <p:cNvPr id="676" name="Line"/>
          <p:cNvSpPr/>
          <p:nvPr/>
        </p:nvSpPr>
        <p:spPr>
          <a:xfrm>
            <a:off x="6106431" y="519317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7B6BA8"/>
            </a:solidFill>
          </a:ln>
        </p:spPr>
        <p:txBody>
          <a:bodyPr lIns="0" tIns="0" rIns="0" bIns="0"/>
          <a:lstStyle/>
          <a:p>
            <a:pPr>
              <a:defRPr>
                <a:latin typeface="Calibri"/>
                <a:ea typeface="Calibri"/>
                <a:cs typeface="Calibri"/>
                <a:sym typeface="Calibri"/>
              </a:defRPr>
            </a:pPr>
          </a:p>
        </p:txBody>
      </p:sp>
      <p:sp>
        <p:nvSpPr>
          <p:cNvPr id="677" name="Line"/>
          <p:cNvSpPr/>
          <p:nvPr/>
        </p:nvSpPr>
        <p:spPr>
          <a:xfrm>
            <a:off x="7448550" y="5230235"/>
            <a:ext cx="485777" cy="145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643"/>
                </a:moveTo>
                <a:lnTo>
                  <a:pt x="1588" y="5573"/>
                </a:lnTo>
                <a:lnTo>
                  <a:pt x="3545" y="10807"/>
                </a:lnTo>
                <a:lnTo>
                  <a:pt x="5125" y="3457"/>
                </a:lnTo>
                <a:lnTo>
                  <a:pt x="6983" y="5386"/>
                </a:lnTo>
                <a:lnTo>
                  <a:pt x="8772" y="5035"/>
                </a:lnTo>
                <a:lnTo>
                  <a:pt x="11068" y="21600"/>
                </a:lnTo>
                <a:lnTo>
                  <a:pt x="12822" y="20062"/>
                </a:lnTo>
                <a:lnTo>
                  <a:pt x="14129" y="3592"/>
                </a:lnTo>
                <a:lnTo>
                  <a:pt x="15821" y="0"/>
                </a:lnTo>
                <a:lnTo>
                  <a:pt x="18177" y="18559"/>
                </a:lnTo>
                <a:lnTo>
                  <a:pt x="19808" y="12902"/>
                </a:lnTo>
                <a:lnTo>
                  <a:pt x="21600" y="12643"/>
                </a:lnTo>
              </a:path>
            </a:pathLst>
          </a:custGeom>
          <a:ln w="20479">
            <a:solidFill>
              <a:srgbClr val="2A9D8F"/>
            </a:solidFill>
          </a:ln>
        </p:spPr>
        <p:txBody>
          <a:bodyPr lIns="0" tIns="0" rIns="0" bIns="0"/>
          <a:lstStyle/>
          <a:p>
            <a:pPr>
              <a:defRPr>
                <a:latin typeface="Calibri"/>
                <a:ea typeface="Calibri"/>
                <a:cs typeface="Calibri"/>
                <a:sym typeface="Calibri"/>
              </a:defRPr>
            </a:pPr>
          </a:p>
        </p:txBody>
      </p:sp>
      <p:sp>
        <p:nvSpPr>
          <p:cNvPr id="678" name="Line"/>
          <p:cNvSpPr/>
          <p:nvPr/>
        </p:nvSpPr>
        <p:spPr>
          <a:xfrm>
            <a:off x="7839981" y="5193176"/>
            <a:ext cx="94346" cy="911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10800"/>
                </a:lnTo>
                <a:lnTo>
                  <a:pt x="0" y="0"/>
                </a:lnTo>
              </a:path>
            </a:pathLst>
          </a:custGeom>
          <a:ln w="20479">
            <a:solidFill>
              <a:srgbClr val="C65D4B"/>
            </a:solidFill>
            <a:prstDash val="dashDot"/>
          </a:ln>
        </p:spPr>
        <p:txBody>
          <a:bodyPr lIns="0" tIns="0" rIns="0" bIns="0"/>
          <a:lstStyle/>
          <a:p>
            <a:pPr>
              <a:defRPr>
                <a:latin typeface="Calibri"/>
                <a:ea typeface="Calibri"/>
                <a:cs typeface="Calibri"/>
                <a:sym typeface="Calibri"/>
              </a:defRPr>
            </a:pPr>
          </a:p>
        </p:txBody>
      </p:sp>
      <p:sp>
        <p:nvSpPr>
          <p:cNvPr id="679" name="An MLP learns weighted connections that turn numeric inputs into predictions."/>
          <p:cNvSpPr txBox="1"/>
          <p:nvPr/>
        </p:nvSpPr>
        <p:spPr>
          <a:xfrm>
            <a:off x="638175" y="5895975"/>
            <a:ext cx="10906125" cy="2096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500">
                <a:solidFill>
                  <a:srgbClr val="62616A"/>
                </a:solidFill>
                <a:latin typeface="Arial"/>
                <a:ea typeface="Arial"/>
                <a:cs typeface="Arial"/>
                <a:sym typeface="Arial"/>
              </a:defRPr>
            </a:lvl1pPr>
          </a:lstStyle>
          <a:p>
            <a:pPr/>
            <a:r>
              <a:t>Prediction uses the learned parameters. Training updates them using examples with known labels.</a:t>
            </a:r>
          </a:p>
        </p:txBody>
      </p:sp>
      <p:sp>
        <p:nvSpPr>
          <p:cNvPr id="680" name="Line"/>
          <p:cNvSpPr/>
          <p:nvPr/>
        </p:nvSpPr>
        <p:spPr>
          <a:xfrm>
            <a:off x="628649" y="1562100"/>
            <a:ext cx="1619253" cy="0"/>
          </a:xfrm>
          <a:prstGeom prst="line">
            <a:avLst/>
          </a:prstGeom>
          <a:ln w="14288">
            <a:solidFill>
              <a:srgbClr val="C9AD7E"/>
            </a:solidFill>
          </a:ln>
        </p:spPr>
        <p:txBody>
          <a:bodyPr lIns="45718" tIns="45718" rIns="45718" bIns="45718"/>
          <a:lstStyle/>
          <a:p>
            <a:pPr/>
          </a:p>
        </p:txBody>
      </p:sp>
      <p:sp>
        <p:nvSpPr>
          <p:cNvPr id="681" name="Line"/>
          <p:cNvSpPr/>
          <p:nvPr/>
        </p:nvSpPr>
        <p:spPr>
          <a:xfrm>
            <a:off x="609600" y="6429375"/>
            <a:ext cx="10972801" cy="0"/>
          </a:xfrm>
          <a:prstGeom prst="line">
            <a:avLst/>
          </a:prstGeom>
          <a:ln w="7620">
            <a:solidFill>
              <a:srgbClr val="D9CDBB"/>
            </a:solidFill>
          </a:ln>
        </p:spPr>
        <p:txBody>
          <a:bodyPr lIns="45718" tIns="45718" rIns="45718" bIns="45718"/>
          <a:lstStyle/>
          <a:p>
            <a:pPr/>
          </a:p>
        </p:txBody>
      </p:sp>
      <p:sp>
        <p:nvSpPr>
          <p:cNvPr id="682" name="Fixed feature order"/>
          <p:cNvSpPr txBox="1"/>
          <p:nvPr/>
        </p:nvSpPr>
        <p:spPr>
          <a:xfrm>
            <a:off x="2752725" y="4457700"/>
            <a:ext cx="20574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62616A"/>
                </a:solidFill>
                <a:latin typeface="Arial"/>
                <a:ea typeface="Arial"/>
                <a:cs typeface="Arial"/>
                <a:sym typeface="Arial"/>
              </a:defRPr>
            </a:lvl1pPr>
          </a:lstStyle>
          <a:p>
            <a:pPr/>
            <a:r>
              <a:t>Fixed feature order</a:t>
            </a:r>
          </a:p>
        </p:txBody>
      </p:sp>
      <p:sp>
        <p:nvSpPr>
          <p:cNvPr id="683" name="Estimated probability"/>
          <p:cNvSpPr txBox="1"/>
          <p:nvPr/>
        </p:nvSpPr>
        <p:spPr>
          <a:xfrm>
            <a:off x="7334250" y="4457700"/>
            <a:ext cx="2047875"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62616A"/>
                </a:solidFill>
                <a:latin typeface="Arial"/>
                <a:ea typeface="Arial"/>
                <a:cs typeface="Arial"/>
                <a:sym typeface="Arial"/>
              </a:defRPr>
            </a:lvl1pPr>
          </a:lstStyle>
          <a:p>
            <a:pPr/>
            <a:r>
              <a:t>Estimated probability</a:t>
            </a:r>
          </a:p>
        </p:txBody>
      </p:sp>
      <p:sp>
        <p:nvSpPr>
          <p:cNvPr id="684" name="Threshold: p ≥ 0.5"/>
          <p:cNvSpPr txBox="1"/>
          <p:nvPr/>
        </p:nvSpPr>
        <p:spPr>
          <a:xfrm>
            <a:off x="9667875" y="4457700"/>
            <a:ext cx="1943100"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1400">
                <a:solidFill>
                  <a:srgbClr val="62616A"/>
                </a:solidFill>
                <a:latin typeface="Arial"/>
                <a:ea typeface="Arial"/>
                <a:cs typeface="Arial"/>
                <a:sym typeface="Arial"/>
              </a:defRPr>
            </a:lvl1pPr>
          </a:lstStyle>
          <a:p>
            <a:pPr/>
            <a:r>
              <a:t>Threshold: p ≥ 0.5</a:t>
            </a:r>
          </a:p>
        </p:txBody>
      </p:sp>
      <p:sp>
        <p:nvSpPr>
          <p:cNvPr id="685" name="Update w, b"/>
          <p:cNvSpPr txBox="1"/>
          <p:nvPr/>
        </p:nvSpPr>
        <p:spPr>
          <a:xfrm>
            <a:off x="10210800" y="5076825"/>
            <a:ext cx="1438275" cy="264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600">
                <a:solidFill>
                  <a:srgbClr val="238779"/>
                </a:solidFill>
                <a:latin typeface="Chalkboard"/>
                <a:ea typeface="Chalkboard"/>
                <a:cs typeface="Chalkboard"/>
                <a:sym typeface="Chalkboard"/>
              </a:defRPr>
            </a:lvl1pPr>
          </a:lstStyle>
          <a:p>
            <a:pPr/>
            <a:r>
              <a:t>Update w, b</a:t>
            </a:r>
          </a:p>
        </p:txBody>
      </p:sp>
      <p:sp>
        <p:nvSpPr>
          <p:cNvPr id="686" name="Line"/>
          <p:cNvSpPr/>
          <p:nvPr/>
        </p:nvSpPr>
        <p:spPr>
          <a:xfrm>
            <a:off x="9848850" y="5224462"/>
            <a:ext cx="247650" cy="1"/>
          </a:xfrm>
          <a:prstGeom prst="line">
            <a:avLst/>
          </a:prstGeom>
          <a:ln w="19050">
            <a:solidFill>
              <a:srgbClr val="238779"/>
            </a:solidFill>
            <a:tailEnd type="triangle"/>
          </a:ln>
        </p:spPr>
        <p:txBody>
          <a:bodyPr lIns="45718" tIns="45718" rIns="45718" bIns="45718"/>
          <a:lstStyle/>
          <a:p>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A7A7A7"/>
      </a:dk2>
      <a:lt2>
        <a:srgbClr val="535353"/>
      </a:lt2>
      <a:accent1>
        <a:srgbClr val="156082"/>
      </a:accent1>
      <a:accent2>
        <a:srgbClr val="E97132"/>
      </a:accent2>
      <a:accent3>
        <a:srgbClr val="196B24"/>
      </a:accent3>
      <a:accent4>
        <a:srgbClr val="0F9ED5"/>
      </a:accent4>
      <a:accent5>
        <a:srgbClr val="A02B93"/>
      </a:accent5>
      <a:accent6>
        <a:srgbClr val="4EA72E"/>
      </a:accent6>
      <a:hlink>
        <a:srgbClr val="0000FF"/>
      </a:hlink>
      <a:folHlink>
        <a:srgbClr val="FF00FF"/>
      </a:folHlink>
    </a:clrScheme>
    <a:fontScheme name="ChatGPT">
      <a:majorFont>
        <a:latin typeface="Helvetica Neue"/>
        <a:ea typeface="Helvetica Neue"/>
        <a:cs typeface="Helvetica Neue"/>
      </a:majorFont>
      <a:minorFont>
        <a:latin typeface="Helvetica"/>
        <a:ea typeface="Helvetica"/>
        <a:cs typeface="Helvetica"/>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