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1.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1D8"/>
          </a:solidFill>
        </a:fill>
      </a:tcStyle>
    </a:wholeTbl>
    <a:band2H>
      <a:tcTxStyle b="def" i="def"/>
      <a:tcStyle>
        <a:tcBdr/>
        <a:fill>
          <a:solidFill>
            <a:srgbClr val="E7E9EC"/>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3CB"/>
          </a:solidFill>
        </a:fill>
      </a:tcStyle>
    </a:wholeTbl>
    <a:band2H>
      <a:tcTxStyle b="def" i="def"/>
      <a:tcStyle>
        <a:tcBdr/>
        <a:fill>
          <a:solidFill>
            <a:srgbClr val="E7EA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E1CC"/>
          </a:solidFill>
        </a:fill>
      </a:tcStyle>
    </a:wholeTbl>
    <a:band2H>
      <a:tcTxStyle b="def" i="def"/>
      <a:tcStyle>
        <a:tcBdr/>
        <a:fill>
          <a:solidFill>
            <a:srgbClr val="E8F0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charts/_rels/chart1.xml.rels><?xml version="1.0" encoding="UTF-8"?>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1"/>
  <c:roundedCorners val="0"/>
  <c:chart>
    <c:title>
      <c:tx>
        <c:rich>
          <a:bodyPr rot="0"/>
          <a:lstStyle/>
          <a:p>
            <a:pPr>
              <a:defRPr b="0" i="0" strike="noStrike" sz="1000" u="none">
                <a:solidFill>
                  <a:srgbClr val="000000"/>
                </a:solidFill>
                <a:latin typeface="Calibri"/>
              </a:defRPr>
            </a:pPr>
            <a:r>
              <a:rPr b="0" i="0" strike="noStrike" sz="1000" u="none">
                <a:solidFill>
                  <a:srgbClr val="000000"/>
                </a:solidFill>
                <a:latin typeface="Calibri"/>
              </a:rPr>
              <a:t>Contribution to z</a:t>
            </a:r>
          </a:p>
        </c:rich>
      </c:tx>
      <c:layout>
        <c:manualLayout>
          <c:xMode val="edge"/>
          <c:yMode val="edge"/>
          <c:x val="0.422051"/>
          <c:y val="0"/>
          <c:w val="0.155899"/>
          <c:h val="0.0691383"/>
        </c:manualLayout>
      </c:layout>
      <c:overlay val="1"/>
      <c:spPr>
        <a:noFill/>
        <a:effectLst/>
      </c:spPr>
    </c:title>
    <c:autoTitleDeleted val="1"/>
    <c:plotArea>
      <c:layout>
        <c:manualLayout>
          <c:layoutTarget val="inner"/>
          <c:xMode val="edge"/>
          <c:yMode val="edge"/>
          <c:x val="0.0610783"/>
          <c:y val="0.0691383"/>
          <c:w val="0.933922"/>
          <c:h val="0.784176"/>
        </c:manualLayout>
      </c:layout>
      <c:barChart>
        <c:barDir val="col"/>
        <c:grouping val="clustered"/>
        <c:varyColors val="0"/>
        <c:ser>
          <c:idx val="0"/>
          <c:order val="0"/>
          <c:tx>
            <c:v>Contribution to z</c:v>
          </c:tx>
          <c:spPr>
            <a:solidFill>
              <a:srgbClr val="DFF4EA"/>
            </a:solidFill>
            <a:ln w="19050" cap="flat">
              <a:solidFill>
                <a:srgbClr val="2A9D8F"/>
              </a:solidFill>
              <a:prstDash val="solid"/>
              <a:round/>
            </a:ln>
            <a:effectLst/>
          </c:spPr>
          <c:invertIfNegative val="0"/>
          <c:dPt>
            <c:idx val="0"/>
            <c:spPr>
              <a:solidFill>
                <a:srgbClr val="DFF4EA"/>
              </a:solidFill>
              <a:ln w="19050" cap="flat">
                <a:solidFill>
                  <a:srgbClr val="2A9D8F"/>
                </a:solidFill>
                <a:prstDash val="solid"/>
                <a:round/>
              </a:ln>
              <a:effectLst/>
            </c:spPr>
          </c:dPt>
          <c:dPt>
            <c:idx val="1"/>
            <c:spPr>
              <a:solidFill>
                <a:srgbClr val="DCEAF7"/>
              </a:solidFill>
              <a:ln w="19050" cap="flat">
                <a:solidFill>
                  <a:srgbClr val="355070"/>
                </a:solidFill>
                <a:prstDash val="solid"/>
                <a:round/>
              </a:ln>
              <a:effectLst/>
            </c:spPr>
          </c:dPt>
          <c:dPt>
            <c:idx val="2"/>
            <c:spPr>
              <a:solidFill>
                <a:srgbClr val="FFF0C7"/>
              </a:solidFill>
              <a:ln w="19050" cap="flat">
                <a:solidFill>
                  <a:srgbClr val="B07A3F"/>
                </a:solidFill>
                <a:prstDash val="solid"/>
                <a:round/>
              </a:ln>
              <a:effectLst/>
            </c:spPr>
          </c:dPt>
          <c:dPt>
            <c:idx val="3"/>
            <c:spPr>
              <a:solidFill>
                <a:srgbClr val="ECE4F7"/>
              </a:solidFill>
              <a:ln w="19050" cap="flat">
                <a:solidFill>
                  <a:srgbClr val="7B6BA8"/>
                </a:solidFill>
                <a:prstDash val="solid"/>
                <a:round/>
              </a:ln>
              <a:effectLst/>
            </c:spPr>
          </c:dPt>
          <c:dPt>
            <c:idx val="4"/>
            <c:spPr>
              <a:solidFill>
                <a:srgbClr val="FADADD"/>
              </a:solidFill>
              <a:ln w="19050" cap="flat">
                <a:solidFill>
                  <a:srgbClr val="C65D4B"/>
                </a:solidFill>
                <a:prstDash val="solid"/>
                <a:round/>
              </a:ln>
              <a:effectLst/>
            </c:spPr>
          </c:dPt>
          <c:dLbls>
            <c:dLbl>
              <c:idx val="0"/>
              <c:numFmt formatCode="0.#" sourceLinked="0"/>
              <c:txPr>
                <a:bodyPr/>
                <a:lstStyle/>
                <a:p>
                  <a:pPr>
                    <a:defRPr b="1" i="0" strike="noStrike" sz="900" u="none">
                      <a:solidFill>
                        <a:srgbClr val="28282A"/>
                      </a:solidFill>
                      <a:latin typeface="Chalkboard"/>
                    </a:defRPr>
                  </a:pPr>
                </a:p>
              </c:txPr>
              <c:dLblPos val="outEnd"/>
              <c:showLegendKey val="0"/>
              <c:showVal val="1"/>
              <c:showCatName val="0"/>
              <c:showSerName val="0"/>
              <c:showPercent val="0"/>
              <c:showBubbleSize val="0"/>
            </c:dLbl>
            <c:dLbl>
              <c:idx val="1"/>
              <c:numFmt formatCode="0.#" sourceLinked="0"/>
              <c:txPr>
                <a:bodyPr/>
                <a:lstStyle/>
                <a:p>
                  <a:pPr>
                    <a:defRPr b="1" i="0" strike="noStrike" sz="900" u="none">
                      <a:solidFill>
                        <a:srgbClr val="28282A"/>
                      </a:solidFill>
                      <a:latin typeface="Chalkboard"/>
                    </a:defRPr>
                  </a:pPr>
                </a:p>
              </c:txPr>
              <c:dLblPos val="outEnd"/>
              <c:showLegendKey val="0"/>
              <c:showVal val="1"/>
              <c:showCatName val="0"/>
              <c:showSerName val="0"/>
              <c:showPercent val="0"/>
              <c:showBubbleSize val="0"/>
            </c:dLbl>
            <c:dLbl>
              <c:idx val="2"/>
              <c:numFmt formatCode="0.#" sourceLinked="0"/>
              <c:txPr>
                <a:bodyPr/>
                <a:lstStyle/>
                <a:p>
                  <a:pPr>
                    <a:defRPr b="1" i="0" strike="noStrike" sz="900" u="none">
                      <a:solidFill>
                        <a:srgbClr val="28282A"/>
                      </a:solidFill>
                      <a:latin typeface="Chalkboard"/>
                    </a:defRPr>
                  </a:pPr>
                </a:p>
              </c:txPr>
              <c:dLblPos val="outEnd"/>
              <c:showLegendKey val="0"/>
              <c:showVal val="1"/>
              <c:showCatName val="0"/>
              <c:showSerName val="0"/>
              <c:showPercent val="0"/>
              <c:showBubbleSize val="0"/>
            </c:dLbl>
            <c:dLbl>
              <c:idx val="3"/>
              <c:numFmt formatCode="0" sourceLinked="0"/>
              <c:txPr>
                <a:bodyPr/>
                <a:lstStyle/>
                <a:p>
                  <a:pPr>
                    <a:defRPr b="1" i="0" strike="noStrike" sz="900" u="none">
                      <a:solidFill>
                        <a:srgbClr val="28282A"/>
                      </a:solidFill>
                      <a:latin typeface="Chalkboard"/>
                    </a:defRPr>
                  </a:pPr>
                </a:p>
              </c:txPr>
              <c:dLblPos val="outEnd"/>
              <c:showLegendKey val="0"/>
              <c:showVal val="1"/>
              <c:showCatName val="0"/>
              <c:showSerName val="0"/>
              <c:showPercent val="0"/>
              <c:showBubbleSize val="0"/>
            </c:dLbl>
            <c:dLbl>
              <c:idx val="4"/>
              <c:numFmt formatCode="0.#" sourceLinked="0"/>
              <c:txPr>
                <a:bodyPr/>
                <a:lstStyle/>
                <a:p>
                  <a:pPr>
                    <a:defRPr b="1" i="0" strike="noStrike" sz="900" u="none">
                      <a:solidFill>
                        <a:srgbClr val="28282A"/>
                      </a:solidFill>
                      <a:latin typeface="Chalkboard"/>
                    </a:defRPr>
                  </a:pPr>
                </a:p>
              </c:txPr>
              <c:dLblPos val="outEnd"/>
              <c:showLegendKey val="0"/>
              <c:showVal val="1"/>
              <c:showCatName val="0"/>
              <c:showSerName val="0"/>
              <c:showPercent val="0"/>
              <c:showBubbleSize val="0"/>
            </c:dLbl>
            <c:numFmt formatCode="0.#" sourceLinked="0"/>
            <c:txPr>
              <a:bodyPr/>
              <a:lstStyle/>
              <a:p>
                <a:pPr>
                  <a:defRPr b="1" i="0" strike="noStrike" sz="900" u="none">
                    <a:solidFill>
                      <a:srgbClr val="28282A"/>
                    </a:solidFill>
                    <a:latin typeface="Chalkboard"/>
                  </a:defRPr>
                </a:pPr>
              </a:p>
            </c:txPr>
            <c:dLblPos val="outEnd"/>
            <c:showLegendKey val="0"/>
            <c:showVal val="1"/>
            <c:showCatName val="0"/>
            <c:showSerName val="0"/>
            <c:showPercent val="0"/>
            <c:showBubbleSize val="0"/>
            <c:showLeaderLines val="0"/>
          </c:dLbls>
          <c:cat>
            <c:strLit>
              <c:ptCount val="5"/>
              <c:pt idx="0">
                <c:v>w₁x₁</c:v>
              </c:pt>
              <c:pt idx="1">
                <c:v>w₂x₂</c:v>
              </c:pt>
              <c:pt idx="2">
                <c:v>w₃x₃</c:v>
              </c:pt>
              <c:pt idx="3">
                <c:v>w₄x₄</c:v>
              </c:pt>
              <c:pt idx="4">
                <c:v>bias</c:v>
              </c:pt>
            </c:strLit>
          </c:cat>
          <c:val>
            <c:numLit>
              <c:ptCount val="5"/>
              <c:pt idx="0">
                <c:v>1.500000</c:v>
              </c:pt>
              <c:pt idx="1">
                <c:v>0.300000</c:v>
              </c:pt>
              <c:pt idx="2">
                <c:v>0.800000</c:v>
              </c:pt>
              <c:pt idx="3">
                <c:v>0.000000</c:v>
              </c:pt>
              <c:pt idx="4">
                <c:v>-0.500000</c:v>
              </c:pt>
            </c:numLit>
          </c:val>
        </c:ser>
        <c:gapWidth val="65"/>
        <c:overlap val="0"/>
        <c:axId val="2094734552"/>
        <c:axId val="2094734553"/>
      </c:barChart>
      <c:catAx>
        <c:axId val="2094734552"/>
        <c:scaling>
          <c:orientation val="minMax"/>
        </c:scaling>
        <c:delete val="0"/>
        <c:axPos val="b"/>
        <c:numFmt formatCode="General" sourceLinked="0"/>
        <c:majorTickMark val="none"/>
        <c:minorTickMark val="none"/>
        <c:tickLblPos val="low"/>
        <c:spPr>
          <a:ln w="9525" cap="flat">
            <a:solidFill>
              <a:srgbClr val="E0D5C5"/>
            </a:solidFill>
            <a:prstDash val="solid"/>
            <a:round/>
          </a:ln>
        </c:spPr>
        <c:txPr>
          <a:bodyPr rot="0"/>
          <a:lstStyle/>
          <a:p>
            <a:pPr>
              <a:defRPr b="0" i="0" strike="noStrike" sz="900" u="none">
                <a:solidFill>
                  <a:srgbClr val="424548"/>
                </a:solidFill>
                <a:latin typeface="Chalkboard"/>
              </a:defRPr>
            </a:pPr>
          </a:p>
        </c:txPr>
        <c:crossAx val="2094734553"/>
        <c:crosses val="autoZero"/>
        <c:auto val="1"/>
        <c:lblAlgn val="ctr"/>
        <c:noMultiLvlLbl val="1"/>
      </c:catAx>
      <c:valAx>
        <c:axId val="2094734553"/>
        <c:scaling>
          <c:orientation val="minMax"/>
          <c:max val="2"/>
          <c:min val="-0.5"/>
        </c:scaling>
        <c:delete val="0"/>
        <c:axPos val="l"/>
        <c:majorGridlines>
          <c:spPr>
            <a:ln w="12700" cap="flat">
              <a:solidFill>
                <a:srgbClr val="E0D5C5"/>
              </a:solidFill>
              <a:prstDash val="dot"/>
              <a:round/>
            </a:ln>
          </c:spPr>
        </c:majorGridlines>
        <c:numFmt formatCode="0.#" sourceLinked="0"/>
        <c:majorTickMark val="none"/>
        <c:minorTickMark val="none"/>
        <c:tickLblPos val="nextTo"/>
        <c:spPr>
          <a:ln w="9525" cap="flat">
            <a:solidFill>
              <a:srgbClr val="E0D5C5"/>
            </a:solidFill>
            <a:prstDash val="solid"/>
            <a:round/>
          </a:ln>
        </c:spPr>
        <c:txPr>
          <a:bodyPr rot="0"/>
          <a:lstStyle/>
          <a:p>
            <a:pPr>
              <a:defRPr b="0" i="0" strike="noStrike" sz="800" u="none">
                <a:solidFill>
                  <a:srgbClr val="62616A"/>
                </a:solidFill>
                <a:latin typeface="Chalkboard"/>
              </a:defRPr>
            </a:pPr>
          </a:p>
        </c:txPr>
        <c:crossAx val="2094734552"/>
        <c:crosses val="min"/>
        <c:crossBetween val="between"/>
        <c:majorUnit val="0.625"/>
        <c:minorUnit val="0.3125"/>
      </c:valAx>
      <c:spPr>
        <a:solidFill>
          <a:srgbClr val="FCFBF8"/>
        </a:solidFill>
        <a:ln w="9525" cap="flat">
          <a:solidFill>
            <a:srgbClr val="E0D5C5"/>
          </a:solidFill>
          <a:prstDash val="solid"/>
          <a:round/>
        </a:ln>
        <a:effectLst/>
      </c:spPr>
    </c:plotArea>
    <c:plotVisOnly val="1"/>
    <c:dispBlanksAs val="gap"/>
  </c:chart>
  <c:spPr>
    <a:solidFill>
      <a:srgbClr val="FCFBF8"/>
    </a:solidFill>
    <a:ln w="12700" cap="flat">
      <a:solidFill>
        <a:srgbClr val="E0D5C5"/>
      </a:solidFill>
      <a:prstDash val="solid"/>
      <a:round/>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1"/>
  <c:roundedCorners val="0"/>
  <c:chart>
    <c:autoTitleDeleted val="1"/>
    <c:plotArea>
      <c:layout>
        <c:manualLayout>
          <c:layoutTarget val="inner"/>
          <c:xMode val="edge"/>
          <c:yMode val="edge"/>
          <c:x val="0.0645263"/>
          <c:y val="0.0396526"/>
          <c:w val="0.927569"/>
          <c:h val="0.89446"/>
        </c:manualLayout>
      </c:layout>
      <c:scatterChart>
        <c:scatterStyle val="lineMarker"/>
        <c:varyColors val="0"/>
        <c:ser>
          <c:idx val="0"/>
          <c:order val="0"/>
          <c:tx>
            <c:strRef>
              <c:f>Sheet1!$B$1</c:f>
              <c:strCache>
                <c:ptCount val="1"/>
                <c:pt idx="0">
                  <c:v>Sigmoid</c:v>
                </c:pt>
              </c:strCache>
            </c:strRef>
          </c:tx>
          <c:spPr>
            <a:noFill/>
            <a:ln w="28575" cap="flat">
              <a:solidFill>
                <a:srgbClr val="7B6BA8"/>
              </a:solidFill>
              <a:prstDash val="solid"/>
              <a:round/>
            </a:ln>
            <a:effectLst/>
          </c:spPr>
          <c:marker>
            <c:symbol val="none"/>
            <c:size val="4"/>
            <c:spPr>
              <a:noFill/>
              <a:ln w="28575" cap="flat">
                <a:solidFill>
                  <a:srgbClr val="7B6BA8"/>
                </a:solidFill>
                <a:prstDash val="solid"/>
                <a:round/>
              </a:ln>
              <a:effectLst/>
            </c:spPr>
          </c:marker>
          <c:dLbls>
            <c:numFmt formatCode="#,##0" sourceLinked="0"/>
            <c:txPr>
              <a:bodyPr/>
              <a:lstStyle/>
              <a:p>
                <a:pPr>
                  <a:defRPr b="0" i="0" strike="noStrike" sz="1000" u="none">
                    <a:solidFill>
                      <a:srgbClr val="000000"/>
                    </a:solidFill>
                    <a:latin typeface="Calibri"/>
                  </a:defRPr>
                </a:pPr>
              </a:p>
            </c:txPr>
            <c:dLblPos val="t"/>
            <c:showLegendKey val="0"/>
            <c:showVal val="0"/>
            <c:showCatName val="0"/>
            <c:showSerName val="0"/>
            <c:showPercent val="0"/>
            <c:showBubbleSize val="0"/>
            <c:showLeaderLines val="0"/>
          </c:dLbls>
          <c:xVal>
            <c:numRef>
              <c:f>Sheet1!$B$2:$B$62</c:f>
              <c:numCache>
                <c:ptCount val="61"/>
                <c:pt idx="0">
                  <c:v>-6.000000</c:v>
                </c:pt>
                <c:pt idx="1">
                  <c:v>-5.800000</c:v>
                </c:pt>
                <c:pt idx="2">
                  <c:v>-5.600000</c:v>
                </c:pt>
                <c:pt idx="3">
                  <c:v>-5.400000</c:v>
                </c:pt>
                <c:pt idx="4">
                  <c:v>-5.200000</c:v>
                </c:pt>
                <c:pt idx="5">
                  <c:v>-5.000000</c:v>
                </c:pt>
                <c:pt idx="6">
                  <c:v>-4.800000</c:v>
                </c:pt>
                <c:pt idx="7">
                  <c:v>-4.600000</c:v>
                </c:pt>
                <c:pt idx="8">
                  <c:v>-4.400000</c:v>
                </c:pt>
                <c:pt idx="9">
                  <c:v>-4.200000</c:v>
                </c:pt>
                <c:pt idx="10">
                  <c:v>-4.000000</c:v>
                </c:pt>
                <c:pt idx="11">
                  <c:v>-3.800000</c:v>
                </c:pt>
                <c:pt idx="12">
                  <c:v>-3.600000</c:v>
                </c:pt>
                <c:pt idx="13">
                  <c:v>-3.400000</c:v>
                </c:pt>
                <c:pt idx="14">
                  <c:v>-3.200000</c:v>
                </c:pt>
                <c:pt idx="15">
                  <c:v>-3.000000</c:v>
                </c:pt>
                <c:pt idx="16">
                  <c:v>-2.800000</c:v>
                </c:pt>
                <c:pt idx="17">
                  <c:v>-2.600000</c:v>
                </c:pt>
                <c:pt idx="18">
                  <c:v>-2.400000</c:v>
                </c:pt>
                <c:pt idx="19">
                  <c:v>-2.200000</c:v>
                </c:pt>
                <c:pt idx="20">
                  <c:v>-2.000000</c:v>
                </c:pt>
                <c:pt idx="21">
                  <c:v>-1.800000</c:v>
                </c:pt>
                <c:pt idx="22">
                  <c:v>-1.600000</c:v>
                </c:pt>
                <c:pt idx="23">
                  <c:v>-1.400000</c:v>
                </c:pt>
                <c:pt idx="24">
                  <c:v>-1.200000</c:v>
                </c:pt>
                <c:pt idx="25">
                  <c:v>-1.000000</c:v>
                </c:pt>
                <c:pt idx="26">
                  <c:v>-0.800000</c:v>
                </c:pt>
                <c:pt idx="27">
                  <c:v>-0.600000</c:v>
                </c:pt>
                <c:pt idx="28">
                  <c:v>-0.400000</c:v>
                </c:pt>
                <c:pt idx="29">
                  <c:v>-0.200000</c:v>
                </c:pt>
                <c:pt idx="30">
                  <c:v>0.000000</c:v>
                </c:pt>
                <c:pt idx="31">
                  <c:v>0.200000</c:v>
                </c:pt>
                <c:pt idx="32">
                  <c:v>0.400000</c:v>
                </c:pt>
                <c:pt idx="33">
                  <c:v>0.600000</c:v>
                </c:pt>
                <c:pt idx="34">
                  <c:v>0.800000</c:v>
                </c:pt>
                <c:pt idx="35">
                  <c:v>1.000000</c:v>
                </c:pt>
                <c:pt idx="36">
                  <c:v>1.200000</c:v>
                </c:pt>
                <c:pt idx="37">
                  <c:v>1.400000</c:v>
                </c:pt>
                <c:pt idx="38">
                  <c:v>1.600000</c:v>
                </c:pt>
                <c:pt idx="39">
                  <c:v>1.800000</c:v>
                </c:pt>
                <c:pt idx="40">
                  <c:v>2.000000</c:v>
                </c:pt>
                <c:pt idx="41">
                  <c:v>2.200000</c:v>
                </c:pt>
                <c:pt idx="42">
                  <c:v>2.400000</c:v>
                </c:pt>
                <c:pt idx="43">
                  <c:v>2.600000</c:v>
                </c:pt>
                <c:pt idx="44">
                  <c:v>2.800000</c:v>
                </c:pt>
                <c:pt idx="45">
                  <c:v>3.000000</c:v>
                </c:pt>
                <c:pt idx="46">
                  <c:v>3.200000</c:v>
                </c:pt>
                <c:pt idx="47">
                  <c:v>3.400000</c:v>
                </c:pt>
                <c:pt idx="48">
                  <c:v>3.600000</c:v>
                </c:pt>
                <c:pt idx="49">
                  <c:v>3.800000</c:v>
                </c:pt>
                <c:pt idx="50">
                  <c:v>4.000000</c:v>
                </c:pt>
                <c:pt idx="51">
                  <c:v>4.200000</c:v>
                </c:pt>
                <c:pt idx="52">
                  <c:v>4.400000</c:v>
                </c:pt>
                <c:pt idx="53">
                  <c:v>4.600000</c:v>
                </c:pt>
                <c:pt idx="54">
                  <c:v>4.800000</c:v>
                </c:pt>
                <c:pt idx="55">
                  <c:v>5.000000</c:v>
                </c:pt>
                <c:pt idx="56">
                  <c:v>5.200000</c:v>
                </c:pt>
                <c:pt idx="57">
                  <c:v>5.400000</c:v>
                </c:pt>
                <c:pt idx="58">
                  <c:v>5.600000</c:v>
                </c:pt>
                <c:pt idx="59">
                  <c:v>5.800000</c:v>
                </c:pt>
                <c:pt idx="60">
                  <c:v>6.000000</c:v>
                </c:pt>
              </c:numCache>
            </c:numRef>
          </c:xVal>
          <c:yVal>
            <c:numRef>
              <c:f>Sheet1!$C$2:$C$62</c:f>
              <c:numCache>
                <c:ptCount val="61"/>
                <c:pt idx="0">
                  <c:v>0.002473</c:v>
                </c:pt>
                <c:pt idx="1">
                  <c:v>0.003018</c:v>
                </c:pt>
                <c:pt idx="2">
                  <c:v>0.003684</c:v>
                </c:pt>
                <c:pt idx="3">
                  <c:v>0.004496</c:v>
                </c:pt>
                <c:pt idx="4">
                  <c:v>0.005486</c:v>
                </c:pt>
                <c:pt idx="5">
                  <c:v>0.006693</c:v>
                </c:pt>
                <c:pt idx="6">
                  <c:v>0.008163</c:v>
                </c:pt>
                <c:pt idx="7">
                  <c:v>0.009952</c:v>
                </c:pt>
                <c:pt idx="8">
                  <c:v>0.012128</c:v>
                </c:pt>
                <c:pt idx="9">
                  <c:v>0.014774</c:v>
                </c:pt>
                <c:pt idx="10">
                  <c:v>0.017986</c:v>
                </c:pt>
                <c:pt idx="11">
                  <c:v>0.021881</c:v>
                </c:pt>
                <c:pt idx="12">
                  <c:v>0.026597</c:v>
                </c:pt>
                <c:pt idx="13">
                  <c:v>0.032295</c:v>
                </c:pt>
                <c:pt idx="14">
                  <c:v>0.039166</c:v>
                </c:pt>
                <c:pt idx="15">
                  <c:v>0.047426</c:v>
                </c:pt>
                <c:pt idx="16">
                  <c:v>0.057324</c:v>
                </c:pt>
                <c:pt idx="17">
                  <c:v>0.069138</c:v>
                </c:pt>
                <c:pt idx="18">
                  <c:v>0.083173</c:v>
                </c:pt>
                <c:pt idx="19">
                  <c:v>0.099750</c:v>
                </c:pt>
                <c:pt idx="20">
                  <c:v>0.119203</c:v>
                </c:pt>
                <c:pt idx="21">
                  <c:v>0.141851</c:v>
                </c:pt>
                <c:pt idx="22">
                  <c:v>0.167982</c:v>
                </c:pt>
                <c:pt idx="23">
                  <c:v>0.197816</c:v>
                </c:pt>
                <c:pt idx="24">
                  <c:v>0.231475</c:v>
                </c:pt>
                <c:pt idx="25">
                  <c:v>0.268941</c:v>
                </c:pt>
                <c:pt idx="26">
                  <c:v>0.310026</c:v>
                </c:pt>
                <c:pt idx="27">
                  <c:v>0.354344</c:v>
                </c:pt>
                <c:pt idx="28">
                  <c:v>0.401312</c:v>
                </c:pt>
                <c:pt idx="29">
                  <c:v>0.450166</c:v>
                </c:pt>
                <c:pt idx="30">
                  <c:v>0.500000</c:v>
                </c:pt>
                <c:pt idx="31">
                  <c:v>0.549834</c:v>
                </c:pt>
                <c:pt idx="32">
                  <c:v>0.598688</c:v>
                </c:pt>
                <c:pt idx="33">
                  <c:v>0.645656</c:v>
                </c:pt>
                <c:pt idx="34">
                  <c:v>0.689974</c:v>
                </c:pt>
                <c:pt idx="35">
                  <c:v>0.731059</c:v>
                </c:pt>
                <c:pt idx="36">
                  <c:v>0.768525</c:v>
                </c:pt>
                <c:pt idx="37">
                  <c:v>0.802184</c:v>
                </c:pt>
                <c:pt idx="38">
                  <c:v>0.832018</c:v>
                </c:pt>
                <c:pt idx="39">
                  <c:v>0.858149</c:v>
                </c:pt>
                <c:pt idx="40">
                  <c:v>0.880797</c:v>
                </c:pt>
                <c:pt idx="41">
                  <c:v>0.900250</c:v>
                </c:pt>
                <c:pt idx="42">
                  <c:v>0.916827</c:v>
                </c:pt>
                <c:pt idx="43">
                  <c:v>0.930862</c:v>
                </c:pt>
                <c:pt idx="44">
                  <c:v>0.942676</c:v>
                </c:pt>
                <c:pt idx="45">
                  <c:v>0.952574</c:v>
                </c:pt>
                <c:pt idx="46">
                  <c:v>0.960834</c:v>
                </c:pt>
                <c:pt idx="47">
                  <c:v>0.967705</c:v>
                </c:pt>
                <c:pt idx="48">
                  <c:v>0.973403</c:v>
                </c:pt>
                <c:pt idx="49">
                  <c:v>0.978119</c:v>
                </c:pt>
                <c:pt idx="50">
                  <c:v>0.982014</c:v>
                </c:pt>
                <c:pt idx="51">
                  <c:v>0.985226</c:v>
                </c:pt>
                <c:pt idx="52">
                  <c:v>0.987872</c:v>
                </c:pt>
                <c:pt idx="53">
                  <c:v>0.990048</c:v>
                </c:pt>
                <c:pt idx="54">
                  <c:v>0.991837</c:v>
                </c:pt>
                <c:pt idx="55">
                  <c:v>0.993307</c:v>
                </c:pt>
                <c:pt idx="56">
                  <c:v>0.994514</c:v>
                </c:pt>
                <c:pt idx="57">
                  <c:v>0.995504</c:v>
                </c:pt>
                <c:pt idx="58">
                  <c:v>0.996316</c:v>
                </c:pt>
                <c:pt idx="59">
                  <c:v>0.996982</c:v>
                </c:pt>
                <c:pt idx="60">
                  <c:v>0.997527</c:v>
                </c:pt>
              </c:numCache>
            </c:numRef>
          </c:yVal>
          <c:smooth val="0"/>
        </c:ser>
        <c:ser>
          <c:idx val="1"/>
          <c:order val="1"/>
          <c:tx>
            <c:strRef>
              <c:f>Sheet1!$C$1</c:f>
              <c:strCache>
                <c:ptCount val="1"/>
                <c:pt idx="0">
                  <c:v>p = 0.94</c:v>
                </c:pt>
              </c:strCache>
            </c:strRef>
          </c:tx>
          <c:spPr>
            <a:solidFill>
              <a:srgbClr val="B07A3F"/>
            </a:solidFill>
            <a:ln w="19050" cap="flat">
              <a:solidFill>
                <a:srgbClr val="B07A3F"/>
              </a:solidFill>
              <a:prstDash val="solid"/>
              <a:round/>
            </a:ln>
            <a:effectLst/>
          </c:spPr>
          <c:marker>
            <c:symbol val="circle"/>
            <c:size val="7"/>
            <c:spPr>
              <a:solidFill>
                <a:srgbClr val="B07A3F"/>
              </a:solidFill>
              <a:ln w="12700" cap="flat">
                <a:solidFill>
                  <a:schemeClr val="accent2"/>
                </a:solidFill>
                <a:prstDash val="solid"/>
                <a:round/>
              </a:ln>
              <a:effectLst/>
            </c:spPr>
          </c:marker>
          <c:dLbls>
            <c:numFmt formatCode="#,##0" sourceLinked="0"/>
            <c:txPr>
              <a:bodyPr/>
              <a:lstStyle/>
              <a:p>
                <a:pPr>
                  <a:defRPr b="0" i="0" strike="noStrike" sz="1000" u="none">
                    <a:solidFill>
                      <a:srgbClr val="000000"/>
                    </a:solidFill>
                    <a:latin typeface="Calibri"/>
                  </a:defRPr>
                </a:pPr>
              </a:p>
            </c:txPr>
            <c:dLblPos val="t"/>
            <c:showLegendKey val="0"/>
            <c:showVal val="0"/>
            <c:showCatName val="0"/>
            <c:showSerName val="0"/>
            <c:showPercent val="0"/>
            <c:showBubbleSize val="0"/>
            <c:showLeaderLines val="0"/>
          </c:dLbls>
          <c:xVal>
            <c:numRef>
              <c:f>Sheet1!$D$2:$D$62</c:f>
              <c:numCache>
                <c:ptCount val="1"/>
                <c:pt idx="0">
                  <c:v>2.750000</c:v>
                </c:pt>
              </c:numCache>
            </c:numRef>
          </c:xVal>
          <c:yVal>
            <c:numRef>
              <c:f>Sheet1!$E$2:$E$62</c:f>
              <c:numCache>
                <c:ptCount val="1"/>
                <c:pt idx="0">
                  <c:v>0.940000</c:v>
                </c:pt>
              </c:numCache>
            </c:numRef>
          </c:yVal>
          <c:smooth val="0"/>
        </c:ser>
        <c:axId val="2094734552"/>
        <c:axId val="2094734553"/>
      </c:scatterChart>
      <c:valAx>
        <c:axId val="2094734552"/>
        <c:scaling>
          <c:orientation val="minMax"/>
          <c:max val="6"/>
          <c:min val="-6"/>
        </c:scaling>
        <c:delete val="0"/>
        <c:axPos val="b"/>
        <c:numFmt formatCode="0.##" sourceLinked="0"/>
        <c:majorTickMark val="none"/>
        <c:minorTickMark val="none"/>
        <c:tickLblPos val="nextTo"/>
        <c:spPr>
          <a:ln w="9525" cap="flat">
            <a:solidFill>
              <a:srgbClr val="E0D5C5"/>
            </a:solidFill>
            <a:prstDash val="solid"/>
            <a:round/>
          </a:ln>
        </c:spPr>
        <c:txPr>
          <a:bodyPr rot="0"/>
          <a:lstStyle/>
          <a:p>
            <a:pPr>
              <a:defRPr b="0" i="0" strike="noStrike" sz="800" u="none">
                <a:solidFill>
                  <a:srgbClr val="62616A"/>
                </a:solidFill>
                <a:latin typeface="Chalkboard"/>
              </a:defRPr>
            </a:pPr>
          </a:p>
        </c:txPr>
        <c:crossAx val="2094734553"/>
        <c:crosses val="min"/>
        <c:crossBetween val="between"/>
        <c:majorUnit val="4"/>
        <c:minorUnit val="2"/>
      </c:valAx>
      <c:valAx>
        <c:axId val="2094734553"/>
        <c:scaling>
          <c:orientation val="minMax"/>
          <c:max val="1"/>
          <c:min val="0"/>
        </c:scaling>
        <c:delete val="0"/>
        <c:axPos val="l"/>
        <c:majorGridlines>
          <c:spPr>
            <a:ln w="12700" cap="flat">
              <a:solidFill>
                <a:srgbClr val="E0D5C5"/>
              </a:solidFill>
              <a:prstDash val="dot"/>
              <a:round/>
            </a:ln>
          </c:spPr>
        </c:majorGridlines>
        <c:numFmt formatCode="0.0" sourceLinked="0"/>
        <c:majorTickMark val="none"/>
        <c:minorTickMark val="none"/>
        <c:tickLblPos val="nextTo"/>
        <c:spPr>
          <a:ln w="9525" cap="flat">
            <a:solidFill>
              <a:srgbClr val="E0D5C5"/>
            </a:solidFill>
            <a:prstDash val="solid"/>
            <a:round/>
          </a:ln>
        </c:spPr>
        <c:txPr>
          <a:bodyPr rot="0"/>
          <a:lstStyle/>
          <a:p>
            <a:pPr>
              <a:defRPr b="0" i="0" strike="noStrike" sz="800" u="none">
                <a:solidFill>
                  <a:srgbClr val="62616A"/>
                </a:solidFill>
                <a:latin typeface="Chalkboard"/>
              </a:defRPr>
            </a:pPr>
          </a:p>
        </c:txPr>
        <c:crossAx val="2094734552"/>
        <c:crosses val="autoZero"/>
        <c:crossBetween val="between"/>
        <c:majorUnit val="0.2"/>
        <c:minorUnit val="0.1"/>
      </c:valAx>
      <c:spPr>
        <a:solidFill>
          <a:srgbClr val="FCFBF8"/>
        </a:solidFill>
        <a:ln w="9525" cap="flat">
          <a:solidFill>
            <a:srgbClr val="E0D5C5"/>
          </a:solidFill>
          <a:prstDash val="solid"/>
          <a:round/>
        </a:ln>
        <a:effectLst/>
      </c:spPr>
    </c:plotArea>
    <c:plotVisOnly val="1"/>
    <c:dispBlanksAs val="gap"/>
  </c:chart>
  <c:spPr>
    <a:solidFill>
      <a:srgbClr val="FCFBF8"/>
    </a:solidFill>
    <a:ln w="12700" cap="flat">
      <a:solidFill>
        <a:srgbClr val="E0D5C5"/>
      </a:solidFill>
      <a:prstDash val="solid"/>
      <a:round/>
    </a:ln>
    <a:effectLst/>
  </c:spPr>
  <c:externalData r:id="rId1">
    <c:autoUpdate val="0"/>
  </c:externalData>
</c:chartSpace>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Helvetica Neue"/>
      </a:defRPr>
    </a:lvl1pPr>
    <a:lvl2pPr indent="228600" latinLnBrk="0">
      <a:defRPr sz="1200">
        <a:latin typeface="+mn-lt"/>
        <a:ea typeface="+mn-ea"/>
        <a:cs typeface="+mn-cs"/>
        <a:sym typeface="Helvetica Neue"/>
      </a:defRPr>
    </a:lvl2pPr>
    <a:lvl3pPr indent="457200" latinLnBrk="0">
      <a:defRPr sz="1200">
        <a:latin typeface="+mn-lt"/>
        <a:ea typeface="+mn-ea"/>
        <a:cs typeface="+mn-cs"/>
        <a:sym typeface="Helvetica Neue"/>
      </a:defRPr>
    </a:lvl3pPr>
    <a:lvl4pPr indent="685800" latinLnBrk="0">
      <a:defRPr sz="1200">
        <a:latin typeface="+mn-lt"/>
        <a:ea typeface="+mn-ea"/>
        <a:cs typeface="+mn-cs"/>
        <a:sym typeface="Helvetica Neue"/>
      </a:defRPr>
    </a:lvl4pPr>
    <a:lvl5pPr indent="914400" latinLnBrk="0">
      <a:defRPr sz="1200">
        <a:latin typeface="+mn-lt"/>
        <a:ea typeface="+mn-ea"/>
        <a:cs typeface="+mn-cs"/>
        <a:sym typeface="Helvetica Neue"/>
      </a:defRPr>
    </a:lvl5pPr>
    <a:lvl6pPr indent="1143000" latinLnBrk="0">
      <a:defRPr sz="1200">
        <a:latin typeface="+mn-lt"/>
        <a:ea typeface="+mn-ea"/>
        <a:cs typeface="+mn-cs"/>
        <a:sym typeface="Helvetica Neue"/>
      </a:defRPr>
    </a:lvl6pPr>
    <a:lvl7pPr indent="1371600" latinLnBrk="0">
      <a:defRPr sz="1200">
        <a:latin typeface="+mn-lt"/>
        <a:ea typeface="+mn-ea"/>
        <a:cs typeface="+mn-cs"/>
        <a:sym typeface="Helvetica Neue"/>
      </a:defRPr>
    </a:lvl7pPr>
    <a:lvl8pPr indent="1600200" latinLnBrk="0">
      <a:defRPr sz="1200">
        <a:latin typeface="+mn-lt"/>
        <a:ea typeface="+mn-ea"/>
        <a:cs typeface="+mn-cs"/>
        <a:sym typeface="Helvetica Neue"/>
      </a:defRPr>
    </a:lvl8pPr>
    <a:lvl9pPr indent="1828800" latinLnBrk="0">
      <a:defRPr sz="1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 name="Shape 21"/>
          <p:cNvSpPr/>
          <p:nvPr>
            <p:ph type="sldImg"/>
          </p:nvPr>
        </p:nvSpPr>
        <p:spPr>
          <a:prstGeom prst="rect">
            <a:avLst/>
          </a:prstGeom>
        </p:spPr>
        <p:txBody>
          <a:bodyPr/>
          <a:lstStyle/>
          <a:p>
            <a:pPr/>
          </a:p>
        </p:txBody>
      </p:sp>
      <p:sp>
        <p:nvSpPr>
          <p:cNvPr id="22" name="Shape 22"/>
          <p:cNvSpPr/>
          <p:nvPr>
            <p:ph type="body" sz="quarter" idx="1"/>
          </p:nvPr>
        </p:nvSpPr>
        <p:spPr>
          <a:prstGeom prst="rect">
            <a:avLst/>
          </a:prstGeom>
        </p:spPr>
        <p:txBody>
          <a:bodyPr/>
          <a:lstStyle/>
          <a:p>
            <a:pPr/>
            <a:r>
              <a:t>Introduction to neural networks and multilayer perceptrons, followed by a worked spam classification example.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 name="Shape 47"/>
          <p:cNvSpPr/>
          <p:nvPr>
            <p:ph type="sldImg"/>
          </p:nvPr>
        </p:nvSpPr>
        <p:spPr>
          <a:prstGeom prst="rect">
            <a:avLst/>
          </a:prstGeom>
        </p:spPr>
        <p:txBody>
          <a:bodyPr/>
          <a:lstStyle/>
          <a:p>
            <a:pPr/>
          </a:p>
        </p:txBody>
      </p:sp>
      <p:sp>
        <p:nvSpPr>
          <p:cNvPr id="48" name="Shape 48"/>
          <p:cNvSpPr/>
          <p:nvPr>
            <p:ph type="body" sz="quarter" idx="1"/>
          </p:nvPr>
        </p:nvSpPr>
        <p:spPr>
          <a:prstGeom prst="rect">
            <a:avLst/>
          </a:prstGeom>
        </p:spPr>
        <p:txBody>
          <a:bodyPr/>
          <a:lstStyle/>
          <a:p>
            <a:pPr/>
            <a:r>
              <a:t>This presentation first introduces neural network fundamentals, then uses spam classification to explain how an MLP processes features, produces a probability, makes a decision, and learns from labeled examples.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 name="Shape 99"/>
          <p:cNvSpPr/>
          <p:nvPr>
            <p:ph type="sldImg"/>
          </p:nvPr>
        </p:nvSpPr>
        <p:spPr>
          <a:prstGeom prst="rect">
            <a:avLst/>
          </a:prstGeom>
        </p:spPr>
        <p:txBody>
          <a:bodyPr/>
          <a:lstStyle/>
          <a:p>
            <a:pPr/>
          </a:p>
        </p:txBody>
      </p:sp>
      <p:sp>
        <p:nvSpPr>
          <p:cNvPr id="100" name="Shape 100"/>
          <p:cNvSpPr/>
          <p:nvPr>
            <p:ph type="body" sz="quarter" idx="1"/>
          </p:nvPr>
        </p:nvSpPr>
        <p:spPr>
          <a:prstGeom prst="rect">
            <a:avLst/>
          </a:prstGeom>
        </p:spPr>
        <p:txBody>
          <a:bodyPr/>
          <a:lstStyle/>
          <a:p>
            <a:pPr/>
            <a:r>
              <a:t>An MLP (multilayer perceptron) maps numeric inputs to predictions. Connections carry neuron outputs and weights scale their contributions. Biases belong to receiving neurons and shift the activation input, acting as a learnable threshold offset. The inset uses ReLU as an example with a threshold at zero; activation functions need not have a hard threshold. Forward propagation computes weighted sums plus bias and applies activations across layers. During training, a learning rule uses prediction error to update weights and biases over repeated examples.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r>
              <a:t>Conceptual cover illustration generated with built-in ImageGen. The illustrative network in the cover is not the exact 4–3–2–1 architecture taught in the following slides.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Shape 177"/>
          <p:cNvSpPr/>
          <p:nvPr>
            <p:ph type="sldImg"/>
          </p:nvPr>
        </p:nvSpPr>
        <p:spPr>
          <a:prstGeom prst="rect">
            <a:avLst/>
          </a:prstGeom>
        </p:spPr>
        <p:txBody>
          <a:bodyPr/>
          <a:lstStyle/>
          <a:p>
            <a:pPr/>
          </a:p>
        </p:txBody>
      </p:sp>
      <p:sp>
        <p:nvSpPr>
          <p:cNvPr id="178" name="Shape 178"/>
          <p:cNvSpPr/>
          <p:nvPr>
            <p:ph type="body" sz="quarter" idx="1"/>
          </p:nvPr>
        </p:nvSpPr>
        <p:spPr>
          <a:prstGeom prst="rect">
            <a:avLst/>
          </a:prstGeom>
        </p:spPr>
        <p:txBody>
          <a:bodyPr/>
          <a:lstStyle/>
          <a:p>
            <a:pPr/>
            <a:r>
              <a:t>Four handcrafted binary features are used for teaching. A link is marked suspicious for this example; these toy feature rules are not general spam-detection guarantees.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Shape 205"/>
          <p:cNvSpPr/>
          <p:nvPr>
            <p:ph type="sldImg"/>
          </p:nvPr>
        </p:nvSpPr>
        <p:spPr>
          <a:prstGeom prst="rect">
            <a:avLst/>
          </a:prstGeom>
        </p:spPr>
        <p:txBody>
          <a:bodyPr/>
          <a:lstStyle/>
          <a:p>
            <a:pPr/>
          </a:p>
        </p:txBody>
      </p:sp>
      <p:sp>
        <p:nvSpPr>
          <p:cNvPr id="206" name="Shape 206"/>
          <p:cNvSpPr/>
          <p:nvPr>
            <p:ph type="body" sz="quarter" idx="1"/>
          </p:nvPr>
        </p:nvSpPr>
        <p:spPr>
          <a:prstGeom prst="rect">
            <a:avLst/>
          </a:prstGeom>
        </p:spPr>
        <p:txBody>
          <a:bodyPr/>
          <a:lstStyle/>
          <a:p>
            <a:pPr/>
            <a:r>
              <a:t>This example uses the email feature vector x = [1, 1, 1, 0]. Inputs are the numeric features, weights scale each input, and the bias shifts the weighted total. The first three weights are 1.5, 0.3, and 0.8, matching the original contributions. The fourth input is zero, so its contribution is zero for any weight w4. The contributions sum to 2.6. Adding the bias b = -0.5 gives z = 2.1. ReLU is f(z) = max(0,z), so the activation a = 2.1. This activation is a hidden-neuron output passed to the next layer, not a probability. Weights and biases are learned during training. General formula: z = sum_i(w_i x_i) + b and a = f(z).</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7" name="Shape 257"/>
          <p:cNvSpPr/>
          <p:nvPr>
            <p:ph type="sldImg"/>
          </p:nvPr>
        </p:nvSpPr>
        <p:spPr>
          <a:prstGeom prst="rect">
            <a:avLst/>
          </a:prstGeom>
        </p:spPr>
        <p:txBody>
          <a:bodyPr/>
          <a:lstStyle/>
          <a:p>
            <a:pPr/>
          </a:p>
        </p:txBody>
      </p:sp>
      <p:sp>
        <p:nvSpPr>
          <p:cNvPr id="258" name="Shape 258"/>
          <p:cNvSpPr/>
          <p:nvPr>
            <p:ph type="body" sz="quarter" idx="1"/>
          </p:nvPr>
        </p:nvSpPr>
        <p:spPr>
          <a:prstGeom prst="rect">
            <a:avLst/>
          </a:prstGeom>
        </p:spPr>
        <p:txBody>
          <a:bodyPr/>
          <a:lstStyle/>
          <a:p>
            <a:pPr/>
            <a:r>
              <a:t>Highlighted connection is illustrative, with no numeric weight assigned. Hidden units are learned representations and need not correspond to named human concepts.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5" name="Shape 275"/>
          <p:cNvSpPr/>
          <p:nvPr>
            <p:ph type="sldImg"/>
          </p:nvPr>
        </p:nvSpPr>
        <p:spPr>
          <a:prstGeom prst="rect">
            <a:avLst/>
          </a:prstGeom>
        </p:spPr>
        <p:txBody>
          <a:bodyPr/>
          <a:lstStyle/>
          <a:p>
            <a:pPr/>
          </a:p>
        </p:txBody>
      </p:sp>
      <p:sp>
        <p:nvSpPr>
          <p:cNvPr id="276" name="Shape 276"/>
          <p:cNvSpPr/>
          <p:nvPr>
            <p:ph type="body" sz="quarter" idx="1"/>
          </p:nvPr>
        </p:nvSpPr>
        <p:spPr>
          <a:prstGeom prst="rect">
            <a:avLst/>
          </a:prstGeom>
        </p:spPr>
        <p:txBody>
          <a:bodyPr/>
          <a:lstStyle/>
          <a:p>
            <a:pPr/>
            <a:r>
              <a:t>Activations are illustrative rather than results from a fully specified trained MLP. Sigmoid at z=log(.94/.06)=2.751535313 gives .94. Hidden activation 2.6 is not itself the final output logit.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9" name="Shape 309"/>
          <p:cNvSpPr/>
          <p:nvPr>
            <p:ph type="sldImg"/>
          </p:nvPr>
        </p:nvSpPr>
        <p:spPr>
          <a:prstGeom prst="rect">
            <a:avLst/>
          </a:prstGeom>
        </p:spPr>
        <p:txBody>
          <a:bodyPr/>
          <a:lstStyle/>
          <a:p>
            <a:pPr/>
          </a:p>
        </p:txBody>
      </p:sp>
      <p:sp>
        <p:nvSpPr>
          <p:cNvPr id="310" name="Shape 310"/>
          <p:cNvSpPr/>
          <p:nvPr>
            <p:ph type="body" sz="quarter" idx="1"/>
          </p:nvPr>
        </p:nvSpPr>
        <p:spPr>
          <a:prstGeom prst="rect">
            <a:avLst/>
          </a:prstGeom>
        </p:spPr>
        <p:txBody>
          <a:bodyPr/>
          <a:lstStyle/>
          <a:p>
            <a:pPr/>
            <a:r>
              <a:t>Binary cross-entropy is L=−[y log(ŷ)+(1−y)log(1−ŷ)]. For y=1 and ŷ=.35, loss≈1.0498 using natural log. This low-prediction example illustrates training and is separate from the .94 inference example.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p>
            <a:pPr/>
            <a:r>
              <a:t>Training: prediction, loss, backpropagation, gradient descent, updated weights, repeat. Validation and test examples assess generalization. Probabilities in this teaching deck are illustrative.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6" name="Shape 396"/>
          <p:cNvSpPr/>
          <p:nvPr>
            <p:ph type="sldImg"/>
          </p:nvPr>
        </p:nvSpPr>
        <p:spPr>
          <a:prstGeom prst="rect">
            <a:avLst/>
          </a:prstGeom>
        </p:spPr>
        <p:txBody>
          <a:bodyPr/>
          <a:lstStyle/>
          <a:p>
            <a:pPr/>
          </a:p>
        </p:txBody>
      </p:sp>
      <p:sp>
        <p:nvSpPr>
          <p:cNvPr id="397" name="Shape 397"/>
          <p:cNvSpPr/>
          <p:nvPr>
            <p:ph type="body" sz="quarter" idx="1"/>
          </p:nvPr>
        </p:nvSpPr>
        <p:spPr>
          <a:prstGeom prst="rect">
            <a:avLst/>
          </a:prstGeom>
        </p:spPr>
        <p:txBody>
          <a:bodyPr/>
          <a:lstStyle/>
          <a:p>
            <a:pPr/>
            <a:r>
              <a:t>Activations are illustrative rather than results from a fully specified trained MLP. Sigmoid at z=log(.94/.06)=2.751535313 gives .94. Hidden activation 2.6 is not itself the final output logit.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8" name="Shape 468"/>
          <p:cNvSpPr/>
          <p:nvPr>
            <p:ph type="sldImg"/>
          </p:nvPr>
        </p:nvSpPr>
        <p:spPr>
          <a:prstGeom prst="rect">
            <a:avLst/>
          </a:prstGeom>
        </p:spPr>
        <p:txBody>
          <a:bodyPr/>
          <a:lstStyle/>
          <a:p>
            <a:pPr/>
          </a:p>
        </p:txBody>
      </p:sp>
      <p:sp>
        <p:nvSpPr>
          <p:cNvPr id="469" name="Shape 469"/>
          <p:cNvSpPr/>
          <p:nvPr>
            <p:ph type="body" sz="quarter" idx="1"/>
          </p:nvPr>
        </p:nvSpPr>
        <p:spPr>
          <a:prstGeom prst="rect">
            <a:avLst/>
          </a:prstGeom>
        </p:spPr>
        <p:txBody>
          <a:bodyPr/>
          <a:lstStyle/>
          <a:p>
            <a:pPr/>
            <a:r>
              <a:t>Binary cross-entropy is L=−[y log(ŷ)+(1−y)log(1−ŷ)]. For y=1 and ŷ=.35, loss≈1.0498 using natural log. This low-prediction example illustrates training and is separate from the .94 inference example.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3" name="Shape 523"/>
          <p:cNvSpPr/>
          <p:nvPr>
            <p:ph type="sldImg"/>
          </p:nvPr>
        </p:nvSpPr>
        <p:spPr>
          <a:prstGeom prst="rect">
            <a:avLst/>
          </a:prstGeom>
        </p:spPr>
        <p:txBody>
          <a:bodyPr/>
          <a:lstStyle/>
          <a:p>
            <a:pPr/>
          </a:p>
        </p:txBody>
      </p:sp>
      <p:sp>
        <p:nvSpPr>
          <p:cNvPr id="524" name="Shape 524"/>
          <p:cNvSpPr/>
          <p:nvPr>
            <p:ph type="body" sz="quarter" idx="1"/>
          </p:nvPr>
        </p:nvSpPr>
        <p:spPr>
          <a:prstGeom prst="rect">
            <a:avLst/>
          </a:prstGeom>
        </p:spPr>
        <p:txBody>
          <a:bodyPr/>
          <a:lstStyle/>
          <a:p>
            <a:pPr/>
            <a:r>
              <a:t>Examples are illustrative labels from the source deck, not evidence that a phrase alone determines spam. Model behavior depends on numeric input features and learned weights.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5" name="Shape 565"/>
          <p:cNvSpPr/>
          <p:nvPr>
            <p:ph type="sldImg"/>
          </p:nvPr>
        </p:nvSpPr>
        <p:spPr>
          <a:prstGeom prst="rect">
            <a:avLst/>
          </a:prstGeom>
        </p:spPr>
        <p:txBody>
          <a:bodyPr/>
          <a:lstStyle/>
          <a:p>
            <a:pPr/>
          </a:p>
        </p:txBody>
      </p:sp>
      <p:sp>
        <p:nvSpPr>
          <p:cNvPr id="566" name="Shape 566"/>
          <p:cNvSpPr/>
          <p:nvPr>
            <p:ph type="body" sz="quarter" idx="1"/>
          </p:nvPr>
        </p:nvSpPr>
        <p:spPr>
          <a:prstGeom prst="rect">
            <a:avLst/>
          </a:prstGeom>
        </p:spPr>
        <p:txBody>
          <a:bodyPr/>
          <a:lstStyle/>
          <a:p>
            <a:pPr/>
            <a:r>
              <a:t>Training: prediction, loss, backpropagation, gradient descent, updated weights, repeat. Validation and test examples assess generalization. Probabilities in this teaching deck are illustrative.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Slide">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844675"/>
            <a:ext cx="10363200" cy="2041525"/>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1828800" y="3886200"/>
            <a:ext cx="8534400" cy="2971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latin typeface="+mj-lt"/>
                <a:ea typeface="+mj-ea"/>
                <a:cs typeface="+mj-cs"/>
                <a:sym typeface="Helvetica"/>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Tx/>
        <a:buChar char="•"/>
        <a:tabLst/>
        <a:defRPr b="0" baseline="0" cap="none" i="0" spc="0" strike="noStrike" sz="2800" u="none">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1pPr>
      <a:lvl2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2pPr>
      <a:lvl3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3pPr>
      <a:lvl4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4pPr>
      <a:lvl5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5pPr>
      <a:lvl6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6pPr>
      <a:lvl7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7pPr>
      <a:lvl8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8pPr>
      <a:lvl9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Helvetic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chart" Target="../charts/chart2.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 name="image.png" descr="image.png"/>
          <p:cNvPicPr>
            <a:picLocks noChangeAspect="1"/>
          </p:cNvPicPr>
          <p:nvPr/>
        </p:nvPicPr>
        <p:blipFill>
          <a:blip r:embed="rId3">
            <a:extLst/>
          </a:blip>
          <a:stretch>
            <a:fillRect/>
          </a:stretch>
        </p:blipFill>
        <p:spPr>
          <a:xfrm>
            <a:off x="3238" y="0"/>
            <a:ext cx="12185524" cy="6858000"/>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24" name="What we will cover"/>
          <p:cNvSpPr txBox="1"/>
          <p:nvPr/>
        </p:nvSpPr>
        <p:spPr>
          <a:xfrm>
            <a:off x="655319" y="419100"/>
            <a:ext cx="10862312" cy="53576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3100">
                <a:solidFill>
                  <a:srgbClr val="28282A"/>
                </a:solidFill>
                <a:latin typeface="Arial"/>
                <a:ea typeface="Arial"/>
                <a:cs typeface="Arial"/>
                <a:sym typeface="Arial"/>
              </a:defRPr>
            </a:lvl1pPr>
          </a:lstStyle>
          <a:p>
            <a:pPr/>
            <a:r>
              <a:t>What we will cover</a:t>
            </a:r>
          </a:p>
        </p:txBody>
      </p:sp>
      <p:sp>
        <p:nvSpPr>
          <p:cNvPr id="25" name="Neural network fundamentals, followed by a worked spam classification example."/>
          <p:cNvSpPr txBox="1"/>
          <p:nvPr/>
        </p:nvSpPr>
        <p:spPr>
          <a:xfrm>
            <a:off x="674369" y="1095375"/>
            <a:ext cx="10843262" cy="313393"/>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600">
                <a:solidFill>
                  <a:srgbClr val="62616A"/>
                </a:solidFill>
                <a:latin typeface="Arial"/>
                <a:ea typeface="Arial"/>
                <a:cs typeface="Arial"/>
                <a:sym typeface="Arial"/>
              </a:defRPr>
            </a:lvl1pPr>
          </a:lstStyle>
          <a:p>
            <a:pPr/>
            <a:r>
              <a:t>Neural network fundamentals, followed by a worked spam classification example.</a:t>
            </a:r>
          </a:p>
        </p:txBody>
      </p:sp>
      <p:sp>
        <p:nvSpPr>
          <p:cNvPr id="26"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27" name="01"/>
          <p:cNvSpPr txBox="1"/>
          <p:nvPr/>
        </p:nvSpPr>
        <p:spPr>
          <a:xfrm>
            <a:off x="674369" y="1952625"/>
            <a:ext cx="40386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8E7052"/>
                </a:solidFill>
                <a:latin typeface="Arial"/>
                <a:ea typeface="Arial"/>
                <a:cs typeface="Arial"/>
                <a:sym typeface="Arial"/>
              </a:defRPr>
            </a:lvl1pPr>
          </a:lstStyle>
          <a:p>
            <a:pPr/>
            <a:r>
              <a:t>01</a:t>
            </a:r>
          </a:p>
        </p:txBody>
      </p:sp>
      <p:sp>
        <p:nvSpPr>
          <p:cNvPr id="28" name="Neural network overview"/>
          <p:cNvSpPr txBox="1"/>
          <p:nvPr/>
        </p:nvSpPr>
        <p:spPr>
          <a:xfrm>
            <a:off x="1293494" y="1952625"/>
            <a:ext cx="457581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28282A"/>
                </a:solidFill>
                <a:latin typeface="Arial"/>
                <a:ea typeface="Arial"/>
                <a:cs typeface="Arial"/>
                <a:sym typeface="Arial"/>
              </a:defRPr>
            </a:lvl1pPr>
          </a:lstStyle>
          <a:p>
            <a:pPr/>
            <a:r>
              <a:t>Neural network overview</a:t>
            </a:r>
          </a:p>
        </p:txBody>
      </p:sp>
      <p:sp>
        <p:nvSpPr>
          <p:cNvPr id="29" name="Layers, neurons, and the multilayer perceptron"/>
          <p:cNvSpPr txBox="1"/>
          <p:nvPr/>
        </p:nvSpPr>
        <p:spPr>
          <a:xfrm>
            <a:off x="1293494" y="2390775"/>
            <a:ext cx="4337687" cy="30110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solidFill>
                  <a:srgbClr val="62616A"/>
                </a:solidFill>
                <a:latin typeface="Arial"/>
                <a:ea typeface="Arial"/>
                <a:cs typeface="Arial"/>
                <a:sym typeface="Arial"/>
              </a:defRPr>
            </a:lvl1pPr>
          </a:lstStyle>
          <a:p>
            <a:pPr/>
            <a:r>
              <a:t>Layers, neurons, and the multilayer perceptron</a:t>
            </a:r>
          </a:p>
        </p:txBody>
      </p:sp>
      <p:sp>
        <p:nvSpPr>
          <p:cNvPr id="30" name="02"/>
          <p:cNvSpPr txBox="1"/>
          <p:nvPr/>
        </p:nvSpPr>
        <p:spPr>
          <a:xfrm>
            <a:off x="674369" y="3162300"/>
            <a:ext cx="40386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8E7052"/>
                </a:solidFill>
                <a:latin typeface="Arial"/>
                <a:ea typeface="Arial"/>
                <a:cs typeface="Arial"/>
                <a:sym typeface="Arial"/>
              </a:defRPr>
            </a:lvl1pPr>
          </a:lstStyle>
          <a:p>
            <a:pPr/>
            <a:r>
              <a:t>02</a:t>
            </a:r>
          </a:p>
        </p:txBody>
      </p:sp>
      <p:sp>
        <p:nvSpPr>
          <p:cNvPr id="31" name="Preparing the spam example"/>
          <p:cNvSpPr txBox="1"/>
          <p:nvPr/>
        </p:nvSpPr>
        <p:spPr>
          <a:xfrm>
            <a:off x="1293494" y="3162300"/>
            <a:ext cx="457581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28282A"/>
                </a:solidFill>
                <a:latin typeface="Arial"/>
                <a:ea typeface="Arial"/>
                <a:cs typeface="Arial"/>
                <a:sym typeface="Arial"/>
              </a:defRPr>
            </a:lvl1pPr>
          </a:lstStyle>
          <a:p>
            <a:pPr/>
            <a:r>
              <a:t>Preparing the spam example</a:t>
            </a:r>
          </a:p>
        </p:txBody>
      </p:sp>
      <p:sp>
        <p:nvSpPr>
          <p:cNvPr id="32" name="Turning an email into numeric features"/>
          <p:cNvSpPr txBox="1"/>
          <p:nvPr/>
        </p:nvSpPr>
        <p:spPr>
          <a:xfrm>
            <a:off x="1293494" y="3600450"/>
            <a:ext cx="4337687" cy="30110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solidFill>
                  <a:srgbClr val="62616A"/>
                </a:solidFill>
                <a:latin typeface="Arial"/>
                <a:ea typeface="Arial"/>
                <a:cs typeface="Arial"/>
                <a:sym typeface="Arial"/>
              </a:defRPr>
            </a:lvl1pPr>
          </a:lstStyle>
          <a:p>
            <a:pPr/>
            <a:r>
              <a:t>Turning an email into numeric features</a:t>
            </a:r>
          </a:p>
        </p:txBody>
      </p:sp>
      <p:sp>
        <p:nvSpPr>
          <p:cNvPr id="33" name="03"/>
          <p:cNvSpPr txBox="1"/>
          <p:nvPr/>
        </p:nvSpPr>
        <p:spPr>
          <a:xfrm>
            <a:off x="674369" y="4371975"/>
            <a:ext cx="40386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8E7052"/>
                </a:solidFill>
                <a:latin typeface="Arial"/>
                <a:ea typeface="Arial"/>
                <a:cs typeface="Arial"/>
                <a:sym typeface="Arial"/>
              </a:defRPr>
            </a:lvl1pPr>
          </a:lstStyle>
          <a:p>
            <a:pPr/>
            <a:r>
              <a:t>03</a:t>
            </a:r>
          </a:p>
        </p:txBody>
      </p:sp>
      <p:sp>
        <p:nvSpPr>
          <p:cNvPr id="34" name="How the network makes a prediction"/>
          <p:cNvSpPr txBox="1"/>
          <p:nvPr/>
        </p:nvSpPr>
        <p:spPr>
          <a:xfrm>
            <a:off x="1293494" y="4371975"/>
            <a:ext cx="457581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28282A"/>
                </a:solidFill>
                <a:latin typeface="Arial"/>
                <a:ea typeface="Arial"/>
                <a:cs typeface="Arial"/>
                <a:sym typeface="Arial"/>
              </a:defRPr>
            </a:lvl1pPr>
          </a:lstStyle>
          <a:p>
            <a:pPr/>
            <a:r>
              <a:t>How the network makes a prediction</a:t>
            </a:r>
          </a:p>
        </p:txBody>
      </p:sp>
      <p:sp>
        <p:nvSpPr>
          <p:cNvPr id="35" name="Weights, biases, activations, and forward propagation"/>
          <p:cNvSpPr txBox="1"/>
          <p:nvPr/>
        </p:nvSpPr>
        <p:spPr>
          <a:xfrm>
            <a:off x="1293494" y="4810125"/>
            <a:ext cx="4337687" cy="51700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solidFill>
                  <a:srgbClr val="62616A"/>
                </a:solidFill>
                <a:latin typeface="Arial"/>
                <a:ea typeface="Arial"/>
                <a:cs typeface="Arial"/>
                <a:sym typeface="Arial"/>
              </a:defRPr>
            </a:lvl1pPr>
          </a:lstStyle>
          <a:p>
            <a:pPr/>
            <a:r>
              <a:t>Weights, biases, activations, and forward propagation</a:t>
            </a:r>
          </a:p>
        </p:txBody>
      </p:sp>
      <p:sp>
        <p:nvSpPr>
          <p:cNvPr id="36" name="04"/>
          <p:cNvSpPr txBox="1"/>
          <p:nvPr/>
        </p:nvSpPr>
        <p:spPr>
          <a:xfrm>
            <a:off x="6379844" y="1952625"/>
            <a:ext cx="40386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8E7052"/>
                </a:solidFill>
                <a:latin typeface="Arial"/>
                <a:ea typeface="Arial"/>
                <a:cs typeface="Arial"/>
                <a:sym typeface="Arial"/>
              </a:defRPr>
            </a:lvl1pPr>
          </a:lstStyle>
          <a:p>
            <a:pPr/>
            <a:r>
              <a:t>04</a:t>
            </a:r>
          </a:p>
        </p:txBody>
      </p:sp>
      <p:sp>
        <p:nvSpPr>
          <p:cNvPr id="37" name="From probability to a decision"/>
          <p:cNvSpPr txBox="1"/>
          <p:nvPr/>
        </p:nvSpPr>
        <p:spPr>
          <a:xfrm>
            <a:off x="6998969" y="1952625"/>
            <a:ext cx="457581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28282A"/>
                </a:solidFill>
                <a:latin typeface="Arial"/>
                <a:ea typeface="Arial"/>
                <a:cs typeface="Arial"/>
                <a:sym typeface="Arial"/>
              </a:defRPr>
            </a:lvl1pPr>
          </a:lstStyle>
          <a:p>
            <a:pPr/>
            <a:r>
              <a:t>From probability to a decision</a:t>
            </a:r>
          </a:p>
        </p:txBody>
      </p:sp>
      <p:sp>
        <p:nvSpPr>
          <p:cNvPr id="38" name="Using a threshold to classify an email"/>
          <p:cNvSpPr txBox="1"/>
          <p:nvPr/>
        </p:nvSpPr>
        <p:spPr>
          <a:xfrm>
            <a:off x="6998969" y="2390775"/>
            <a:ext cx="4337687" cy="30110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solidFill>
                  <a:srgbClr val="62616A"/>
                </a:solidFill>
                <a:latin typeface="Arial"/>
                <a:ea typeface="Arial"/>
                <a:cs typeface="Arial"/>
                <a:sym typeface="Arial"/>
              </a:defRPr>
            </a:lvl1pPr>
          </a:lstStyle>
          <a:p>
            <a:pPr/>
            <a:r>
              <a:t>Using a threshold to classify an email</a:t>
            </a:r>
          </a:p>
        </p:txBody>
      </p:sp>
      <p:sp>
        <p:nvSpPr>
          <p:cNvPr id="39" name="05"/>
          <p:cNvSpPr txBox="1"/>
          <p:nvPr/>
        </p:nvSpPr>
        <p:spPr>
          <a:xfrm>
            <a:off x="6379844" y="3162300"/>
            <a:ext cx="40386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8E7052"/>
                </a:solidFill>
                <a:latin typeface="Arial"/>
                <a:ea typeface="Arial"/>
                <a:cs typeface="Arial"/>
                <a:sym typeface="Arial"/>
              </a:defRPr>
            </a:lvl1pPr>
          </a:lstStyle>
          <a:p>
            <a:pPr/>
            <a:r>
              <a:t>05</a:t>
            </a:r>
          </a:p>
        </p:txBody>
      </p:sp>
      <p:sp>
        <p:nvSpPr>
          <p:cNvPr id="40" name="How the network learns"/>
          <p:cNvSpPr txBox="1"/>
          <p:nvPr/>
        </p:nvSpPr>
        <p:spPr>
          <a:xfrm>
            <a:off x="6998969" y="3162300"/>
            <a:ext cx="457581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28282A"/>
                </a:solidFill>
                <a:latin typeface="Arial"/>
                <a:ea typeface="Arial"/>
                <a:cs typeface="Arial"/>
                <a:sym typeface="Arial"/>
              </a:defRPr>
            </a:lvl1pPr>
          </a:lstStyle>
          <a:p>
            <a:pPr/>
            <a:r>
              <a:t>How the network learns</a:t>
            </a:r>
          </a:p>
        </p:txBody>
      </p:sp>
      <p:sp>
        <p:nvSpPr>
          <p:cNvPr id="41" name="Loss, backpropagation, and weight updates"/>
          <p:cNvSpPr txBox="1"/>
          <p:nvPr/>
        </p:nvSpPr>
        <p:spPr>
          <a:xfrm>
            <a:off x="6998969" y="3600450"/>
            <a:ext cx="4337687" cy="30110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solidFill>
                  <a:srgbClr val="62616A"/>
                </a:solidFill>
                <a:latin typeface="Arial"/>
                <a:ea typeface="Arial"/>
                <a:cs typeface="Arial"/>
                <a:sym typeface="Arial"/>
              </a:defRPr>
            </a:lvl1pPr>
          </a:lstStyle>
          <a:p>
            <a:pPr/>
            <a:r>
              <a:t>Loss, backpropagation, and weight updates</a:t>
            </a:r>
          </a:p>
        </p:txBody>
      </p:sp>
      <p:sp>
        <p:nvSpPr>
          <p:cNvPr id="42" name="06"/>
          <p:cNvSpPr txBox="1"/>
          <p:nvPr/>
        </p:nvSpPr>
        <p:spPr>
          <a:xfrm>
            <a:off x="6379844" y="4371975"/>
            <a:ext cx="40386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8E7052"/>
                </a:solidFill>
                <a:latin typeface="Arial"/>
                <a:ea typeface="Arial"/>
                <a:cs typeface="Arial"/>
                <a:sym typeface="Arial"/>
              </a:defRPr>
            </a:lvl1pPr>
          </a:lstStyle>
          <a:p>
            <a:pPr/>
            <a:r>
              <a:t>06</a:t>
            </a:r>
          </a:p>
        </p:txBody>
      </p:sp>
      <p:sp>
        <p:nvSpPr>
          <p:cNvPr id="43" name="Putting it all together"/>
          <p:cNvSpPr txBox="1"/>
          <p:nvPr/>
        </p:nvSpPr>
        <p:spPr>
          <a:xfrm>
            <a:off x="6998969" y="4371975"/>
            <a:ext cx="4575812" cy="36294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900">
                <a:solidFill>
                  <a:srgbClr val="28282A"/>
                </a:solidFill>
                <a:latin typeface="Arial"/>
                <a:ea typeface="Arial"/>
                <a:cs typeface="Arial"/>
                <a:sym typeface="Arial"/>
              </a:defRPr>
            </a:lvl1pPr>
          </a:lstStyle>
          <a:p>
            <a:pPr/>
            <a:r>
              <a:t>Putting it all together</a:t>
            </a:r>
          </a:p>
        </p:txBody>
      </p:sp>
      <p:sp>
        <p:nvSpPr>
          <p:cNvPr id="44" name="Shared patterns and the complete prediction pipeline"/>
          <p:cNvSpPr txBox="1"/>
          <p:nvPr/>
        </p:nvSpPr>
        <p:spPr>
          <a:xfrm>
            <a:off x="6998969" y="4810125"/>
            <a:ext cx="4337687" cy="517008"/>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solidFill>
                  <a:srgbClr val="62616A"/>
                </a:solidFill>
                <a:latin typeface="Arial"/>
                <a:ea typeface="Arial"/>
                <a:cs typeface="Arial"/>
                <a:sym typeface="Arial"/>
              </a:defRPr>
            </a:lvl1pPr>
          </a:lstStyle>
          <a:p>
            <a:pPr/>
            <a:r>
              <a:t>Shared patterns and the complete prediction pipeline</a:t>
            </a:r>
          </a:p>
        </p:txBody>
      </p:sp>
      <p:sp>
        <p:nvSpPr>
          <p:cNvPr id="45" name="Line"/>
          <p:cNvSpPr/>
          <p:nvPr/>
        </p:nvSpPr>
        <p:spPr>
          <a:xfrm>
            <a:off x="609600" y="6429375"/>
            <a:ext cx="10972801" cy="0"/>
          </a:xfrm>
          <a:prstGeom prst="line">
            <a:avLst/>
          </a:prstGeom>
          <a:ln w="7620">
            <a:solidFill>
              <a:srgbClr val="D9CDBB"/>
            </a:solidFill>
          </a:ln>
        </p:spPr>
        <p:txBody>
          <a:bodyPr lIns="0" tIns="0" rIns="0" bIns="0"/>
          <a:lstStyle/>
          <a:p>
            <a:pPr/>
          </a:p>
        </p:txBody>
      </p:sp>
      <p:sp>
        <p:nvSpPr>
          <p:cNvPr id="46" name="Contents"/>
          <p:cNvSpPr txBox="1"/>
          <p:nvPr/>
        </p:nvSpPr>
        <p:spPr>
          <a:xfrm>
            <a:off x="5617844" y="6496050"/>
            <a:ext cx="1146812" cy="23927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100">
                <a:solidFill>
                  <a:srgbClr val="858079"/>
                </a:solidFill>
                <a:latin typeface="Arial"/>
                <a:ea typeface="Arial"/>
                <a:cs typeface="Arial"/>
                <a:sym typeface="Arial"/>
              </a:defRPr>
            </a:lvl1pPr>
          </a:lstStyle>
          <a:p>
            <a:pPr/>
            <a:r>
              <a:t>Contents</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50" name="Rounded Rectangle"/>
          <p:cNvSpPr/>
          <p:nvPr/>
        </p:nvSpPr>
        <p:spPr>
          <a:xfrm>
            <a:off x="457200" y="1647825"/>
            <a:ext cx="11277600" cy="4714875"/>
          </a:xfrm>
          <a:prstGeom prst="roundRect">
            <a:avLst>
              <a:gd name="adj" fmla="val 4196"/>
            </a:avLst>
          </a:prstGeom>
          <a:solidFill>
            <a:srgbClr val="FCFBF8"/>
          </a:solidFill>
          <a:ln>
            <a:solidFill>
              <a:srgbClr val="E0D5C5"/>
            </a:solidFill>
          </a:ln>
        </p:spPr>
        <p:txBody>
          <a:bodyPr lIns="0" tIns="0" rIns="0" bIns="0"/>
          <a:lstStyle/>
          <a:p>
            <a:pPr/>
          </a:p>
        </p:txBody>
      </p:sp>
      <p:pic>
        <p:nvPicPr>
          <p:cNvPr id="51" name="image2.png" descr="image2.png"/>
          <p:cNvPicPr>
            <a:picLocks noChangeAspect="1"/>
          </p:cNvPicPr>
          <p:nvPr/>
        </p:nvPicPr>
        <p:blipFill>
          <a:blip r:embed="rId3">
            <a:extLst/>
          </a:blip>
          <a:stretch>
            <a:fillRect/>
          </a:stretch>
        </p:blipFill>
        <p:spPr>
          <a:xfrm>
            <a:off x="571500" y="2781300"/>
            <a:ext cx="8065770" cy="2688614"/>
          </a:xfrm>
          <a:prstGeom prst="rect">
            <a:avLst/>
          </a:prstGeom>
          <a:ln w="12700">
            <a:miter lim="400000"/>
          </a:ln>
        </p:spPr>
      </p:pic>
      <p:sp>
        <p:nvSpPr>
          <p:cNvPr id="52" name="Neural network overview"/>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Neural network overview</a:t>
            </a:r>
          </a:p>
        </p:txBody>
      </p:sp>
      <p:sp>
        <p:nvSpPr>
          <p:cNvPr id="53" name="Connected layers of artificial neurons learn to map numeric inputs to predictions."/>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Connected layers of artificial neurons learn to map numeric inputs to predictions.</a:t>
            </a:r>
          </a:p>
        </p:txBody>
      </p:sp>
      <p:sp>
        <p:nvSpPr>
          <p:cNvPr id="54" name="01"/>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01</a:t>
            </a:r>
          </a:p>
        </p:txBody>
      </p:sp>
      <p:sp>
        <p:nvSpPr>
          <p:cNvPr id="55" name="Numeric inputs"/>
          <p:cNvSpPr txBox="1"/>
          <p:nvPr/>
        </p:nvSpPr>
        <p:spPr>
          <a:xfrm>
            <a:off x="536733" y="2747646"/>
            <a:ext cx="1613156" cy="2387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Chalkboard"/>
                <a:ea typeface="Chalkboard"/>
                <a:cs typeface="Chalkboard"/>
                <a:sym typeface="Chalkboard"/>
              </a:defRPr>
            </a:lvl1pPr>
          </a:lstStyle>
          <a:p>
            <a:pPr/>
            <a:r>
              <a:t>Numeric inputs</a:t>
            </a:r>
          </a:p>
        </p:txBody>
      </p:sp>
      <p:sp>
        <p:nvSpPr>
          <p:cNvPr id="56" name="Hidden layer 1"/>
          <p:cNvSpPr txBox="1"/>
          <p:nvPr/>
        </p:nvSpPr>
        <p:spPr>
          <a:xfrm>
            <a:off x="2685288" y="2747646"/>
            <a:ext cx="1613155" cy="2387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Chalkboard"/>
                <a:ea typeface="Chalkboard"/>
                <a:cs typeface="Chalkboard"/>
                <a:sym typeface="Chalkboard"/>
              </a:defRPr>
            </a:lvl1pPr>
          </a:lstStyle>
          <a:p>
            <a:pPr/>
            <a:r>
              <a:t>Hidden layer 1</a:t>
            </a:r>
          </a:p>
        </p:txBody>
      </p:sp>
      <p:sp>
        <p:nvSpPr>
          <p:cNvPr id="57" name="Hidden layer 2"/>
          <p:cNvSpPr txBox="1"/>
          <p:nvPr/>
        </p:nvSpPr>
        <p:spPr>
          <a:xfrm>
            <a:off x="4833842" y="2747646"/>
            <a:ext cx="1613155" cy="2387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Chalkboard"/>
                <a:ea typeface="Chalkboard"/>
                <a:cs typeface="Chalkboard"/>
                <a:sym typeface="Chalkboard"/>
              </a:defRPr>
            </a:lvl1pPr>
          </a:lstStyle>
          <a:p>
            <a:pPr/>
            <a:r>
              <a:t>Hidden layer 2</a:t>
            </a:r>
          </a:p>
        </p:txBody>
      </p:sp>
      <p:sp>
        <p:nvSpPr>
          <p:cNvPr id="58" name="Prediction"/>
          <p:cNvSpPr txBox="1"/>
          <p:nvPr/>
        </p:nvSpPr>
        <p:spPr>
          <a:xfrm>
            <a:off x="6982396" y="2747646"/>
            <a:ext cx="1613155" cy="2387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8E7052"/>
                </a:solidFill>
                <a:latin typeface="Chalkboard"/>
                <a:ea typeface="Chalkboard"/>
                <a:cs typeface="Chalkboard"/>
                <a:sym typeface="Chalkboard"/>
              </a:defRPr>
            </a:lvl1pPr>
          </a:lstStyle>
          <a:p>
            <a:pPr/>
            <a:r>
              <a:t>Prediction</a:t>
            </a:r>
          </a:p>
        </p:txBody>
      </p:sp>
      <p:sp>
        <p:nvSpPr>
          <p:cNvPr id="59" name="x₁"/>
          <p:cNvSpPr txBox="1"/>
          <p:nvPr/>
        </p:nvSpPr>
        <p:spPr>
          <a:xfrm>
            <a:off x="689704" y="3138718"/>
            <a:ext cx="312897" cy="19367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STIX Two Math Regular"/>
                <a:ea typeface="STIX Two Math Regular"/>
                <a:cs typeface="STIX Two Math Regular"/>
                <a:sym typeface="STIX Two Math Regular"/>
              </a:defRPr>
            </a:lvl1pPr>
          </a:lstStyle>
          <a:p>
            <a:pPr/>
            <a:r>
              <a:t>x₁</a:t>
            </a:r>
          </a:p>
        </p:txBody>
      </p:sp>
      <p:sp>
        <p:nvSpPr>
          <p:cNvPr id="60" name="x₂"/>
          <p:cNvSpPr txBox="1"/>
          <p:nvPr/>
        </p:nvSpPr>
        <p:spPr>
          <a:xfrm>
            <a:off x="689704" y="3708884"/>
            <a:ext cx="312897" cy="19367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STIX Two Math Regular"/>
                <a:ea typeface="STIX Two Math Regular"/>
                <a:cs typeface="STIX Two Math Regular"/>
                <a:sym typeface="STIX Two Math Regular"/>
              </a:defRPr>
            </a:lvl1pPr>
          </a:lstStyle>
          <a:p>
            <a:pPr/>
            <a:r>
              <a:t>x₂</a:t>
            </a:r>
          </a:p>
        </p:txBody>
      </p:sp>
      <p:sp>
        <p:nvSpPr>
          <p:cNvPr id="61" name="x₃"/>
          <p:cNvSpPr txBox="1"/>
          <p:nvPr/>
        </p:nvSpPr>
        <p:spPr>
          <a:xfrm>
            <a:off x="689704" y="4279051"/>
            <a:ext cx="312897" cy="19367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STIX Two Math Regular"/>
                <a:ea typeface="STIX Two Math Regular"/>
                <a:cs typeface="STIX Two Math Regular"/>
                <a:sym typeface="STIX Two Math Regular"/>
              </a:defRPr>
            </a:lvl1pPr>
          </a:lstStyle>
          <a:p>
            <a:pPr/>
            <a:r>
              <a:t>x₃</a:t>
            </a:r>
          </a:p>
        </p:txBody>
      </p:sp>
      <p:sp>
        <p:nvSpPr>
          <p:cNvPr id="62" name="x₄"/>
          <p:cNvSpPr txBox="1"/>
          <p:nvPr/>
        </p:nvSpPr>
        <p:spPr>
          <a:xfrm>
            <a:off x="689704" y="4849217"/>
            <a:ext cx="312897" cy="19367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500">
                <a:solidFill>
                  <a:srgbClr val="424548"/>
                </a:solidFill>
                <a:latin typeface="STIX Two Math Regular"/>
                <a:ea typeface="STIX Two Math Regular"/>
                <a:cs typeface="STIX Two Math Regular"/>
                <a:sym typeface="STIX Two Math Regular"/>
              </a:defRPr>
            </a:lvl1pPr>
          </a:lstStyle>
          <a:p>
            <a:pPr/>
            <a:r>
              <a:t>x₄</a:t>
            </a:r>
          </a:p>
        </p:txBody>
      </p:sp>
      <p:sp>
        <p:nvSpPr>
          <p:cNvPr id="63"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64" name="Line"/>
          <p:cNvSpPr/>
          <p:nvPr/>
        </p:nvSpPr>
        <p:spPr>
          <a:xfrm>
            <a:off x="609600" y="6429375"/>
            <a:ext cx="10972801" cy="0"/>
          </a:xfrm>
          <a:prstGeom prst="line">
            <a:avLst/>
          </a:prstGeom>
          <a:ln w="7620">
            <a:solidFill>
              <a:srgbClr val="D9CDBB"/>
            </a:solidFill>
          </a:ln>
        </p:spPr>
        <p:txBody>
          <a:bodyPr lIns="0" tIns="0" rIns="0" bIns="0"/>
          <a:lstStyle/>
          <a:p>
            <a:pPr/>
          </a:p>
        </p:txBody>
      </p:sp>
      <p:sp>
        <p:nvSpPr>
          <p:cNvPr id="65" name="neuron-number-input-1"/>
          <p:cNvSpPr txBox="1"/>
          <p:nvPr/>
        </p:nvSpPr>
        <p:spPr>
          <a:xfrm>
            <a:off x="1324083" y="3085421"/>
            <a:ext cx="219240"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0.9</a:t>
            </a:r>
          </a:p>
        </p:txBody>
      </p:sp>
      <p:sp>
        <p:nvSpPr>
          <p:cNvPr id="66" name="neuron-number-input-2"/>
          <p:cNvSpPr txBox="1"/>
          <p:nvPr/>
        </p:nvSpPr>
        <p:spPr>
          <a:xfrm>
            <a:off x="1325320" y="3669494"/>
            <a:ext cx="222328"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0.4</a:t>
            </a:r>
          </a:p>
        </p:txBody>
      </p:sp>
      <p:sp>
        <p:nvSpPr>
          <p:cNvPr id="67" name="neuron-number-input-3"/>
          <p:cNvSpPr txBox="1"/>
          <p:nvPr/>
        </p:nvSpPr>
        <p:spPr>
          <a:xfrm>
            <a:off x="1323930" y="4299459"/>
            <a:ext cx="222328"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0.7</a:t>
            </a:r>
          </a:p>
        </p:txBody>
      </p:sp>
      <p:sp>
        <p:nvSpPr>
          <p:cNvPr id="68" name="neuron-number-input-4"/>
          <p:cNvSpPr txBox="1"/>
          <p:nvPr/>
        </p:nvSpPr>
        <p:spPr>
          <a:xfrm>
            <a:off x="1322076" y="4905782"/>
            <a:ext cx="223254"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0.2</a:t>
            </a:r>
          </a:p>
        </p:txBody>
      </p:sp>
      <p:sp>
        <p:nvSpPr>
          <p:cNvPr id="69" name="neuron-number-hidden1-1"/>
          <p:cNvSpPr txBox="1"/>
          <p:nvPr/>
        </p:nvSpPr>
        <p:spPr>
          <a:xfrm>
            <a:off x="3451858" y="3295409"/>
            <a:ext cx="227422"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0.8</a:t>
            </a:r>
          </a:p>
        </p:txBody>
      </p:sp>
      <p:sp>
        <p:nvSpPr>
          <p:cNvPr id="70" name="neuron-number-hidden1-2"/>
          <p:cNvSpPr txBox="1"/>
          <p:nvPr/>
        </p:nvSpPr>
        <p:spPr>
          <a:xfrm>
            <a:off x="3450929" y="4001860"/>
            <a:ext cx="222328"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0.3</a:t>
            </a:r>
          </a:p>
        </p:txBody>
      </p:sp>
      <p:sp>
        <p:nvSpPr>
          <p:cNvPr id="71" name="neuron-number-hidden1-3"/>
          <p:cNvSpPr txBox="1"/>
          <p:nvPr/>
        </p:nvSpPr>
        <p:spPr>
          <a:xfrm>
            <a:off x="3445136" y="4718740"/>
            <a:ext cx="224180"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0.6</a:t>
            </a:r>
          </a:p>
        </p:txBody>
      </p:sp>
      <p:sp>
        <p:nvSpPr>
          <p:cNvPr id="72" name="neuron-number-hidden2-1"/>
          <p:cNvSpPr txBox="1"/>
          <p:nvPr/>
        </p:nvSpPr>
        <p:spPr>
          <a:xfrm>
            <a:off x="5573756" y="3574930"/>
            <a:ext cx="222328"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0.7</a:t>
            </a:r>
          </a:p>
        </p:txBody>
      </p:sp>
      <p:sp>
        <p:nvSpPr>
          <p:cNvPr id="73" name="neuron-number-hidden2-2"/>
          <p:cNvSpPr txBox="1"/>
          <p:nvPr/>
        </p:nvSpPr>
        <p:spPr>
          <a:xfrm>
            <a:off x="5571902" y="4430875"/>
            <a:ext cx="223254"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0.2</a:t>
            </a:r>
          </a:p>
        </p:txBody>
      </p:sp>
      <p:sp>
        <p:nvSpPr>
          <p:cNvPr id="74" name="neuron-number-output-1"/>
          <p:cNvSpPr txBox="1"/>
          <p:nvPr/>
        </p:nvSpPr>
        <p:spPr>
          <a:xfrm>
            <a:off x="7696736" y="3980304"/>
            <a:ext cx="219241" cy="214048"/>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b="1" sz="1100">
                <a:solidFill>
                  <a:srgbClr val="28282A"/>
                </a:solidFill>
                <a:latin typeface="Chalkboard"/>
                <a:ea typeface="Chalkboard"/>
                <a:cs typeface="Chalkboard"/>
                <a:sym typeface="Chalkboard"/>
              </a:defRPr>
            </a:lvl1pPr>
          </a:lstStyle>
          <a:p>
            <a:pPr/>
            <a:r>
              <a:t>0.9</a:t>
            </a:r>
          </a:p>
        </p:txBody>
      </p:sp>
      <p:sp>
        <p:nvSpPr>
          <p:cNvPr id="75" name="Connections"/>
          <p:cNvSpPr txBox="1"/>
          <p:nvPr/>
        </p:nvSpPr>
        <p:spPr>
          <a:xfrm>
            <a:off x="723900" y="1762125"/>
            <a:ext cx="2571750"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287B95"/>
                </a:solidFill>
                <a:latin typeface="Chalkboard"/>
                <a:ea typeface="Chalkboard"/>
                <a:cs typeface="Chalkboard"/>
                <a:sym typeface="Chalkboard"/>
              </a:defRPr>
            </a:lvl1pPr>
          </a:lstStyle>
          <a:p>
            <a:pPr/>
            <a:r>
              <a:t>Connections</a:t>
            </a:r>
          </a:p>
        </p:txBody>
      </p:sp>
      <p:sp>
        <p:nvSpPr>
          <p:cNvPr id="76" name="Links carry signals between neurons."/>
          <p:cNvSpPr txBox="1"/>
          <p:nvPr/>
        </p:nvSpPr>
        <p:spPr>
          <a:xfrm>
            <a:off x="723900" y="2114550"/>
            <a:ext cx="3048000"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424548"/>
                </a:solidFill>
                <a:latin typeface="Arial"/>
                <a:ea typeface="Arial"/>
                <a:cs typeface="Arial"/>
                <a:sym typeface="Arial"/>
              </a:defRPr>
            </a:lvl1pPr>
          </a:lstStyle>
          <a:p>
            <a:pPr/>
            <a:r>
              <a:t>Links carry signals between neurons.</a:t>
            </a:r>
          </a:p>
        </p:txBody>
      </p:sp>
      <p:sp>
        <p:nvSpPr>
          <p:cNvPr id="77" name="Line"/>
          <p:cNvSpPr/>
          <p:nvPr/>
        </p:nvSpPr>
        <p:spPr>
          <a:xfrm>
            <a:off x="2666999" y="2562225"/>
            <a:ext cx="1" cy="723901"/>
          </a:xfrm>
          <a:prstGeom prst="line">
            <a:avLst/>
          </a:prstGeom>
          <a:ln w="19050">
            <a:solidFill>
              <a:srgbClr val="287B95"/>
            </a:solidFill>
          </a:ln>
        </p:spPr>
        <p:txBody>
          <a:bodyPr lIns="0" tIns="0" rIns="0" bIns="0"/>
          <a:lstStyle/>
          <a:p>
            <a:pPr/>
          </a:p>
        </p:txBody>
      </p:sp>
      <p:sp>
        <p:nvSpPr>
          <p:cNvPr id="78" name="Weights and biases"/>
          <p:cNvSpPr txBox="1"/>
          <p:nvPr/>
        </p:nvSpPr>
        <p:spPr>
          <a:xfrm>
            <a:off x="4038600" y="1762125"/>
            <a:ext cx="4095750"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8E7052"/>
                </a:solidFill>
                <a:latin typeface="Chalkboard"/>
                <a:ea typeface="Chalkboard"/>
                <a:cs typeface="Chalkboard"/>
                <a:sym typeface="Chalkboard"/>
              </a:defRPr>
            </a:lvl1pPr>
          </a:lstStyle>
          <a:p>
            <a:pPr/>
            <a:r>
              <a:t>Weights and biases</a:t>
            </a:r>
          </a:p>
        </p:txBody>
      </p:sp>
      <p:sp>
        <p:nvSpPr>
          <p:cNvPr id="79" name="Weights scale each signal.…"/>
          <p:cNvSpPr txBox="1"/>
          <p:nvPr/>
        </p:nvSpPr>
        <p:spPr>
          <a:xfrm>
            <a:off x="4038600" y="2114550"/>
            <a:ext cx="4191000"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424548"/>
                </a:solidFill>
                <a:latin typeface="Arial"/>
                <a:ea typeface="Arial"/>
                <a:cs typeface="Arial"/>
                <a:sym typeface="Arial"/>
              </a:defRPr>
            </a:pPr>
            <a:r>
              <a:t>Weights scale each signal.</a:t>
            </a:r>
          </a:p>
          <a:p>
            <a:pPr>
              <a:defRPr sz="1500">
                <a:solidFill>
                  <a:srgbClr val="424548"/>
                </a:solidFill>
                <a:latin typeface="Arial"/>
                <a:ea typeface="Arial"/>
                <a:cs typeface="Arial"/>
                <a:sym typeface="Arial"/>
              </a:defRPr>
            </a:pPr>
            <a:r>
              <a:t>Biases shift a neuron’s activation.</a:t>
            </a:r>
          </a:p>
        </p:txBody>
      </p:sp>
      <p:sp>
        <p:nvSpPr>
          <p:cNvPr id="80" name="w"/>
          <p:cNvSpPr txBox="1"/>
          <p:nvPr/>
        </p:nvSpPr>
        <p:spPr>
          <a:xfrm>
            <a:off x="4619625" y="3248025"/>
            <a:ext cx="266700" cy="2765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8E7052"/>
                </a:solidFill>
                <a:latin typeface="Chalkboard"/>
                <a:ea typeface="Chalkboard"/>
                <a:cs typeface="Chalkboard"/>
                <a:sym typeface="Chalkboard"/>
              </a:defRPr>
            </a:lvl1pPr>
          </a:lstStyle>
          <a:p>
            <a:pPr/>
            <a:r>
              <a:t>w</a:t>
            </a:r>
          </a:p>
        </p:txBody>
      </p:sp>
      <p:sp>
        <p:nvSpPr>
          <p:cNvPr id="81" name="+ b"/>
          <p:cNvSpPr txBox="1"/>
          <p:nvPr/>
        </p:nvSpPr>
        <p:spPr>
          <a:xfrm>
            <a:off x="3790950" y="3086100"/>
            <a:ext cx="504825" cy="26400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8E7052"/>
                </a:solidFill>
                <a:latin typeface="Chalkboard"/>
                <a:ea typeface="Chalkboard"/>
                <a:cs typeface="Chalkboard"/>
                <a:sym typeface="Chalkboard"/>
              </a:defRPr>
            </a:lvl1pPr>
          </a:lstStyle>
          <a:p>
            <a:pPr/>
            <a:r>
              <a:t>+ b</a:t>
            </a:r>
          </a:p>
        </p:txBody>
      </p:sp>
      <p:sp>
        <p:nvSpPr>
          <p:cNvPr id="82" name="Neurons"/>
          <p:cNvSpPr txBox="1"/>
          <p:nvPr/>
        </p:nvSpPr>
        <p:spPr>
          <a:xfrm>
            <a:off x="9058275" y="1762125"/>
            <a:ext cx="2476500"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8754A0"/>
                </a:solidFill>
                <a:latin typeface="Chalkboard"/>
                <a:ea typeface="Chalkboard"/>
                <a:cs typeface="Chalkboard"/>
                <a:sym typeface="Chalkboard"/>
              </a:defRPr>
            </a:lvl1pPr>
          </a:lstStyle>
          <a:p>
            <a:pPr/>
            <a:r>
              <a:t>Neurons</a:t>
            </a:r>
          </a:p>
        </p:txBody>
      </p:sp>
      <p:sp>
        <p:nvSpPr>
          <p:cNvPr id="83" name="Each unit receives inputs…"/>
          <p:cNvSpPr txBox="1"/>
          <p:nvPr/>
        </p:nvSpPr>
        <p:spPr>
          <a:xfrm>
            <a:off x="9058275" y="2133600"/>
            <a:ext cx="2466975" cy="6414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424548"/>
                </a:solidFill>
                <a:latin typeface="Arial"/>
                <a:ea typeface="Arial"/>
                <a:cs typeface="Arial"/>
                <a:sym typeface="Arial"/>
              </a:defRPr>
            </a:pPr>
            <a:r>
              <a:t>Each unit receives inputs</a:t>
            </a:r>
          </a:p>
          <a:p>
            <a:pPr>
              <a:defRPr sz="1500">
                <a:solidFill>
                  <a:srgbClr val="424548"/>
                </a:solidFill>
                <a:latin typeface="Arial"/>
                <a:ea typeface="Arial"/>
                <a:cs typeface="Arial"/>
                <a:sym typeface="Arial"/>
              </a:defRPr>
            </a:pPr>
            <a:r>
              <a:t>and applies an activation</a:t>
            </a:r>
          </a:p>
          <a:p>
            <a:pPr>
              <a:defRPr sz="1500">
                <a:solidFill>
                  <a:srgbClr val="424548"/>
                </a:solidFill>
                <a:latin typeface="Arial"/>
                <a:ea typeface="Arial"/>
                <a:cs typeface="Arial"/>
                <a:sym typeface="Arial"/>
              </a:defRPr>
            </a:pPr>
            <a:r>
              <a:t>function.</a:t>
            </a:r>
          </a:p>
        </p:txBody>
      </p:sp>
      <p:sp>
        <p:nvSpPr>
          <p:cNvPr id="84" name="Inside one neuron"/>
          <p:cNvSpPr txBox="1"/>
          <p:nvPr/>
        </p:nvSpPr>
        <p:spPr>
          <a:xfrm>
            <a:off x="9058275" y="3105150"/>
            <a:ext cx="24574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8754A0"/>
                </a:solidFill>
                <a:latin typeface="Chalkboard"/>
                <a:ea typeface="Chalkboard"/>
                <a:cs typeface="Chalkboard"/>
                <a:sym typeface="Chalkboard"/>
              </a:defRPr>
            </a:lvl1pPr>
          </a:lstStyle>
          <a:p>
            <a:pPr/>
            <a:r>
              <a:t>Inside one neuron</a:t>
            </a:r>
          </a:p>
        </p:txBody>
      </p:sp>
      <p:sp>
        <p:nvSpPr>
          <p:cNvPr id="85" name="z = Σ(w × input) + b"/>
          <p:cNvSpPr txBox="1"/>
          <p:nvPr/>
        </p:nvSpPr>
        <p:spPr>
          <a:xfrm>
            <a:off x="9058275" y="3438525"/>
            <a:ext cx="2571750"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424548"/>
                </a:solidFill>
                <a:latin typeface="Arial"/>
                <a:ea typeface="Arial"/>
                <a:cs typeface="Arial"/>
                <a:sym typeface="Arial"/>
              </a:defRPr>
            </a:lvl1pPr>
          </a:lstStyle>
          <a:p>
            <a:pPr/>
            <a:r>
              <a:t>z = Σ(w × input) + b</a:t>
            </a:r>
          </a:p>
        </p:txBody>
      </p:sp>
      <p:sp>
        <p:nvSpPr>
          <p:cNvPr id="86" name="output = f(z)"/>
          <p:cNvSpPr txBox="1"/>
          <p:nvPr/>
        </p:nvSpPr>
        <p:spPr>
          <a:xfrm>
            <a:off x="9058275" y="3810000"/>
            <a:ext cx="25431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8754A0"/>
                </a:solidFill>
                <a:latin typeface="Chalkboard"/>
                <a:ea typeface="Chalkboard"/>
                <a:cs typeface="Chalkboard"/>
                <a:sym typeface="Chalkboard"/>
              </a:defRPr>
            </a:lvl1pPr>
          </a:lstStyle>
          <a:p>
            <a:pPr/>
            <a:r>
              <a:t>output = f(z)</a:t>
            </a:r>
          </a:p>
        </p:txBody>
      </p:sp>
      <p:sp>
        <p:nvSpPr>
          <p:cNvPr id="87" name="For ReLU, the threshold is 0:…"/>
          <p:cNvSpPr txBox="1"/>
          <p:nvPr/>
        </p:nvSpPr>
        <p:spPr>
          <a:xfrm>
            <a:off x="9058275" y="4238625"/>
            <a:ext cx="2524125" cy="60378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424548"/>
                </a:solidFill>
                <a:latin typeface="Arial"/>
                <a:ea typeface="Arial"/>
                <a:cs typeface="Arial"/>
                <a:sym typeface="Arial"/>
              </a:defRPr>
            </a:pPr>
            <a:r>
              <a:t>For ReLU, the threshold is 0:</a:t>
            </a:r>
          </a:p>
          <a:p>
            <a:pPr>
              <a:defRPr sz="1400">
                <a:solidFill>
                  <a:srgbClr val="424548"/>
                </a:solidFill>
                <a:latin typeface="Arial"/>
                <a:ea typeface="Arial"/>
                <a:cs typeface="Arial"/>
                <a:sym typeface="Arial"/>
              </a:defRPr>
            </a:pPr>
            <a:r>
              <a:t>negative z gives 0,</a:t>
            </a:r>
          </a:p>
          <a:p>
            <a:pPr>
              <a:defRPr sz="1400">
                <a:solidFill>
                  <a:srgbClr val="424548"/>
                </a:solidFill>
                <a:latin typeface="Arial"/>
                <a:ea typeface="Arial"/>
                <a:cs typeface="Arial"/>
                <a:sym typeface="Arial"/>
              </a:defRPr>
            </a:pPr>
            <a:r>
              <a:t>positive z passes through.</a:t>
            </a:r>
          </a:p>
        </p:txBody>
      </p:sp>
      <p:sp>
        <p:nvSpPr>
          <p:cNvPr id="88" name="Line"/>
          <p:cNvSpPr/>
          <p:nvPr/>
        </p:nvSpPr>
        <p:spPr>
          <a:xfrm>
            <a:off x="8620125" y="4076699"/>
            <a:ext cx="276226" cy="1"/>
          </a:xfrm>
          <a:prstGeom prst="line">
            <a:avLst/>
          </a:prstGeom>
          <a:ln w="19050">
            <a:solidFill>
              <a:srgbClr val="8754A0"/>
            </a:solidFill>
          </a:ln>
        </p:spPr>
        <p:txBody>
          <a:bodyPr lIns="0" tIns="0" rIns="0" bIns="0"/>
          <a:lstStyle/>
          <a:p>
            <a:pPr/>
          </a:p>
        </p:txBody>
      </p:sp>
      <p:sp>
        <p:nvSpPr>
          <p:cNvPr id="89" name="Line"/>
          <p:cNvSpPr/>
          <p:nvPr/>
        </p:nvSpPr>
        <p:spPr>
          <a:xfrm>
            <a:off x="5924550" y="4581524"/>
            <a:ext cx="2695576" cy="1"/>
          </a:xfrm>
          <a:prstGeom prst="line">
            <a:avLst/>
          </a:prstGeom>
          <a:ln w="14288">
            <a:solidFill>
              <a:srgbClr val="8754A0"/>
            </a:solidFill>
          </a:ln>
        </p:spPr>
        <p:txBody>
          <a:bodyPr lIns="0" tIns="0" rIns="0" bIns="0"/>
          <a:lstStyle/>
          <a:p>
            <a:pPr/>
          </a:p>
        </p:txBody>
      </p:sp>
      <p:sp>
        <p:nvSpPr>
          <p:cNvPr id="90" name="Line"/>
          <p:cNvSpPr/>
          <p:nvPr/>
        </p:nvSpPr>
        <p:spPr>
          <a:xfrm flipV="1">
            <a:off x="8620124" y="4076700"/>
            <a:ext cx="1" cy="504826"/>
          </a:xfrm>
          <a:prstGeom prst="line">
            <a:avLst/>
          </a:prstGeom>
          <a:ln w="14288">
            <a:solidFill>
              <a:srgbClr val="8754A0"/>
            </a:solidFill>
          </a:ln>
        </p:spPr>
        <p:txBody>
          <a:bodyPr lIns="0" tIns="0" rIns="0" bIns="0"/>
          <a:lstStyle/>
          <a:p>
            <a:pPr/>
          </a:p>
        </p:txBody>
      </p:sp>
      <p:sp>
        <p:nvSpPr>
          <p:cNvPr id="91" name="Line"/>
          <p:cNvSpPr/>
          <p:nvPr/>
        </p:nvSpPr>
        <p:spPr>
          <a:xfrm>
            <a:off x="1628775" y="5300662"/>
            <a:ext cx="5895976" cy="1"/>
          </a:xfrm>
          <a:prstGeom prst="line">
            <a:avLst/>
          </a:prstGeom>
          <a:ln w="23813">
            <a:solidFill>
              <a:srgbClr val="287B95"/>
            </a:solidFill>
            <a:tailEnd type="triangle"/>
          </a:ln>
        </p:spPr>
        <p:txBody>
          <a:bodyPr lIns="0" tIns="0" rIns="0" bIns="0"/>
          <a:lstStyle/>
          <a:p>
            <a:pPr/>
          </a:p>
        </p:txBody>
      </p:sp>
      <p:sp>
        <p:nvSpPr>
          <p:cNvPr id="92" name="Propagation functions"/>
          <p:cNvSpPr txBox="1"/>
          <p:nvPr/>
        </p:nvSpPr>
        <p:spPr>
          <a:xfrm>
            <a:off x="723900" y="5514975"/>
            <a:ext cx="4095750"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287B95"/>
                </a:solidFill>
                <a:latin typeface="Chalkboard"/>
                <a:ea typeface="Chalkboard"/>
                <a:cs typeface="Chalkboard"/>
                <a:sym typeface="Chalkboard"/>
              </a:defRPr>
            </a:lvl1pPr>
          </a:lstStyle>
          <a:p>
            <a:pPr/>
            <a:r>
              <a:t>Propagation functions</a:t>
            </a:r>
          </a:p>
        </p:txBody>
      </p:sp>
      <p:sp>
        <p:nvSpPr>
          <p:cNvPr id="93" name="Sum weighted inputs, apply f(z),…"/>
          <p:cNvSpPr txBox="1"/>
          <p:nvPr/>
        </p:nvSpPr>
        <p:spPr>
          <a:xfrm>
            <a:off x="723900" y="5838825"/>
            <a:ext cx="447675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424548"/>
                </a:solidFill>
                <a:latin typeface="Arial"/>
                <a:ea typeface="Arial"/>
                <a:cs typeface="Arial"/>
                <a:sym typeface="Arial"/>
              </a:defRPr>
            </a:pPr>
            <a:r>
              <a:t>Sum weighted inputs, apply f(z),</a:t>
            </a:r>
          </a:p>
          <a:p>
            <a:pPr>
              <a:defRPr sz="1400">
                <a:solidFill>
                  <a:srgbClr val="424548"/>
                </a:solidFill>
                <a:latin typeface="Arial"/>
                <a:ea typeface="Arial"/>
                <a:cs typeface="Arial"/>
                <a:sym typeface="Arial"/>
              </a:defRPr>
            </a:pPr>
            <a:r>
              <a:t>and pass outputs to the next layer.</a:t>
            </a:r>
          </a:p>
        </p:txBody>
      </p:sp>
      <p:sp>
        <p:nvSpPr>
          <p:cNvPr id="94" name="Line"/>
          <p:cNvSpPr/>
          <p:nvPr/>
        </p:nvSpPr>
        <p:spPr>
          <a:xfrm>
            <a:off x="7810499" y="4324350"/>
            <a:ext cx="1" cy="1143001"/>
          </a:xfrm>
          <a:prstGeom prst="line">
            <a:avLst/>
          </a:prstGeom>
          <a:ln w="19050">
            <a:solidFill>
              <a:srgbClr val="A45F57"/>
            </a:solidFill>
          </a:ln>
        </p:spPr>
        <p:txBody>
          <a:bodyPr lIns="0" tIns="0" rIns="0" bIns="0"/>
          <a:lstStyle/>
          <a:p>
            <a:pPr/>
          </a:p>
        </p:txBody>
      </p:sp>
      <p:sp>
        <p:nvSpPr>
          <p:cNvPr id="95" name="Line"/>
          <p:cNvSpPr/>
          <p:nvPr/>
        </p:nvSpPr>
        <p:spPr>
          <a:xfrm flipH="1" flipV="1">
            <a:off x="3571874" y="5472112"/>
            <a:ext cx="4238626" cy="1"/>
          </a:xfrm>
          <a:prstGeom prst="line">
            <a:avLst/>
          </a:prstGeom>
          <a:ln w="23813">
            <a:solidFill>
              <a:srgbClr val="A45F57"/>
            </a:solidFill>
            <a:tailEnd type="triangle"/>
          </a:ln>
        </p:spPr>
        <p:txBody>
          <a:bodyPr lIns="0" tIns="0" rIns="0" bIns="0"/>
          <a:lstStyle/>
          <a:p>
            <a:pPr/>
          </a:p>
        </p:txBody>
      </p:sp>
      <p:sp>
        <p:nvSpPr>
          <p:cNvPr id="96" name="Line"/>
          <p:cNvSpPr/>
          <p:nvPr/>
        </p:nvSpPr>
        <p:spPr>
          <a:xfrm flipV="1">
            <a:off x="3567112" y="5095874"/>
            <a:ext cx="1" cy="371476"/>
          </a:xfrm>
          <a:prstGeom prst="line">
            <a:avLst/>
          </a:prstGeom>
          <a:ln w="23813">
            <a:solidFill>
              <a:srgbClr val="A45F57"/>
            </a:solidFill>
            <a:tailEnd type="triangle"/>
          </a:ln>
        </p:spPr>
        <p:txBody>
          <a:bodyPr lIns="0" tIns="0" rIns="0" bIns="0"/>
          <a:lstStyle/>
          <a:p>
            <a:pPr/>
          </a:p>
        </p:txBody>
      </p:sp>
      <p:sp>
        <p:nvSpPr>
          <p:cNvPr id="97" name="Learning rule"/>
          <p:cNvSpPr txBox="1"/>
          <p:nvPr/>
        </p:nvSpPr>
        <p:spPr>
          <a:xfrm>
            <a:off x="5791200" y="5543550"/>
            <a:ext cx="3238500"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A45F57"/>
                </a:solidFill>
                <a:latin typeface="Chalkboard"/>
                <a:ea typeface="Chalkboard"/>
                <a:cs typeface="Chalkboard"/>
                <a:sym typeface="Chalkboard"/>
              </a:defRPr>
            </a:lvl1pPr>
          </a:lstStyle>
          <a:p>
            <a:pPr/>
            <a:r>
              <a:t>Learning rule</a:t>
            </a:r>
          </a:p>
        </p:txBody>
      </p:sp>
      <p:sp>
        <p:nvSpPr>
          <p:cNvPr id="98" name="Prediction error guides repeated updates…"/>
          <p:cNvSpPr txBox="1"/>
          <p:nvPr/>
        </p:nvSpPr>
        <p:spPr>
          <a:xfrm>
            <a:off x="5791200" y="5867400"/>
            <a:ext cx="5715000" cy="3755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424548"/>
                </a:solidFill>
                <a:latin typeface="Arial"/>
                <a:ea typeface="Arial"/>
                <a:cs typeface="Arial"/>
                <a:sym typeface="Arial"/>
              </a:defRPr>
            </a:pPr>
            <a:r>
              <a:t>Prediction error guides repeated updates</a:t>
            </a:r>
          </a:p>
          <a:p>
            <a:pPr>
              <a:defRPr sz="1300">
                <a:solidFill>
                  <a:srgbClr val="424548"/>
                </a:solidFill>
                <a:latin typeface="Arial"/>
                <a:ea typeface="Arial"/>
                <a:cs typeface="Arial"/>
                <a:sym typeface="Arial"/>
              </a:defRPr>
            </a:pPr>
            <a:r>
              <a:t>to weights and biases to improve accuracy.</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102" name="Rounded Rectangle"/>
          <p:cNvSpPr/>
          <p:nvPr/>
        </p:nvSpPr>
        <p:spPr>
          <a:xfrm>
            <a:off x="228600" y="228600"/>
            <a:ext cx="11734800" cy="6019800"/>
          </a:xfrm>
          <a:prstGeom prst="roundRect">
            <a:avLst>
              <a:gd name="adj" fmla="val 2848"/>
            </a:avLst>
          </a:prstGeom>
          <a:solidFill>
            <a:srgbClr val="FCFBF8"/>
          </a:solidFill>
          <a:ln>
            <a:solidFill>
              <a:srgbClr val="D9CDBB"/>
            </a:solidFill>
          </a:ln>
        </p:spPr>
        <p:txBody>
          <a:bodyPr lIns="0" tIns="0" rIns="0" bIns="0"/>
          <a:lstStyle/>
          <a:p>
            <a:pPr/>
          </a:p>
        </p:txBody>
      </p:sp>
      <p:sp>
        <p:nvSpPr>
          <p:cNvPr id="103" name="02"/>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02</a:t>
            </a:r>
          </a:p>
        </p:txBody>
      </p:sp>
      <p:sp>
        <p:nvSpPr>
          <p:cNvPr id="104" name="NEURAL NETWORKS"/>
          <p:cNvSpPr txBox="1"/>
          <p:nvPr/>
        </p:nvSpPr>
        <p:spPr>
          <a:xfrm>
            <a:off x="628650" y="723217"/>
            <a:ext cx="5238750" cy="17281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424548"/>
                </a:solidFill>
                <a:latin typeface="Arial"/>
                <a:ea typeface="Arial"/>
                <a:cs typeface="Arial"/>
                <a:sym typeface="Arial"/>
              </a:defRPr>
            </a:lvl1pPr>
          </a:lstStyle>
          <a:p>
            <a:pPr/>
            <a:r>
              <a:t>NEURAL NETWORKS</a:t>
            </a:r>
          </a:p>
        </p:txBody>
      </p:sp>
      <p:sp>
        <p:nvSpPr>
          <p:cNvPr id="105" name="Spam or…"/>
          <p:cNvSpPr txBox="1"/>
          <p:nvPr/>
        </p:nvSpPr>
        <p:spPr>
          <a:xfrm>
            <a:off x="609600" y="1740346"/>
            <a:ext cx="5857875" cy="13770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4800">
                <a:solidFill>
                  <a:srgbClr val="28282A"/>
                </a:solidFill>
                <a:latin typeface="Arial"/>
                <a:ea typeface="Arial"/>
                <a:cs typeface="Arial"/>
                <a:sym typeface="Arial"/>
              </a:defRPr>
            </a:pPr>
            <a:r>
              <a:t>Spam or</a:t>
            </a:r>
          </a:p>
          <a:p>
            <a:pPr>
              <a:defRPr b="1" sz="4800">
                <a:solidFill>
                  <a:srgbClr val="28282A"/>
                </a:solidFill>
                <a:latin typeface="Arial"/>
                <a:ea typeface="Arial"/>
                <a:cs typeface="Arial"/>
                <a:sym typeface="Arial"/>
              </a:defRPr>
            </a:pPr>
            <a:r>
              <a:t>Not Spam?</a:t>
            </a:r>
          </a:p>
        </p:txBody>
      </p:sp>
      <p:sp>
        <p:nvSpPr>
          <p:cNvPr id="106" name="How an MLP turns…"/>
          <p:cNvSpPr txBox="1"/>
          <p:nvPr/>
        </p:nvSpPr>
        <p:spPr>
          <a:xfrm>
            <a:off x="647700" y="3950049"/>
            <a:ext cx="5267325" cy="75812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2300">
                <a:solidFill>
                  <a:srgbClr val="424548"/>
                </a:solidFill>
                <a:latin typeface="Chalkboard"/>
                <a:ea typeface="Chalkboard"/>
                <a:cs typeface="Chalkboard"/>
                <a:sym typeface="Chalkboard"/>
              </a:defRPr>
            </a:pPr>
            <a:r>
              <a:t>How an MLP turns</a:t>
            </a:r>
          </a:p>
          <a:p>
            <a:pPr>
              <a:defRPr sz="2300">
                <a:solidFill>
                  <a:srgbClr val="424548"/>
                </a:solidFill>
                <a:latin typeface="Chalkboard"/>
                <a:ea typeface="Chalkboard"/>
                <a:cs typeface="Chalkboard"/>
                <a:sym typeface="Chalkboard"/>
              </a:defRPr>
            </a:pPr>
            <a:r>
              <a:t>email features into a decision</a:t>
            </a:r>
          </a:p>
        </p:txBody>
      </p:sp>
      <p:pic>
        <p:nvPicPr>
          <p:cNvPr id="107" name="image3.png" descr="image3.png"/>
          <p:cNvPicPr>
            <a:picLocks noChangeAspect="1"/>
          </p:cNvPicPr>
          <p:nvPr/>
        </p:nvPicPr>
        <p:blipFill>
          <a:blip r:embed="rId3">
            <a:extLst/>
          </a:blip>
          <a:stretch>
            <a:fillRect/>
          </a:stretch>
        </p:blipFill>
        <p:spPr>
          <a:xfrm>
            <a:off x="6286500" y="666750"/>
            <a:ext cx="5334000" cy="5334000"/>
          </a:xfrm>
          <a:prstGeom prst="rect">
            <a:avLst/>
          </a:prstGeom>
          <a:ln w="12700">
            <a:miter lim="400000"/>
          </a:ln>
        </p:spPr>
      </p:pic>
      <p:sp>
        <p:nvSpPr>
          <p:cNvPr id="108"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112"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113"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114" name="The classification problem"/>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The classification problem</a:t>
            </a:r>
          </a:p>
        </p:txBody>
      </p:sp>
      <p:sp>
        <p:nvSpPr>
          <p:cNvPr id="115" name="An email becomes numeric features, then a probability and a class."/>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An email becomes numeric features, then a probability and a class.</a:t>
            </a:r>
          </a:p>
        </p:txBody>
      </p:sp>
      <p:sp>
        <p:nvSpPr>
          <p:cNvPr id="116" name="03"/>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03</a:t>
            </a:r>
          </a:p>
        </p:txBody>
      </p:sp>
      <p:sp>
        <p:nvSpPr>
          <p:cNvPr id="117" name="Shape"/>
          <p:cNvSpPr/>
          <p:nvPr/>
        </p:nvSpPr>
        <p:spPr>
          <a:xfrm rot="21557999">
            <a:off x="628650" y="2219324"/>
            <a:ext cx="3114676" cy="259080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98" y="159"/>
                </a:moveTo>
                <a:lnTo>
                  <a:pt x="7580" y="0"/>
                </a:lnTo>
                <a:lnTo>
                  <a:pt x="15523" y="159"/>
                </a:lnTo>
                <a:lnTo>
                  <a:pt x="21468" y="79"/>
                </a:lnTo>
                <a:lnTo>
                  <a:pt x="21600" y="10800"/>
                </a:lnTo>
                <a:lnTo>
                  <a:pt x="21534" y="21441"/>
                </a:lnTo>
                <a:lnTo>
                  <a:pt x="14020" y="21600"/>
                </a:lnTo>
                <a:lnTo>
                  <a:pt x="6506" y="21441"/>
                </a:lnTo>
                <a:lnTo>
                  <a:pt x="66" y="21521"/>
                </a:lnTo>
                <a:lnTo>
                  <a:pt x="0" y="10800"/>
                </a:lnTo>
                <a:lnTo>
                  <a:pt x="198" y="159"/>
                </a:lnTo>
                <a:close/>
              </a:path>
            </a:pathLst>
          </a:custGeom>
          <a:solidFill>
            <a:srgbClr val="DCEAF7"/>
          </a:solidFill>
          <a:ln w="22384">
            <a:solidFill>
              <a:srgbClr val="355070"/>
            </a:solidFill>
          </a:ln>
        </p:spPr>
        <p:txBody>
          <a:bodyPr lIns="0" tIns="0" rIns="0" bIns="0"/>
          <a:lstStyle/>
          <a:p>
            <a:pPr/>
          </a:p>
        </p:txBody>
      </p:sp>
      <p:sp>
        <p:nvSpPr>
          <p:cNvPr id="118" name="EXAMPLE EMAIL"/>
          <p:cNvSpPr txBox="1"/>
          <p:nvPr/>
        </p:nvSpPr>
        <p:spPr>
          <a:xfrm>
            <a:off x="866775" y="2437654"/>
            <a:ext cx="2638425" cy="20151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000">
                <a:solidFill>
                  <a:srgbClr val="62616A"/>
                </a:solidFill>
                <a:latin typeface="Chalkboard"/>
                <a:ea typeface="Chalkboard"/>
                <a:cs typeface="Chalkboard"/>
                <a:sym typeface="Chalkboard"/>
              </a:defRPr>
            </a:lvl1pPr>
          </a:lstStyle>
          <a:p>
            <a:pPr/>
            <a:r>
              <a:t>EXAMPLE EMAIL</a:t>
            </a:r>
          </a:p>
        </p:txBody>
      </p:sp>
      <p:sp>
        <p:nvSpPr>
          <p:cNvPr id="119" name="You WON a FREE iPhone!"/>
          <p:cNvSpPr txBox="1"/>
          <p:nvPr/>
        </p:nvSpPr>
        <p:spPr>
          <a:xfrm>
            <a:off x="866775" y="2765521"/>
            <a:ext cx="2638425" cy="7840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2000">
                <a:solidFill>
                  <a:srgbClr val="28282A"/>
                </a:solidFill>
                <a:latin typeface="Chalkboard"/>
                <a:ea typeface="Chalkboard"/>
                <a:cs typeface="Chalkboard"/>
                <a:sym typeface="Chalkboard"/>
              </a:defRPr>
            </a:lvl1pPr>
          </a:lstStyle>
          <a:p>
            <a:pPr/>
            <a:r>
              <a:t>You WON a FREE iPhone!</a:t>
            </a:r>
          </a:p>
        </p:txBody>
      </p:sp>
      <p:sp>
        <p:nvSpPr>
          <p:cNvPr id="120" name="Congratulations!…"/>
          <p:cNvSpPr txBox="1"/>
          <p:nvPr/>
        </p:nvSpPr>
        <p:spPr>
          <a:xfrm>
            <a:off x="866775" y="3575406"/>
            <a:ext cx="2638425" cy="7549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700">
                <a:solidFill>
                  <a:srgbClr val="28282A"/>
                </a:solidFill>
                <a:latin typeface="Arial"/>
                <a:ea typeface="Arial"/>
                <a:cs typeface="Arial"/>
                <a:sym typeface="Arial"/>
              </a:defRPr>
            </a:pPr>
            <a:r>
              <a:t>Congratulations!</a:t>
            </a:r>
          </a:p>
          <a:p>
            <a:pPr>
              <a:defRPr sz="1700">
                <a:solidFill>
                  <a:srgbClr val="28282A"/>
                </a:solidFill>
                <a:latin typeface="Arial"/>
                <a:ea typeface="Arial"/>
                <a:cs typeface="Arial"/>
                <a:sym typeface="Arial"/>
              </a:defRPr>
            </a:pPr>
            <a:r>
              <a:t>Click here now to claim your prize.</a:t>
            </a:r>
          </a:p>
        </p:txBody>
      </p:sp>
      <p:sp>
        <p:nvSpPr>
          <p:cNvPr id="121" name="special-offer@deals.com"/>
          <p:cNvSpPr txBox="1"/>
          <p:nvPr/>
        </p:nvSpPr>
        <p:spPr>
          <a:xfrm>
            <a:off x="866775" y="4463472"/>
            <a:ext cx="2638425" cy="18848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62616A"/>
                </a:solidFill>
                <a:latin typeface="Chalkboard"/>
                <a:ea typeface="Chalkboard"/>
                <a:cs typeface="Chalkboard"/>
                <a:sym typeface="Chalkboard"/>
              </a:defRPr>
            </a:lvl1pPr>
          </a:lstStyle>
          <a:p>
            <a:pPr/>
            <a:r>
              <a:t>special-offer@deals.com</a:t>
            </a:r>
          </a:p>
        </p:txBody>
      </p:sp>
      <p:sp>
        <p:nvSpPr>
          <p:cNvPr id="122" name="[1, 1, 1, 0]ᵀ"/>
          <p:cNvSpPr txBox="1"/>
          <p:nvPr/>
        </p:nvSpPr>
        <p:spPr>
          <a:xfrm>
            <a:off x="4095750" y="2646876"/>
            <a:ext cx="2571750" cy="40219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[1, 1, 1, 0]ᵀ</a:t>
            </a:r>
          </a:p>
        </p:txBody>
      </p:sp>
      <p:sp>
        <p:nvSpPr>
          <p:cNvPr id="123" name="Line"/>
          <p:cNvSpPr/>
          <p:nvPr/>
        </p:nvSpPr>
        <p:spPr>
          <a:xfrm>
            <a:off x="3933825" y="3372808"/>
            <a:ext cx="2781301" cy="1594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602"/>
                </a:moveTo>
                <a:lnTo>
                  <a:pt x="1733" y="0"/>
                </a:lnTo>
                <a:lnTo>
                  <a:pt x="3558" y="4224"/>
                </a:lnTo>
                <a:lnTo>
                  <a:pt x="5402" y="11915"/>
                </a:lnTo>
                <a:lnTo>
                  <a:pt x="7208" y="12916"/>
                </a:lnTo>
                <a:lnTo>
                  <a:pt x="8939" y="922"/>
                </a:lnTo>
                <a:lnTo>
                  <a:pt x="10772" y="6750"/>
                </a:lnTo>
                <a:lnTo>
                  <a:pt x="12562" y="4893"/>
                </a:lnTo>
                <a:lnTo>
                  <a:pt x="14454" y="21045"/>
                </a:lnTo>
                <a:lnTo>
                  <a:pt x="16257" y="21516"/>
                </a:lnTo>
                <a:lnTo>
                  <a:pt x="18057" y="21600"/>
                </a:lnTo>
                <a:lnTo>
                  <a:pt x="19737" y="562"/>
                </a:lnTo>
                <a:lnTo>
                  <a:pt x="21600" y="11602"/>
                </a:lnTo>
              </a:path>
            </a:pathLst>
          </a:custGeom>
          <a:ln w="20479">
            <a:solidFill>
              <a:srgbClr val="355070"/>
            </a:solidFill>
            <a:prstDash val="dash"/>
          </a:ln>
        </p:spPr>
        <p:txBody>
          <a:bodyPr lIns="0" tIns="0" rIns="0" bIns="0"/>
          <a:lstStyle/>
          <a:p>
            <a:pPr/>
          </a:p>
        </p:txBody>
      </p:sp>
      <p:sp>
        <p:nvSpPr>
          <p:cNvPr id="124" name="Line"/>
          <p:cNvSpPr/>
          <p:nvPr/>
        </p:nvSpPr>
        <p:spPr>
          <a:xfrm>
            <a:off x="6620781" y="333580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2A9D8F"/>
            </a:solidFill>
          </a:ln>
        </p:spPr>
        <p:txBody>
          <a:bodyPr lIns="0" tIns="0" rIns="0" bIns="0"/>
          <a:lstStyle/>
          <a:p>
            <a:pPr/>
          </a:p>
        </p:txBody>
      </p:sp>
      <p:sp>
        <p:nvSpPr>
          <p:cNvPr id="125" name="Feature extraction"/>
          <p:cNvSpPr txBox="1"/>
          <p:nvPr/>
        </p:nvSpPr>
        <p:spPr>
          <a:xfrm>
            <a:off x="4095750" y="3846440"/>
            <a:ext cx="255270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62616A"/>
                </a:solidFill>
                <a:latin typeface="Chalkboard"/>
                <a:ea typeface="Chalkboard"/>
                <a:cs typeface="Chalkboard"/>
                <a:sym typeface="Chalkboard"/>
              </a:defRPr>
            </a:lvl1pPr>
          </a:lstStyle>
          <a:p>
            <a:pPr/>
            <a:r>
              <a:t>Feature extraction</a:t>
            </a:r>
          </a:p>
        </p:txBody>
      </p:sp>
      <p:sp>
        <p:nvSpPr>
          <p:cNvPr id="126" name="Shape"/>
          <p:cNvSpPr/>
          <p:nvPr/>
        </p:nvSpPr>
        <p:spPr>
          <a:xfrm>
            <a:off x="6994114" y="2758571"/>
            <a:ext cx="1260194" cy="125995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127" name="MLP"/>
          <p:cNvSpPr txBox="1"/>
          <p:nvPr/>
        </p:nvSpPr>
        <p:spPr>
          <a:xfrm>
            <a:off x="7038975" y="3192811"/>
            <a:ext cx="1162050"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424548"/>
                </a:solidFill>
                <a:latin typeface="Chalkboard"/>
                <a:ea typeface="Chalkboard"/>
                <a:cs typeface="Chalkboard"/>
                <a:sym typeface="Chalkboard"/>
              </a:defRPr>
            </a:lvl1pPr>
          </a:lstStyle>
          <a:p>
            <a:pPr/>
            <a:r>
              <a:t>MLP</a:t>
            </a:r>
          </a:p>
        </p:txBody>
      </p:sp>
      <p:sp>
        <p:nvSpPr>
          <p:cNvPr id="128" name="Line"/>
          <p:cNvSpPr/>
          <p:nvPr/>
        </p:nvSpPr>
        <p:spPr>
          <a:xfrm rot="21557999">
            <a:off x="8372475" y="2590799"/>
            <a:ext cx="895351" cy="7905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64" y="19759"/>
                </a:lnTo>
                <a:lnTo>
                  <a:pt x="3416" y="17792"/>
                </a:lnTo>
                <a:lnTo>
                  <a:pt x="5452" y="16258"/>
                </a:lnTo>
                <a:lnTo>
                  <a:pt x="7205" y="14406"/>
                </a:lnTo>
                <a:lnTo>
                  <a:pt x="9164" y="12785"/>
                </a:lnTo>
                <a:lnTo>
                  <a:pt x="10818" y="10821"/>
                </a:lnTo>
                <a:lnTo>
                  <a:pt x="12543" y="8935"/>
                </a:lnTo>
                <a:lnTo>
                  <a:pt x="14202" y="6975"/>
                </a:lnTo>
                <a:lnTo>
                  <a:pt x="16052" y="5232"/>
                </a:lnTo>
                <a:lnTo>
                  <a:pt x="18050" y="3657"/>
                </a:lnTo>
                <a:lnTo>
                  <a:pt x="19708" y="1696"/>
                </a:lnTo>
                <a:lnTo>
                  <a:pt x="21600" y="0"/>
                </a:lnTo>
              </a:path>
            </a:pathLst>
          </a:custGeom>
          <a:solidFill>
            <a:srgbClr val="DCEAF7"/>
          </a:solidFill>
          <a:ln w="22384">
            <a:solidFill>
              <a:srgbClr val="355070"/>
            </a:solidFill>
          </a:ln>
        </p:spPr>
        <p:txBody>
          <a:bodyPr lIns="0" tIns="0" rIns="0" bIns="0"/>
          <a:lstStyle/>
          <a:p>
            <a:pPr/>
          </a:p>
        </p:txBody>
      </p:sp>
      <p:sp>
        <p:nvSpPr>
          <p:cNvPr id="129" name="Line"/>
          <p:cNvSpPr/>
          <p:nvPr/>
        </p:nvSpPr>
        <p:spPr>
          <a:xfrm>
            <a:off x="9166939" y="2590799"/>
            <a:ext cx="100886" cy="9660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2917" y="21600"/>
                </a:moveTo>
                <a:lnTo>
                  <a:pt x="21600" y="0"/>
                </a:lnTo>
                <a:lnTo>
                  <a:pt x="0" y="6324"/>
                </a:lnTo>
              </a:path>
            </a:pathLst>
          </a:custGeom>
          <a:ln w="20479">
            <a:solidFill>
              <a:srgbClr val="2A9D8F"/>
            </a:solidFill>
          </a:ln>
        </p:spPr>
        <p:txBody>
          <a:bodyPr lIns="0" tIns="0" rIns="0" bIns="0"/>
          <a:lstStyle/>
          <a:p>
            <a:pPr/>
          </a:p>
        </p:txBody>
      </p:sp>
      <p:sp>
        <p:nvSpPr>
          <p:cNvPr id="130" name="Line"/>
          <p:cNvSpPr/>
          <p:nvPr/>
        </p:nvSpPr>
        <p:spPr>
          <a:xfrm>
            <a:off x="8372475" y="3381375"/>
            <a:ext cx="895351" cy="1143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75" y="1859"/>
                </a:lnTo>
                <a:lnTo>
                  <a:pt x="3695" y="3675"/>
                </a:lnTo>
                <a:lnTo>
                  <a:pt x="5512" y="5487"/>
                </a:lnTo>
                <a:lnTo>
                  <a:pt x="7310" y="7286"/>
                </a:lnTo>
                <a:lnTo>
                  <a:pt x="8927" y="8942"/>
                </a:lnTo>
                <a:lnTo>
                  <a:pt x="10897" y="10876"/>
                </a:lnTo>
                <a:lnTo>
                  <a:pt x="12622" y="12617"/>
                </a:lnTo>
                <a:lnTo>
                  <a:pt x="14589" y="14548"/>
                </a:lnTo>
                <a:lnTo>
                  <a:pt x="16318" y="16292"/>
                </a:lnTo>
                <a:lnTo>
                  <a:pt x="18134" y="18105"/>
                </a:lnTo>
                <a:lnTo>
                  <a:pt x="19732" y="19747"/>
                </a:lnTo>
                <a:lnTo>
                  <a:pt x="21600" y="21600"/>
                </a:lnTo>
              </a:path>
            </a:pathLst>
          </a:custGeom>
          <a:solidFill>
            <a:srgbClr val="DFF4EA"/>
          </a:solidFill>
          <a:ln w="22384">
            <a:solidFill>
              <a:srgbClr val="2A9D8F"/>
            </a:solidFill>
          </a:ln>
        </p:spPr>
        <p:txBody>
          <a:bodyPr lIns="0" tIns="0" rIns="0" bIns="0"/>
          <a:lstStyle/>
          <a:p>
            <a:pPr/>
          </a:p>
        </p:txBody>
      </p:sp>
      <p:sp>
        <p:nvSpPr>
          <p:cNvPr id="131" name="Line"/>
          <p:cNvSpPr/>
          <p:nvPr/>
        </p:nvSpPr>
        <p:spPr>
          <a:xfrm>
            <a:off x="9173770" y="4422001"/>
            <a:ext cx="94056" cy="10237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859"/>
                </a:moveTo>
                <a:lnTo>
                  <a:pt x="21600" y="21600"/>
                </a:lnTo>
                <a:lnTo>
                  <a:pt x="16478" y="0"/>
                </a:lnTo>
              </a:path>
            </a:pathLst>
          </a:custGeom>
          <a:ln w="20479">
            <a:solidFill>
              <a:srgbClr val="B07A3F"/>
            </a:solidFill>
            <a:prstDash val="dash"/>
          </a:ln>
        </p:spPr>
        <p:txBody>
          <a:bodyPr lIns="0" tIns="0" rIns="0" bIns="0"/>
          <a:lstStyle/>
          <a:p>
            <a:pPr/>
          </a:p>
        </p:txBody>
      </p:sp>
      <p:sp>
        <p:nvSpPr>
          <p:cNvPr id="132" name="Spam"/>
          <p:cNvSpPr txBox="1"/>
          <p:nvPr/>
        </p:nvSpPr>
        <p:spPr>
          <a:xfrm>
            <a:off x="9610725" y="2205976"/>
            <a:ext cx="1971675" cy="4648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8E7052"/>
                </a:solidFill>
                <a:latin typeface="Chalkboard"/>
                <a:ea typeface="Chalkboard"/>
                <a:cs typeface="Chalkboard"/>
                <a:sym typeface="Chalkboard"/>
              </a:defRPr>
            </a:lvl1pPr>
          </a:lstStyle>
          <a:p>
            <a:pPr/>
            <a:r>
              <a:t>Spam</a:t>
            </a:r>
          </a:p>
        </p:txBody>
      </p:sp>
      <p:sp>
        <p:nvSpPr>
          <p:cNvPr id="133" name="p = 0.94"/>
          <p:cNvSpPr txBox="1"/>
          <p:nvPr/>
        </p:nvSpPr>
        <p:spPr>
          <a:xfrm>
            <a:off x="9610725" y="2848239"/>
            <a:ext cx="1971675" cy="35189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rgbClr val="8E7052"/>
                </a:solidFill>
                <a:latin typeface="Chalkboard"/>
                <a:ea typeface="Chalkboard"/>
                <a:cs typeface="Chalkboard"/>
                <a:sym typeface="Chalkboard"/>
              </a:defRPr>
            </a:lvl1pPr>
          </a:lstStyle>
          <a:p>
            <a:pPr/>
            <a:r>
              <a:t>p = 0.94</a:t>
            </a:r>
          </a:p>
        </p:txBody>
      </p:sp>
      <p:sp>
        <p:nvSpPr>
          <p:cNvPr id="134" name="Not Spam"/>
          <p:cNvSpPr txBox="1"/>
          <p:nvPr/>
        </p:nvSpPr>
        <p:spPr>
          <a:xfrm>
            <a:off x="9305925" y="4270892"/>
            <a:ext cx="2276475" cy="40219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500">
                <a:solidFill>
                  <a:srgbClr val="424548"/>
                </a:solidFill>
                <a:latin typeface="Chalkboard"/>
                <a:ea typeface="Chalkboard"/>
                <a:cs typeface="Chalkboard"/>
                <a:sym typeface="Chalkboard"/>
              </a:defRPr>
            </a:lvl1pPr>
          </a:lstStyle>
          <a:p>
            <a:pPr/>
            <a:r>
              <a:t>Not Spam</a:t>
            </a:r>
          </a:p>
        </p:txBody>
      </p:sp>
      <p:sp>
        <p:nvSpPr>
          <p:cNvPr id="135" name="Other possible outcome"/>
          <p:cNvSpPr txBox="1"/>
          <p:nvPr/>
        </p:nvSpPr>
        <p:spPr>
          <a:xfrm>
            <a:off x="9305925" y="4850907"/>
            <a:ext cx="2276475" cy="21371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62616A"/>
                </a:solidFill>
                <a:latin typeface="Chalkboard"/>
                <a:ea typeface="Chalkboard"/>
                <a:cs typeface="Chalkboard"/>
                <a:sym typeface="Chalkboard"/>
              </a:defRPr>
            </a:lvl1pPr>
          </a:lstStyle>
          <a:p>
            <a:pPr/>
            <a:r>
              <a:t>Other possible outcome</a:t>
            </a:r>
          </a:p>
        </p:txBody>
      </p:sp>
      <p:sp>
        <p:nvSpPr>
          <p:cNvPr id="136" name="Binary labels: Spam = 1, Not Spam = 0. The MLP operates on numbers."/>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Binary labels: Spam = 1, Not Spam = 0. The MLP operates on numbers.</a:t>
            </a:r>
          </a:p>
        </p:txBody>
      </p:sp>
      <p:sp>
        <p:nvSpPr>
          <p:cNvPr id="137"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138"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140"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141"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142" name="Four clues become four numbers"/>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Four clues become four numbers</a:t>
            </a:r>
          </a:p>
        </p:txBody>
      </p:sp>
      <p:sp>
        <p:nvSpPr>
          <p:cNvPr id="143" name="Each binary feature answers one yes-or-no question about the example email."/>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Each binary feature answers one yes-or-no question about the example email.</a:t>
            </a:r>
          </a:p>
        </p:txBody>
      </p:sp>
      <p:sp>
        <p:nvSpPr>
          <p:cNvPr id="144" name="04"/>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04</a:t>
            </a:r>
          </a:p>
        </p:txBody>
      </p:sp>
      <p:sp>
        <p:nvSpPr>
          <p:cNvPr id="145" name="“FREE”, “WON”, “prize”"/>
          <p:cNvSpPr txBox="1"/>
          <p:nvPr/>
        </p:nvSpPr>
        <p:spPr>
          <a:xfrm>
            <a:off x="638175" y="2159180"/>
            <a:ext cx="3848100" cy="339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8E7052"/>
                </a:solidFill>
                <a:latin typeface="Chalkboard"/>
                <a:ea typeface="Chalkboard"/>
                <a:cs typeface="Chalkboard"/>
                <a:sym typeface="Chalkboard"/>
              </a:defRPr>
            </a:lvl1pPr>
          </a:lstStyle>
          <a:p>
            <a:pPr/>
            <a:r>
              <a:t>“FREE”, “WON”, “prize”</a:t>
            </a:r>
          </a:p>
        </p:txBody>
      </p:sp>
      <p:sp>
        <p:nvSpPr>
          <p:cNvPr id="146" name="Line"/>
          <p:cNvSpPr/>
          <p:nvPr/>
        </p:nvSpPr>
        <p:spPr>
          <a:xfrm>
            <a:off x="4495800" y="2347033"/>
            <a:ext cx="1276351" cy="1361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8951"/>
                </a:moveTo>
                <a:lnTo>
                  <a:pt x="1722" y="1629"/>
                </a:lnTo>
                <a:lnTo>
                  <a:pt x="3628" y="11558"/>
                </a:lnTo>
                <a:lnTo>
                  <a:pt x="5379" y="6966"/>
                </a:lnTo>
                <a:lnTo>
                  <a:pt x="7268" y="15316"/>
                </a:lnTo>
                <a:lnTo>
                  <a:pt x="9015" y="10347"/>
                </a:lnTo>
                <a:lnTo>
                  <a:pt x="10823" y="11093"/>
                </a:lnTo>
                <a:lnTo>
                  <a:pt x="12505" y="0"/>
                </a:lnTo>
                <a:lnTo>
                  <a:pt x="14432" y="11965"/>
                </a:lnTo>
                <a:lnTo>
                  <a:pt x="16107" y="243"/>
                </a:lnTo>
                <a:lnTo>
                  <a:pt x="18135" y="21600"/>
                </a:lnTo>
                <a:lnTo>
                  <a:pt x="19773" y="6441"/>
                </a:lnTo>
                <a:lnTo>
                  <a:pt x="21600" y="8951"/>
                </a:lnTo>
              </a:path>
            </a:pathLst>
          </a:custGeom>
          <a:ln w="20479">
            <a:solidFill>
              <a:srgbClr val="2A9D8F"/>
            </a:solidFill>
            <a:prstDash val="dashDot"/>
          </a:ln>
        </p:spPr>
        <p:txBody>
          <a:bodyPr lIns="0" tIns="0" rIns="0" bIns="0"/>
          <a:lstStyle/>
          <a:p>
            <a:pPr/>
          </a:p>
        </p:txBody>
      </p:sp>
      <p:sp>
        <p:nvSpPr>
          <p:cNvPr id="147" name="Line"/>
          <p:cNvSpPr/>
          <p:nvPr/>
        </p:nvSpPr>
        <p:spPr>
          <a:xfrm>
            <a:off x="5677806" y="230710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B07A3F"/>
            </a:solidFill>
          </a:ln>
        </p:spPr>
        <p:txBody>
          <a:bodyPr lIns="0" tIns="0" rIns="0" bIns="0"/>
          <a:lstStyle/>
          <a:p>
            <a:pPr/>
          </a:p>
        </p:txBody>
      </p:sp>
      <p:sp>
        <p:nvSpPr>
          <p:cNvPr id="148" name="Spam-like words"/>
          <p:cNvSpPr txBox="1"/>
          <p:nvPr/>
        </p:nvSpPr>
        <p:spPr>
          <a:xfrm>
            <a:off x="6019800" y="2157340"/>
            <a:ext cx="3467100" cy="3525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8282A"/>
                </a:solidFill>
                <a:latin typeface="Chalkboard"/>
                <a:ea typeface="Chalkboard"/>
                <a:cs typeface="Chalkboard"/>
                <a:sym typeface="Chalkboard"/>
              </a:defRPr>
            </a:lvl1pPr>
          </a:lstStyle>
          <a:p>
            <a:pPr/>
            <a:r>
              <a:t>Spam-like words</a:t>
            </a:r>
          </a:p>
        </p:txBody>
      </p:sp>
      <p:sp>
        <p:nvSpPr>
          <p:cNvPr id="149" name="Shape"/>
          <p:cNvSpPr/>
          <p:nvPr/>
        </p:nvSpPr>
        <p:spPr>
          <a:xfrm rot="21557999">
            <a:off x="10354847" y="2088456"/>
            <a:ext cx="534628" cy="53452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150" name="1"/>
          <p:cNvSpPr txBox="1"/>
          <p:nvPr/>
        </p:nvSpPr>
        <p:spPr>
          <a:xfrm>
            <a:off x="10401300" y="2157845"/>
            <a:ext cx="43815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1</a:t>
            </a:r>
          </a:p>
        </p:txBody>
      </p:sp>
      <p:sp>
        <p:nvSpPr>
          <p:cNvPr id="151" name="x₁"/>
          <p:cNvSpPr txBox="1"/>
          <p:nvPr/>
        </p:nvSpPr>
        <p:spPr>
          <a:xfrm>
            <a:off x="9848850" y="2157412"/>
            <a:ext cx="542925"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900">
                <a:solidFill>
                  <a:srgbClr val="62616A"/>
                </a:solidFill>
                <a:latin typeface="Chalkboard"/>
                <a:ea typeface="Chalkboard"/>
                <a:cs typeface="Chalkboard"/>
                <a:sym typeface="Chalkboard"/>
              </a:defRPr>
            </a:lvl1pPr>
          </a:lstStyle>
          <a:p>
            <a:pPr/>
            <a:r>
              <a:t>x₁</a:t>
            </a:r>
          </a:p>
        </p:txBody>
      </p:sp>
      <p:sp>
        <p:nvSpPr>
          <p:cNvPr id="152" name="“Click here” link"/>
          <p:cNvSpPr txBox="1"/>
          <p:nvPr/>
        </p:nvSpPr>
        <p:spPr>
          <a:xfrm>
            <a:off x="638175" y="2997380"/>
            <a:ext cx="3848100" cy="339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8E7052"/>
                </a:solidFill>
                <a:latin typeface="Chalkboard"/>
                <a:ea typeface="Chalkboard"/>
                <a:cs typeface="Chalkboard"/>
                <a:sym typeface="Chalkboard"/>
              </a:defRPr>
            </a:lvl1pPr>
          </a:lstStyle>
          <a:p>
            <a:pPr/>
            <a:r>
              <a:t>“Click here” link</a:t>
            </a:r>
          </a:p>
        </p:txBody>
      </p:sp>
      <p:sp>
        <p:nvSpPr>
          <p:cNvPr id="153" name="Line"/>
          <p:cNvSpPr/>
          <p:nvPr/>
        </p:nvSpPr>
        <p:spPr>
          <a:xfrm>
            <a:off x="4495800" y="3182734"/>
            <a:ext cx="1276351" cy="1535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454"/>
                </a:moveTo>
                <a:lnTo>
                  <a:pt x="1835" y="14380"/>
                </a:lnTo>
                <a:lnTo>
                  <a:pt x="3576" y="9432"/>
                </a:lnTo>
                <a:lnTo>
                  <a:pt x="5454" y="15960"/>
                </a:lnTo>
                <a:lnTo>
                  <a:pt x="7224" y="13412"/>
                </a:lnTo>
                <a:lnTo>
                  <a:pt x="9092" y="19109"/>
                </a:lnTo>
                <a:lnTo>
                  <a:pt x="10803" y="11727"/>
                </a:lnTo>
                <a:lnTo>
                  <a:pt x="12462" y="0"/>
                </a:lnTo>
                <a:lnTo>
                  <a:pt x="14386" y="10328"/>
                </a:lnTo>
                <a:lnTo>
                  <a:pt x="16106" y="3622"/>
                </a:lnTo>
                <a:lnTo>
                  <a:pt x="18122" y="21600"/>
                </a:lnTo>
                <a:lnTo>
                  <a:pt x="19912" y="20752"/>
                </a:lnTo>
                <a:lnTo>
                  <a:pt x="21600" y="11454"/>
                </a:lnTo>
              </a:path>
            </a:pathLst>
          </a:custGeom>
          <a:ln w="20479">
            <a:solidFill>
              <a:srgbClr val="7B6BA8"/>
            </a:solidFill>
            <a:prstDash val="dash"/>
          </a:ln>
        </p:spPr>
        <p:txBody>
          <a:bodyPr lIns="0" tIns="0" rIns="0" bIns="0"/>
          <a:lstStyle/>
          <a:p>
            <a:pPr/>
          </a:p>
        </p:txBody>
      </p:sp>
      <p:sp>
        <p:nvSpPr>
          <p:cNvPr id="154" name="Line"/>
          <p:cNvSpPr/>
          <p:nvPr/>
        </p:nvSpPr>
        <p:spPr>
          <a:xfrm>
            <a:off x="5677806" y="314530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2A9D8F"/>
            </a:solidFill>
            <a:prstDash val="dashDot"/>
          </a:ln>
        </p:spPr>
        <p:txBody>
          <a:bodyPr lIns="0" tIns="0" rIns="0" bIns="0"/>
          <a:lstStyle/>
          <a:p>
            <a:pPr/>
          </a:p>
        </p:txBody>
      </p:sp>
      <p:sp>
        <p:nvSpPr>
          <p:cNvPr id="155" name="Suspicious link"/>
          <p:cNvSpPr txBox="1"/>
          <p:nvPr/>
        </p:nvSpPr>
        <p:spPr>
          <a:xfrm>
            <a:off x="6019800" y="2995540"/>
            <a:ext cx="3467100" cy="3525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8282A"/>
                </a:solidFill>
                <a:latin typeface="Chalkboard"/>
                <a:ea typeface="Chalkboard"/>
                <a:cs typeface="Chalkboard"/>
                <a:sym typeface="Chalkboard"/>
              </a:defRPr>
            </a:lvl1pPr>
          </a:lstStyle>
          <a:p>
            <a:pPr/>
            <a:r>
              <a:t>Suspicious link</a:t>
            </a:r>
          </a:p>
        </p:txBody>
      </p:sp>
      <p:sp>
        <p:nvSpPr>
          <p:cNvPr id="156" name="Shape"/>
          <p:cNvSpPr/>
          <p:nvPr/>
        </p:nvSpPr>
        <p:spPr>
          <a:xfrm rot="42000">
            <a:off x="10354847" y="2926656"/>
            <a:ext cx="534628" cy="53452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157" name="1"/>
          <p:cNvSpPr txBox="1"/>
          <p:nvPr/>
        </p:nvSpPr>
        <p:spPr>
          <a:xfrm>
            <a:off x="10401300" y="2996045"/>
            <a:ext cx="43815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1</a:t>
            </a:r>
          </a:p>
        </p:txBody>
      </p:sp>
      <p:sp>
        <p:nvSpPr>
          <p:cNvPr id="158" name="x₂"/>
          <p:cNvSpPr txBox="1"/>
          <p:nvPr/>
        </p:nvSpPr>
        <p:spPr>
          <a:xfrm>
            <a:off x="9848850" y="2995612"/>
            <a:ext cx="542925"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900">
                <a:solidFill>
                  <a:srgbClr val="62616A"/>
                </a:solidFill>
                <a:latin typeface="Chalkboard"/>
                <a:ea typeface="Chalkboard"/>
                <a:cs typeface="Chalkboard"/>
                <a:sym typeface="Chalkboard"/>
              </a:defRPr>
            </a:lvl1pPr>
          </a:lstStyle>
          <a:p>
            <a:pPr/>
            <a:r>
              <a:t>x₂</a:t>
            </a:r>
          </a:p>
        </p:txBody>
      </p:sp>
      <p:sp>
        <p:nvSpPr>
          <p:cNvPr id="159" name="CAPITALS and !!!"/>
          <p:cNvSpPr txBox="1"/>
          <p:nvPr/>
        </p:nvSpPr>
        <p:spPr>
          <a:xfrm>
            <a:off x="638175" y="3835580"/>
            <a:ext cx="3848100" cy="339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8E7052"/>
                </a:solidFill>
                <a:latin typeface="Chalkboard"/>
                <a:ea typeface="Chalkboard"/>
                <a:cs typeface="Chalkboard"/>
                <a:sym typeface="Chalkboard"/>
              </a:defRPr>
            </a:lvl1pPr>
          </a:lstStyle>
          <a:p>
            <a:pPr/>
            <a:r>
              <a:t>CAPITALS and !!!</a:t>
            </a:r>
          </a:p>
        </p:txBody>
      </p:sp>
      <p:sp>
        <p:nvSpPr>
          <p:cNvPr id="160" name="Line"/>
          <p:cNvSpPr/>
          <p:nvPr/>
        </p:nvSpPr>
        <p:spPr>
          <a:xfrm>
            <a:off x="4495800" y="4023757"/>
            <a:ext cx="1276351" cy="1379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8326"/>
                </a:moveTo>
                <a:lnTo>
                  <a:pt x="1895" y="17071"/>
                </a:lnTo>
                <a:lnTo>
                  <a:pt x="3706" y="18157"/>
                </a:lnTo>
                <a:lnTo>
                  <a:pt x="5310" y="0"/>
                </a:lnTo>
                <a:lnTo>
                  <a:pt x="7268" y="14574"/>
                </a:lnTo>
                <a:lnTo>
                  <a:pt x="9101" y="17627"/>
                </a:lnTo>
                <a:lnTo>
                  <a:pt x="10805" y="8827"/>
                </a:lnTo>
                <a:lnTo>
                  <a:pt x="12662" y="14031"/>
                </a:lnTo>
                <a:lnTo>
                  <a:pt x="14332" y="2037"/>
                </a:lnTo>
                <a:lnTo>
                  <a:pt x="16344" y="21600"/>
                </a:lnTo>
                <a:lnTo>
                  <a:pt x="17963" y="4894"/>
                </a:lnTo>
                <a:lnTo>
                  <a:pt x="19718" y="726"/>
                </a:lnTo>
                <a:lnTo>
                  <a:pt x="21600" y="8326"/>
                </a:lnTo>
              </a:path>
            </a:pathLst>
          </a:custGeom>
          <a:ln w="20479">
            <a:solidFill>
              <a:srgbClr val="355070"/>
            </a:solidFill>
          </a:ln>
        </p:spPr>
        <p:txBody>
          <a:bodyPr lIns="0" tIns="0" rIns="0" bIns="0"/>
          <a:lstStyle/>
          <a:p>
            <a:pPr/>
          </a:p>
        </p:txBody>
      </p:sp>
      <p:sp>
        <p:nvSpPr>
          <p:cNvPr id="161" name="Line"/>
          <p:cNvSpPr/>
          <p:nvPr/>
        </p:nvSpPr>
        <p:spPr>
          <a:xfrm>
            <a:off x="5677806" y="398350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7B6BA8"/>
            </a:solidFill>
            <a:prstDash val="dash"/>
          </a:ln>
        </p:spPr>
        <p:txBody>
          <a:bodyPr lIns="0" tIns="0" rIns="0" bIns="0"/>
          <a:lstStyle/>
          <a:p>
            <a:pPr/>
          </a:p>
        </p:txBody>
      </p:sp>
      <p:sp>
        <p:nvSpPr>
          <p:cNvPr id="162" name="Aggressive formatting"/>
          <p:cNvSpPr txBox="1"/>
          <p:nvPr/>
        </p:nvSpPr>
        <p:spPr>
          <a:xfrm>
            <a:off x="6019800" y="3833740"/>
            <a:ext cx="3467100" cy="3525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8282A"/>
                </a:solidFill>
                <a:latin typeface="Chalkboard"/>
                <a:ea typeface="Chalkboard"/>
                <a:cs typeface="Chalkboard"/>
                <a:sym typeface="Chalkboard"/>
              </a:defRPr>
            </a:lvl1pPr>
          </a:lstStyle>
          <a:p>
            <a:pPr/>
            <a:r>
              <a:t>Aggressive formatting</a:t>
            </a:r>
          </a:p>
        </p:txBody>
      </p:sp>
      <p:sp>
        <p:nvSpPr>
          <p:cNvPr id="163" name="Shape"/>
          <p:cNvSpPr/>
          <p:nvPr/>
        </p:nvSpPr>
        <p:spPr>
          <a:xfrm rot="21557999">
            <a:off x="10354847" y="3764855"/>
            <a:ext cx="534628" cy="53452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164" name="1"/>
          <p:cNvSpPr txBox="1"/>
          <p:nvPr/>
        </p:nvSpPr>
        <p:spPr>
          <a:xfrm>
            <a:off x="10401300" y="3834245"/>
            <a:ext cx="43815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1</a:t>
            </a:r>
          </a:p>
        </p:txBody>
      </p:sp>
      <p:sp>
        <p:nvSpPr>
          <p:cNvPr id="165" name="x₃"/>
          <p:cNvSpPr txBox="1"/>
          <p:nvPr/>
        </p:nvSpPr>
        <p:spPr>
          <a:xfrm>
            <a:off x="9848850" y="3833812"/>
            <a:ext cx="542925"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900">
                <a:solidFill>
                  <a:srgbClr val="62616A"/>
                </a:solidFill>
                <a:latin typeface="Chalkboard"/>
                <a:ea typeface="Chalkboard"/>
                <a:cs typeface="Chalkboard"/>
                <a:sym typeface="Chalkboard"/>
              </a:defRPr>
            </a:lvl1pPr>
          </a:lstStyle>
          <a:p>
            <a:pPr/>
            <a:r>
              <a:t>x₃</a:t>
            </a:r>
          </a:p>
        </p:txBody>
      </p:sp>
      <p:sp>
        <p:nvSpPr>
          <p:cNvPr id="166" name="Unknown sender"/>
          <p:cNvSpPr txBox="1"/>
          <p:nvPr/>
        </p:nvSpPr>
        <p:spPr>
          <a:xfrm>
            <a:off x="638175" y="4673780"/>
            <a:ext cx="3848100" cy="339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62616A"/>
                </a:solidFill>
                <a:latin typeface="Chalkboard"/>
                <a:ea typeface="Chalkboard"/>
                <a:cs typeface="Chalkboard"/>
                <a:sym typeface="Chalkboard"/>
              </a:defRPr>
            </a:lvl1pPr>
          </a:lstStyle>
          <a:p>
            <a:pPr/>
            <a:r>
              <a:t>Unknown sender</a:t>
            </a:r>
          </a:p>
        </p:txBody>
      </p:sp>
      <p:sp>
        <p:nvSpPr>
          <p:cNvPr id="167" name="Line"/>
          <p:cNvSpPr/>
          <p:nvPr/>
        </p:nvSpPr>
        <p:spPr>
          <a:xfrm>
            <a:off x="4495800" y="4859094"/>
            <a:ext cx="1276351" cy="1588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124"/>
                </a:moveTo>
                <a:lnTo>
                  <a:pt x="1803" y="11329"/>
                </a:lnTo>
                <a:lnTo>
                  <a:pt x="3532" y="5632"/>
                </a:lnTo>
                <a:lnTo>
                  <a:pt x="5413" y="12171"/>
                </a:lnTo>
                <a:lnTo>
                  <a:pt x="7190" y="10335"/>
                </a:lnTo>
                <a:lnTo>
                  <a:pt x="9010" y="11899"/>
                </a:lnTo>
                <a:lnTo>
                  <a:pt x="10671" y="742"/>
                </a:lnTo>
                <a:lnTo>
                  <a:pt x="12462" y="0"/>
                </a:lnTo>
                <a:lnTo>
                  <a:pt x="14530" y="21600"/>
                </a:lnTo>
                <a:lnTo>
                  <a:pt x="16316" y="20405"/>
                </a:lnTo>
                <a:lnTo>
                  <a:pt x="18095" y="18792"/>
                </a:lnTo>
                <a:lnTo>
                  <a:pt x="19721" y="4737"/>
                </a:lnTo>
                <a:lnTo>
                  <a:pt x="21600" y="11124"/>
                </a:lnTo>
              </a:path>
            </a:pathLst>
          </a:custGeom>
          <a:ln w="20479">
            <a:solidFill>
              <a:srgbClr val="2A9D8F"/>
            </a:solidFill>
            <a:prstDash val="dashDot"/>
          </a:ln>
        </p:spPr>
        <p:txBody>
          <a:bodyPr lIns="0" tIns="0" rIns="0" bIns="0"/>
          <a:lstStyle/>
          <a:p>
            <a:pPr/>
          </a:p>
        </p:txBody>
      </p:sp>
      <p:sp>
        <p:nvSpPr>
          <p:cNvPr id="168" name="Line"/>
          <p:cNvSpPr/>
          <p:nvPr/>
        </p:nvSpPr>
        <p:spPr>
          <a:xfrm>
            <a:off x="5677806" y="482170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B07A3F"/>
            </a:solidFill>
          </a:ln>
        </p:spPr>
        <p:txBody>
          <a:bodyPr lIns="0" tIns="0" rIns="0" bIns="0"/>
          <a:lstStyle/>
          <a:p>
            <a:pPr/>
          </a:p>
        </p:txBody>
      </p:sp>
      <p:sp>
        <p:nvSpPr>
          <p:cNvPr id="169" name="Trusted sender"/>
          <p:cNvSpPr txBox="1"/>
          <p:nvPr/>
        </p:nvSpPr>
        <p:spPr>
          <a:xfrm>
            <a:off x="6019800" y="4671940"/>
            <a:ext cx="3467100" cy="3525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a:solidFill>
                  <a:srgbClr val="28282A"/>
                </a:solidFill>
                <a:latin typeface="Chalkboard"/>
                <a:ea typeface="Chalkboard"/>
                <a:cs typeface="Chalkboard"/>
                <a:sym typeface="Chalkboard"/>
              </a:defRPr>
            </a:lvl1pPr>
          </a:lstStyle>
          <a:p>
            <a:pPr/>
            <a:r>
              <a:t>Trusted sender</a:t>
            </a:r>
          </a:p>
        </p:txBody>
      </p:sp>
      <p:sp>
        <p:nvSpPr>
          <p:cNvPr id="170" name="Shape"/>
          <p:cNvSpPr/>
          <p:nvPr/>
        </p:nvSpPr>
        <p:spPr>
          <a:xfrm rot="21557999">
            <a:off x="10354847" y="4603055"/>
            <a:ext cx="534628" cy="53452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171" name="0"/>
          <p:cNvSpPr txBox="1"/>
          <p:nvPr/>
        </p:nvSpPr>
        <p:spPr>
          <a:xfrm>
            <a:off x="10401300" y="4672445"/>
            <a:ext cx="43815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62616A"/>
                </a:solidFill>
                <a:latin typeface="Chalkboard"/>
                <a:ea typeface="Chalkboard"/>
                <a:cs typeface="Chalkboard"/>
                <a:sym typeface="Chalkboard"/>
              </a:defRPr>
            </a:lvl1pPr>
          </a:lstStyle>
          <a:p>
            <a:pPr/>
            <a:r>
              <a:t>0</a:t>
            </a:r>
          </a:p>
        </p:txBody>
      </p:sp>
      <p:sp>
        <p:nvSpPr>
          <p:cNvPr id="172" name="x₄"/>
          <p:cNvSpPr txBox="1"/>
          <p:nvPr/>
        </p:nvSpPr>
        <p:spPr>
          <a:xfrm>
            <a:off x="9848850" y="4672012"/>
            <a:ext cx="542925"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900">
                <a:solidFill>
                  <a:srgbClr val="62616A"/>
                </a:solidFill>
                <a:latin typeface="Chalkboard"/>
                <a:ea typeface="Chalkboard"/>
                <a:cs typeface="Chalkboard"/>
                <a:sym typeface="Chalkboard"/>
              </a:defRPr>
            </a:lvl1pPr>
          </a:lstStyle>
          <a:p>
            <a:pPr/>
            <a:r>
              <a:t>x₄</a:t>
            </a:r>
          </a:p>
        </p:txBody>
      </p:sp>
      <p:sp>
        <p:nvSpPr>
          <p:cNvPr id="173" name="X = [1, 1, 1, 0]ᵀ"/>
          <p:cNvSpPr txBox="1"/>
          <p:nvPr/>
        </p:nvSpPr>
        <p:spPr>
          <a:xfrm>
            <a:off x="638175" y="5850274"/>
            <a:ext cx="6286500" cy="41525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500">
                <a:solidFill>
                  <a:srgbClr val="424548"/>
                </a:solidFill>
                <a:latin typeface="Chalkboard"/>
                <a:ea typeface="Chalkboard"/>
                <a:cs typeface="Chalkboard"/>
                <a:sym typeface="Chalkboard"/>
              </a:defRPr>
            </a:lvl1pPr>
          </a:lstStyle>
          <a:p>
            <a:pPr/>
            <a:r>
              <a:t>X = [1, 1, 1, 0]ᵀ</a:t>
            </a:r>
          </a:p>
        </p:txBody>
      </p:sp>
      <p:sp>
        <p:nvSpPr>
          <p:cNvPr id="174" name="Real text models often use TF-IDF or embeddings."/>
          <p:cNvSpPr txBox="1"/>
          <p:nvPr/>
        </p:nvSpPr>
        <p:spPr>
          <a:xfrm>
            <a:off x="6743700" y="5953066"/>
            <a:ext cx="481965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Real text models often use TF-IDF or embeddings.</a:t>
            </a:r>
          </a:p>
        </p:txBody>
      </p:sp>
      <p:sp>
        <p:nvSpPr>
          <p:cNvPr id="175"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176"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180"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181"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182" name="Inside one neuron"/>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Inside one neuron</a:t>
            </a:r>
          </a:p>
        </p:txBody>
      </p:sp>
      <p:sp>
        <p:nvSpPr>
          <p:cNvPr id="183" name="A worked example: multiply inputs by weights, add a bias, then apply an activation."/>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A worked example: multiply inputs by weights, add a bias, then apply an activation.</a:t>
            </a:r>
          </a:p>
        </p:txBody>
      </p:sp>
      <p:sp>
        <p:nvSpPr>
          <p:cNvPr id="184" name="05"/>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05</a:t>
            </a:r>
          </a:p>
        </p:txBody>
      </p:sp>
      <p:sp>
        <p:nvSpPr>
          <p:cNvPr id="185"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186" name="Line"/>
          <p:cNvSpPr/>
          <p:nvPr/>
        </p:nvSpPr>
        <p:spPr>
          <a:xfrm>
            <a:off x="609600" y="6429375"/>
            <a:ext cx="10972801" cy="0"/>
          </a:xfrm>
          <a:prstGeom prst="line">
            <a:avLst/>
          </a:prstGeom>
          <a:ln w="7620">
            <a:solidFill>
              <a:srgbClr val="D9CDBB"/>
            </a:solidFill>
          </a:ln>
        </p:spPr>
        <p:txBody>
          <a:bodyPr lIns="0" tIns="0" rIns="0" bIns="0"/>
          <a:lstStyle/>
          <a:p>
            <a:pPr/>
          </a:p>
        </p:txBody>
      </p:sp>
      <p:graphicFrame>
        <p:nvGraphicFramePr>
          <p:cNvPr id="187" name="Chart"/>
          <p:cNvGraphicFramePr/>
          <p:nvPr/>
        </p:nvGraphicFramePr>
        <p:xfrm>
          <a:off x="667254" y="3424165"/>
          <a:ext cx="5601784" cy="2182358"/>
        </p:xfrm>
        <a:graphic xmlns:a="http://schemas.openxmlformats.org/drawingml/2006/main">
          <a:graphicData uri="http://schemas.openxmlformats.org/drawingml/2006/chart">
            <c:chart xmlns:c="http://schemas.openxmlformats.org/drawingml/2006/chart" r:id="rId3"/>
          </a:graphicData>
        </a:graphic>
      </p:graphicFrame>
      <p:sp>
        <p:nvSpPr>
          <p:cNvPr id="188" name="1  Multiply each input by its weight"/>
          <p:cNvSpPr txBox="1"/>
          <p:nvPr/>
        </p:nvSpPr>
        <p:spPr>
          <a:xfrm>
            <a:off x="723900" y="1790700"/>
            <a:ext cx="576262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287B95"/>
                </a:solidFill>
                <a:latin typeface="Chalkboard"/>
                <a:ea typeface="Chalkboard"/>
                <a:cs typeface="Chalkboard"/>
                <a:sym typeface="Chalkboard"/>
              </a:defRPr>
            </a:lvl1pPr>
          </a:lstStyle>
          <a:p>
            <a:pPr/>
            <a:r>
              <a:t>1  Multiply each input by its weight</a:t>
            </a:r>
          </a:p>
        </p:txBody>
      </p:sp>
      <p:sp>
        <p:nvSpPr>
          <p:cNvPr id="189" name="Inputs from the email: x = [1, 1, 1, 0]"/>
          <p:cNvSpPr txBox="1"/>
          <p:nvPr/>
        </p:nvSpPr>
        <p:spPr>
          <a:xfrm>
            <a:off x="723900" y="2190750"/>
            <a:ext cx="5695950" cy="221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424548"/>
                </a:solidFill>
                <a:latin typeface="Arial"/>
                <a:ea typeface="Arial"/>
                <a:cs typeface="Arial"/>
                <a:sym typeface="Arial"/>
              </a:defRPr>
            </a:lvl1pPr>
          </a:lstStyle>
          <a:p>
            <a:pPr/>
            <a:r>
              <a:t>Inputs from the email: x = [1, 1, 1, 0]</a:t>
            </a:r>
          </a:p>
        </p:txBody>
      </p:sp>
      <p:sp>
        <p:nvSpPr>
          <p:cNvPr id="190" name="x₁ × w₁ = 1 × 1.5 = 1.5"/>
          <p:cNvSpPr txBox="1"/>
          <p:nvPr/>
        </p:nvSpPr>
        <p:spPr>
          <a:xfrm>
            <a:off x="723900" y="2619375"/>
            <a:ext cx="2762250" cy="241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238779"/>
                </a:solidFill>
                <a:latin typeface="Arial"/>
                <a:ea typeface="Arial"/>
                <a:cs typeface="Arial"/>
                <a:sym typeface="Arial"/>
              </a:defRPr>
            </a:lvl1pPr>
          </a:lstStyle>
          <a:p>
            <a:pPr/>
            <a:r>
              <a:t>x₁ × w₁ = 1 × 1.5 = 1.5</a:t>
            </a:r>
          </a:p>
        </p:txBody>
      </p:sp>
      <p:sp>
        <p:nvSpPr>
          <p:cNvPr id="191" name="x₂ × w₂ = 1 × 0.3 = 0.3"/>
          <p:cNvSpPr txBox="1"/>
          <p:nvPr/>
        </p:nvSpPr>
        <p:spPr>
          <a:xfrm>
            <a:off x="3600450" y="2619375"/>
            <a:ext cx="2838450" cy="241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355D83"/>
                </a:solidFill>
                <a:latin typeface="Arial"/>
                <a:ea typeface="Arial"/>
                <a:cs typeface="Arial"/>
                <a:sym typeface="Arial"/>
              </a:defRPr>
            </a:lvl1pPr>
          </a:lstStyle>
          <a:p>
            <a:pPr/>
            <a:r>
              <a:t>x₂ × w₂ = 1 × 0.3 = 0.3</a:t>
            </a:r>
          </a:p>
        </p:txBody>
      </p:sp>
      <p:sp>
        <p:nvSpPr>
          <p:cNvPr id="192" name="x₃ × w₃ = 1 × 0.8 = 0.8"/>
          <p:cNvSpPr txBox="1"/>
          <p:nvPr/>
        </p:nvSpPr>
        <p:spPr>
          <a:xfrm>
            <a:off x="723900" y="2981325"/>
            <a:ext cx="2809875" cy="241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9B702C"/>
                </a:solidFill>
                <a:latin typeface="Arial"/>
                <a:ea typeface="Arial"/>
                <a:cs typeface="Arial"/>
                <a:sym typeface="Arial"/>
              </a:defRPr>
            </a:lvl1pPr>
          </a:lstStyle>
          <a:p>
            <a:pPr/>
            <a:r>
              <a:t>x₃ × w₃ = 1 × 0.8 = 0.8</a:t>
            </a:r>
          </a:p>
        </p:txBody>
      </p:sp>
      <p:sp>
        <p:nvSpPr>
          <p:cNvPr id="193" name="x₄ × w₄ = 0 × w₄ = 0"/>
          <p:cNvSpPr txBox="1"/>
          <p:nvPr/>
        </p:nvSpPr>
        <p:spPr>
          <a:xfrm>
            <a:off x="3600450" y="2981325"/>
            <a:ext cx="2838450" cy="241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8754A0"/>
                </a:solidFill>
                <a:latin typeface="Arial"/>
                <a:ea typeface="Arial"/>
                <a:cs typeface="Arial"/>
                <a:sym typeface="Arial"/>
              </a:defRPr>
            </a:lvl1pPr>
          </a:lstStyle>
          <a:p>
            <a:pPr/>
            <a:r>
              <a:t>x₄ × w₄ = 0 × w₄ = 0</a:t>
            </a:r>
          </a:p>
        </p:txBody>
      </p:sp>
      <p:sp>
        <p:nvSpPr>
          <p:cNvPr id="194" name="2  Add the contributions"/>
          <p:cNvSpPr txBox="1"/>
          <p:nvPr/>
        </p:nvSpPr>
        <p:spPr>
          <a:xfrm>
            <a:off x="6953250" y="1790700"/>
            <a:ext cx="442912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287B95"/>
                </a:solidFill>
                <a:latin typeface="Chalkboard"/>
                <a:ea typeface="Chalkboard"/>
                <a:cs typeface="Chalkboard"/>
                <a:sym typeface="Chalkboard"/>
              </a:defRPr>
            </a:lvl1pPr>
          </a:lstStyle>
          <a:p>
            <a:pPr/>
            <a:r>
              <a:t>2  Add the contributions</a:t>
            </a:r>
          </a:p>
        </p:txBody>
      </p:sp>
      <p:sp>
        <p:nvSpPr>
          <p:cNvPr id="195" name="1.5 + 0.3 + 0.8 + 0 = 2.6"/>
          <p:cNvSpPr txBox="1"/>
          <p:nvPr/>
        </p:nvSpPr>
        <p:spPr>
          <a:xfrm>
            <a:off x="6953250" y="2200275"/>
            <a:ext cx="4448175"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424548"/>
                </a:solidFill>
                <a:latin typeface="Arial"/>
                <a:ea typeface="Arial"/>
                <a:cs typeface="Arial"/>
                <a:sym typeface="Arial"/>
              </a:defRPr>
            </a:lvl1pPr>
          </a:lstStyle>
          <a:p>
            <a:pPr/>
            <a:r>
              <a:t>1.5 + 0.3 + 0.8 + 0 = 2.6</a:t>
            </a:r>
          </a:p>
        </p:txBody>
      </p:sp>
      <p:sp>
        <p:nvSpPr>
          <p:cNvPr id="196" name="A zero input contributes 0, whatever its weight."/>
          <p:cNvSpPr txBox="1"/>
          <p:nvPr/>
        </p:nvSpPr>
        <p:spPr>
          <a:xfrm>
            <a:off x="6953250" y="2609850"/>
            <a:ext cx="4429125"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424548"/>
                </a:solidFill>
                <a:latin typeface="Arial"/>
                <a:ea typeface="Arial"/>
                <a:cs typeface="Arial"/>
                <a:sym typeface="Arial"/>
              </a:defRPr>
            </a:lvl1pPr>
          </a:lstStyle>
          <a:p>
            <a:pPr/>
            <a:r>
              <a:t>A zero input contributes 0, whatever its weight.</a:t>
            </a:r>
          </a:p>
        </p:txBody>
      </p:sp>
      <p:sp>
        <p:nvSpPr>
          <p:cNvPr id="197" name="3  Add the bias"/>
          <p:cNvSpPr txBox="1"/>
          <p:nvPr/>
        </p:nvSpPr>
        <p:spPr>
          <a:xfrm>
            <a:off x="6953250" y="3143250"/>
            <a:ext cx="44481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8E7052"/>
                </a:solidFill>
                <a:latin typeface="Chalkboard"/>
                <a:ea typeface="Chalkboard"/>
                <a:cs typeface="Chalkboard"/>
                <a:sym typeface="Chalkboard"/>
              </a:defRPr>
            </a:lvl1pPr>
          </a:lstStyle>
          <a:p>
            <a:pPr/>
            <a:r>
              <a:t>3  Add the bias</a:t>
            </a:r>
          </a:p>
        </p:txBody>
      </p:sp>
      <p:sp>
        <p:nvSpPr>
          <p:cNvPr id="198" name="z = 2.6 + (−0.5) = 2.1"/>
          <p:cNvSpPr txBox="1"/>
          <p:nvPr/>
        </p:nvSpPr>
        <p:spPr>
          <a:xfrm>
            <a:off x="6953250" y="3533775"/>
            <a:ext cx="4429125" cy="28379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000">
                <a:solidFill>
                  <a:srgbClr val="8E7052"/>
                </a:solidFill>
                <a:latin typeface="Arial"/>
                <a:ea typeface="Arial"/>
                <a:cs typeface="Arial"/>
                <a:sym typeface="Arial"/>
              </a:defRPr>
            </a:lvl1pPr>
          </a:lstStyle>
          <a:p>
            <a:pPr/>
            <a:r>
              <a:t>z = 2.6 + (−0.5) = 2.1</a:t>
            </a:r>
          </a:p>
        </p:txBody>
      </p:sp>
      <p:sp>
        <p:nvSpPr>
          <p:cNvPr id="199" name="The bias shifts the total. z is the value…"/>
          <p:cNvSpPr txBox="1"/>
          <p:nvPr/>
        </p:nvSpPr>
        <p:spPr>
          <a:xfrm>
            <a:off x="6953250" y="3943350"/>
            <a:ext cx="443865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424548"/>
                </a:solidFill>
                <a:latin typeface="Arial"/>
                <a:ea typeface="Arial"/>
                <a:cs typeface="Arial"/>
                <a:sym typeface="Arial"/>
              </a:defRPr>
            </a:pPr>
            <a:r>
              <a:t>The bias shifts the total. z is the value</a:t>
            </a:r>
          </a:p>
          <a:p>
            <a:pPr>
              <a:defRPr sz="1400">
                <a:solidFill>
                  <a:srgbClr val="424548"/>
                </a:solidFill>
                <a:latin typeface="Arial"/>
                <a:ea typeface="Arial"/>
                <a:cs typeface="Arial"/>
                <a:sym typeface="Arial"/>
              </a:defRPr>
            </a:pPr>
            <a:r>
              <a:t>before activation.</a:t>
            </a:r>
          </a:p>
        </p:txBody>
      </p:sp>
      <p:sp>
        <p:nvSpPr>
          <p:cNvPr id="200" name="4  Apply ReLU and pass the result"/>
          <p:cNvSpPr txBox="1"/>
          <p:nvPr/>
        </p:nvSpPr>
        <p:spPr>
          <a:xfrm>
            <a:off x="6953250" y="4562475"/>
            <a:ext cx="4552950"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238779"/>
                </a:solidFill>
                <a:latin typeface="Chalkboard"/>
                <a:ea typeface="Chalkboard"/>
                <a:cs typeface="Chalkboard"/>
                <a:sym typeface="Chalkboard"/>
              </a:defRPr>
            </a:lvl1pPr>
          </a:lstStyle>
          <a:p>
            <a:pPr/>
            <a:r>
              <a:t>4  Apply ReLU and pass the result</a:t>
            </a:r>
          </a:p>
        </p:txBody>
      </p:sp>
      <p:sp>
        <p:nvSpPr>
          <p:cNvPr id="201" name="a = max(0, 2.1) = 2.1"/>
          <p:cNvSpPr txBox="1"/>
          <p:nvPr/>
        </p:nvSpPr>
        <p:spPr>
          <a:xfrm>
            <a:off x="6953250" y="4933950"/>
            <a:ext cx="4524375" cy="28379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000">
                <a:solidFill>
                  <a:srgbClr val="238779"/>
                </a:solidFill>
                <a:latin typeface="Arial"/>
                <a:ea typeface="Arial"/>
                <a:cs typeface="Arial"/>
                <a:sym typeface="Arial"/>
              </a:defRPr>
            </a:lvl1pPr>
          </a:lstStyle>
          <a:p>
            <a:pPr/>
            <a:r>
              <a:t>a = max(0, 2.1) = 2.1</a:t>
            </a:r>
          </a:p>
        </p:txBody>
      </p:sp>
      <p:sp>
        <p:nvSpPr>
          <p:cNvPr id="202" name="Positive z passes through. Negative z becomes 0."/>
          <p:cNvSpPr txBox="1"/>
          <p:nvPr/>
        </p:nvSpPr>
        <p:spPr>
          <a:xfrm>
            <a:off x="6953250" y="5353050"/>
            <a:ext cx="4572000" cy="1850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424548"/>
                </a:solidFill>
                <a:latin typeface="Arial"/>
                <a:ea typeface="Arial"/>
                <a:cs typeface="Arial"/>
                <a:sym typeface="Arial"/>
              </a:defRPr>
            </a:lvl1pPr>
          </a:lstStyle>
          <a:p>
            <a:pPr/>
            <a:r>
              <a:t>Positive z passes through. Negative z becomes 0.</a:t>
            </a:r>
          </a:p>
        </p:txBody>
      </p:sp>
      <p:sp>
        <p:nvSpPr>
          <p:cNvPr id="203" name="Weights and bias are learned during training."/>
          <p:cNvSpPr txBox="1"/>
          <p:nvPr/>
        </p:nvSpPr>
        <p:spPr>
          <a:xfrm>
            <a:off x="638175" y="5905500"/>
            <a:ext cx="5572125"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424548"/>
                </a:solidFill>
                <a:latin typeface="Chalkboard"/>
                <a:ea typeface="Chalkboard"/>
                <a:cs typeface="Chalkboard"/>
                <a:sym typeface="Chalkboard"/>
              </a:defRPr>
            </a:lvl1pPr>
          </a:lstStyle>
          <a:p>
            <a:pPr/>
            <a:r>
              <a:t>Weights and bias are learned during training.</a:t>
            </a:r>
          </a:p>
        </p:txBody>
      </p:sp>
      <p:sp>
        <p:nvSpPr>
          <p:cNvPr id="204" name="Output a = 2.1 feeds the next layer."/>
          <p:cNvSpPr txBox="1"/>
          <p:nvPr/>
        </p:nvSpPr>
        <p:spPr>
          <a:xfrm>
            <a:off x="6677025" y="5905500"/>
            <a:ext cx="4848225" cy="26400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600">
                <a:solidFill>
                  <a:srgbClr val="424548"/>
                </a:solidFill>
                <a:latin typeface="Chalkboard"/>
                <a:ea typeface="Chalkboard"/>
                <a:cs typeface="Chalkboard"/>
                <a:sym typeface="Chalkboard"/>
              </a:defRPr>
            </a:lvl1pPr>
          </a:lstStyle>
          <a:p>
            <a:pPr/>
            <a:r>
              <a:t>Output a = 2.1 feeds the next layer.</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208"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209"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210" name="A network of weighted connections"/>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A network of weighted connections</a:t>
            </a:r>
          </a:p>
        </p:txBody>
      </p:sp>
      <p:sp>
        <p:nvSpPr>
          <p:cNvPr id="211" name="The 4–3–2–1 architecture combines simple features into a spam probability."/>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The 4–3–2–1 architecture combines simple features into a spam probability.</a:t>
            </a:r>
          </a:p>
        </p:txBody>
      </p:sp>
      <p:sp>
        <p:nvSpPr>
          <p:cNvPr id="212" name="06"/>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06</a:t>
            </a:r>
          </a:p>
        </p:txBody>
      </p:sp>
      <p:sp>
        <p:nvSpPr>
          <p:cNvPr id="213" name="Line"/>
          <p:cNvSpPr/>
          <p:nvPr/>
        </p:nvSpPr>
        <p:spPr>
          <a:xfrm>
            <a:off x="1731551" y="2468564"/>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78" y="1636"/>
                </a:lnTo>
                <a:lnTo>
                  <a:pt x="3643" y="3927"/>
                </a:lnTo>
                <a:lnTo>
                  <a:pt x="5355" y="5063"/>
                </a:lnTo>
                <a:lnTo>
                  <a:pt x="7261" y="7657"/>
                </a:lnTo>
                <a:lnTo>
                  <a:pt x="9059" y="9440"/>
                </a:lnTo>
                <a:lnTo>
                  <a:pt x="10837" y="11076"/>
                </a:lnTo>
                <a:lnTo>
                  <a:pt x="12579" y="12440"/>
                </a:lnTo>
                <a:lnTo>
                  <a:pt x="14446" y="14745"/>
                </a:lnTo>
                <a:lnTo>
                  <a:pt x="16213" y="16299"/>
                </a:lnTo>
                <a:lnTo>
                  <a:pt x="18015" y="18115"/>
                </a:lnTo>
                <a:lnTo>
                  <a:pt x="19739" y="19345"/>
                </a:lnTo>
                <a:lnTo>
                  <a:pt x="21600" y="21600"/>
                </a:lnTo>
              </a:path>
            </a:pathLst>
          </a:custGeom>
          <a:ln w="20479">
            <a:solidFill>
              <a:srgbClr val="7B6BA8"/>
            </a:solidFill>
          </a:ln>
        </p:spPr>
        <p:txBody>
          <a:bodyPr lIns="0" tIns="0" rIns="0" bIns="0"/>
          <a:lstStyle/>
          <a:p>
            <a:pPr/>
          </a:p>
        </p:txBody>
      </p:sp>
      <p:sp>
        <p:nvSpPr>
          <p:cNvPr id="214" name="Line"/>
          <p:cNvSpPr/>
          <p:nvPr/>
        </p:nvSpPr>
        <p:spPr>
          <a:xfrm rot="21557999">
            <a:off x="1717246" y="2523181"/>
            <a:ext cx="2509106" cy="100201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70" y="1975"/>
                </a:lnTo>
                <a:lnTo>
                  <a:pt x="3639" y="3697"/>
                </a:lnTo>
                <a:lnTo>
                  <a:pt x="5468" y="5570"/>
                </a:lnTo>
                <a:lnTo>
                  <a:pt x="7185" y="7162"/>
                </a:lnTo>
                <a:lnTo>
                  <a:pt x="9000" y="8999"/>
                </a:lnTo>
                <a:lnTo>
                  <a:pt x="10744" y="10661"/>
                </a:lnTo>
                <a:lnTo>
                  <a:pt x="12642" y="12704"/>
                </a:lnTo>
                <a:lnTo>
                  <a:pt x="14439" y="14497"/>
                </a:lnTo>
                <a:lnTo>
                  <a:pt x="16180" y="16151"/>
                </a:lnTo>
                <a:lnTo>
                  <a:pt x="18008" y="18019"/>
                </a:lnTo>
                <a:lnTo>
                  <a:pt x="19823" y="19858"/>
                </a:lnTo>
                <a:lnTo>
                  <a:pt x="21600" y="21600"/>
                </a:lnTo>
              </a:path>
            </a:pathLst>
          </a:custGeom>
          <a:solidFill>
            <a:srgbClr val="ECE4F7"/>
          </a:solidFill>
          <a:ln w="22384">
            <a:solidFill>
              <a:srgbClr val="7B6BA8"/>
            </a:solidFill>
          </a:ln>
        </p:spPr>
        <p:txBody>
          <a:bodyPr lIns="0" tIns="0" rIns="0" bIns="0"/>
          <a:lstStyle/>
          <a:p>
            <a:pPr/>
          </a:p>
        </p:txBody>
      </p:sp>
      <p:sp>
        <p:nvSpPr>
          <p:cNvPr id="215" name="Line"/>
          <p:cNvSpPr/>
          <p:nvPr/>
        </p:nvSpPr>
        <p:spPr>
          <a:xfrm rot="21557999">
            <a:off x="1695251" y="2565062"/>
            <a:ext cx="2553098" cy="16993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03" y="1805"/>
                </a:lnTo>
                <a:lnTo>
                  <a:pt x="3564" y="3546"/>
                </a:lnTo>
                <a:lnTo>
                  <a:pt x="5471" y="5507"/>
                </a:lnTo>
                <a:lnTo>
                  <a:pt x="7200" y="7200"/>
                </a:lnTo>
                <a:lnTo>
                  <a:pt x="8983" y="8974"/>
                </a:lnTo>
                <a:lnTo>
                  <a:pt x="10760" y="10740"/>
                </a:lnTo>
                <a:lnTo>
                  <a:pt x="12653" y="12680"/>
                </a:lnTo>
                <a:lnTo>
                  <a:pt x="14431" y="14446"/>
                </a:lnTo>
                <a:lnTo>
                  <a:pt x="16208" y="16212"/>
                </a:lnTo>
                <a:lnTo>
                  <a:pt x="17945" y="17917"/>
                </a:lnTo>
                <a:lnTo>
                  <a:pt x="19790" y="19784"/>
                </a:lnTo>
                <a:lnTo>
                  <a:pt x="21600" y="21600"/>
                </a:lnTo>
              </a:path>
            </a:pathLst>
          </a:custGeom>
          <a:solidFill>
            <a:srgbClr val="ECE4F7"/>
          </a:solidFill>
          <a:ln w="22384">
            <a:solidFill>
              <a:srgbClr val="7B6BA8"/>
            </a:solidFill>
          </a:ln>
        </p:spPr>
        <p:txBody>
          <a:bodyPr lIns="0" tIns="0" rIns="0" bIns="0"/>
          <a:lstStyle/>
          <a:p>
            <a:pPr/>
          </a:p>
        </p:txBody>
      </p:sp>
      <p:sp>
        <p:nvSpPr>
          <p:cNvPr id="216" name="Line"/>
          <p:cNvSpPr/>
          <p:nvPr/>
        </p:nvSpPr>
        <p:spPr>
          <a:xfrm>
            <a:off x="1731551" y="2859089"/>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60" y="20251"/>
                </a:lnTo>
                <a:lnTo>
                  <a:pt x="3551" y="17630"/>
                </a:lnTo>
                <a:lnTo>
                  <a:pt x="5335" y="15713"/>
                </a:lnTo>
                <a:lnTo>
                  <a:pt x="7254" y="14809"/>
                </a:lnTo>
                <a:lnTo>
                  <a:pt x="8980" y="12452"/>
                </a:lnTo>
                <a:lnTo>
                  <a:pt x="10811" y="10885"/>
                </a:lnTo>
                <a:lnTo>
                  <a:pt x="12601" y="9010"/>
                </a:lnTo>
                <a:lnTo>
                  <a:pt x="14475" y="7760"/>
                </a:lnTo>
                <a:lnTo>
                  <a:pt x="16214" y="5503"/>
                </a:lnTo>
                <a:lnTo>
                  <a:pt x="17945" y="3185"/>
                </a:lnTo>
                <a:lnTo>
                  <a:pt x="19767" y="1549"/>
                </a:lnTo>
                <a:lnTo>
                  <a:pt x="21600" y="0"/>
                </a:lnTo>
              </a:path>
            </a:pathLst>
          </a:custGeom>
          <a:ln w="20479">
            <a:solidFill>
              <a:srgbClr val="7B6BA8"/>
            </a:solidFill>
          </a:ln>
        </p:spPr>
        <p:txBody>
          <a:bodyPr lIns="0" tIns="0" rIns="0" bIns="0"/>
          <a:lstStyle/>
          <a:p>
            <a:pPr/>
          </a:p>
        </p:txBody>
      </p:sp>
      <p:sp>
        <p:nvSpPr>
          <p:cNvPr id="217" name="Line"/>
          <p:cNvSpPr/>
          <p:nvPr/>
        </p:nvSpPr>
        <p:spPr>
          <a:xfrm>
            <a:off x="1731551" y="3249614"/>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61" y="2255"/>
                </a:lnTo>
                <a:lnTo>
                  <a:pt x="3546" y="3197"/>
                </a:lnTo>
                <a:lnTo>
                  <a:pt x="5396" y="5368"/>
                </a:lnTo>
                <a:lnTo>
                  <a:pt x="7165" y="6934"/>
                </a:lnTo>
                <a:lnTo>
                  <a:pt x="8979" y="8845"/>
                </a:lnTo>
                <a:lnTo>
                  <a:pt x="10737" y="10330"/>
                </a:lnTo>
                <a:lnTo>
                  <a:pt x="12567" y="12349"/>
                </a:lnTo>
                <a:lnTo>
                  <a:pt x="14400" y="14402"/>
                </a:lnTo>
                <a:lnTo>
                  <a:pt x="16263" y="16676"/>
                </a:lnTo>
                <a:lnTo>
                  <a:pt x="18028" y="18211"/>
                </a:lnTo>
                <a:lnTo>
                  <a:pt x="19822" y="19965"/>
                </a:lnTo>
                <a:lnTo>
                  <a:pt x="21600" y="21600"/>
                </a:lnTo>
              </a:path>
            </a:pathLst>
          </a:custGeom>
          <a:ln w="20479">
            <a:solidFill>
              <a:srgbClr val="B07A3F"/>
            </a:solidFill>
            <a:prstDash val="dashDot"/>
          </a:ln>
        </p:spPr>
        <p:txBody>
          <a:bodyPr lIns="0" tIns="0" rIns="0" bIns="0"/>
          <a:lstStyle/>
          <a:p>
            <a:pPr/>
          </a:p>
        </p:txBody>
      </p:sp>
      <p:sp>
        <p:nvSpPr>
          <p:cNvPr id="218" name="Line"/>
          <p:cNvSpPr/>
          <p:nvPr/>
        </p:nvSpPr>
        <p:spPr>
          <a:xfrm>
            <a:off x="1717246" y="3304230"/>
            <a:ext cx="2509106" cy="100201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36" y="1640"/>
                </a:lnTo>
                <a:lnTo>
                  <a:pt x="3530" y="3424"/>
                </a:lnTo>
                <a:lnTo>
                  <a:pt x="5346" y="5264"/>
                </a:lnTo>
                <a:lnTo>
                  <a:pt x="7159" y="7098"/>
                </a:lnTo>
                <a:lnTo>
                  <a:pt x="8998" y="8996"/>
                </a:lnTo>
                <a:lnTo>
                  <a:pt x="10864" y="10960"/>
                </a:lnTo>
                <a:lnTo>
                  <a:pt x="12614" y="12636"/>
                </a:lnTo>
                <a:lnTo>
                  <a:pt x="14436" y="14489"/>
                </a:lnTo>
                <a:lnTo>
                  <a:pt x="16235" y="16287"/>
                </a:lnTo>
                <a:lnTo>
                  <a:pt x="18060" y="18149"/>
                </a:lnTo>
                <a:lnTo>
                  <a:pt x="19747" y="19667"/>
                </a:lnTo>
                <a:lnTo>
                  <a:pt x="21600" y="21600"/>
                </a:lnTo>
              </a:path>
            </a:pathLst>
          </a:custGeom>
          <a:solidFill>
            <a:srgbClr val="FFF0C7"/>
          </a:solidFill>
          <a:ln w="22384">
            <a:solidFill>
              <a:srgbClr val="B07A3F"/>
            </a:solidFill>
          </a:ln>
        </p:spPr>
        <p:txBody>
          <a:bodyPr lIns="0" tIns="0" rIns="0" bIns="0"/>
          <a:lstStyle/>
          <a:p>
            <a:pPr/>
          </a:p>
        </p:txBody>
      </p:sp>
      <p:sp>
        <p:nvSpPr>
          <p:cNvPr id="219" name="Line"/>
          <p:cNvSpPr/>
          <p:nvPr/>
        </p:nvSpPr>
        <p:spPr>
          <a:xfrm>
            <a:off x="1717246" y="2913706"/>
            <a:ext cx="2509106" cy="100201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68" y="19971"/>
                </a:lnTo>
                <a:lnTo>
                  <a:pt x="3558" y="17895"/>
                </a:lnTo>
                <a:lnTo>
                  <a:pt x="5357" y="16094"/>
                </a:lnTo>
                <a:lnTo>
                  <a:pt x="7224" y="14461"/>
                </a:lnTo>
                <a:lnTo>
                  <a:pt x="9007" y="12619"/>
                </a:lnTo>
                <a:lnTo>
                  <a:pt x="10852" y="10929"/>
                </a:lnTo>
                <a:lnTo>
                  <a:pt x="12668" y="9170"/>
                </a:lnTo>
                <a:lnTo>
                  <a:pt x="14446" y="7314"/>
                </a:lnTo>
                <a:lnTo>
                  <a:pt x="16152" y="5279"/>
                </a:lnTo>
                <a:lnTo>
                  <a:pt x="18063" y="3756"/>
                </a:lnTo>
                <a:lnTo>
                  <a:pt x="19784" y="1759"/>
                </a:lnTo>
                <a:lnTo>
                  <a:pt x="21600" y="0"/>
                </a:lnTo>
              </a:path>
            </a:pathLst>
          </a:custGeom>
          <a:solidFill>
            <a:srgbClr val="FFF0C7"/>
          </a:solidFill>
          <a:ln w="22384">
            <a:solidFill>
              <a:srgbClr val="B07A3F"/>
            </a:solidFill>
          </a:ln>
        </p:spPr>
        <p:txBody>
          <a:bodyPr lIns="0" tIns="0" rIns="0" bIns="0"/>
          <a:lstStyle/>
          <a:p>
            <a:pPr/>
          </a:p>
        </p:txBody>
      </p:sp>
      <p:sp>
        <p:nvSpPr>
          <p:cNvPr id="220" name="Line"/>
          <p:cNvSpPr/>
          <p:nvPr/>
        </p:nvSpPr>
        <p:spPr>
          <a:xfrm>
            <a:off x="1731551" y="3640139"/>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26" y="19245"/>
                </a:lnTo>
                <a:lnTo>
                  <a:pt x="3611" y="18085"/>
                </a:lnTo>
                <a:lnTo>
                  <a:pt x="5468" y="16711"/>
                </a:lnTo>
                <a:lnTo>
                  <a:pt x="7216" y="14522"/>
                </a:lnTo>
                <a:lnTo>
                  <a:pt x="8958" y="12282"/>
                </a:lnTo>
                <a:lnTo>
                  <a:pt x="10836" y="11074"/>
                </a:lnTo>
                <a:lnTo>
                  <a:pt x="12622" y="9167"/>
                </a:lnTo>
                <a:lnTo>
                  <a:pt x="14384" y="7079"/>
                </a:lnTo>
                <a:lnTo>
                  <a:pt x="16170" y="5173"/>
                </a:lnTo>
                <a:lnTo>
                  <a:pt x="18008" y="3659"/>
                </a:lnTo>
                <a:lnTo>
                  <a:pt x="19775" y="1613"/>
                </a:lnTo>
                <a:lnTo>
                  <a:pt x="21600" y="0"/>
                </a:lnTo>
              </a:path>
            </a:pathLst>
          </a:custGeom>
          <a:ln w="20479">
            <a:solidFill>
              <a:srgbClr val="355070"/>
            </a:solidFill>
            <a:prstDash val="dashDot"/>
          </a:ln>
        </p:spPr>
        <p:txBody>
          <a:bodyPr lIns="0" tIns="0" rIns="0" bIns="0"/>
          <a:lstStyle/>
          <a:p>
            <a:pPr/>
          </a:p>
        </p:txBody>
      </p:sp>
      <p:sp>
        <p:nvSpPr>
          <p:cNvPr id="221" name="Line"/>
          <p:cNvSpPr/>
          <p:nvPr/>
        </p:nvSpPr>
        <p:spPr>
          <a:xfrm>
            <a:off x="1731551" y="4030664"/>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82" y="1664"/>
                </a:lnTo>
                <a:lnTo>
                  <a:pt x="3532" y="3090"/>
                </a:lnTo>
                <a:lnTo>
                  <a:pt x="5426" y="5596"/>
                </a:lnTo>
                <a:lnTo>
                  <a:pt x="7205" y="7236"/>
                </a:lnTo>
                <a:lnTo>
                  <a:pt x="8968" y="8759"/>
                </a:lnTo>
                <a:lnTo>
                  <a:pt x="10750" y="10425"/>
                </a:lnTo>
                <a:lnTo>
                  <a:pt x="12619" y="12741"/>
                </a:lnTo>
                <a:lnTo>
                  <a:pt x="14375" y="14212"/>
                </a:lnTo>
                <a:lnTo>
                  <a:pt x="16218" y="16338"/>
                </a:lnTo>
                <a:lnTo>
                  <a:pt x="17976" y="17821"/>
                </a:lnTo>
                <a:lnTo>
                  <a:pt x="19751" y="19431"/>
                </a:lnTo>
                <a:lnTo>
                  <a:pt x="21600" y="21600"/>
                </a:lnTo>
              </a:path>
            </a:pathLst>
          </a:custGeom>
          <a:ln w="20479">
            <a:solidFill>
              <a:srgbClr val="2A9D8F"/>
            </a:solidFill>
          </a:ln>
        </p:spPr>
        <p:txBody>
          <a:bodyPr lIns="0" tIns="0" rIns="0" bIns="0"/>
          <a:lstStyle/>
          <a:p>
            <a:pPr/>
          </a:p>
        </p:txBody>
      </p:sp>
      <p:sp>
        <p:nvSpPr>
          <p:cNvPr id="222" name="Line"/>
          <p:cNvSpPr/>
          <p:nvPr/>
        </p:nvSpPr>
        <p:spPr>
          <a:xfrm>
            <a:off x="1695251" y="2955587"/>
            <a:ext cx="2553098" cy="16993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57" y="19886"/>
                </a:lnTo>
                <a:lnTo>
                  <a:pt x="3578" y="17967"/>
                </a:lnTo>
                <a:lnTo>
                  <a:pt x="5445" y="16267"/>
                </a:lnTo>
                <a:lnTo>
                  <a:pt x="7185" y="14378"/>
                </a:lnTo>
                <a:lnTo>
                  <a:pt x="8990" y="12584"/>
                </a:lnTo>
                <a:lnTo>
                  <a:pt x="10765" y="10747"/>
                </a:lnTo>
                <a:lnTo>
                  <a:pt x="12530" y="8895"/>
                </a:lnTo>
                <a:lnTo>
                  <a:pt x="14442" y="7263"/>
                </a:lnTo>
                <a:lnTo>
                  <a:pt x="16218" y="5428"/>
                </a:lnTo>
                <a:lnTo>
                  <a:pt x="17944" y="3516"/>
                </a:lnTo>
                <a:lnTo>
                  <a:pt x="19864" y="1896"/>
                </a:lnTo>
                <a:lnTo>
                  <a:pt x="21600" y="0"/>
                </a:lnTo>
              </a:path>
            </a:pathLst>
          </a:custGeom>
          <a:solidFill>
            <a:srgbClr val="FFF0C7"/>
          </a:solidFill>
          <a:ln w="22384">
            <a:solidFill>
              <a:srgbClr val="B07A3F"/>
            </a:solidFill>
          </a:ln>
        </p:spPr>
        <p:txBody>
          <a:bodyPr lIns="0" tIns="0" rIns="0" bIns="0"/>
          <a:lstStyle/>
          <a:p>
            <a:pPr/>
          </a:p>
        </p:txBody>
      </p:sp>
      <p:sp>
        <p:nvSpPr>
          <p:cNvPr id="223" name="Line"/>
          <p:cNvSpPr/>
          <p:nvPr/>
        </p:nvSpPr>
        <p:spPr>
          <a:xfrm rot="21557999">
            <a:off x="1717246" y="3694755"/>
            <a:ext cx="2509106" cy="100201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32" y="19881"/>
                </a:lnTo>
                <a:lnTo>
                  <a:pt x="3638" y="18095"/>
                </a:lnTo>
                <a:lnTo>
                  <a:pt x="5394" y="16185"/>
                </a:lnTo>
                <a:lnTo>
                  <a:pt x="7148" y="14270"/>
                </a:lnTo>
                <a:lnTo>
                  <a:pt x="9041" y="12703"/>
                </a:lnTo>
                <a:lnTo>
                  <a:pt x="10758" y="10696"/>
                </a:lnTo>
                <a:lnTo>
                  <a:pt x="12589" y="8972"/>
                </a:lnTo>
                <a:lnTo>
                  <a:pt x="14404" y="7209"/>
                </a:lnTo>
                <a:lnTo>
                  <a:pt x="16233" y="5483"/>
                </a:lnTo>
                <a:lnTo>
                  <a:pt x="18032" y="3679"/>
                </a:lnTo>
                <a:lnTo>
                  <a:pt x="19835" y="1888"/>
                </a:lnTo>
                <a:lnTo>
                  <a:pt x="21600" y="0"/>
                </a:lnTo>
              </a:path>
            </a:pathLst>
          </a:custGeom>
          <a:solidFill>
            <a:srgbClr val="DCEAF7"/>
          </a:solidFill>
          <a:ln w="22384">
            <a:solidFill>
              <a:srgbClr val="355070"/>
            </a:solidFill>
          </a:ln>
        </p:spPr>
        <p:txBody>
          <a:bodyPr lIns="0" tIns="0" rIns="0" bIns="0"/>
          <a:lstStyle/>
          <a:p>
            <a:pPr/>
          </a:p>
        </p:txBody>
      </p:sp>
      <p:sp>
        <p:nvSpPr>
          <p:cNvPr id="224" name="Line"/>
          <p:cNvSpPr/>
          <p:nvPr/>
        </p:nvSpPr>
        <p:spPr>
          <a:xfrm>
            <a:off x="1731551" y="4421189"/>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22" y="19967"/>
                </a:lnTo>
                <a:lnTo>
                  <a:pt x="3639" y="18292"/>
                </a:lnTo>
                <a:lnTo>
                  <a:pt x="5382" y="16068"/>
                </a:lnTo>
                <a:lnTo>
                  <a:pt x="7126" y="13843"/>
                </a:lnTo>
                <a:lnTo>
                  <a:pt x="8984" y="12483"/>
                </a:lnTo>
                <a:lnTo>
                  <a:pt x="10853" y="11201"/>
                </a:lnTo>
                <a:lnTo>
                  <a:pt x="12527" y="8450"/>
                </a:lnTo>
                <a:lnTo>
                  <a:pt x="14415" y="7310"/>
                </a:lnTo>
                <a:lnTo>
                  <a:pt x="16164" y="5130"/>
                </a:lnTo>
                <a:lnTo>
                  <a:pt x="17952" y="3239"/>
                </a:lnTo>
                <a:lnTo>
                  <a:pt x="19854" y="2205"/>
                </a:lnTo>
                <a:lnTo>
                  <a:pt x="21600" y="0"/>
                </a:lnTo>
              </a:path>
            </a:pathLst>
          </a:custGeom>
          <a:ln w="20479">
            <a:solidFill>
              <a:srgbClr val="2A9D8F"/>
            </a:solidFill>
          </a:ln>
        </p:spPr>
        <p:txBody>
          <a:bodyPr lIns="0" tIns="0" rIns="0" bIns="0"/>
          <a:lstStyle/>
          <a:p>
            <a:pPr/>
          </a:p>
        </p:txBody>
      </p:sp>
      <p:sp>
        <p:nvSpPr>
          <p:cNvPr id="225" name="Line"/>
          <p:cNvSpPr/>
          <p:nvPr/>
        </p:nvSpPr>
        <p:spPr>
          <a:xfrm>
            <a:off x="4665250" y="2859089"/>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94" y="1754"/>
                </a:lnTo>
                <a:lnTo>
                  <a:pt x="3541" y="3158"/>
                </a:lnTo>
                <a:lnTo>
                  <a:pt x="5355" y="5062"/>
                </a:lnTo>
                <a:lnTo>
                  <a:pt x="7227" y="7404"/>
                </a:lnTo>
                <a:lnTo>
                  <a:pt x="8970" y="8774"/>
                </a:lnTo>
                <a:lnTo>
                  <a:pt x="10853" y="11199"/>
                </a:lnTo>
                <a:lnTo>
                  <a:pt x="12620" y="12752"/>
                </a:lnTo>
                <a:lnTo>
                  <a:pt x="14420" y="14550"/>
                </a:lnTo>
                <a:lnTo>
                  <a:pt x="16156" y="15872"/>
                </a:lnTo>
                <a:lnTo>
                  <a:pt x="18054" y="18405"/>
                </a:lnTo>
                <a:lnTo>
                  <a:pt x="19859" y="20246"/>
                </a:lnTo>
                <a:lnTo>
                  <a:pt x="21600" y="21600"/>
                </a:lnTo>
              </a:path>
            </a:pathLst>
          </a:custGeom>
          <a:ln w="20479">
            <a:solidFill>
              <a:srgbClr val="355070"/>
            </a:solidFill>
            <a:prstDash val="dashDot"/>
          </a:ln>
        </p:spPr>
        <p:txBody>
          <a:bodyPr lIns="0" tIns="0" rIns="0" bIns="0"/>
          <a:lstStyle/>
          <a:p>
            <a:pPr/>
          </a:p>
        </p:txBody>
      </p:sp>
      <p:sp>
        <p:nvSpPr>
          <p:cNvPr id="226" name="Line"/>
          <p:cNvSpPr/>
          <p:nvPr/>
        </p:nvSpPr>
        <p:spPr>
          <a:xfrm>
            <a:off x="4650947" y="2913706"/>
            <a:ext cx="2509106" cy="100201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21" y="1853"/>
                </a:lnTo>
                <a:lnTo>
                  <a:pt x="3626" y="3664"/>
                </a:lnTo>
                <a:lnTo>
                  <a:pt x="5441" y="5502"/>
                </a:lnTo>
                <a:lnTo>
                  <a:pt x="7136" y="7039"/>
                </a:lnTo>
                <a:lnTo>
                  <a:pt x="9005" y="9011"/>
                </a:lnTo>
                <a:lnTo>
                  <a:pt x="10871" y="10978"/>
                </a:lnTo>
                <a:lnTo>
                  <a:pt x="12582" y="12556"/>
                </a:lnTo>
                <a:lnTo>
                  <a:pt x="14335" y="14236"/>
                </a:lnTo>
                <a:lnTo>
                  <a:pt x="16182" y="16155"/>
                </a:lnTo>
                <a:lnTo>
                  <a:pt x="17938" y="17845"/>
                </a:lnTo>
                <a:lnTo>
                  <a:pt x="19829" y="19873"/>
                </a:lnTo>
                <a:lnTo>
                  <a:pt x="21600" y="21600"/>
                </a:lnTo>
              </a:path>
            </a:pathLst>
          </a:custGeom>
          <a:solidFill>
            <a:srgbClr val="DFF4EA"/>
          </a:solidFill>
          <a:ln w="22384">
            <a:solidFill>
              <a:srgbClr val="2A9D8F"/>
            </a:solidFill>
          </a:ln>
        </p:spPr>
        <p:txBody>
          <a:bodyPr lIns="0" tIns="0" rIns="0" bIns="0"/>
          <a:lstStyle/>
          <a:p>
            <a:pPr/>
          </a:p>
        </p:txBody>
      </p:sp>
      <p:sp>
        <p:nvSpPr>
          <p:cNvPr id="227" name="Line"/>
          <p:cNvSpPr/>
          <p:nvPr/>
        </p:nvSpPr>
        <p:spPr>
          <a:xfrm>
            <a:off x="4665250" y="3249614"/>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49" y="20171"/>
                </a:lnTo>
                <a:lnTo>
                  <a:pt x="3610" y="18074"/>
                </a:lnTo>
                <a:lnTo>
                  <a:pt x="5406" y="16247"/>
                </a:lnTo>
                <a:lnTo>
                  <a:pt x="7150" y="14026"/>
                </a:lnTo>
                <a:lnTo>
                  <a:pt x="9000" y="12600"/>
                </a:lnTo>
                <a:lnTo>
                  <a:pt x="10745" y="10385"/>
                </a:lnTo>
                <a:lnTo>
                  <a:pt x="12669" y="9519"/>
                </a:lnTo>
                <a:lnTo>
                  <a:pt x="14451" y="7581"/>
                </a:lnTo>
                <a:lnTo>
                  <a:pt x="16154" y="5051"/>
                </a:lnTo>
                <a:lnTo>
                  <a:pt x="17990" y="3522"/>
                </a:lnTo>
                <a:lnTo>
                  <a:pt x="19825" y="1987"/>
                </a:lnTo>
                <a:lnTo>
                  <a:pt x="21600" y="0"/>
                </a:lnTo>
              </a:path>
            </a:pathLst>
          </a:custGeom>
          <a:ln w="20479">
            <a:solidFill>
              <a:srgbClr val="2A9D8F"/>
            </a:solidFill>
          </a:ln>
        </p:spPr>
        <p:txBody>
          <a:bodyPr lIns="0" tIns="0" rIns="0" bIns="0"/>
          <a:lstStyle/>
          <a:p>
            <a:pPr/>
          </a:p>
        </p:txBody>
      </p:sp>
      <p:sp>
        <p:nvSpPr>
          <p:cNvPr id="228" name="Line"/>
          <p:cNvSpPr/>
          <p:nvPr/>
        </p:nvSpPr>
        <p:spPr>
          <a:xfrm>
            <a:off x="4665250" y="3640139"/>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71" y="2332"/>
                </a:lnTo>
                <a:lnTo>
                  <a:pt x="3662" y="4063"/>
                </a:lnTo>
                <a:lnTo>
                  <a:pt x="5350" y="5021"/>
                </a:lnTo>
                <a:lnTo>
                  <a:pt x="7266" y="7695"/>
                </a:lnTo>
                <a:lnTo>
                  <a:pt x="9068" y="9514"/>
                </a:lnTo>
                <a:lnTo>
                  <a:pt x="10758" y="10485"/>
                </a:lnTo>
                <a:lnTo>
                  <a:pt x="12620" y="12749"/>
                </a:lnTo>
                <a:lnTo>
                  <a:pt x="14470" y="14925"/>
                </a:lnTo>
                <a:lnTo>
                  <a:pt x="16130" y="15671"/>
                </a:lnTo>
                <a:lnTo>
                  <a:pt x="17932" y="17486"/>
                </a:lnTo>
                <a:lnTo>
                  <a:pt x="19777" y="19629"/>
                </a:lnTo>
                <a:lnTo>
                  <a:pt x="21600" y="21600"/>
                </a:lnTo>
              </a:path>
            </a:pathLst>
          </a:custGeom>
          <a:ln w="20479">
            <a:solidFill>
              <a:srgbClr val="C65D4B"/>
            </a:solidFill>
            <a:prstDash val="dash"/>
          </a:ln>
        </p:spPr>
        <p:txBody>
          <a:bodyPr lIns="0" tIns="0" rIns="0" bIns="0"/>
          <a:lstStyle/>
          <a:p>
            <a:pPr/>
          </a:p>
        </p:txBody>
      </p:sp>
      <p:sp>
        <p:nvSpPr>
          <p:cNvPr id="229" name="Line"/>
          <p:cNvSpPr/>
          <p:nvPr/>
        </p:nvSpPr>
        <p:spPr>
          <a:xfrm>
            <a:off x="4650947" y="3304230"/>
            <a:ext cx="2509106" cy="100201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53" y="19683"/>
                </a:lnTo>
                <a:lnTo>
                  <a:pt x="3526" y="17816"/>
                </a:lnTo>
                <a:lnTo>
                  <a:pt x="5420" y="16249"/>
                </a:lnTo>
                <a:lnTo>
                  <a:pt x="7138" y="14244"/>
                </a:lnTo>
                <a:lnTo>
                  <a:pt x="9072" y="12780"/>
                </a:lnTo>
                <a:lnTo>
                  <a:pt x="10822" y="10854"/>
                </a:lnTo>
                <a:lnTo>
                  <a:pt x="12572" y="8930"/>
                </a:lnTo>
                <a:lnTo>
                  <a:pt x="14373" y="7133"/>
                </a:lnTo>
                <a:lnTo>
                  <a:pt x="16266" y="5566"/>
                </a:lnTo>
                <a:lnTo>
                  <a:pt x="17992" y="3579"/>
                </a:lnTo>
                <a:lnTo>
                  <a:pt x="19850" y="1926"/>
                </a:lnTo>
                <a:lnTo>
                  <a:pt x="21600" y="0"/>
                </a:lnTo>
              </a:path>
            </a:pathLst>
          </a:custGeom>
          <a:solidFill>
            <a:srgbClr val="DFF4EA"/>
          </a:solidFill>
          <a:ln w="22384">
            <a:solidFill>
              <a:srgbClr val="2A9D8F"/>
            </a:solidFill>
          </a:ln>
        </p:spPr>
        <p:txBody>
          <a:bodyPr lIns="0" tIns="0" rIns="0" bIns="0"/>
          <a:lstStyle/>
          <a:p>
            <a:pPr/>
          </a:p>
        </p:txBody>
      </p:sp>
      <p:sp>
        <p:nvSpPr>
          <p:cNvPr id="230" name="Line"/>
          <p:cNvSpPr/>
          <p:nvPr/>
        </p:nvSpPr>
        <p:spPr>
          <a:xfrm>
            <a:off x="4665250" y="4030664"/>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61" y="20258"/>
                </a:lnTo>
                <a:lnTo>
                  <a:pt x="3613" y="18101"/>
                </a:lnTo>
                <a:lnTo>
                  <a:pt x="5333" y="15696"/>
                </a:lnTo>
                <a:lnTo>
                  <a:pt x="7131" y="13880"/>
                </a:lnTo>
                <a:lnTo>
                  <a:pt x="9046" y="12948"/>
                </a:lnTo>
                <a:lnTo>
                  <a:pt x="10766" y="10547"/>
                </a:lnTo>
                <a:lnTo>
                  <a:pt x="12638" y="9282"/>
                </a:lnTo>
                <a:lnTo>
                  <a:pt x="14405" y="7239"/>
                </a:lnTo>
                <a:lnTo>
                  <a:pt x="16174" y="5202"/>
                </a:lnTo>
                <a:lnTo>
                  <a:pt x="18023" y="3772"/>
                </a:lnTo>
                <a:lnTo>
                  <a:pt x="19805" y="1836"/>
                </a:lnTo>
                <a:lnTo>
                  <a:pt x="21600" y="0"/>
                </a:lnTo>
              </a:path>
            </a:pathLst>
          </a:custGeom>
          <a:ln w="20479">
            <a:solidFill>
              <a:srgbClr val="7B6BA8"/>
            </a:solidFill>
          </a:ln>
        </p:spPr>
        <p:txBody>
          <a:bodyPr lIns="0" tIns="0" rIns="0" bIns="0"/>
          <a:lstStyle/>
          <a:p>
            <a:pPr/>
          </a:p>
        </p:txBody>
      </p:sp>
      <p:sp>
        <p:nvSpPr>
          <p:cNvPr id="231" name="Line"/>
          <p:cNvSpPr/>
          <p:nvPr/>
        </p:nvSpPr>
        <p:spPr>
          <a:xfrm>
            <a:off x="7598950" y="3249614"/>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78" y="1631"/>
                </a:lnTo>
                <a:lnTo>
                  <a:pt x="3602" y="3614"/>
                </a:lnTo>
                <a:lnTo>
                  <a:pt x="5451" y="5783"/>
                </a:lnTo>
                <a:lnTo>
                  <a:pt x="7253" y="7599"/>
                </a:lnTo>
                <a:lnTo>
                  <a:pt x="8964" y="8732"/>
                </a:lnTo>
                <a:lnTo>
                  <a:pt x="10743" y="10370"/>
                </a:lnTo>
                <a:lnTo>
                  <a:pt x="12605" y="12636"/>
                </a:lnTo>
                <a:lnTo>
                  <a:pt x="14328" y="13857"/>
                </a:lnTo>
                <a:lnTo>
                  <a:pt x="16157" y="15877"/>
                </a:lnTo>
                <a:lnTo>
                  <a:pt x="17996" y="17967"/>
                </a:lnTo>
                <a:lnTo>
                  <a:pt x="19804" y="19830"/>
                </a:lnTo>
                <a:lnTo>
                  <a:pt x="21600" y="21600"/>
                </a:lnTo>
              </a:path>
            </a:pathLst>
          </a:custGeom>
          <a:ln w="20479">
            <a:solidFill>
              <a:srgbClr val="7B6BA8"/>
            </a:solidFill>
          </a:ln>
        </p:spPr>
        <p:txBody>
          <a:bodyPr lIns="0" tIns="0" rIns="0" bIns="0"/>
          <a:lstStyle/>
          <a:p>
            <a:pPr/>
          </a:p>
        </p:txBody>
      </p:sp>
      <p:sp>
        <p:nvSpPr>
          <p:cNvPr id="232" name="Line"/>
          <p:cNvSpPr/>
          <p:nvPr/>
        </p:nvSpPr>
        <p:spPr>
          <a:xfrm>
            <a:off x="7598950" y="3640139"/>
            <a:ext cx="2480499" cy="33019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87" y="19703"/>
                </a:lnTo>
                <a:lnTo>
                  <a:pt x="3632" y="18239"/>
                </a:lnTo>
                <a:lnTo>
                  <a:pt x="5362" y="15917"/>
                </a:lnTo>
                <a:lnTo>
                  <a:pt x="7172" y="14191"/>
                </a:lnTo>
                <a:lnTo>
                  <a:pt x="9065" y="13085"/>
                </a:lnTo>
                <a:lnTo>
                  <a:pt x="10787" y="10703"/>
                </a:lnTo>
                <a:lnTo>
                  <a:pt x="12590" y="8925"/>
                </a:lnTo>
                <a:lnTo>
                  <a:pt x="14338" y="6737"/>
                </a:lnTo>
                <a:lnTo>
                  <a:pt x="16272" y="5937"/>
                </a:lnTo>
                <a:lnTo>
                  <a:pt x="18041" y="3911"/>
                </a:lnTo>
                <a:lnTo>
                  <a:pt x="19772" y="1589"/>
                </a:lnTo>
                <a:lnTo>
                  <a:pt x="21600" y="0"/>
                </a:lnTo>
              </a:path>
            </a:pathLst>
          </a:custGeom>
          <a:ln w="20479">
            <a:solidFill>
              <a:srgbClr val="B07A3F"/>
            </a:solidFill>
            <a:prstDash val="dashDot"/>
          </a:ln>
        </p:spPr>
        <p:txBody>
          <a:bodyPr lIns="0" tIns="0" rIns="0" bIns="0"/>
          <a:lstStyle/>
          <a:p>
            <a:pPr/>
          </a:p>
        </p:txBody>
      </p:sp>
      <p:sp>
        <p:nvSpPr>
          <p:cNvPr id="233" name="Shape"/>
          <p:cNvSpPr/>
          <p:nvPr/>
        </p:nvSpPr>
        <p:spPr>
          <a:xfrm>
            <a:off x="1267872" y="2202489"/>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234" name="Shape"/>
          <p:cNvSpPr/>
          <p:nvPr/>
        </p:nvSpPr>
        <p:spPr>
          <a:xfrm>
            <a:off x="1267872" y="2983539"/>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235" name="Shape"/>
          <p:cNvSpPr/>
          <p:nvPr/>
        </p:nvSpPr>
        <p:spPr>
          <a:xfrm>
            <a:off x="1267872" y="3764589"/>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236" name="Shape"/>
          <p:cNvSpPr/>
          <p:nvPr/>
        </p:nvSpPr>
        <p:spPr>
          <a:xfrm>
            <a:off x="1267872" y="4545639"/>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237" name="Shape"/>
          <p:cNvSpPr/>
          <p:nvPr/>
        </p:nvSpPr>
        <p:spPr>
          <a:xfrm>
            <a:off x="4201571" y="2593014"/>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238" name="Shape"/>
          <p:cNvSpPr/>
          <p:nvPr/>
        </p:nvSpPr>
        <p:spPr>
          <a:xfrm>
            <a:off x="4201571" y="3374064"/>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239" name="Shape"/>
          <p:cNvSpPr/>
          <p:nvPr/>
        </p:nvSpPr>
        <p:spPr>
          <a:xfrm>
            <a:off x="4201571" y="4155114"/>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240" name="Shape"/>
          <p:cNvSpPr/>
          <p:nvPr/>
        </p:nvSpPr>
        <p:spPr>
          <a:xfrm>
            <a:off x="7135272" y="2983539"/>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241" name="Shape"/>
          <p:cNvSpPr/>
          <p:nvPr/>
        </p:nvSpPr>
        <p:spPr>
          <a:xfrm>
            <a:off x="7135272" y="3764589"/>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242" name="Shape"/>
          <p:cNvSpPr/>
          <p:nvPr/>
        </p:nvSpPr>
        <p:spPr>
          <a:xfrm>
            <a:off x="10068972" y="3374064"/>
            <a:ext cx="477347" cy="47725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243" name="4 inputs"/>
          <p:cNvSpPr txBox="1"/>
          <p:nvPr/>
        </p:nvSpPr>
        <p:spPr>
          <a:xfrm>
            <a:off x="523875" y="1765396"/>
            <a:ext cx="220980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424548"/>
                </a:solidFill>
                <a:latin typeface="Chalkboard"/>
                <a:ea typeface="Chalkboard"/>
                <a:cs typeface="Chalkboard"/>
                <a:sym typeface="Chalkboard"/>
              </a:defRPr>
            </a:lvl1pPr>
          </a:lstStyle>
          <a:p>
            <a:pPr/>
            <a:r>
              <a:t>4 inputs</a:t>
            </a:r>
          </a:p>
        </p:txBody>
      </p:sp>
      <p:sp>
        <p:nvSpPr>
          <p:cNvPr id="244" name="3 hidden neurons"/>
          <p:cNvSpPr txBox="1"/>
          <p:nvPr/>
        </p:nvSpPr>
        <p:spPr>
          <a:xfrm>
            <a:off x="3467100" y="1765396"/>
            <a:ext cx="220980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424548"/>
                </a:solidFill>
                <a:latin typeface="Chalkboard"/>
                <a:ea typeface="Chalkboard"/>
                <a:cs typeface="Chalkboard"/>
                <a:sym typeface="Chalkboard"/>
              </a:defRPr>
            </a:lvl1pPr>
          </a:lstStyle>
          <a:p>
            <a:pPr/>
            <a:r>
              <a:t>3 hidden neurons</a:t>
            </a:r>
          </a:p>
        </p:txBody>
      </p:sp>
      <p:sp>
        <p:nvSpPr>
          <p:cNvPr id="245" name="2 hidden neurons"/>
          <p:cNvSpPr txBox="1"/>
          <p:nvPr/>
        </p:nvSpPr>
        <p:spPr>
          <a:xfrm>
            <a:off x="6410325" y="1765396"/>
            <a:ext cx="220980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424548"/>
                </a:solidFill>
                <a:latin typeface="Chalkboard"/>
                <a:ea typeface="Chalkboard"/>
                <a:cs typeface="Chalkboard"/>
                <a:sym typeface="Chalkboard"/>
              </a:defRPr>
            </a:lvl1pPr>
          </a:lstStyle>
          <a:p>
            <a:pPr/>
            <a:r>
              <a:t>2 hidden neurons</a:t>
            </a:r>
          </a:p>
        </p:txBody>
      </p:sp>
      <p:sp>
        <p:nvSpPr>
          <p:cNvPr id="246" name="1 output"/>
          <p:cNvSpPr txBox="1"/>
          <p:nvPr/>
        </p:nvSpPr>
        <p:spPr>
          <a:xfrm>
            <a:off x="9353550" y="1765396"/>
            <a:ext cx="220980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8E7052"/>
                </a:solidFill>
                <a:latin typeface="Chalkboard"/>
                <a:ea typeface="Chalkboard"/>
                <a:cs typeface="Chalkboard"/>
                <a:sym typeface="Chalkboard"/>
              </a:defRPr>
            </a:lvl1pPr>
          </a:lstStyle>
          <a:p>
            <a:pPr/>
            <a:r>
              <a:t>1 output</a:t>
            </a:r>
          </a:p>
        </p:txBody>
      </p:sp>
      <p:sp>
        <p:nvSpPr>
          <p:cNvPr id="247" name="x₁"/>
          <p:cNvSpPr txBox="1"/>
          <p:nvPr/>
        </p:nvSpPr>
        <p:spPr>
          <a:xfrm>
            <a:off x="733425" y="2236787"/>
            <a:ext cx="428625"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rgbClr val="424548"/>
                </a:solidFill>
                <a:latin typeface="Chalkboard"/>
                <a:ea typeface="Chalkboard"/>
                <a:cs typeface="Chalkboard"/>
                <a:sym typeface="Chalkboard"/>
              </a:defRPr>
            </a:lvl1pPr>
          </a:lstStyle>
          <a:p>
            <a:pPr/>
            <a:r>
              <a:t>x₁</a:t>
            </a:r>
          </a:p>
        </p:txBody>
      </p:sp>
      <p:sp>
        <p:nvSpPr>
          <p:cNvPr id="248" name="x₂"/>
          <p:cNvSpPr txBox="1"/>
          <p:nvPr/>
        </p:nvSpPr>
        <p:spPr>
          <a:xfrm>
            <a:off x="733425" y="3017837"/>
            <a:ext cx="428625"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rgbClr val="424548"/>
                </a:solidFill>
                <a:latin typeface="Chalkboard"/>
                <a:ea typeface="Chalkboard"/>
                <a:cs typeface="Chalkboard"/>
                <a:sym typeface="Chalkboard"/>
              </a:defRPr>
            </a:lvl1pPr>
          </a:lstStyle>
          <a:p>
            <a:pPr/>
            <a:r>
              <a:t>x₂</a:t>
            </a:r>
          </a:p>
        </p:txBody>
      </p:sp>
      <p:sp>
        <p:nvSpPr>
          <p:cNvPr id="249" name="x₃"/>
          <p:cNvSpPr txBox="1"/>
          <p:nvPr/>
        </p:nvSpPr>
        <p:spPr>
          <a:xfrm>
            <a:off x="733425" y="3798887"/>
            <a:ext cx="428625"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rgbClr val="424548"/>
                </a:solidFill>
                <a:latin typeface="Chalkboard"/>
                <a:ea typeface="Chalkboard"/>
                <a:cs typeface="Chalkboard"/>
                <a:sym typeface="Chalkboard"/>
              </a:defRPr>
            </a:lvl1pPr>
          </a:lstStyle>
          <a:p>
            <a:pPr/>
            <a:r>
              <a:t>x₃</a:t>
            </a:r>
          </a:p>
        </p:txBody>
      </p:sp>
      <p:sp>
        <p:nvSpPr>
          <p:cNvPr id="250" name="x₄"/>
          <p:cNvSpPr txBox="1"/>
          <p:nvPr/>
        </p:nvSpPr>
        <p:spPr>
          <a:xfrm>
            <a:off x="733425" y="4579937"/>
            <a:ext cx="428625"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rgbClr val="424548"/>
                </a:solidFill>
                <a:latin typeface="Chalkboard"/>
                <a:ea typeface="Chalkboard"/>
                <a:cs typeface="Chalkboard"/>
                <a:sym typeface="Chalkboard"/>
              </a:defRPr>
            </a:lvl1pPr>
          </a:lstStyle>
          <a:p>
            <a:pPr/>
            <a:r>
              <a:t>x₄</a:t>
            </a:r>
          </a:p>
        </p:txBody>
      </p:sp>
      <p:sp>
        <p:nvSpPr>
          <p:cNvPr id="251" name="Line"/>
          <p:cNvSpPr/>
          <p:nvPr/>
        </p:nvSpPr>
        <p:spPr>
          <a:xfrm rot="21557999">
            <a:off x="1733550" y="2533649"/>
            <a:ext cx="2476501" cy="98107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50" y="1925"/>
                </a:lnTo>
                <a:lnTo>
                  <a:pt x="3632" y="3680"/>
                </a:lnTo>
                <a:lnTo>
                  <a:pt x="5378" y="5345"/>
                </a:lnTo>
                <a:lnTo>
                  <a:pt x="7233" y="7284"/>
                </a:lnTo>
                <a:lnTo>
                  <a:pt x="8983" y="8958"/>
                </a:lnTo>
                <a:lnTo>
                  <a:pt x="10795" y="10788"/>
                </a:lnTo>
                <a:lnTo>
                  <a:pt x="12641" y="12702"/>
                </a:lnTo>
                <a:lnTo>
                  <a:pt x="14423" y="14458"/>
                </a:lnTo>
                <a:lnTo>
                  <a:pt x="16143" y="16055"/>
                </a:lnTo>
                <a:lnTo>
                  <a:pt x="18025" y="18064"/>
                </a:lnTo>
                <a:lnTo>
                  <a:pt x="19872" y="19982"/>
                </a:lnTo>
                <a:lnTo>
                  <a:pt x="21600" y="21600"/>
                </a:lnTo>
              </a:path>
            </a:pathLst>
          </a:custGeom>
          <a:solidFill>
            <a:srgbClr val="ECE4F7"/>
          </a:solidFill>
          <a:ln w="22384">
            <a:solidFill>
              <a:srgbClr val="7B6BA8"/>
            </a:solidFill>
          </a:ln>
        </p:spPr>
        <p:txBody>
          <a:bodyPr lIns="0" tIns="0" rIns="0" bIns="0"/>
          <a:lstStyle/>
          <a:p>
            <a:pPr/>
          </a:p>
        </p:txBody>
      </p:sp>
      <p:sp>
        <p:nvSpPr>
          <p:cNvPr id="252" name="One learnable weight"/>
          <p:cNvSpPr txBox="1"/>
          <p:nvPr/>
        </p:nvSpPr>
        <p:spPr>
          <a:xfrm>
            <a:off x="628650" y="5316718"/>
            <a:ext cx="5048250" cy="33936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8E7052"/>
                </a:solidFill>
                <a:latin typeface="Chalkboard"/>
                <a:ea typeface="Chalkboard"/>
                <a:cs typeface="Chalkboard"/>
                <a:sym typeface="Chalkboard"/>
              </a:defRPr>
            </a:lvl1pPr>
          </a:lstStyle>
          <a:p>
            <a:pPr/>
            <a:r>
              <a:t>One learnable weight</a:t>
            </a:r>
          </a:p>
        </p:txBody>
      </p:sp>
      <p:sp>
        <p:nvSpPr>
          <p:cNvPr id="253" name="Weighted sum:  zⱼ = ∑ᵢ wⱼᵢxᵢ + bⱼ"/>
          <p:cNvSpPr txBox="1"/>
          <p:nvPr/>
        </p:nvSpPr>
        <p:spPr>
          <a:xfrm>
            <a:off x="7063650" y="5337163"/>
            <a:ext cx="3674925" cy="298474"/>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lgn="ctr">
              <a:defRPr>
                <a:solidFill>
                  <a:srgbClr val="424548"/>
                </a:solidFill>
                <a:latin typeface="Chalkboard"/>
                <a:ea typeface="Chalkboard"/>
                <a:cs typeface="Chalkboard"/>
                <a:sym typeface="Chalkboard"/>
              </a:defRPr>
            </a:lvl1pPr>
          </a:lstStyle>
          <a:p>
            <a:pPr/>
            <a:r>
              <a:t>Weighted sum:  zⱼ = ∑ᵢ wⱼᵢxᵢ + bⱼ</a:t>
            </a:r>
          </a:p>
        </p:txBody>
      </p:sp>
      <p:sp>
        <p:nvSpPr>
          <p:cNvPr id="254" name="Positive weights strengthen a nonnegative input’s contribution. Negative weights suppress it."/>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Positive weights strengthen a nonnegative input’s contribution. Negative weights suppress it.</a:t>
            </a:r>
          </a:p>
        </p:txBody>
      </p:sp>
      <p:sp>
        <p:nvSpPr>
          <p:cNvPr id="255"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256"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260" name="relu-title"/>
          <p:cNvSpPr txBox="1"/>
          <p:nvPr/>
        </p:nvSpPr>
        <p:spPr>
          <a:xfrm>
            <a:off x="628650" y="520789"/>
            <a:ext cx="10906125" cy="4443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ReLU keeps positive signals</a:t>
            </a:r>
          </a:p>
        </p:txBody>
      </p:sp>
      <p:sp>
        <p:nvSpPr>
          <p:cNvPr id="261" name="relu-subtitle"/>
          <p:cNvSpPr txBox="1"/>
          <p:nvPr/>
        </p:nvSpPr>
        <p:spPr>
          <a:xfrm>
            <a:off x="628650" y="1289198"/>
            <a:ext cx="10906125"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Hidden neurons pass positive weighted sums forward and replace negative values with zero.</a:t>
            </a:r>
          </a:p>
        </p:txBody>
      </p:sp>
      <p:sp>
        <p:nvSpPr>
          <p:cNvPr id="262" name="relu-accent-line"/>
          <p:cNvSpPr/>
          <p:nvPr/>
        </p:nvSpPr>
        <p:spPr>
          <a:xfrm>
            <a:off x="628650" y="1562100"/>
            <a:ext cx="2028826" cy="0"/>
          </a:xfrm>
          <a:prstGeom prst="line">
            <a:avLst/>
          </a:prstGeom>
          <a:ln w="14288">
            <a:solidFill>
              <a:srgbClr val="C9AD7E"/>
            </a:solidFill>
          </a:ln>
        </p:spPr>
        <p:txBody>
          <a:bodyPr lIns="0" tIns="0" rIns="0" bIns="0"/>
          <a:lstStyle/>
          <a:p>
            <a:pPr/>
          </a:p>
        </p:txBody>
      </p:sp>
      <p:sp>
        <p:nvSpPr>
          <p:cNvPr id="263" name="relu-panel"/>
          <p:cNvSpPr/>
          <p:nvPr/>
        </p:nvSpPr>
        <p:spPr>
          <a:xfrm>
            <a:off x="457200" y="1647825"/>
            <a:ext cx="11277600" cy="4086225"/>
          </a:xfrm>
          <a:prstGeom prst="roundRect">
            <a:avLst>
              <a:gd name="adj" fmla="val 3730"/>
            </a:avLst>
          </a:prstGeom>
          <a:solidFill>
            <a:srgbClr val="FCFBF8"/>
          </a:solidFill>
          <a:ln>
            <a:solidFill>
              <a:srgbClr val="E0D5C5"/>
            </a:solidFill>
          </a:ln>
        </p:spPr>
        <p:txBody>
          <a:bodyPr lIns="0" tIns="0" rIns="0" bIns="0"/>
          <a:lstStyle/>
          <a:p>
            <a:pPr/>
          </a:p>
        </p:txBody>
      </p:sp>
      <p:sp>
        <p:nvSpPr>
          <p:cNvPr id="264" name="relu-equation"/>
          <p:cNvSpPr txBox="1"/>
          <p:nvPr/>
        </p:nvSpPr>
        <p:spPr>
          <a:xfrm>
            <a:off x="781050" y="2405495"/>
            <a:ext cx="5000625"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28282A"/>
                </a:solidFill>
                <a:latin typeface="Chalkboard"/>
                <a:ea typeface="Chalkboard"/>
                <a:cs typeface="Chalkboard"/>
                <a:sym typeface="Chalkboard"/>
              </a:defRPr>
            </a:lvl1pPr>
          </a:lstStyle>
          <a:p>
            <a:pPr/>
            <a:r>
              <a:t>ReLU(z) = max(0, z)</a:t>
            </a:r>
          </a:p>
        </p:txBody>
      </p:sp>
      <p:sp>
        <p:nvSpPr>
          <p:cNvPr id="265" name="relu-range-label"/>
          <p:cNvSpPr txBox="1"/>
          <p:nvPr/>
        </p:nvSpPr>
        <p:spPr>
          <a:xfrm>
            <a:off x="952500" y="3290563"/>
            <a:ext cx="18097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Output range</a:t>
            </a:r>
          </a:p>
        </p:txBody>
      </p:sp>
      <p:sp>
        <p:nvSpPr>
          <p:cNvPr id="266" name="relu-range-value"/>
          <p:cNvSpPr txBox="1"/>
          <p:nvPr/>
        </p:nvSpPr>
        <p:spPr>
          <a:xfrm>
            <a:off x="2952750" y="3271681"/>
            <a:ext cx="2381250" cy="2765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700">
                <a:solidFill>
                  <a:srgbClr val="424548"/>
                </a:solidFill>
                <a:latin typeface="Chalkboard"/>
                <a:ea typeface="Chalkboard"/>
                <a:cs typeface="Chalkboard"/>
                <a:sym typeface="Chalkboard"/>
              </a:defRPr>
            </a:lvl1pPr>
          </a:lstStyle>
          <a:p>
            <a:pPr/>
            <a:r>
              <a:t>0 to ∞</a:t>
            </a:r>
          </a:p>
        </p:txBody>
      </p:sp>
      <p:sp>
        <p:nvSpPr>
          <p:cNvPr id="267" name="relu-role-label"/>
          <p:cNvSpPr txBox="1"/>
          <p:nvPr/>
        </p:nvSpPr>
        <p:spPr>
          <a:xfrm>
            <a:off x="952500" y="3900163"/>
            <a:ext cx="18097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Typical role</a:t>
            </a:r>
          </a:p>
        </p:txBody>
      </p:sp>
      <p:sp>
        <p:nvSpPr>
          <p:cNvPr id="268" name="relu-role-value"/>
          <p:cNvSpPr txBox="1"/>
          <p:nvPr/>
        </p:nvSpPr>
        <p:spPr>
          <a:xfrm>
            <a:off x="2952750" y="3900163"/>
            <a:ext cx="2714625"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424548"/>
                </a:solidFill>
                <a:latin typeface="Chalkboard"/>
                <a:ea typeface="Chalkboard"/>
                <a:cs typeface="Chalkboard"/>
                <a:sym typeface="Chalkboard"/>
              </a:defRPr>
            </a:lvl1pPr>
          </a:lstStyle>
          <a:p>
            <a:pPr/>
            <a:r>
              <a:t>Hidden layers</a:t>
            </a:r>
          </a:p>
        </p:txBody>
      </p:sp>
      <p:sp>
        <p:nvSpPr>
          <p:cNvPr id="269" name="relu-note"/>
          <p:cNvSpPr txBox="1"/>
          <p:nvPr/>
        </p:nvSpPr>
        <p:spPr>
          <a:xfrm>
            <a:off x="952500" y="4686033"/>
            <a:ext cx="476250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2616A"/>
                </a:solidFill>
                <a:latin typeface="Arial"/>
                <a:ea typeface="Arial"/>
                <a:cs typeface="Arial"/>
                <a:sym typeface="Arial"/>
              </a:defRPr>
            </a:lvl1pPr>
          </a:lstStyle>
          <a:p>
            <a:pPr/>
            <a:r>
              <a:t>Negative inputs become zero. Positive inputs keep their size.</a:t>
            </a:r>
          </a:p>
        </p:txBody>
      </p:sp>
      <p:pic>
        <p:nvPicPr>
          <p:cNvPr id="270" name="image4.png" descr="image4.png"/>
          <p:cNvPicPr>
            <a:picLocks noChangeAspect="1"/>
          </p:cNvPicPr>
          <p:nvPr/>
        </p:nvPicPr>
        <p:blipFill>
          <a:blip r:embed="rId3">
            <a:extLst/>
          </a:blip>
          <a:stretch>
            <a:fillRect/>
          </a:stretch>
        </p:blipFill>
        <p:spPr>
          <a:xfrm>
            <a:off x="6119812" y="1952625"/>
            <a:ext cx="5000626" cy="3333750"/>
          </a:xfrm>
          <a:prstGeom prst="rect">
            <a:avLst/>
          </a:prstGeom>
          <a:ln w="12700">
            <a:miter lim="400000"/>
          </a:ln>
        </p:spPr>
      </p:pic>
      <p:sp>
        <p:nvSpPr>
          <p:cNvPr id="271" name="relu-footer-band"/>
          <p:cNvSpPr/>
          <p:nvPr/>
        </p:nvSpPr>
        <p:spPr>
          <a:xfrm>
            <a:off x="457200" y="5791200"/>
            <a:ext cx="11277600" cy="514350"/>
          </a:xfrm>
          <a:prstGeom prst="roundRect">
            <a:avLst>
              <a:gd name="adj" fmla="val 29630"/>
            </a:avLst>
          </a:prstGeom>
          <a:solidFill>
            <a:srgbClr val="F8E8B5"/>
          </a:solidFill>
          <a:ln w="12700">
            <a:miter lim="400000"/>
          </a:ln>
        </p:spPr>
        <p:txBody>
          <a:bodyPr lIns="0" tIns="0" rIns="0" bIns="0"/>
          <a:lstStyle/>
          <a:p>
            <a:pPr/>
          </a:p>
        </p:txBody>
      </p:sp>
      <p:sp>
        <p:nvSpPr>
          <p:cNvPr id="272" name="relu-footer-copy"/>
          <p:cNvSpPr txBox="1"/>
          <p:nvPr/>
        </p:nvSpPr>
        <p:spPr>
          <a:xfrm>
            <a:off x="628650" y="5915025"/>
            <a:ext cx="10906125" cy="2667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62616A"/>
                </a:solidFill>
                <a:latin typeface="Chalkboard"/>
                <a:ea typeface="Chalkboard"/>
                <a:cs typeface="Chalkboard"/>
                <a:sym typeface="Chalkboard"/>
              </a:defRPr>
            </a:lvl1pPr>
          </a:lstStyle>
          <a:p>
            <a:pPr/>
            <a:r>
              <a:t>Example: ReLU(−1.2) = 0 and ReLU(2.1) = 2.1</a:t>
            </a:r>
          </a:p>
        </p:txBody>
      </p:sp>
      <p:sp>
        <p:nvSpPr>
          <p:cNvPr id="273" name="relu-bottom-line"/>
          <p:cNvSpPr/>
          <p:nvPr/>
        </p:nvSpPr>
        <p:spPr>
          <a:xfrm>
            <a:off x="609600" y="6429375"/>
            <a:ext cx="10972801" cy="0"/>
          </a:xfrm>
          <a:prstGeom prst="line">
            <a:avLst/>
          </a:prstGeom>
          <a:ln w="7620">
            <a:solidFill>
              <a:srgbClr val="D9CDBB"/>
            </a:solidFill>
          </a:ln>
        </p:spPr>
        <p:txBody>
          <a:bodyPr lIns="0" tIns="0" rIns="0" bIns="0"/>
          <a:lstStyle/>
          <a:p>
            <a:pPr/>
          </a:p>
        </p:txBody>
      </p:sp>
      <p:sp>
        <p:nvSpPr>
          <p:cNvPr id="274" name="relu-page"/>
          <p:cNvSpPr txBox="1"/>
          <p:nvPr/>
        </p:nvSpPr>
        <p:spPr>
          <a:xfrm>
            <a:off x="5810250" y="6526910"/>
            <a:ext cx="5715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07</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278" name="sigmoid-title"/>
          <p:cNvSpPr txBox="1"/>
          <p:nvPr/>
        </p:nvSpPr>
        <p:spPr>
          <a:xfrm>
            <a:off x="628650" y="520789"/>
            <a:ext cx="10906125" cy="4443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Sigmoid maps scores to probabilities</a:t>
            </a:r>
          </a:p>
        </p:txBody>
      </p:sp>
      <p:sp>
        <p:nvSpPr>
          <p:cNvPr id="279" name="sigmoid-subtitle"/>
          <p:cNvSpPr txBox="1"/>
          <p:nvPr/>
        </p:nvSpPr>
        <p:spPr>
          <a:xfrm>
            <a:off x="628650" y="1289198"/>
            <a:ext cx="10906125"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The output changes smoothly from 0 to 1, which fits binary classification.</a:t>
            </a:r>
          </a:p>
        </p:txBody>
      </p:sp>
      <p:sp>
        <p:nvSpPr>
          <p:cNvPr id="280" name="sigmoid-accent-line"/>
          <p:cNvSpPr/>
          <p:nvPr/>
        </p:nvSpPr>
        <p:spPr>
          <a:xfrm>
            <a:off x="628650" y="1562100"/>
            <a:ext cx="2028826" cy="0"/>
          </a:xfrm>
          <a:prstGeom prst="line">
            <a:avLst/>
          </a:prstGeom>
          <a:ln w="14288">
            <a:solidFill>
              <a:srgbClr val="C9AD7E"/>
            </a:solidFill>
          </a:ln>
        </p:spPr>
        <p:txBody>
          <a:bodyPr lIns="0" tIns="0" rIns="0" bIns="0"/>
          <a:lstStyle/>
          <a:p>
            <a:pPr/>
          </a:p>
        </p:txBody>
      </p:sp>
      <p:sp>
        <p:nvSpPr>
          <p:cNvPr id="281" name="sigmoid-panel"/>
          <p:cNvSpPr/>
          <p:nvPr/>
        </p:nvSpPr>
        <p:spPr>
          <a:xfrm>
            <a:off x="457200" y="1647825"/>
            <a:ext cx="11277600" cy="4086225"/>
          </a:xfrm>
          <a:prstGeom prst="roundRect">
            <a:avLst>
              <a:gd name="adj" fmla="val 3730"/>
            </a:avLst>
          </a:prstGeom>
          <a:solidFill>
            <a:srgbClr val="FCFBF8"/>
          </a:solidFill>
          <a:ln>
            <a:solidFill>
              <a:srgbClr val="E0D5C5"/>
            </a:solidFill>
          </a:ln>
        </p:spPr>
        <p:txBody>
          <a:bodyPr lIns="0" tIns="0" rIns="0" bIns="0"/>
          <a:lstStyle/>
          <a:p>
            <a:pPr/>
          </a:p>
        </p:txBody>
      </p:sp>
      <p:sp>
        <p:nvSpPr>
          <p:cNvPr id="282" name="sigmoid-equation"/>
          <p:cNvSpPr txBox="1"/>
          <p:nvPr/>
        </p:nvSpPr>
        <p:spPr>
          <a:xfrm>
            <a:off x="781050" y="2399226"/>
            <a:ext cx="5000625" cy="40219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28282A"/>
                </a:solidFill>
                <a:latin typeface="Chalkboard"/>
                <a:ea typeface="Chalkboard"/>
                <a:cs typeface="Chalkboard"/>
                <a:sym typeface="Chalkboard"/>
              </a:defRPr>
            </a:lvl1pPr>
          </a:lstStyle>
          <a:p>
            <a:pPr/>
            <a:r>
              <a:t>σ(z) = 1 / (1 + e⁻ᶻ)</a:t>
            </a:r>
          </a:p>
        </p:txBody>
      </p:sp>
      <p:sp>
        <p:nvSpPr>
          <p:cNvPr id="283" name="sigmoid-range-label"/>
          <p:cNvSpPr txBox="1"/>
          <p:nvPr/>
        </p:nvSpPr>
        <p:spPr>
          <a:xfrm>
            <a:off x="952500" y="3290563"/>
            <a:ext cx="18097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Output range</a:t>
            </a:r>
          </a:p>
        </p:txBody>
      </p:sp>
      <p:sp>
        <p:nvSpPr>
          <p:cNvPr id="284" name="sigmoid-range-value"/>
          <p:cNvSpPr txBox="1"/>
          <p:nvPr/>
        </p:nvSpPr>
        <p:spPr>
          <a:xfrm>
            <a:off x="2952750" y="3271681"/>
            <a:ext cx="2381250" cy="27653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700">
                <a:solidFill>
                  <a:srgbClr val="424548"/>
                </a:solidFill>
                <a:latin typeface="Chalkboard"/>
                <a:ea typeface="Chalkboard"/>
                <a:cs typeface="Chalkboard"/>
                <a:sym typeface="Chalkboard"/>
              </a:defRPr>
            </a:lvl1pPr>
          </a:lstStyle>
          <a:p>
            <a:pPr/>
            <a:r>
              <a:t>0 to 1</a:t>
            </a:r>
          </a:p>
        </p:txBody>
      </p:sp>
      <p:sp>
        <p:nvSpPr>
          <p:cNvPr id="285" name="sigmoid-role-label"/>
          <p:cNvSpPr txBox="1"/>
          <p:nvPr/>
        </p:nvSpPr>
        <p:spPr>
          <a:xfrm>
            <a:off x="952500" y="3900163"/>
            <a:ext cx="18097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Typical role</a:t>
            </a:r>
          </a:p>
        </p:txBody>
      </p:sp>
      <p:sp>
        <p:nvSpPr>
          <p:cNvPr id="286" name="sigmoid-role-value"/>
          <p:cNvSpPr txBox="1"/>
          <p:nvPr/>
        </p:nvSpPr>
        <p:spPr>
          <a:xfrm>
            <a:off x="2952750" y="3900163"/>
            <a:ext cx="2714625"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424548"/>
                </a:solidFill>
                <a:latin typeface="Chalkboard"/>
                <a:ea typeface="Chalkboard"/>
                <a:cs typeface="Chalkboard"/>
                <a:sym typeface="Chalkboard"/>
              </a:defRPr>
            </a:lvl1pPr>
          </a:lstStyle>
          <a:p>
            <a:pPr/>
            <a:r>
              <a:t>Binary output layer</a:t>
            </a:r>
          </a:p>
        </p:txBody>
      </p:sp>
      <p:sp>
        <p:nvSpPr>
          <p:cNvPr id="287" name="sigmoid-note"/>
          <p:cNvSpPr txBox="1"/>
          <p:nvPr/>
        </p:nvSpPr>
        <p:spPr>
          <a:xfrm>
            <a:off x="952500" y="4686033"/>
            <a:ext cx="476250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2616A"/>
                </a:solidFill>
                <a:latin typeface="Arial"/>
                <a:ea typeface="Arial"/>
                <a:cs typeface="Arial"/>
                <a:sym typeface="Arial"/>
              </a:defRPr>
            </a:lvl1pPr>
          </a:lstStyle>
          <a:p>
            <a:pPr/>
            <a:r>
              <a:t>At z = 0, the output is 0.5. Larger scores move the result toward 1.</a:t>
            </a:r>
          </a:p>
        </p:txBody>
      </p:sp>
      <p:pic>
        <p:nvPicPr>
          <p:cNvPr id="288" name="image5.png" descr="image5.png"/>
          <p:cNvPicPr>
            <a:picLocks noChangeAspect="1"/>
          </p:cNvPicPr>
          <p:nvPr/>
        </p:nvPicPr>
        <p:blipFill>
          <a:blip r:embed="rId2">
            <a:extLst/>
          </a:blip>
          <a:stretch>
            <a:fillRect/>
          </a:stretch>
        </p:blipFill>
        <p:spPr>
          <a:xfrm>
            <a:off x="6119812" y="1952625"/>
            <a:ext cx="5000626" cy="3333750"/>
          </a:xfrm>
          <a:prstGeom prst="rect">
            <a:avLst/>
          </a:prstGeom>
          <a:ln w="12700">
            <a:miter lim="400000"/>
          </a:ln>
        </p:spPr>
      </p:pic>
      <p:sp>
        <p:nvSpPr>
          <p:cNvPr id="289" name="sigmoid-footer-band"/>
          <p:cNvSpPr/>
          <p:nvPr/>
        </p:nvSpPr>
        <p:spPr>
          <a:xfrm>
            <a:off x="457200" y="5791200"/>
            <a:ext cx="11277600" cy="514350"/>
          </a:xfrm>
          <a:prstGeom prst="roundRect">
            <a:avLst>
              <a:gd name="adj" fmla="val 29630"/>
            </a:avLst>
          </a:prstGeom>
          <a:solidFill>
            <a:srgbClr val="F8E8B5"/>
          </a:solidFill>
          <a:ln w="12700">
            <a:miter lim="400000"/>
          </a:ln>
        </p:spPr>
        <p:txBody>
          <a:bodyPr lIns="0" tIns="0" rIns="0" bIns="0"/>
          <a:lstStyle/>
          <a:p>
            <a:pPr/>
          </a:p>
        </p:txBody>
      </p:sp>
      <p:sp>
        <p:nvSpPr>
          <p:cNvPr id="290" name="sigmoid-footer-copy"/>
          <p:cNvSpPr txBox="1"/>
          <p:nvPr/>
        </p:nvSpPr>
        <p:spPr>
          <a:xfrm>
            <a:off x="628650" y="5955825"/>
            <a:ext cx="10906125"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62616A"/>
                </a:solidFill>
                <a:latin typeface="Arial"/>
                <a:ea typeface="Arial"/>
                <a:cs typeface="Arial"/>
                <a:sym typeface="Arial"/>
              </a:defRPr>
            </a:lvl1pPr>
          </a:lstStyle>
          <a:p>
            <a:pPr/>
            <a:r>
              <a:t>The spam example uses sigmoid to produce one probability.</a:t>
            </a:r>
          </a:p>
        </p:txBody>
      </p:sp>
      <p:sp>
        <p:nvSpPr>
          <p:cNvPr id="291" name="sigmoid-bottom-line"/>
          <p:cNvSpPr/>
          <p:nvPr/>
        </p:nvSpPr>
        <p:spPr>
          <a:xfrm>
            <a:off x="609600" y="6429375"/>
            <a:ext cx="10972801" cy="0"/>
          </a:xfrm>
          <a:prstGeom prst="line">
            <a:avLst/>
          </a:prstGeom>
          <a:ln w="7620">
            <a:solidFill>
              <a:srgbClr val="D9CDBB"/>
            </a:solidFill>
          </a:ln>
        </p:spPr>
        <p:txBody>
          <a:bodyPr lIns="0" tIns="0" rIns="0" bIns="0"/>
          <a:lstStyle/>
          <a:p>
            <a:pPr/>
          </a:p>
        </p:txBody>
      </p:sp>
      <p:sp>
        <p:nvSpPr>
          <p:cNvPr id="292" name="sigmoid-page"/>
          <p:cNvSpPr txBox="1"/>
          <p:nvPr/>
        </p:nvSpPr>
        <p:spPr>
          <a:xfrm>
            <a:off x="5810250" y="6526910"/>
            <a:ext cx="5715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08</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294" name="tanh-title"/>
          <p:cNvSpPr txBox="1"/>
          <p:nvPr/>
        </p:nvSpPr>
        <p:spPr>
          <a:xfrm>
            <a:off x="628650" y="520789"/>
            <a:ext cx="10906125" cy="4443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Tanh centers activations around zero</a:t>
            </a:r>
          </a:p>
        </p:txBody>
      </p:sp>
      <p:sp>
        <p:nvSpPr>
          <p:cNvPr id="295" name="tanh-subtitle"/>
          <p:cNvSpPr txBox="1"/>
          <p:nvPr/>
        </p:nvSpPr>
        <p:spPr>
          <a:xfrm>
            <a:off x="628650" y="1289198"/>
            <a:ext cx="10906125"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The output stays between −1 and 1, preserving the sign of the weighted sum.</a:t>
            </a:r>
          </a:p>
        </p:txBody>
      </p:sp>
      <p:sp>
        <p:nvSpPr>
          <p:cNvPr id="296" name="tanh-accent-line"/>
          <p:cNvSpPr/>
          <p:nvPr/>
        </p:nvSpPr>
        <p:spPr>
          <a:xfrm>
            <a:off x="628650" y="1562100"/>
            <a:ext cx="2028826" cy="0"/>
          </a:xfrm>
          <a:prstGeom prst="line">
            <a:avLst/>
          </a:prstGeom>
          <a:ln w="14288">
            <a:solidFill>
              <a:srgbClr val="C9AD7E"/>
            </a:solidFill>
          </a:ln>
        </p:spPr>
        <p:txBody>
          <a:bodyPr lIns="0" tIns="0" rIns="0" bIns="0"/>
          <a:lstStyle/>
          <a:p>
            <a:pPr/>
          </a:p>
        </p:txBody>
      </p:sp>
      <p:sp>
        <p:nvSpPr>
          <p:cNvPr id="297" name="tanh-panel"/>
          <p:cNvSpPr/>
          <p:nvPr/>
        </p:nvSpPr>
        <p:spPr>
          <a:xfrm>
            <a:off x="457200" y="1647825"/>
            <a:ext cx="11277600" cy="4086225"/>
          </a:xfrm>
          <a:prstGeom prst="roundRect">
            <a:avLst>
              <a:gd name="adj" fmla="val 3730"/>
            </a:avLst>
          </a:prstGeom>
          <a:solidFill>
            <a:srgbClr val="FCFBF8"/>
          </a:solidFill>
          <a:ln>
            <a:solidFill>
              <a:srgbClr val="E0D5C5"/>
            </a:solidFill>
          </a:ln>
        </p:spPr>
        <p:txBody>
          <a:bodyPr lIns="0" tIns="0" rIns="0" bIns="0"/>
          <a:lstStyle/>
          <a:p>
            <a:pPr/>
          </a:p>
        </p:txBody>
      </p:sp>
      <p:sp>
        <p:nvSpPr>
          <p:cNvPr id="298" name="tanh-equation"/>
          <p:cNvSpPr txBox="1"/>
          <p:nvPr/>
        </p:nvSpPr>
        <p:spPr>
          <a:xfrm>
            <a:off x="781050" y="2390775"/>
            <a:ext cx="5000625"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100">
                <a:solidFill>
                  <a:srgbClr val="28282A"/>
                </a:solidFill>
                <a:latin typeface="Chalkboard"/>
                <a:ea typeface="Chalkboard"/>
                <a:cs typeface="Chalkboard"/>
                <a:sym typeface="Chalkboard"/>
              </a:defRPr>
            </a:lvl1pPr>
          </a:lstStyle>
          <a:p>
            <a:pPr/>
            <a:r>
              <a:t>tanh(z) = (eᶻ − e⁻ᶻ) / (eᶻ + e⁻ᶻ)</a:t>
            </a:r>
          </a:p>
        </p:txBody>
      </p:sp>
      <p:sp>
        <p:nvSpPr>
          <p:cNvPr id="299" name="tanh-range-label"/>
          <p:cNvSpPr txBox="1"/>
          <p:nvPr/>
        </p:nvSpPr>
        <p:spPr>
          <a:xfrm>
            <a:off x="952500" y="3290563"/>
            <a:ext cx="18097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Output range</a:t>
            </a:r>
          </a:p>
        </p:txBody>
      </p:sp>
      <p:sp>
        <p:nvSpPr>
          <p:cNvPr id="300" name="tanh-range-value"/>
          <p:cNvSpPr txBox="1"/>
          <p:nvPr/>
        </p:nvSpPr>
        <p:spPr>
          <a:xfrm>
            <a:off x="2952750" y="3238500"/>
            <a:ext cx="2381250" cy="3429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700">
                <a:solidFill>
                  <a:srgbClr val="424548"/>
                </a:solidFill>
                <a:latin typeface="Chalkboard"/>
                <a:ea typeface="Chalkboard"/>
                <a:cs typeface="Chalkboard"/>
                <a:sym typeface="Chalkboard"/>
              </a:defRPr>
            </a:lvl1pPr>
          </a:lstStyle>
          <a:p>
            <a:pPr/>
            <a:r>
              <a:t>−1 to 1</a:t>
            </a:r>
          </a:p>
        </p:txBody>
      </p:sp>
      <p:sp>
        <p:nvSpPr>
          <p:cNvPr id="301" name="tanh-role-label"/>
          <p:cNvSpPr txBox="1"/>
          <p:nvPr/>
        </p:nvSpPr>
        <p:spPr>
          <a:xfrm>
            <a:off x="952500" y="3900163"/>
            <a:ext cx="1809750"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Typical role</a:t>
            </a:r>
          </a:p>
        </p:txBody>
      </p:sp>
      <p:sp>
        <p:nvSpPr>
          <p:cNvPr id="302" name="tanh-role-value"/>
          <p:cNvSpPr txBox="1"/>
          <p:nvPr/>
        </p:nvSpPr>
        <p:spPr>
          <a:xfrm>
            <a:off x="2952750" y="3900163"/>
            <a:ext cx="2714625" cy="23877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424548"/>
                </a:solidFill>
                <a:latin typeface="Chalkboard"/>
                <a:ea typeface="Chalkboard"/>
                <a:cs typeface="Chalkboard"/>
                <a:sym typeface="Chalkboard"/>
              </a:defRPr>
            </a:lvl1pPr>
          </a:lstStyle>
          <a:p>
            <a:pPr/>
            <a:r>
              <a:t>Alternative hidden layers</a:t>
            </a:r>
          </a:p>
        </p:txBody>
      </p:sp>
      <p:sp>
        <p:nvSpPr>
          <p:cNvPr id="303" name="tanh-note"/>
          <p:cNvSpPr txBox="1"/>
          <p:nvPr/>
        </p:nvSpPr>
        <p:spPr>
          <a:xfrm>
            <a:off x="952500" y="4686033"/>
            <a:ext cx="476250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2616A"/>
                </a:solidFill>
                <a:latin typeface="Arial"/>
                <a:ea typeface="Arial"/>
                <a:cs typeface="Arial"/>
                <a:sym typeface="Arial"/>
              </a:defRPr>
            </a:lvl1pPr>
          </a:lstStyle>
          <a:p>
            <a:pPr/>
            <a:r>
              <a:t>Negative inputs stay negative, zero maps to zero, and positive inputs stay positive.</a:t>
            </a:r>
          </a:p>
        </p:txBody>
      </p:sp>
      <p:pic>
        <p:nvPicPr>
          <p:cNvPr id="304" name="image6.png" descr="image6.png"/>
          <p:cNvPicPr>
            <a:picLocks noChangeAspect="1"/>
          </p:cNvPicPr>
          <p:nvPr/>
        </p:nvPicPr>
        <p:blipFill>
          <a:blip r:embed="rId3">
            <a:extLst/>
          </a:blip>
          <a:stretch>
            <a:fillRect/>
          </a:stretch>
        </p:blipFill>
        <p:spPr>
          <a:xfrm>
            <a:off x="5953125" y="2286000"/>
            <a:ext cx="5334000" cy="2667000"/>
          </a:xfrm>
          <a:prstGeom prst="rect">
            <a:avLst/>
          </a:prstGeom>
          <a:ln w="12700">
            <a:miter lim="400000"/>
          </a:ln>
        </p:spPr>
      </p:pic>
      <p:sp>
        <p:nvSpPr>
          <p:cNvPr id="305" name="tanh-footer-band"/>
          <p:cNvSpPr/>
          <p:nvPr/>
        </p:nvSpPr>
        <p:spPr>
          <a:xfrm>
            <a:off x="457200" y="5791200"/>
            <a:ext cx="11277600" cy="514350"/>
          </a:xfrm>
          <a:prstGeom prst="roundRect">
            <a:avLst>
              <a:gd name="adj" fmla="val 29630"/>
            </a:avLst>
          </a:prstGeom>
          <a:solidFill>
            <a:srgbClr val="F8E8B5"/>
          </a:solidFill>
          <a:ln w="12700">
            <a:miter lim="400000"/>
          </a:ln>
        </p:spPr>
        <p:txBody>
          <a:bodyPr lIns="0" tIns="0" rIns="0" bIns="0"/>
          <a:lstStyle/>
          <a:p>
            <a:pPr/>
          </a:p>
        </p:txBody>
      </p:sp>
      <p:sp>
        <p:nvSpPr>
          <p:cNvPr id="306" name="tanh-footer-copy"/>
          <p:cNvSpPr txBox="1"/>
          <p:nvPr/>
        </p:nvSpPr>
        <p:spPr>
          <a:xfrm>
            <a:off x="628650" y="5955825"/>
            <a:ext cx="10906125"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62616A"/>
                </a:solidFill>
                <a:latin typeface="Arial"/>
                <a:ea typeface="Arial"/>
                <a:cs typeface="Arial"/>
                <a:sym typeface="Arial"/>
              </a:defRPr>
            </a:lvl1pPr>
          </a:lstStyle>
          <a:p>
            <a:pPr/>
            <a:r>
              <a:t>Tanh is useful when centered activations help the next layer.</a:t>
            </a:r>
          </a:p>
        </p:txBody>
      </p:sp>
      <p:sp>
        <p:nvSpPr>
          <p:cNvPr id="307" name="tanh-bottom-line"/>
          <p:cNvSpPr/>
          <p:nvPr/>
        </p:nvSpPr>
        <p:spPr>
          <a:xfrm>
            <a:off x="609600" y="6429375"/>
            <a:ext cx="10972801" cy="0"/>
          </a:xfrm>
          <a:prstGeom prst="line">
            <a:avLst/>
          </a:prstGeom>
          <a:ln w="7620">
            <a:solidFill>
              <a:srgbClr val="D9CDBB"/>
            </a:solidFill>
          </a:ln>
        </p:spPr>
        <p:txBody>
          <a:bodyPr lIns="0" tIns="0" rIns="0" bIns="0"/>
          <a:lstStyle/>
          <a:p>
            <a:pPr/>
          </a:p>
        </p:txBody>
      </p:sp>
      <p:sp>
        <p:nvSpPr>
          <p:cNvPr id="308" name="tanh-page"/>
          <p:cNvSpPr txBox="1"/>
          <p:nvPr/>
        </p:nvSpPr>
        <p:spPr>
          <a:xfrm>
            <a:off x="5810250" y="6526910"/>
            <a:ext cx="5715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09</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312" name="matrix-title"/>
          <p:cNvSpPr txBox="1"/>
          <p:nvPr/>
        </p:nvSpPr>
        <p:spPr>
          <a:xfrm>
            <a:off x="628650" y="520789"/>
            <a:ext cx="10906125" cy="4443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The 4–3–2–1 MLP in matrix notation</a:t>
            </a:r>
          </a:p>
        </p:txBody>
      </p:sp>
      <p:sp>
        <p:nvSpPr>
          <p:cNvPr id="313" name="matrix-subtitle"/>
          <p:cNvSpPr txBox="1"/>
          <p:nvPr/>
        </p:nvSpPr>
        <p:spPr>
          <a:xfrm>
            <a:off x="628650" y="1289198"/>
            <a:ext cx="10906125"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The superscript identifies the layer. Each row of a weight matrix belongs to one neuron.</a:t>
            </a:r>
          </a:p>
        </p:txBody>
      </p:sp>
      <p:sp>
        <p:nvSpPr>
          <p:cNvPr id="314" name="matrix-accent-line"/>
          <p:cNvSpPr/>
          <p:nvPr/>
        </p:nvSpPr>
        <p:spPr>
          <a:xfrm>
            <a:off x="628650" y="1562100"/>
            <a:ext cx="2028826" cy="0"/>
          </a:xfrm>
          <a:prstGeom prst="line">
            <a:avLst/>
          </a:prstGeom>
          <a:ln w="14288">
            <a:solidFill>
              <a:srgbClr val="C9AD7E"/>
            </a:solidFill>
          </a:ln>
        </p:spPr>
        <p:txBody>
          <a:bodyPr lIns="0" tIns="0" rIns="0" bIns="0"/>
          <a:lstStyle/>
          <a:p>
            <a:pPr/>
          </a:p>
        </p:txBody>
      </p:sp>
      <p:sp>
        <p:nvSpPr>
          <p:cNvPr id="315" name="matrix-panel"/>
          <p:cNvSpPr/>
          <p:nvPr/>
        </p:nvSpPr>
        <p:spPr>
          <a:xfrm>
            <a:off x="457200" y="1647825"/>
            <a:ext cx="11277600" cy="4086225"/>
          </a:xfrm>
          <a:prstGeom prst="roundRect">
            <a:avLst>
              <a:gd name="adj" fmla="val 3730"/>
            </a:avLst>
          </a:prstGeom>
          <a:solidFill>
            <a:srgbClr val="FCFBF8"/>
          </a:solidFill>
          <a:ln>
            <a:solidFill>
              <a:srgbClr val="E0D5C5"/>
            </a:solidFill>
          </a:ln>
        </p:spPr>
        <p:txBody>
          <a:bodyPr lIns="0" tIns="0" rIns="0" bIns="0"/>
          <a:lstStyle/>
          <a:p>
            <a:pPr/>
          </a:p>
        </p:txBody>
      </p:sp>
      <p:sp>
        <p:nvSpPr>
          <p:cNvPr id="316" name="matrix-input"/>
          <p:cNvSpPr txBox="1"/>
          <p:nvPr/>
        </p:nvSpPr>
        <p:spPr>
          <a:xfrm>
            <a:off x="838200" y="1790699"/>
            <a:ext cx="10287000"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8E7052"/>
                </a:solidFill>
                <a:latin typeface="Chalkboard"/>
                <a:ea typeface="Chalkboard"/>
                <a:cs typeface="Chalkboard"/>
                <a:sym typeface="Chalkboard"/>
              </a:defRPr>
            </a:lvl1pPr>
          </a:lstStyle>
          <a:p>
            <a:pPr/>
            <a:r>
              <a:t>Input vector     x = [x₁  x₂  x₃  x₄]ᵀ ∈ ℝ⁴</a:t>
            </a:r>
          </a:p>
        </p:txBody>
      </p:sp>
      <p:sp>
        <p:nvSpPr>
          <p:cNvPr id="317" name="layer1-label"/>
          <p:cNvSpPr txBox="1"/>
          <p:nvPr/>
        </p:nvSpPr>
        <p:spPr>
          <a:xfrm>
            <a:off x="838200" y="2426963"/>
            <a:ext cx="1562100" cy="4800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solidFill>
                  <a:srgbClr val="8E7052"/>
                </a:solidFill>
                <a:latin typeface="Chalkboard"/>
                <a:ea typeface="Chalkboard"/>
                <a:cs typeface="Chalkboard"/>
                <a:sym typeface="Chalkboard"/>
              </a:defRPr>
            </a:pPr>
            <a:r>
              <a:t>Hidden layer 1</a:t>
            </a:r>
          </a:p>
          <a:p>
            <a:pPr>
              <a:defRPr sz="1500">
                <a:solidFill>
                  <a:srgbClr val="8E7052"/>
                </a:solidFill>
                <a:latin typeface="Chalkboard"/>
                <a:ea typeface="Chalkboard"/>
                <a:cs typeface="Chalkboard"/>
                <a:sym typeface="Chalkboard"/>
              </a:defRPr>
            </a:pPr>
            <a:r>
              <a:t>3 neurons</a:t>
            </a:r>
          </a:p>
        </p:txBody>
      </p:sp>
      <p:sp>
        <p:nvSpPr>
          <p:cNvPr id="318" name="layer1-equation"/>
          <p:cNvSpPr txBox="1"/>
          <p:nvPr/>
        </p:nvSpPr>
        <p:spPr>
          <a:xfrm>
            <a:off x="2476500" y="2364196"/>
            <a:ext cx="2714625" cy="5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400">
                <a:solidFill>
                  <a:srgbClr val="28282A"/>
                </a:solidFill>
                <a:latin typeface="Chalkboard"/>
                <a:ea typeface="Chalkboard"/>
                <a:cs typeface="Chalkboard"/>
                <a:sym typeface="Chalkboard"/>
              </a:defRPr>
            </a:pPr>
            <a:r>
              <a:t>z⁽¹⁾ = W⁽¹⁾x + b⁽¹⁾</a:t>
            </a:r>
          </a:p>
          <a:p>
            <a:pPr>
              <a:defRPr sz="1400">
                <a:solidFill>
                  <a:srgbClr val="28282A"/>
                </a:solidFill>
                <a:latin typeface="Chalkboard"/>
                <a:ea typeface="Chalkboard"/>
                <a:cs typeface="Chalkboard"/>
                <a:sym typeface="Chalkboard"/>
              </a:defRPr>
            </a:pPr>
            <a:r>
              <a:t>a⁽¹⁾ = ReLU(z⁽¹⁾)</a:t>
            </a:r>
          </a:p>
        </p:txBody>
      </p:sp>
      <p:sp>
        <p:nvSpPr>
          <p:cNvPr id="319" name="layer1-weight"/>
          <p:cNvSpPr txBox="1"/>
          <p:nvPr/>
        </p:nvSpPr>
        <p:spPr>
          <a:xfrm>
            <a:off x="5219700" y="2190749"/>
            <a:ext cx="4095750" cy="87630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28282A"/>
                </a:solidFill>
                <a:latin typeface="Chalkboard"/>
                <a:ea typeface="Chalkboard"/>
                <a:cs typeface="Chalkboard"/>
                <a:sym typeface="Chalkboard"/>
              </a:defRPr>
            </a:pPr>
            <a:r>
              <a:t>W⁽¹⁾ = ⎡w₁₁⁽¹⁾  w₁₂⁽¹⁾  w₁₃⁽¹⁾  w₁₄⁽¹⁾⎤</a:t>
            </a:r>
          </a:p>
          <a:p>
            <a:pPr>
              <a:defRPr sz="1200">
                <a:solidFill>
                  <a:srgbClr val="28282A"/>
                </a:solidFill>
                <a:latin typeface="Chalkboard"/>
                <a:ea typeface="Chalkboard"/>
                <a:cs typeface="Chalkboard"/>
                <a:sym typeface="Chalkboard"/>
              </a:defRPr>
            </a:pPr>
            <a:r>
              <a:t>          ⎢w₂₁⁽¹⁾  w₂₂⁽¹⁾  w₂₃⁽¹⁾  w₂₄⁽¹⁾⎥</a:t>
            </a:r>
          </a:p>
          <a:p>
            <a:pPr>
              <a:defRPr sz="1200">
                <a:solidFill>
                  <a:srgbClr val="28282A"/>
                </a:solidFill>
                <a:latin typeface="Chalkboard"/>
                <a:ea typeface="Chalkboard"/>
                <a:cs typeface="Chalkboard"/>
                <a:sym typeface="Chalkboard"/>
              </a:defRPr>
            </a:pPr>
            <a:r>
              <a:t>          ⎣w₃₁⁽¹⁾  w₃₂⁽¹⁾  w₃₃⁽¹⁾  w₃₄⁽¹⁾⎦</a:t>
            </a:r>
          </a:p>
        </p:txBody>
      </p:sp>
      <p:sp>
        <p:nvSpPr>
          <p:cNvPr id="320" name="layer1-bias"/>
          <p:cNvSpPr txBox="1"/>
          <p:nvPr/>
        </p:nvSpPr>
        <p:spPr>
          <a:xfrm>
            <a:off x="9410700" y="2190749"/>
            <a:ext cx="1676400" cy="87630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28282A"/>
                </a:solidFill>
                <a:latin typeface="Chalkboard"/>
                <a:ea typeface="Chalkboard"/>
                <a:cs typeface="Chalkboard"/>
                <a:sym typeface="Chalkboard"/>
              </a:defRPr>
            </a:pPr>
            <a:r>
              <a:t>b⁽¹⁾ = ⎡b₁⁽¹⁾⎤</a:t>
            </a:r>
          </a:p>
          <a:p>
            <a:pPr>
              <a:defRPr sz="1200">
                <a:solidFill>
                  <a:srgbClr val="28282A"/>
                </a:solidFill>
                <a:latin typeface="Chalkboard"/>
                <a:ea typeface="Chalkboard"/>
                <a:cs typeface="Chalkboard"/>
                <a:sym typeface="Chalkboard"/>
              </a:defRPr>
            </a:pPr>
            <a:r>
              <a:t>          ⎢b₂⁽¹⁾⎥</a:t>
            </a:r>
          </a:p>
          <a:p>
            <a:pPr>
              <a:defRPr sz="1200">
                <a:solidFill>
                  <a:srgbClr val="28282A"/>
                </a:solidFill>
                <a:latin typeface="Chalkboard"/>
                <a:ea typeface="Chalkboard"/>
                <a:cs typeface="Chalkboard"/>
                <a:sym typeface="Chalkboard"/>
              </a:defRPr>
            </a:pPr>
            <a:r>
              <a:t>          ⎣b₃⁽¹⁾⎦</a:t>
            </a:r>
          </a:p>
        </p:txBody>
      </p:sp>
      <p:sp>
        <p:nvSpPr>
          <p:cNvPr id="321" name="matrix-rule-1"/>
          <p:cNvSpPr/>
          <p:nvPr/>
        </p:nvSpPr>
        <p:spPr>
          <a:xfrm>
            <a:off x="838200" y="3209925"/>
            <a:ext cx="10287001" cy="0"/>
          </a:xfrm>
          <a:prstGeom prst="line">
            <a:avLst/>
          </a:prstGeom>
          <a:ln w="7620">
            <a:solidFill>
              <a:srgbClr val="E5DCCF"/>
            </a:solidFill>
          </a:ln>
        </p:spPr>
        <p:txBody>
          <a:bodyPr lIns="0" tIns="0" rIns="0" bIns="0"/>
          <a:lstStyle/>
          <a:p>
            <a:pPr/>
          </a:p>
        </p:txBody>
      </p:sp>
      <p:sp>
        <p:nvSpPr>
          <p:cNvPr id="322" name="layer2-label"/>
          <p:cNvSpPr txBox="1"/>
          <p:nvPr/>
        </p:nvSpPr>
        <p:spPr>
          <a:xfrm>
            <a:off x="838200" y="3598538"/>
            <a:ext cx="1562100" cy="4800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solidFill>
                  <a:srgbClr val="8E7052"/>
                </a:solidFill>
                <a:latin typeface="Chalkboard"/>
                <a:ea typeface="Chalkboard"/>
                <a:cs typeface="Chalkboard"/>
                <a:sym typeface="Chalkboard"/>
              </a:defRPr>
            </a:pPr>
            <a:r>
              <a:t>Hidden layer 2</a:t>
            </a:r>
          </a:p>
          <a:p>
            <a:pPr>
              <a:defRPr sz="1500">
                <a:solidFill>
                  <a:srgbClr val="8E7052"/>
                </a:solidFill>
                <a:latin typeface="Chalkboard"/>
                <a:ea typeface="Chalkboard"/>
                <a:cs typeface="Chalkboard"/>
                <a:sym typeface="Chalkboard"/>
              </a:defRPr>
            </a:pPr>
            <a:r>
              <a:t>2 neurons</a:t>
            </a:r>
          </a:p>
        </p:txBody>
      </p:sp>
      <p:sp>
        <p:nvSpPr>
          <p:cNvPr id="323" name="layer2-equation"/>
          <p:cNvSpPr txBox="1"/>
          <p:nvPr/>
        </p:nvSpPr>
        <p:spPr>
          <a:xfrm>
            <a:off x="2476500" y="3535771"/>
            <a:ext cx="2714625" cy="5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400">
                <a:solidFill>
                  <a:srgbClr val="28282A"/>
                </a:solidFill>
                <a:latin typeface="Chalkboard"/>
                <a:ea typeface="Chalkboard"/>
                <a:cs typeface="Chalkboard"/>
                <a:sym typeface="Chalkboard"/>
              </a:defRPr>
            </a:pPr>
            <a:r>
              <a:t>z⁽²⁾ = W⁽²⁾a⁽¹⁾ + b⁽²⁾</a:t>
            </a:r>
          </a:p>
          <a:p>
            <a:pPr>
              <a:defRPr sz="1400">
                <a:solidFill>
                  <a:srgbClr val="28282A"/>
                </a:solidFill>
                <a:latin typeface="Chalkboard"/>
                <a:ea typeface="Chalkboard"/>
                <a:cs typeface="Chalkboard"/>
                <a:sym typeface="Chalkboard"/>
              </a:defRPr>
            </a:pPr>
            <a:r>
              <a:t>a⁽²⁾ = ReLU(z⁽²⁾)</a:t>
            </a:r>
          </a:p>
        </p:txBody>
      </p:sp>
      <p:sp>
        <p:nvSpPr>
          <p:cNvPr id="324" name="layer2-weight"/>
          <p:cNvSpPr txBox="1"/>
          <p:nvPr/>
        </p:nvSpPr>
        <p:spPr>
          <a:xfrm>
            <a:off x="5219700" y="3511549"/>
            <a:ext cx="3657600" cy="55880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28282A"/>
                </a:solidFill>
                <a:latin typeface="Chalkboard"/>
                <a:ea typeface="Chalkboard"/>
                <a:cs typeface="Chalkboard"/>
                <a:sym typeface="Chalkboard"/>
              </a:defRPr>
            </a:pPr>
            <a:r>
              <a:t>W⁽²⁾ = ⎡w₁₁⁽²⁾  w₁₂⁽²⁾  w₁₃⁽²⁾⎤</a:t>
            </a:r>
          </a:p>
          <a:p>
            <a:pPr>
              <a:defRPr sz="1200">
                <a:solidFill>
                  <a:srgbClr val="28282A"/>
                </a:solidFill>
                <a:latin typeface="Chalkboard"/>
                <a:ea typeface="Chalkboard"/>
                <a:cs typeface="Chalkboard"/>
                <a:sym typeface="Chalkboard"/>
              </a:defRPr>
            </a:pPr>
            <a:r>
              <a:t>          ⎣w₂₁⁽²⁾  w₂₂⁽²⁾  w₂₃⁽²⁾⎦</a:t>
            </a:r>
          </a:p>
        </p:txBody>
      </p:sp>
      <p:sp>
        <p:nvSpPr>
          <p:cNvPr id="325" name="layer2-bias"/>
          <p:cNvSpPr txBox="1"/>
          <p:nvPr/>
        </p:nvSpPr>
        <p:spPr>
          <a:xfrm>
            <a:off x="9410700" y="3511549"/>
            <a:ext cx="1676400" cy="55880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200">
                <a:solidFill>
                  <a:srgbClr val="28282A"/>
                </a:solidFill>
                <a:latin typeface="Chalkboard"/>
                <a:ea typeface="Chalkboard"/>
                <a:cs typeface="Chalkboard"/>
                <a:sym typeface="Chalkboard"/>
              </a:defRPr>
            </a:pPr>
            <a:r>
              <a:t>b⁽²⁾ = ⎡b₁⁽²⁾⎤</a:t>
            </a:r>
          </a:p>
          <a:p>
            <a:pPr>
              <a:defRPr sz="1200">
                <a:solidFill>
                  <a:srgbClr val="28282A"/>
                </a:solidFill>
                <a:latin typeface="Chalkboard"/>
                <a:ea typeface="Chalkboard"/>
                <a:cs typeface="Chalkboard"/>
                <a:sym typeface="Chalkboard"/>
              </a:defRPr>
            </a:pPr>
            <a:r>
              <a:t>          ⎣b₂⁽²⁾⎦</a:t>
            </a:r>
          </a:p>
        </p:txBody>
      </p:sp>
      <p:sp>
        <p:nvSpPr>
          <p:cNvPr id="326" name="matrix-rule-2"/>
          <p:cNvSpPr/>
          <p:nvPr/>
        </p:nvSpPr>
        <p:spPr>
          <a:xfrm>
            <a:off x="838200" y="4352925"/>
            <a:ext cx="10287001" cy="0"/>
          </a:xfrm>
          <a:prstGeom prst="line">
            <a:avLst/>
          </a:prstGeom>
          <a:ln w="7620">
            <a:solidFill>
              <a:srgbClr val="E5DCCF"/>
            </a:solidFill>
          </a:ln>
        </p:spPr>
        <p:txBody>
          <a:bodyPr lIns="0" tIns="0" rIns="0" bIns="0"/>
          <a:lstStyle/>
          <a:p>
            <a:pPr/>
          </a:p>
        </p:txBody>
      </p:sp>
      <p:sp>
        <p:nvSpPr>
          <p:cNvPr id="327" name="output-label"/>
          <p:cNvSpPr txBox="1"/>
          <p:nvPr/>
        </p:nvSpPr>
        <p:spPr>
          <a:xfrm>
            <a:off x="838200" y="4789163"/>
            <a:ext cx="1562100" cy="48007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500">
                <a:solidFill>
                  <a:srgbClr val="8E7052"/>
                </a:solidFill>
                <a:latin typeface="Chalkboard"/>
                <a:ea typeface="Chalkboard"/>
                <a:cs typeface="Chalkboard"/>
                <a:sym typeface="Chalkboard"/>
              </a:defRPr>
            </a:pPr>
            <a:r>
              <a:t>Output layer</a:t>
            </a:r>
          </a:p>
          <a:p>
            <a:pPr>
              <a:defRPr sz="1500">
                <a:solidFill>
                  <a:srgbClr val="8E7052"/>
                </a:solidFill>
                <a:latin typeface="Chalkboard"/>
                <a:ea typeface="Chalkboard"/>
                <a:cs typeface="Chalkboard"/>
                <a:sym typeface="Chalkboard"/>
              </a:defRPr>
            </a:pPr>
            <a:r>
              <a:t>1 neuron</a:t>
            </a:r>
          </a:p>
        </p:txBody>
      </p:sp>
      <p:sp>
        <p:nvSpPr>
          <p:cNvPr id="328" name="output-equation"/>
          <p:cNvSpPr txBox="1"/>
          <p:nvPr/>
        </p:nvSpPr>
        <p:spPr>
          <a:xfrm>
            <a:off x="2476500" y="4726396"/>
            <a:ext cx="2714625" cy="5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400">
                <a:solidFill>
                  <a:srgbClr val="28282A"/>
                </a:solidFill>
                <a:latin typeface="Chalkboard"/>
                <a:ea typeface="Chalkboard"/>
                <a:cs typeface="Chalkboard"/>
                <a:sym typeface="Chalkboard"/>
              </a:defRPr>
            </a:pPr>
            <a:r>
              <a:t>z⁽³⁾ = W⁽³⁾a⁽²⁾ + b⁽³⁾</a:t>
            </a:r>
          </a:p>
          <a:p>
            <a:pPr>
              <a:defRPr sz="1400">
                <a:solidFill>
                  <a:srgbClr val="28282A"/>
                </a:solidFill>
                <a:latin typeface="Chalkboard"/>
                <a:ea typeface="Chalkboard"/>
                <a:cs typeface="Chalkboard"/>
                <a:sym typeface="Chalkboard"/>
              </a:defRPr>
            </a:pPr>
            <a:r>
              <a:t>ŷ = σ(z⁽³⁾)</a:t>
            </a:r>
          </a:p>
        </p:txBody>
      </p:sp>
      <p:sp>
        <p:nvSpPr>
          <p:cNvPr id="329" name="output-weight"/>
          <p:cNvSpPr txBox="1"/>
          <p:nvPr/>
        </p:nvSpPr>
        <p:spPr>
          <a:xfrm>
            <a:off x="5219700" y="4876800"/>
            <a:ext cx="36576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28282A"/>
                </a:solidFill>
                <a:latin typeface="Chalkboard"/>
                <a:ea typeface="Chalkboard"/>
                <a:cs typeface="Chalkboard"/>
                <a:sym typeface="Chalkboard"/>
              </a:defRPr>
            </a:lvl1pPr>
          </a:lstStyle>
          <a:p>
            <a:pPr/>
            <a:r>
              <a:t>W⁽³⁾ = [w₁₁⁽³⁾  w₁₂⁽³⁾]</a:t>
            </a:r>
          </a:p>
        </p:txBody>
      </p:sp>
      <p:sp>
        <p:nvSpPr>
          <p:cNvPr id="330" name="output-bias"/>
          <p:cNvSpPr txBox="1"/>
          <p:nvPr/>
        </p:nvSpPr>
        <p:spPr>
          <a:xfrm>
            <a:off x="9410700" y="4876800"/>
            <a:ext cx="167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rgbClr val="28282A"/>
                </a:solidFill>
                <a:latin typeface="Chalkboard"/>
                <a:ea typeface="Chalkboard"/>
                <a:cs typeface="Chalkboard"/>
                <a:sym typeface="Chalkboard"/>
              </a:defRPr>
            </a:lvl1pPr>
          </a:lstStyle>
          <a:p>
            <a:pPr/>
            <a:r>
              <a:t>b⁽³⁾ = [b₁⁽³⁾]</a:t>
            </a:r>
          </a:p>
        </p:txBody>
      </p:sp>
      <p:sp>
        <p:nvSpPr>
          <p:cNvPr id="331" name="matrix-footer-band"/>
          <p:cNvSpPr/>
          <p:nvPr/>
        </p:nvSpPr>
        <p:spPr>
          <a:xfrm>
            <a:off x="457200" y="5791200"/>
            <a:ext cx="11277600" cy="514350"/>
          </a:xfrm>
          <a:prstGeom prst="roundRect">
            <a:avLst>
              <a:gd name="adj" fmla="val 29630"/>
            </a:avLst>
          </a:prstGeom>
          <a:solidFill>
            <a:srgbClr val="F8E8B5"/>
          </a:solidFill>
          <a:ln w="12700">
            <a:miter lim="400000"/>
          </a:ln>
        </p:spPr>
        <p:txBody>
          <a:bodyPr lIns="0" tIns="0" rIns="0" bIns="0"/>
          <a:lstStyle/>
          <a:p>
            <a:pPr/>
          </a:p>
        </p:txBody>
      </p:sp>
      <p:sp>
        <p:nvSpPr>
          <p:cNvPr id="332" name="matrix-footer-copy"/>
          <p:cNvSpPr txBox="1"/>
          <p:nvPr/>
        </p:nvSpPr>
        <p:spPr>
          <a:xfrm>
            <a:off x="628650" y="5959475"/>
            <a:ext cx="10906125"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rgbClr val="62616A"/>
                </a:solidFill>
                <a:latin typeface="Arial"/>
                <a:ea typeface="Arial"/>
                <a:cs typeface="Arial"/>
                <a:sym typeface="Arial"/>
              </a:defRPr>
            </a:lvl1pPr>
          </a:lstStyle>
          <a:p>
            <a:pPr/>
            <a:r>
              <a:t>Matrix shapes: W⁽¹⁾ is 3×4, W⁽²⁾ is 2×3, and W⁽³⁾ is 1×2. Bias vectors contain 3, 2, and 1 values.</a:t>
            </a:r>
          </a:p>
        </p:txBody>
      </p:sp>
      <p:sp>
        <p:nvSpPr>
          <p:cNvPr id="333" name="matrix-bottom-line"/>
          <p:cNvSpPr/>
          <p:nvPr/>
        </p:nvSpPr>
        <p:spPr>
          <a:xfrm>
            <a:off x="609600" y="6429375"/>
            <a:ext cx="10972801" cy="0"/>
          </a:xfrm>
          <a:prstGeom prst="line">
            <a:avLst/>
          </a:prstGeom>
          <a:ln w="7620">
            <a:solidFill>
              <a:srgbClr val="D9CDBB"/>
            </a:solidFill>
          </a:ln>
        </p:spPr>
        <p:txBody>
          <a:bodyPr lIns="0" tIns="0" rIns="0" bIns="0"/>
          <a:lstStyle/>
          <a:p>
            <a:pPr/>
          </a:p>
        </p:txBody>
      </p:sp>
      <p:sp>
        <p:nvSpPr>
          <p:cNvPr id="334" name="matrix-page"/>
          <p:cNvSpPr txBox="1"/>
          <p:nvPr/>
        </p:nvSpPr>
        <p:spPr>
          <a:xfrm>
            <a:off x="5810250" y="6526910"/>
            <a:ext cx="5715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10</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338"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339"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340" name="Forward propagation produces a probability"/>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Forward propagation produces a probability</a:t>
            </a:r>
          </a:p>
        </p:txBody>
      </p:sp>
      <p:sp>
        <p:nvSpPr>
          <p:cNvPr id="341" name="Hidden activations feed the output neuron. Sigmoid converts its score to a value from 0 to 1."/>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Hidden activations feed the output neuron. Sigmoid converts its score to a value from 0 to 1.</a:t>
            </a:r>
          </a:p>
        </p:txBody>
      </p:sp>
      <p:sp>
        <p:nvSpPr>
          <p:cNvPr id="342" name="11"/>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11</a:t>
            </a:r>
          </a:p>
        </p:txBody>
      </p:sp>
      <p:sp>
        <p:nvSpPr>
          <p:cNvPr id="343" name="Line"/>
          <p:cNvSpPr/>
          <p:nvPr/>
        </p:nvSpPr>
        <p:spPr>
          <a:xfrm>
            <a:off x="1228403" y="2639632"/>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82" y="1688"/>
                </a:lnTo>
                <a:lnTo>
                  <a:pt x="3526" y="3154"/>
                </a:lnTo>
                <a:lnTo>
                  <a:pt x="5312" y="4869"/>
                </a:lnTo>
                <a:lnTo>
                  <a:pt x="7262" y="7576"/>
                </a:lnTo>
                <a:lnTo>
                  <a:pt x="9094" y="9569"/>
                </a:lnTo>
                <a:lnTo>
                  <a:pt x="10763" y="10575"/>
                </a:lnTo>
                <a:lnTo>
                  <a:pt x="12691" y="13152"/>
                </a:lnTo>
                <a:lnTo>
                  <a:pt x="14428" y="14569"/>
                </a:lnTo>
                <a:lnTo>
                  <a:pt x="16238" y="16429"/>
                </a:lnTo>
                <a:lnTo>
                  <a:pt x="17960" y="17758"/>
                </a:lnTo>
                <a:lnTo>
                  <a:pt x="19733" y="19396"/>
                </a:lnTo>
                <a:lnTo>
                  <a:pt x="21600" y="21600"/>
                </a:lnTo>
              </a:path>
            </a:pathLst>
          </a:custGeom>
          <a:ln w="20479">
            <a:solidFill>
              <a:srgbClr val="B07A3F"/>
            </a:solidFill>
            <a:prstDash val="dash"/>
          </a:ln>
        </p:spPr>
        <p:txBody>
          <a:bodyPr lIns="0" tIns="0" rIns="0" bIns="0"/>
          <a:lstStyle/>
          <a:p>
            <a:pPr/>
          </a:p>
        </p:txBody>
      </p:sp>
      <p:sp>
        <p:nvSpPr>
          <p:cNvPr id="344" name="Line"/>
          <p:cNvSpPr/>
          <p:nvPr/>
        </p:nvSpPr>
        <p:spPr>
          <a:xfrm>
            <a:off x="1211867" y="2691016"/>
            <a:ext cx="1424366" cy="7044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13" y="1624"/>
                </a:lnTo>
                <a:lnTo>
                  <a:pt x="3574" y="3548"/>
                </a:lnTo>
                <a:lnTo>
                  <a:pt x="5393" y="5385"/>
                </a:lnTo>
                <a:lnTo>
                  <a:pt x="7071" y="6939"/>
                </a:lnTo>
                <a:lnTo>
                  <a:pt x="8965" y="8930"/>
                </a:lnTo>
                <a:lnTo>
                  <a:pt x="10729" y="10657"/>
                </a:lnTo>
                <a:lnTo>
                  <a:pt x="12503" y="12404"/>
                </a:lnTo>
                <a:lnTo>
                  <a:pt x="14446" y="14494"/>
                </a:lnTo>
                <a:lnTo>
                  <a:pt x="16168" y="16136"/>
                </a:lnTo>
                <a:lnTo>
                  <a:pt x="18113" y="18228"/>
                </a:lnTo>
                <a:lnTo>
                  <a:pt x="19819" y="19839"/>
                </a:lnTo>
                <a:lnTo>
                  <a:pt x="21600" y="21600"/>
                </a:lnTo>
              </a:path>
            </a:pathLst>
          </a:custGeom>
          <a:solidFill>
            <a:srgbClr val="FFF0C7"/>
          </a:solidFill>
          <a:ln w="22384">
            <a:solidFill>
              <a:srgbClr val="B07A3F"/>
            </a:solidFill>
          </a:ln>
        </p:spPr>
        <p:txBody>
          <a:bodyPr lIns="0" tIns="0" rIns="0" bIns="0"/>
          <a:lstStyle/>
          <a:p>
            <a:pPr/>
          </a:p>
        </p:txBody>
      </p:sp>
      <p:sp>
        <p:nvSpPr>
          <p:cNvPr id="345" name="Line"/>
          <p:cNvSpPr/>
          <p:nvPr/>
        </p:nvSpPr>
        <p:spPr>
          <a:xfrm>
            <a:off x="1189031" y="2726304"/>
            <a:ext cx="1470037" cy="121171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71" y="1887"/>
                </a:lnTo>
                <a:lnTo>
                  <a:pt x="3513" y="3495"/>
                </a:lnTo>
                <a:lnTo>
                  <a:pt x="5336" y="5322"/>
                </a:lnTo>
                <a:lnTo>
                  <a:pt x="7295" y="7315"/>
                </a:lnTo>
                <a:lnTo>
                  <a:pt x="8976" y="8970"/>
                </a:lnTo>
                <a:lnTo>
                  <a:pt x="10838" y="10847"/>
                </a:lnTo>
                <a:lnTo>
                  <a:pt x="12521" y="12505"/>
                </a:lnTo>
                <a:lnTo>
                  <a:pt x="14303" y="14282"/>
                </a:lnTo>
                <a:lnTo>
                  <a:pt x="16235" y="16243"/>
                </a:lnTo>
                <a:lnTo>
                  <a:pt x="17951" y="17941"/>
                </a:lnTo>
                <a:lnTo>
                  <a:pt x="19695" y="19673"/>
                </a:lnTo>
                <a:lnTo>
                  <a:pt x="21600" y="21600"/>
                </a:lnTo>
              </a:path>
            </a:pathLst>
          </a:custGeom>
          <a:solidFill>
            <a:srgbClr val="FFF0C7"/>
          </a:solidFill>
          <a:ln w="22384">
            <a:solidFill>
              <a:srgbClr val="B07A3F"/>
            </a:solidFill>
          </a:ln>
        </p:spPr>
        <p:txBody>
          <a:bodyPr lIns="0" tIns="0" rIns="0" bIns="0"/>
          <a:lstStyle/>
          <a:p>
            <a:pPr/>
          </a:p>
        </p:txBody>
      </p:sp>
      <p:sp>
        <p:nvSpPr>
          <p:cNvPr id="346" name="Line"/>
          <p:cNvSpPr/>
          <p:nvPr/>
        </p:nvSpPr>
        <p:spPr>
          <a:xfrm>
            <a:off x="1228403" y="2928557"/>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903" y="20423"/>
                </a:lnTo>
                <a:lnTo>
                  <a:pt x="3591" y="17944"/>
                </a:lnTo>
                <a:lnTo>
                  <a:pt x="5364" y="15983"/>
                </a:lnTo>
                <a:lnTo>
                  <a:pt x="7085" y="13703"/>
                </a:lnTo>
                <a:lnTo>
                  <a:pt x="8999" y="12591"/>
                </a:lnTo>
                <a:lnTo>
                  <a:pt x="10709" y="10250"/>
                </a:lnTo>
                <a:lnTo>
                  <a:pt x="12589" y="8936"/>
                </a:lnTo>
                <a:lnTo>
                  <a:pt x="14419" y="7316"/>
                </a:lnTo>
                <a:lnTo>
                  <a:pt x="16326" y="6166"/>
                </a:lnTo>
                <a:lnTo>
                  <a:pt x="18054" y="3927"/>
                </a:lnTo>
                <a:lnTo>
                  <a:pt x="19903" y="2426"/>
                </a:lnTo>
                <a:lnTo>
                  <a:pt x="21600" y="0"/>
                </a:lnTo>
              </a:path>
            </a:pathLst>
          </a:custGeom>
          <a:ln w="20479">
            <a:solidFill>
              <a:srgbClr val="355070"/>
            </a:solidFill>
            <a:prstDash val="dash"/>
          </a:ln>
        </p:spPr>
        <p:txBody>
          <a:bodyPr lIns="0" tIns="0" rIns="0" bIns="0"/>
          <a:lstStyle/>
          <a:p>
            <a:pPr/>
          </a:p>
        </p:txBody>
      </p:sp>
      <p:sp>
        <p:nvSpPr>
          <p:cNvPr id="347" name="Line"/>
          <p:cNvSpPr/>
          <p:nvPr/>
        </p:nvSpPr>
        <p:spPr>
          <a:xfrm>
            <a:off x="1228403" y="3217482"/>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25" y="1348"/>
                </a:lnTo>
                <a:lnTo>
                  <a:pt x="3645" y="3872"/>
                </a:lnTo>
                <a:lnTo>
                  <a:pt x="5304" y="4817"/>
                </a:lnTo>
                <a:lnTo>
                  <a:pt x="7208" y="7250"/>
                </a:lnTo>
                <a:lnTo>
                  <a:pt x="9025" y="9152"/>
                </a:lnTo>
                <a:lnTo>
                  <a:pt x="10826" y="10956"/>
                </a:lnTo>
                <a:lnTo>
                  <a:pt x="12644" y="12869"/>
                </a:lnTo>
                <a:lnTo>
                  <a:pt x="14432" y="14592"/>
                </a:lnTo>
                <a:lnTo>
                  <a:pt x="16179" y="16071"/>
                </a:lnTo>
                <a:lnTo>
                  <a:pt x="17974" y="17845"/>
                </a:lnTo>
                <a:lnTo>
                  <a:pt x="19677" y="19054"/>
                </a:lnTo>
                <a:lnTo>
                  <a:pt x="21600" y="21600"/>
                </a:lnTo>
              </a:path>
            </a:pathLst>
          </a:custGeom>
          <a:ln w="20479">
            <a:solidFill>
              <a:srgbClr val="355070"/>
            </a:solidFill>
            <a:prstDash val="dash"/>
          </a:ln>
        </p:spPr>
        <p:txBody>
          <a:bodyPr lIns="0" tIns="0" rIns="0" bIns="0"/>
          <a:lstStyle/>
          <a:p>
            <a:pPr/>
          </a:p>
        </p:txBody>
      </p:sp>
      <p:sp>
        <p:nvSpPr>
          <p:cNvPr id="348" name="Line"/>
          <p:cNvSpPr/>
          <p:nvPr/>
        </p:nvSpPr>
        <p:spPr>
          <a:xfrm rot="21557999">
            <a:off x="1211867" y="3268867"/>
            <a:ext cx="1424366" cy="7044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14" y="1829"/>
                </a:lnTo>
                <a:lnTo>
                  <a:pt x="3529" y="3456"/>
                </a:lnTo>
                <a:lnTo>
                  <a:pt x="5340" y="5278"/>
                </a:lnTo>
                <a:lnTo>
                  <a:pt x="7206" y="7212"/>
                </a:lnTo>
                <a:lnTo>
                  <a:pt x="8967" y="8934"/>
                </a:lnTo>
                <a:lnTo>
                  <a:pt x="10756" y="10711"/>
                </a:lnTo>
                <a:lnTo>
                  <a:pt x="12627" y="12654"/>
                </a:lnTo>
                <a:lnTo>
                  <a:pt x="14451" y="14504"/>
                </a:lnTo>
                <a:lnTo>
                  <a:pt x="16106" y="16009"/>
                </a:lnTo>
                <a:lnTo>
                  <a:pt x="17982" y="17964"/>
                </a:lnTo>
                <a:lnTo>
                  <a:pt x="19682" y="19561"/>
                </a:lnTo>
                <a:lnTo>
                  <a:pt x="21600" y="21600"/>
                </a:lnTo>
              </a:path>
            </a:pathLst>
          </a:custGeom>
          <a:solidFill>
            <a:srgbClr val="DCEAF7"/>
          </a:solidFill>
          <a:ln w="22384">
            <a:solidFill>
              <a:srgbClr val="355070"/>
            </a:solidFill>
          </a:ln>
        </p:spPr>
        <p:txBody>
          <a:bodyPr lIns="0" tIns="0" rIns="0" bIns="0"/>
          <a:lstStyle/>
          <a:p>
            <a:pPr/>
          </a:p>
        </p:txBody>
      </p:sp>
      <p:sp>
        <p:nvSpPr>
          <p:cNvPr id="349" name="Line"/>
          <p:cNvSpPr/>
          <p:nvPr/>
        </p:nvSpPr>
        <p:spPr>
          <a:xfrm rot="21557999">
            <a:off x="1211867" y="2979941"/>
            <a:ext cx="1424366" cy="7044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22" y="19642"/>
                </a:lnTo>
                <a:lnTo>
                  <a:pt x="3547" y="17894"/>
                </a:lnTo>
                <a:lnTo>
                  <a:pt x="5467" y="16335"/>
                </a:lnTo>
                <a:lnTo>
                  <a:pt x="7243" y="14487"/>
                </a:lnTo>
                <a:lnTo>
                  <a:pt x="8988" y="12576"/>
                </a:lnTo>
                <a:lnTo>
                  <a:pt x="10878" y="10958"/>
                </a:lnTo>
                <a:lnTo>
                  <a:pt x="12494" y="8787"/>
                </a:lnTo>
                <a:lnTo>
                  <a:pt x="14403" y="7206"/>
                </a:lnTo>
                <a:lnTo>
                  <a:pt x="16148" y="5294"/>
                </a:lnTo>
                <a:lnTo>
                  <a:pt x="17996" y="3592"/>
                </a:lnTo>
                <a:lnTo>
                  <a:pt x="19766" y="1731"/>
                </a:lnTo>
                <a:lnTo>
                  <a:pt x="21600" y="0"/>
                </a:lnTo>
              </a:path>
            </a:pathLst>
          </a:custGeom>
          <a:solidFill>
            <a:srgbClr val="DCEAF7"/>
          </a:solidFill>
          <a:ln w="22384">
            <a:solidFill>
              <a:srgbClr val="355070"/>
            </a:solidFill>
          </a:ln>
        </p:spPr>
        <p:txBody>
          <a:bodyPr lIns="0" tIns="0" rIns="0" bIns="0"/>
          <a:lstStyle/>
          <a:p>
            <a:pPr/>
          </a:p>
        </p:txBody>
      </p:sp>
      <p:sp>
        <p:nvSpPr>
          <p:cNvPr id="350" name="Line"/>
          <p:cNvSpPr/>
          <p:nvPr/>
        </p:nvSpPr>
        <p:spPr>
          <a:xfrm>
            <a:off x="1228403" y="3506406"/>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05" y="19222"/>
                </a:lnTo>
                <a:lnTo>
                  <a:pt x="3618" y="18112"/>
                </a:lnTo>
                <a:lnTo>
                  <a:pt x="5351" y="15905"/>
                </a:lnTo>
                <a:lnTo>
                  <a:pt x="7105" y="13825"/>
                </a:lnTo>
                <a:lnTo>
                  <a:pt x="8902" y="12004"/>
                </a:lnTo>
                <a:lnTo>
                  <a:pt x="10790" y="10739"/>
                </a:lnTo>
                <a:lnTo>
                  <a:pt x="12727" y="9768"/>
                </a:lnTo>
                <a:lnTo>
                  <a:pt x="14357" y="6938"/>
                </a:lnTo>
                <a:lnTo>
                  <a:pt x="16151" y="5105"/>
                </a:lnTo>
                <a:lnTo>
                  <a:pt x="17913" y="3073"/>
                </a:lnTo>
                <a:lnTo>
                  <a:pt x="19760" y="1556"/>
                </a:lnTo>
                <a:lnTo>
                  <a:pt x="21600" y="0"/>
                </a:lnTo>
              </a:path>
            </a:pathLst>
          </a:custGeom>
          <a:ln w="20479">
            <a:solidFill>
              <a:srgbClr val="2A9D8F"/>
            </a:solidFill>
          </a:ln>
        </p:spPr>
        <p:txBody>
          <a:bodyPr lIns="0" tIns="0" rIns="0" bIns="0"/>
          <a:lstStyle/>
          <a:p>
            <a:pPr/>
          </a:p>
        </p:txBody>
      </p:sp>
      <p:sp>
        <p:nvSpPr>
          <p:cNvPr id="351" name="Line"/>
          <p:cNvSpPr/>
          <p:nvPr/>
        </p:nvSpPr>
        <p:spPr>
          <a:xfrm>
            <a:off x="1228403" y="3795331"/>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95" y="1767"/>
                </a:lnTo>
                <a:lnTo>
                  <a:pt x="3533" y="3191"/>
                </a:lnTo>
                <a:lnTo>
                  <a:pt x="5421" y="5526"/>
                </a:lnTo>
                <a:lnTo>
                  <a:pt x="7184" y="7102"/>
                </a:lnTo>
                <a:lnTo>
                  <a:pt x="9101" y="9611"/>
                </a:lnTo>
                <a:lnTo>
                  <a:pt x="10796" y="10776"/>
                </a:lnTo>
                <a:lnTo>
                  <a:pt x="12591" y="12546"/>
                </a:lnTo>
                <a:lnTo>
                  <a:pt x="14366" y="14194"/>
                </a:lnTo>
                <a:lnTo>
                  <a:pt x="16226" y="16358"/>
                </a:lnTo>
                <a:lnTo>
                  <a:pt x="17952" y="17709"/>
                </a:lnTo>
                <a:lnTo>
                  <a:pt x="19809" y="19853"/>
                </a:lnTo>
                <a:lnTo>
                  <a:pt x="21600" y="21600"/>
                </a:lnTo>
              </a:path>
            </a:pathLst>
          </a:custGeom>
          <a:ln w="20479">
            <a:solidFill>
              <a:srgbClr val="2A9D8F"/>
            </a:solidFill>
          </a:ln>
        </p:spPr>
        <p:txBody>
          <a:bodyPr lIns="0" tIns="0" rIns="0" bIns="0"/>
          <a:lstStyle/>
          <a:p>
            <a:pPr/>
          </a:p>
        </p:txBody>
      </p:sp>
      <p:sp>
        <p:nvSpPr>
          <p:cNvPr id="352" name="Line"/>
          <p:cNvSpPr/>
          <p:nvPr/>
        </p:nvSpPr>
        <p:spPr>
          <a:xfrm rot="21557999">
            <a:off x="1189031" y="3015229"/>
            <a:ext cx="1470037" cy="121171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678" y="19652"/>
                </a:lnTo>
                <a:lnTo>
                  <a:pt x="3716" y="18141"/>
                </a:lnTo>
                <a:lnTo>
                  <a:pt x="5369" y="16163"/>
                </a:lnTo>
                <a:lnTo>
                  <a:pt x="7189" y="14387"/>
                </a:lnTo>
                <a:lnTo>
                  <a:pt x="8997" y="12596"/>
                </a:lnTo>
                <a:lnTo>
                  <a:pt x="10785" y="10781"/>
                </a:lnTo>
                <a:lnTo>
                  <a:pt x="12722" y="9148"/>
                </a:lnTo>
                <a:lnTo>
                  <a:pt x="14290" y="7067"/>
                </a:lnTo>
                <a:lnTo>
                  <a:pt x="16185" y="5381"/>
                </a:lnTo>
                <a:lnTo>
                  <a:pt x="17920" y="3503"/>
                </a:lnTo>
                <a:lnTo>
                  <a:pt x="19849" y="1860"/>
                </a:lnTo>
                <a:lnTo>
                  <a:pt x="21600" y="0"/>
                </a:lnTo>
              </a:path>
            </a:pathLst>
          </a:custGeom>
          <a:solidFill>
            <a:srgbClr val="DCEAF7"/>
          </a:solidFill>
          <a:ln w="22384">
            <a:solidFill>
              <a:srgbClr val="355070"/>
            </a:solidFill>
          </a:ln>
        </p:spPr>
        <p:txBody>
          <a:bodyPr lIns="0" tIns="0" rIns="0" bIns="0"/>
          <a:lstStyle/>
          <a:p>
            <a:pPr/>
          </a:p>
        </p:txBody>
      </p:sp>
      <p:sp>
        <p:nvSpPr>
          <p:cNvPr id="353" name="Line"/>
          <p:cNvSpPr/>
          <p:nvPr/>
        </p:nvSpPr>
        <p:spPr>
          <a:xfrm>
            <a:off x="1211867" y="3557792"/>
            <a:ext cx="1424366" cy="7044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10" y="19619"/>
                </a:lnTo>
                <a:lnTo>
                  <a:pt x="3474" y="17745"/>
                </a:lnTo>
                <a:lnTo>
                  <a:pt x="5417" y="16234"/>
                </a:lnTo>
                <a:lnTo>
                  <a:pt x="7252" y="14506"/>
                </a:lnTo>
                <a:lnTo>
                  <a:pt x="8970" y="12539"/>
                </a:lnTo>
                <a:lnTo>
                  <a:pt x="10798" y="10796"/>
                </a:lnTo>
                <a:lnTo>
                  <a:pt x="12490" y="8778"/>
                </a:lnTo>
                <a:lnTo>
                  <a:pt x="14333" y="7064"/>
                </a:lnTo>
                <a:lnTo>
                  <a:pt x="16169" y="5337"/>
                </a:lnTo>
                <a:lnTo>
                  <a:pt x="18064" y="3729"/>
                </a:lnTo>
                <a:lnTo>
                  <a:pt x="19674" y="1544"/>
                </a:lnTo>
                <a:lnTo>
                  <a:pt x="21600" y="0"/>
                </a:lnTo>
              </a:path>
            </a:pathLst>
          </a:custGeom>
          <a:solidFill>
            <a:srgbClr val="DFF4EA"/>
          </a:solidFill>
          <a:ln w="22384">
            <a:solidFill>
              <a:srgbClr val="2A9D8F"/>
            </a:solidFill>
          </a:ln>
        </p:spPr>
        <p:txBody>
          <a:bodyPr lIns="0" tIns="0" rIns="0" bIns="0"/>
          <a:lstStyle/>
          <a:p>
            <a:pPr/>
          </a:p>
        </p:txBody>
      </p:sp>
      <p:sp>
        <p:nvSpPr>
          <p:cNvPr id="354" name="Line"/>
          <p:cNvSpPr/>
          <p:nvPr/>
        </p:nvSpPr>
        <p:spPr>
          <a:xfrm>
            <a:off x="1228403" y="4084256"/>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688" y="19122"/>
                </a:lnTo>
                <a:lnTo>
                  <a:pt x="3662" y="18373"/>
                </a:lnTo>
                <a:lnTo>
                  <a:pt x="5514" y="16892"/>
                </a:lnTo>
                <a:lnTo>
                  <a:pt x="7121" y="13923"/>
                </a:lnTo>
                <a:lnTo>
                  <a:pt x="9046" y="12879"/>
                </a:lnTo>
                <a:lnTo>
                  <a:pt x="10869" y="11216"/>
                </a:lnTo>
                <a:lnTo>
                  <a:pt x="12666" y="9400"/>
                </a:lnTo>
                <a:lnTo>
                  <a:pt x="14493" y="7763"/>
                </a:lnTo>
                <a:lnTo>
                  <a:pt x="16203" y="5419"/>
                </a:lnTo>
                <a:lnTo>
                  <a:pt x="18097" y="4188"/>
                </a:lnTo>
                <a:lnTo>
                  <a:pt x="19815" y="1893"/>
                </a:lnTo>
                <a:lnTo>
                  <a:pt x="21600" y="0"/>
                </a:lnTo>
              </a:path>
            </a:pathLst>
          </a:custGeom>
          <a:ln w="20479">
            <a:solidFill>
              <a:srgbClr val="C65D4B"/>
            </a:solidFill>
            <a:prstDash val="dashDot"/>
          </a:ln>
        </p:spPr>
        <p:txBody>
          <a:bodyPr lIns="0" tIns="0" rIns="0" bIns="0"/>
          <a:lstStyle/>
          <a:p>
            <a:pPr/>
          </a:p>
        </p:txBody>
      </p:sp>
      <p:sp>
        <p:nvSpPr>
          <p:cNvPr id="355" name="Line"/>
          <p:cNvSpPr/>
          <p:nvPr/>
        </p:nvSpPr>
        <p:spPr>
          <a:xfrm>
            <a:off x="2981002" y="2928557"/>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911" y="2476"/>
                </a:lnTo>
                <a:lnTo>
                  <a:pt x="3729" y="4382"/>
                </a:lnTo>
                <a:lnTo>
                  <a:pt x="5490" y="5948"/>
                </a:lnTo>
                <a:lnTo>
                  <a:pt x="7273" y="7645"/>
                </a:lnTo>
                <a:lnTo>
                  <a:pt x="8971" y="8824"/>
                </a:lnTo>
                <a:lnTo>
                  <a:pt x="10877" y="11268"/>
                </a:lnTo>
                <a:lnTo>
                  <a:pt x="12513" y="12073"/>
                </a:lnTo>
                <a:lnTo>
                  <a:pt x="14486" y="14920"/>
                </a:lnTo>
                <a:lnTo>
                  <a:pt x="16318" y="16917"/>
                </a:lnTo>
                <a:lnTo>
                  <a:pt x="17924" y="17537"/>
                </a:lnTo>
                <a:lnTo>
                  <a:pt x="19721" y="19319"/>
                </a:lnTo>
                <a:lnTo>
                  <a:pt x="21600" y="21600"/>
                </a:lnTo>
              </a:path>
            </a:pathLst>
          </a:custGeom>
          <a:ln w="20479">
            <a:solidFill>
              <a:srgbClr val="B07A3F"/>
            </a:solidFill>
            <a:prstDash val="dash"/>
          </a:ln>
        </p:spPr>
        <p:txBody>
          <a:bodyPr lIns="0" tIns="0" rIns="0" bIns="0"/>
          <a:lstStyle/>
          <a:p>
            <a:pPr/>
          </a:p>
        </p:txBody>
      </p:sp>
      <p:sp>
        <p:nvSpPr>
          <p:cNvPr id="356" name="Line"/>
          <p:cNvSpPr/>
          <p:nvPr/>
        </p:nvSpPr>
        <p:spPr>
          <a:xfrm>
            <a:off x="2964466" y="2979941"/>
            <a:ext cx="1424366" cy="7044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99" y="1798"/>
                </a:lnTo>
                <a:lnTo>
                  <a:pt x="3665" y="3731"/>
                </a:lnTo>
                <a:lnTo>
                  <a:pt x="5441" y="5483"/>
                </a:lnTo>
                <a:lnTo>
                  <a:pt x="7132" y="7062"/>
                </a:lnTo>
                <a:lnTo>
                  <a:pt x="8971" y="8942"/>
                </a:lnTo>
                <a:lnTo>
                  <a:pt x="10742" y="10684"/>
                </a:lnTo>
                <a:lnTo>
                  <a:pt x="12595" y="12589"/>
                </a:lnTo>
                <a:lnTo>
                  <a:pt x="14491" y="14584"/>
                </a:lnTo>
                <a:lnTo>
                  <a:pt x="16159" y="16117"/>
                </a:lnTo>
                <a:lnTo>
                  <a:pt x="18054" y="18109"/>
                </a:lnTo>
                <a:lnTo>
                  <a:pt x="19744" y="19687"/>
                </a:lnTo>
                <a:lnTo>
                  <a:pt x="21600" y="21600"/>
                </a:lnTo>
              </a:path>
            </a:pathLst>
          </a:custGeom>
          <a:solidFill>
            <a:srgbClr val="FFF0C7"/>
          </a:solidFill>
          <a:ln w="22384">
            <a:solidFill>
              <a:srgbClr val="B07A3F"/>
            </a:solidFill>
          </a:ln>
        </p:spPr>
        <p:txBody>
          <a:bodyPr lIns="0" tIns="0" rIns="0" bIns="0"/>
          <a:lstStyle/>
          <a:p>
            <a:pPr/>
          </a:p>
        </p:txBody>
      </p:sp>
      <p:sp>
        <p:nvSpPr>
          <p:cNvPr id="357" name="Line"/>
          <p:cNvSpPr/>
          <p:nvPr/>
        </p:nvSpPr>
        <p:spPr>
          <a:xfrm>
            <a:off x="2981002" y="3217482"/>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739" y="19430"/>
                </a:lnTo>
                <a:lnTo>
                  <a:pt x="3512" y="17467"/>
                </a:lnTo>
                <a:lnTo>
                  <a:pt x="5347" y="15877"/>
                </a:lnTo>
                <a:lnTo>
                  <a:pt x="7301" y="15010"/>
                </a:lnTo>
                <a:lnTo>
                  <a:pt x="8949" y="12291"/>
                </a:lnTo>
                <a:lnTo>
                  <a:pt x="10837" y="11025"/>
                </a:lnTo>
                <a:lnTo>
                  <a:pt x="12547" y="8680"/>
                </a:lnTo>
                <a:lnTo>
                  <a:pt x="14483" y="7702"/>
                </a:lnTo>
                <a:lnTo>
                  <a:pt x="16266" y="5799"/>
                </a:lnTo>
                <a:lnTo>
                  <a:pt x="17971" y="3427"/>
                </a:lnTo>
                <a:lnTo>
                  <a:pt x="19874" y="2247"/>
                </a:lnTo>
                <a:lnTo>
                  <a:pt x="21600" y="0"/>
                </a:lnTo>
              </a:path>
            </a:pathLst>
          </a:custGeom>
          <a:ln w="20479">
            <a:solidFill>
              <a:srgbClr val="B07A3F"/>
            </a:solidFill>
            <a:prstDash val="dash"/>
          </a:ln>
        </p:spPr>
        <p:txBody>
          <a:bodyPr lIns="0" tIns="0" rIns="0" bIns="0"/>
          <a:lstStyle/>
          <a:p>
            <a:pPr/>
          </a:p>
        </p:txBody>
      </p:sp>
      <p:sp>
        <p:nvSpPr>
          <p:cNvPr id="358" name="Line"/>
          <p:cNvSpPr/>
          <p:nvPr/>
        </p:nvSpPr>
        <p:spPr>
          <a:xfrm>
            <a:off x="2981002" y="3506406"/>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28" y="1363"/>
                </a:lnTo>
                <a:lnTo>
                  <a:pt x="3510" y="3057"/>
                </a:lnTo>
                <a:lnTo>
                  <a:pt x="5506" y="6045"/>
                </a:lnTo>
                <a:lnTo>
                  <a:pt x="7268" y="7615"/>
                </a:lnTo>
                <a:lnTo>
                  <a:pt x="9108" y="9652"/>
                </a:lnTo>
                <a:lnTo>
                  <a:pt x="10706" y="10232"/>
                </a:lnTo>
                <a:lnTo>
                  <a:pt x="12599" y="12597"/>
                </a:lnTo>
                <a:lnTo>
                  <a:pt x="14324" y="13940"/>
                </a:lnTo>
                <a:lnTo>
                  <a:pt x="16221" y="16328"/>
                </a:lnTo>
                <a:lnTo>
                  <a:pt x="17877" y="17255"/>
                </a:lnTo>
                <a:lnTo>
                  <a:pt x="19818" y="19910"/>
                </a:lnTo>
                <a:lnTo>
                  <a:pt x="21600" y="21600"/>
                </a:lnTo>
              </a:path>
            </a:pathLst>
          </a:custGeom>
          <a:ln w="20479">
            <a:solidFill>
              <a:srgbClr val="355070"/>
            </a:solidFill>
            <a:prstDash val="dash"/>
          </a:ln>
        </p:spPr>
        <p:txBody>
          <a:bodyPr lIns="0" tIns="0" rIns="0" bIns="0"/>
          <a:lstStyle/>
          <a:p>
            <a:pPr/>
          </a:p>
        </p:txBody>
      </p:sp>
      <p:sp>
        <p:nvSpPr>
          <p:cNvPr id="359" name="Line"/>
          <p:cNvSpPr/>
          <p:nvPr/>
        </p:nvSpPr>
        <p:spPr>
          <a:xfrm>
            <a:off x="2964466" y="3268867"/>
            <a:ext cx="1424366" cy="7044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54" y="19910"/>
                </a:lnTo>
                <a:lnTo>
                  <a:pt x="3688" y="18177"/>
                </a:lnTo>
                <a:lnTo>
                  <a:pt x="5379" y="16157"/>
                </a:lnTo>
                <a:lnTo>
                  <a:pt x="7185" y="14370"/>
                </a:lnTo>
                <a:lnTo>
                  <a:pt x="9045" y="12691"/>
                </a:lnTo>
                <a:lnTo>
                  <a:pt x="10925" y="11053"/>
                </a:lnTo>
                <a:lnTo>
                  <a:pt x="12589" y="8978"/>
                </a:lnTo>
                <a:lnTo>
                  <a:pt x="14417" y="7235"/>
                </a:lnTo>
                <a:lnTo>
                  <a:pt x="16326" y="5654"/>
                </a:lnTo>
                <a:lnTo>
                  <a:pt x="18050" y="3701"/>
                </a:lnTo>
                <a:lnTo>
                  <a:pt x="19878" y="1957"/>
                </a:lnTo>
                <a:lnTo>
                  <a:pt x="21600" y="0"/>
                </a:lnTo>
              </a:path>
            </a:pathLst>
          </a:custGeom>
          <a:solidFill>
            <a:srgbClr val="FFF0C7"/>
          </a:solidFill>
          <a:ln w="22384">
            <a:solidFill>
              <a:srgbClr val="B07A3F"/>
            </a:solidFill>
          </a:ln>
        </p:spPr>
        <p:txBody>
          <a:bodyPr lIns="0" tIns="0" rIns="0" bIns="0"/>
          <a:lstStyle/>
          <a:p>
            <a:pPr/>
          </a:p>
        </p:txBody>
      </p:sp>
      <p:sp>
        <p:nvSpPr>
          <p:cNvPr id="360" name="Line"/>
          <p:cNvSpPr/>
          <p:nvPr/>
        </p:nvSpPr>
        <p:spPr>
          <a:xfrm>
            <a:off x="2981002" y="3795331"/>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926" y="20564"/>
                </a:lnTo>
                <a:lnTo>
                  <a:pt x="3602" y="18014"/>
                </a:lnTo>
                <a:lnTo>
                  <a:pt x="5331" y="15779"/>
                </a:lnTo>
                <a:lnTo>
                  <a:pt x="7097" y="13776"/>
                </a:lnTo>
                <a:lnTo>
                  <a:pt x="9099" y="13201"/>
                </a:lnTo>
                <a:lnTo>
                  <a:pt x="10829" y="10978"/>
                </a:lnTo>
                <a:lnTo>
                  <a:pt x="12668" y="9414"/>
                </a:lnTo>
                <a:lnTo>
                  <a:pt x="14317" y="6698"/>
                </a:lnTo>
                <a:lnTo>
                  <a:pt x="16322" y="6141"/>
                </a:lnTo>
                <a:lnTo>
                  <a:pt x="18091" y="4154"/>
                </a:lnTo>
                <a:lnTo>
                  <a:pt x="19906" y="2440"/>
                </a:lnTo>
                <a:lnTo>
                  <a:pt x="21600" y="0"/>
                </a:lnTo>
              </a:path>
            </a:pathLst>
          </a:custGeom>
          <a:ln w="20479">
            <a:solidFill>
              <a:srgbClr val="355070"/>
            </a:solidFill>
            <a:prstDash val="dash"/>
          </a:ln>
        </p:spPr>
        <p:txBody>
          <a:bodyPr lIns="0" tIns="0" rIns="0" bIns="0"/>
          <a:lstStyle/>
          <a:p>
            <a:pPr/>
          </a:p>
        </p:txBody>
      </p:sp>
      <p:sp>
        <p:nvSpPr>
          <p:cNvPr id="361" name="Line"/>
          <p:cNvSpPr/>
          <p:nvPr/>
        </p:nvSpPr>
        <p:spPr>
          <a:xfrm>
            <a:off x="4733602" y="3217482"/>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914" y="2491"/>
                </a:lnTo>
                <a:lnTo>
                  <a:pt x="3557" y="3341"/>
                </a:lnTo>
                <a:lnTo>
                  <a:pt x="5406" y="5438"/>
                </a:lnTo>
                <a:lnTo>
                  <a:pt x="7268" y="7615"/>
                </a:lnTo>
                <a:lnTo>
                  <a:pt x="8974" y="8841"/>
                </a:lnTo>
                <a:lnTo>
                  <a:pt x="10742" y="10447"/>
                </a:lnTo>
                <a:lnTo>
                  <a:pt x="12486" y="11909"/>
                </a:lnTo>
                <a:lnTo>
                  <a:pt x="14483" y="14902"/>
                </a:lnTo>
                <a:lnTo>
                  <a:pt x="16314" y="16890"/>
                </a:lnTo>
                <a:lnTo>
                  <a:pt x="18129" y="18781"/>
                </a:lnTo>
                <a:lnTo>
                  <a:pt x="19791" y="19744"/>
                </a:lnTo>
                <a:lnTo>
                  <a:pt x="21600" y="21600"/>
                </a:lnTo>
              </a:path>
            </a:pathLst>
          </a:custGeom>
          <a:ln w="20479">
            <a:solidFill>
              <a:srgbClr val="7B6BA8"/>
            </a:solidFill>
          </a:ln>
        </p:spPr>
        <p:txBody>
          <a:bodyPr lIns="0" tIns="0" rIns="0" bIns="0"/>
          <a:lstStyle/>
          <a:p>
            <a:pPr/>
          </a:p>
        </p:txBody>
      </p:sp>
      <p:sp>
        <p:nvSpPr>
          <p:cNvPr id="362" name="Line"/>
          <p:cNvSpPr/>
          <p:nvPr/>
        </p:nvSpPr>
        <p:spPr>
          <a:xfrm>
            <a:off x="4733602" y="3506406"/>
            <a:ext cx="1391294" cy="2293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922" y="20541"/>
                </a:lnTo>
                <a:lnTo>
                  <a:pt x="3715" y="18701"/>
                </a:lnTo>
                <a:lnTo>
                  <a:pt x="5440" y="16444"/>
                </a:lnTo>
                <a:lnTo>
                  <a:pt x="7082" y="13681"/>
                </a:lnTo>
                <a:lnTo>
                  <a:pt x="9002" y="12614"/>
                </a:lnTo>
                <a:lnTo>
                  <a:pt x="10711" y="10262"/>
                </a:lnTo>
                <a:lnTo>
                  <a:pt x="12560" y="8755"/>
                </a:lnTo>
                <a:lnTo>
                  <a:pt x="14529" y="7980"/>
                </a:lnTo>
                <a:lnTo>
                  <a:pt x="16148" y="5086"/>
                </a:lnTo>
                <a:lnTo>
                  <a:pt x="18085" y="4118"/>
                </a:lnTo>
                <a:lnTo>
                  <a:pt x="19863" y="2184"/>
                </a:lnTo>
                <a:lnTo>
                  <a:pt x="21600" y="0"/>
                </a:lnTo>
              </a:path>
            </a:pathLst>
          </a:custGeom>
          <a:ln w="20479">
            <a:solidFill>
              <a:srgbClr val="B07A3F"/>
            </a:solidFill>
            <a:prstDash val="dash"/>
          </a:ln>
        </p:spPr>
        <p:txBody>
          <a:bodyPr lIns="0" tIns="0" rIns="0" bIns="0"/>
          <a:lstStyle/>
          <a:p>
            <a:pPr/>
          </a:p>
        </p:txBody>
      </p:sp>
      <p:sp>
        <p:nvSpPr>
          <p:cNvPr id="363" name="Shape"/>
          <p:cNvSpPr/>
          <p:nvPr/>
        </p:nvSpPr>
        <p:spPr>
          <a:xfrm>
            <a:off x="855980" y="2419025"/>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364" name="1"/>
          <p:cNvSpPr txBox="1"/>
          <p:nvPr/>
        </p:nvSpPr>
        <p:spPr>
          <a:xfrm>
            <a:off x="809625" y="2465315"/>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1</a:t>
            </a:r>
          </a:p>
        </p:txBody>
      </p:sp>
      <p:sp>
        <p:nvSpPr>
          <p:cNvPr id="365" name="Shape"/>
          <p:cNvSpPr/>
          <p:nvPr/>
        </p:nvSpPr>
        <p:spPr>
          <a:xfrm>
            <a:off x="855980" y="2996875"/>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366" name="1"/>
          <p:cNvSpPr txBox="1"/>
          <p:nvPr/>
        </p:nvSpPr>
        <p:spPr>
          <a:xfrm>
            <a:off x="809625" y="3043165"/>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1</a:t>
            </a:r>
          </a:p>
        </p:txBody>
      </p:sp>
      <p:sp>
        <p:nvSpPr>
          <p:cNvPr id="367" name="Shape"/>
          <p:cNvSpPr/>
          <p:nvPr/>
        </p:nvSpPr>
        <p:spPr>
          <a:xfrm>
            <a:off x="855980" y="3574724"/>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368" name="1"/>
          <p:cNvSpPr txBox="1"/>
          <p:nvPr/>
        </p:nvSpPr>
        <p:spPr>
          <a:xfrm>
            <a:off x="809625" y="3621015"/>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1</a:t>
            </a:r>
          </a:p>
        </p:txBody>
      </p:sp>
      <p:sp>
        <p:nvSpPr>
          <p:cNvPr id="369" name="Shape"/>
          <p:cNvSpPr/>
          <p:nvPr/>
        </p:nvSpPr>
        <p:spPr>
          <a:xfrm>
            <a:off x="855980" y="4152574"/>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370" name="0"/>
          <p:cNvSpPr txBox="1"/>
          <p:nvPr/>
        </p:nvSpPr>
        <p:spPr>
          <a:xfrm>
            <a:off x="809625" y="4198865"/>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0</a:t>
            </a:r>
          </a:p>
        </p:txBody>
      </p:sp>
      <p:sp>
        <p:nvSpPr>
          <p:cNvPr id="371" name="Shape"/>
          <p:cNvSpPr/>
          <p:nvPr/>
        </p:nvSpPr>
        <p:spPr>
          <a:xfrm>
            <a:off x="2608581" y="2707950"/>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372" name="2.1"/>
          <p:cNvSpPr txBox="1"/>
          <p:nvPr/>
        </p:nvSpPr>
        <p:spPr>
          <a:xfrm>
            <a:off x="2562225" y="2754240"/>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2.1</a:t>
            </a:r>
          </a:p>
        </p:txBody>
      </p:sp>
      <p:sp>
        <p:nvSpPr>
          <p:cNvPr id="373" name="Shape"/>
          <p:cNvSpPr/>
          <p:nvPr/>
        </p:nvSpPr>
        <p:spPr>
          <a:xfrm>
            <a:off x="2608581" y="3285799"/>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374" name="1.4"/>
          <p:cNvSpPr txBox="1"/>
          <p:nvPr/>
        </p:nvSpPr>
        <p:spPr>
          <a:xfrm>
            <a:off x="2562225" y="3332090"/>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1.4</a:t>
            </a:r>
          </a:p>
        </p:txBody>
      </p:sp>
      <p:sp>
        <p:nvSpPr>
          <p:cNvPr id="375" name="Shape"/>
          <p:cNvSpPr/>
          <p:nvPr/>
        </p:nvSpPr>
        <p:spPr>
          <a:xfrm>
            <a:off x="2608581" y="3863649"/>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376" name="0"/>
          <p:cNvSpPr txBox="1"/>
          <p:nvPr/>
        </p:nvSpPr>
        <p:spPr>
          <a:xfrm>
            <a:off x="2562225" y="3909940"/>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0</a:t>
            </a:r>
          </a:p>
        </p:txBody>
      </p:sp>
      <p:sp>
        <p:nvSpPr>
          <p:cNvPr id="377" name="Shape"/>
          <p:cNvSpPr/>
          <p:nvPr/>
        </p:nvSpPr>
        <p:spPr>
          <a:xfrm>
            <a:off x="4361181" y="2996875"/>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378" name="2.6"/>
          <p:cNvSpPr txBox="1"/>
          <p:nvPr/>
        </p:nvSpPr>
        <p:spPr>
          <a:xfrm>
            <a:off x="4314825" y="3043165"/>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2.6</a:t>
            </a:r>
          </a:p>
        </p:txBody>
      </p:sp>
      <p:sp>
        <p:nvSpPr>
          <p:cNvPr id="379" name="Shape"/>
          <p:cNvSpPr/>
          <p:nvPr/>
        </p:nvSpPr>
        <p:spPr>
          <a:xfrm>
            <a:off x="4361181" y="3574724"/>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380" name="0.2"/>
          <p:cNvSpPr txBox="1"/>
          <p:nvPr/>
        </p:nvSpPr>
        <p:spPr>
          <a:xfrm>
            <a:off x="4314825" y="3621015"/>
            <a:ext cx="4762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28282A"/>
                </a:solidFill>
                <a:latin typeface="Chalkboard"/>
                <a:ea typeface="Chalkboard"/>
                <a:cs typeface="Chalkboard"/>
                <a:sym typeface="Chalkboard"/>
              </a:defRPr>
            </a:lvl1pPr>
          </a:lstStyle>
          <a:p>
            <a:pPr/>
            <a:r>
              <a:t>0.2</a:t>
            </a:r>
          </a:p>
        </p:txBody>
      </p:sp>
      <p:sp>
        <p:nvSpPr>
          <p:cNvPr id="381" name="Shape"/>
          <p:cNvSpPr/>
          <p:nvPr/>
        </p:nvSpPr>
        <p:spPr>
          <a:xfrm>
            <a:off x="6113781" y="3285799"/>
            <a:ext cx="386121" cy="3860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382" name="0.94"/>
          <p:cNvSpPr txBox="1"/>
          <p:nvPr/>
        </p:nvSpPr>
        <p:spPr>
          <a:xfrm>
            <a:off x="6067425" y="3344622"/>
            <a:ext cx="476250" cy="26400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rgbClr val="8E7052"/>
                </a:solidFill>
                <a:latin typeface="Chalkboard"/>
                <a:ea typeface="Chalkboard"/>
                <a:cs typeface="Chalkboard"/>
                <a:sym typeface="Chalkboard"/>
              </a:defRPr>
            </a:lvl1pPr>
          </a:lstStyle>
          <a:p>
            <a:pPr/>
            <a:r>
              <a:t>0.94</a:t>
            </a:r>
          </a:p>
        </p:txBody>
      </p:sp>
      <p:sp>
        <p:nvSpPr>
          <p:cNvPr id="383" name="Input"/>
          <p:cNvSpPr txBox="1"/>
          <p:nvPr/>
        </p:nvSpPr>
        <p:spPr>
          <a:xfrm>
            <a:off x="523875" y="1977784"/>
            <a:ext cx="1247775" cy="26400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rgbClr val="424548"/>
                </a:solidFill>
                <a:latin typeface="Chalkboard"/>
                <a:ea typeface="Chalkboard"/>
                <a:cs typeface="Chalkboard"/>
                <a:sym typeface="Chalkboard"/>
              </a:defRPr>
            </a:lvl1pPr>
          </a:lstStyle>
          <a:p>
            <a:pPr/>
            <a:r>
              <a:t>Input</a:t>
            </a:r>
          </a:p>
        </p:txBody>
      </p:sp>
      <p:sp>
        <p:nvSpPr>
          <p:cNvPr id="384" name="Hidden 1"/>
          <p:cNvSpPr txBox="1"/>
          <p:nvPr/>
        </p:nvSpPr>
        <p:spPr>
          <a:xfrm>
            <a:off x="2276475" y="1977784"/>
            <a:ext cx="1247775" cy="26400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rgbClr val="424548"/>
                </a:solidFill>
                <a:latin typeface="Chalkboard"/>
                <a:ea typeface="Chalkboard"/>
                <a:cs typeface="Chalkboard"/>
                <a:sym typeface="Chalkboard"/>
              </a:defRPr>
            </a:lvl1pPr>
          </a:lstStyle>
          <a:p>
            <a:pPr/>
            <a:r>
              <a:t>Hidden 1</a:t>
            </a:r>
          </a:p>
        </p:txBody>
      </p:sp>
      <p:sp>
        <p:nvSpPr>
          <p:cNvPr id="385" name="Hidden 2"/>
          <p:cNvSpPr txBox="1"/>
          <p:nvPr/>
        </p:nvSpPr>
        <p:spPr>
          <a:xfrm>
            <a:off x="4029075" y="1977784"/>
            <a:ext cx="1247775" cy="26400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rgbClr val="424548"/>
                </a:solidFill>
                <a:latin typeface="Chalkboard"/>
                <a:ea typeface="Chalkboard"/>
                <a:cs typeface="Chalkboard"/>
                <a:sym typeface="Chalkboard"/>
              </a:defRPr>
            </a:lvl1pPr>
          </a:lstStyle>
          <a:p>
            <a:pPr/>
            <a:r>
              <a:t>Hidden 2</a:t>
            </a:r>
          </a:p>
        </p:txBody>
      </p:sp>
      <p:sp>
        <p:nvSpPr>
          <p:cNvPr id="386" name="Output"/>
          <p:cNvSpPr txBox="1"/>
          <p:nvPr/>
        </p:nvSpPr>
        <p:spPr>
          <a:xfrm>
            <a:off x="5781675" y="1977784"/>
            <a:ext cx="1247775" cy="26400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600">
                <a:solidFill>
                  <a:srgbClr val="8E7052"/>
                </a:solidFill>
                <a:latin typeface="Chalkboard"/>
                <a:ea typeface="Chalkboard"/>
                <a:cs typeface="Chalkboard"/>
                <a:sym typeface="Chalkboard"/>
              </a:defRPr>
            </a:lvl1pPr>
          </a:lstStyle>
          <a:p>
            <a:pPr/>
            <a:r>
              <a:t>Output</a:t>
            </a:r>
          </a:p>
        </p:txBody>
      </p:sp>
      <p:sp>
        <p:nvSpPr>
          <p:cNvPr id="387" name="Illustrative activations"/>
          <p:cNvSpPr txBox="1"/>
          <p:nvPr/>
        </p:nvSpPr>
        <p:spPr>
          <a:xfrm>
            <a:off x="685800" y="4969055"/>
            <a:ext cx="5438775" cy="33936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62616A"/>
                </a:solidFill>
                <a:latin typeface="Chalkboard"/>
                <a:ea typeface="Chalkboard"/>
                <a:cs typeface="Chalkboard"/>
                <a:sym typeface="Chalkboard"/>
              </a:defRPr>
            </a:lvl1pPr>
          </a:lstStyle>
          <a:p>
            <a:pPr/>
            <a:r>
              <a:t>Illustrative activations</a:t>
            </a:r>
          </a:p>
        </p:txBody>
      </p:sp>
      <p:sp>
        <p:nvSpPr>
          <p:cNvPr id="388" name="σ(z) ="/>
          <p:cNvSpPr txBox="1"/>
          <p:nvPr/>
        </p:nvSpPr>
        <p:spPr>
          <a:xfrm>
            <a:off x="7677150" y="5127607"/>
            <a:ext cx="1419225" cy="4413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700">
                <a:solidFill>
                  <a:srgbClr val="424548"/>
                </a:solidFill>
                <a:latin typeface="Chalkboard"/>
                <a:ea typeface="Chalkboard"/>
                <a:cs typeface="Chalkboard"/>
                <a:sym typeface="Chalkboard"/>
              </a:defRPr>
            </a:lvl1pPr>
          </a:lstStyle>
          <a:p>
            <a:pPr/>
            <a:r>
              <a:t>σ(z) =</a:t>
            </a:r>
          </a:p>
        </p:txBody>
      </p:sp>
      <p:sp>
        <p:nvSpPr>
          <p:cNvPr id="389" name="1"/>
          <p:cNvSpPr txBox="1"/>
          <p:nvPr/>
        </p:nvSpPr>
        <p:spPr>
          <a:xfrm>
            <a:off x="9305925" y="4980505"/>
            <a:ext cx="1695450" cy="40219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500">
                <a:solidFill>
                  <a:srgbClr val="424548"/>
                </a:solidFill>
                <a:latin typeface="Chalkboard"/>
                <a:ea typeface="Chalkboard"/>
                <a:cs typeface="Chalkboard"/>
                <a:sym typeface="Chalkboard"/>
              </a:defRPr>
            </a:lvl1pPr>
          </a:lstStyle>
          <a:p>
            <a:pPr/>
            <a:r>
              <a:t>1</a:t>
            </a:r>
          </a:p>
        </p:txBody>
      </p:sp>
      <p:sp>
        <p:nvSpPr>
          <p:cNvPr id="390" name="Line"/>
          <p:cNvSpPr/>
          <p:nvPr/>
        </p:nvSpPr>
        <p:spPr>
          <a:xfrm>
            <a:off x="9305925" y="5372099"/>
            <a:ext cx="1695451" cy="1"/>
          </a:xfrm>
          <a:prstGeom prst="line">
            <a:avLst/>
          </a:prstGeom>
          <a:ln w="20479">
            <a:solidFill>
              <a:srgbClr val="7B6BA8"/>
            </a:solidFill>
          </a:ln>
        </p:spPr>
        <p:txBody>
          <a:bodyPr lIns="0" tIns="0" rIns="0" bIns="0"/>
          <a:lstStyle/>
          <a:p>
            <a:pPr/>
          </a:p>
        </p:txBody>
      </p:sp>
      <p:sp>
        <p:nvSpPr>
          <p:cNvPr id="391" name="1 + e⁻ᶻ"/>
          <p:cNvSpPr txBox="1"/>
          <p:nvPr/>
        </p:nvSpPr>
        <p:spPr>
          <a:xfrm>
            <a:off x="9305925" y="5374024"/>
            <a:ext cx="1695450" cy="41525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500">
                <a:solidFill>
                  <a:srgbClr val="424548"/>
                </a:solidFill>
                <a:latin typeface="Chalkboard"/>
                <a:ea typeface="Chalkboard"/>
                <a:cs typeface="Chalkboard"/>
                <a:sym typeface="Chalkboard"/>
              </a:defRPr>
            </a:lvl1pPr>
          </a:lstStyle>
          <a:p>
            <a:pPr/>
            <a:r>
              <a:t>1 + e⁻ᶻ</a:t>
            </a:r>
          </a:p>
        </p:txBody>
      </p:sp>
      <p:sp>
        <p:nvSpPr>
          <p:cNvPr id="392" name="The example output is 0.94. Hidden layers use ReLU, while the final output uses sigmoid."/>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The example output is 0.94. Hidden layers use ReLU, while the final output uses sigmoid.</a:t>
            </a:r>
          </a:p>
        </p:txBody>
      </p:sp>
      <p:sp>
        <p:nvSpPr>
          <p:cNvPr id="393"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394" name="Line"/>
          <p:cNvSpPr/>
          <p:nvPr/>
        </p:nvSpPr>
        <p:spPr>
          <a:xfrm>
            <a:off x="609600" y="6429375"/>
            <a:ext cx="10972801" cy="0"/>
          </a:xfrm>
          <a:prstGeom prst="line">
            <a:avLst/>
          </a:prstGeom>
          <a:ln w="7620">
            <a:solidFill>
              <a:srgbClr val="D9CDBB"/>
            </a:solidFill>
          </a:ln>
        </p:spPr>
        <p:txBody>
          <a:bodyPr lIns="0" tIns="0" rIns="0" bIns="0"/>
          <a:lstStyle/>
          <a:p>
            <a:pPr/>
          </a:p>
        </p:txBody>
      </p:sp>
      <p:graphicFrame>
        <p:nvGraphicFramePr>
          <p:cNvPr id="395" name="Chart"/>
          <p:cNvGraphicFramePr/>
          <p:nvPr/>
        </p:nvGraphicFramePr>
        <p:xfrm>
          <a:off x="7010904" y="1849197"/>
          <a:ext cx="4460372" cy="3168838"/>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399"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400"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401" name="A threshold turns probability into a class"/>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A threshold turns probability into a class</a:t>
            </a:r>
          </a:p>
        </p:txBody>
      </p:sp>
      <p:sp>
        <p:nvSpPr>
          <p:cNvPr id="402" name="At a threshold of 0.5, this email falls on the Spam side."/>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At a threshold of 0.5, this email falls on the Spam side.</a:t>
            </a:r>
          </a:p>
        </p:txBody>
      </p:sp>
      <p:sp>
        <p:nvSpPr>
          <p:cNvPr id="403" name="12"/>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12</a:t>
            </a:r>
          </a:p>
        </p:txBody>
      </p:sp>
      <p:sp>
        <p:nvSpPr>
          <p:cNvPr id="404" name="Line"/>
          <p:cNvSpPr/>
          <p:nvPr/>
        </p:nvSpPr>
        <p:spPr>
          <a:xfrm>
            <a:off x="885825" y="3641361"/>
            <a:ext cx="5095876" cy="1491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9720"/>
                </a:moveTo>
                <a:lnTo>
                  <a:pt x="1802" y="10314"/>
                </a:lnTo>
                <a:lnTo>
                  <a:pt x="3588" y="5556"/>
                </a:lnTo>
                <a:lnTo>
                  <a:pt x="5432" y="20734"/>
                </a:lnTo>
                <a:lnTo>
                  <a:pt x="7204" y="11062"/>
                </a:lnTo>
                <a:lnTo>
                  <a:pt x="8987" y="5311"/>
                </a:lnTo>
                <a:lnTo>
                  <a:pt x="10831" y="20217"/>
                </a:lnTo>
                <a:lnTo>
                  <a:pt x="12591" y="6733"/>
                </a:lnTo>
                <a:lnTo>
                  <a:pt x="14403" y="10631"/>
                </a:lnTo>
                <a:lnTo>
                  <a:pt x="16172" y="0"/>
                </a:lnTo>
                <a:lnTo>
                  <a:pt x="18035" y="21600"/>
                </a:lnTo>
                <a:lnTo>
                  <a:pt x="19810" y="13134"/>
                </a:lnTo>
                <a:lnTo>
                  <a:pt x="21600" y="9720"/>
                </a:lnTo>
              </a:path>
            </a:pathLst>
          </a:custGeom>
          <a:ln w="20479">
            <a:solidFill>
              <a:srgbClr val="C65D4B"/>
            </a:solidFill>
          </a:ln>
        </p:spPr>
        <p:txBody>
          <a:bodyPr lIns="0" tIns="0" rIns="0" bIns="0"/>
          <a:lstStyle/>
          <a:p>
            <a:pPr/>
          </a:p>
        </p:txBody>
      </p:sp>
      <p:sp>
        <p:nvSpPr>
          <p:cNvPr id="405" name="Line"/>
          <p:cNvSpPr/>
          <p:nvPr/>
        </p:nvSpPr>
        <p:spPr>
          <a:xfrm>
            <a:off x="5981700" y="3639810"/>
            <a:ext cx="5095876" cy="1608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096"/>
                </a:moveTo>
                <a:lnTo>
                  <a:pt x="1787" y="6956"/>
                </a:lnTo>
                <a:lnTo>
                  <a:pt x="3628" y="20078"/>
                </a:lnTo>
                <a:lnTo>
                  <a:pt x="5384" y="6166"/>
                </a:lnTo>
                <a:lnTo>
                  <a:pt x="7233" y="21600"/>
                </a:lnTo>
                <a:lnTo>
                  <a:pt x="8997" y="10252"/>
                </a:lnTo>
                <a:lnTo>
                  <a:pt x="10765" y="0"/>
                </a:lnTo>
                <a:lnTo>
                  <a:pt x="12590" y="7799"/>
                </a:lnTo>
                <a:lnTo>
                  <a:pt x="14392" y="8528"/>
                </a:lnTo>
                <a:lnTo>
                  <a:pt x="16228" y="19832"/>
                </a:lnTo>
                <a:lnTo>
                  <a:pt x="17986" y="6509"/>
                </a:lnTo>
                <a:lnTo>
                  <a:pt x="19829" y="20419"/>
                </a:lnTo>
                <a:lnTo>
                  <a:pt x="21600" y="11096"/>
                </a:lnTo>
              </a:path>
            </a:pathLst>
          </a:custGeom>
          <a:ln w="20479">
            <a:solidFill>
              <a:srgbClr val="B07A3F"/>
            </a:solidFill>
          </a:ln>
        </p:spPr>
        <p:txBody>
          <a:bodyPr lIns="0" tIns="0" rIns="0" bIns="0"/>
          <a:lstStyle/>
          <a:p>
            <a:pPr/>
          </a:p>
        </p:txBody>
      </p:sp>
      <p:sp>
        <p:nvSpPr>
          <p:cNvPr id="406" name="Line"/>
          <p:cNvSpPr/>
          <p:nvPr/>
        </p:nvSpPr>
        <p:spPr>
          <a:xfrm>
            <a:off x="880170" y="3533775"/>
            <a:ext cx="13090" cy="2286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332" y="0"/>
                </a:moveTo>
                <a:lnTo>
                  <a:pt x="18222" y="2309"/>
                </a:lnTo>
                <a:lnTo>
                  <a:pt x="898" y="3117"/>
                </a:lnTo>
                <a:lnTo>
                  <a:pt x="12700" y="5593"/>
                </a:lnTo>
                <a:lnTo>
                  <a:pt x="21600" y="7902"/>
                </a:lnTo>
                <a:lnTo>
                  <a:pt x="0" y="8466"/>
                </a:lnTo>
                <a:lnTo>
                  <a:pt x="14846" y="11116"/>
                </a:lnTo>
                <a:lnTo>
                  <a:pt x="17527" y="13069"/>
                </a:lnTo>
                <a:lnTo>
                  <a:pt x="7481" y="14294"/>
                </a:lnTo>
                <a:lnTo>
                  <a:pt x="11913" y="16348"/>
                </a:lnTo>
                <a:lnTo>
                  <a:pt x="8094" y="17929"/>
                </a:lnTo>
                <a:lnTo>
                  <a:pt x="7735" y="19709"/>
                </a:lnTo>
                <a:lnTo>
                  <a:pt x="9332" y="21600"/>
                </a:lnTo>
              </a:path>
            </a:pathLst>
          </a:custGeom>
          <a:ln w="20479">
            <a:solidFill>
              <a:srgbClr val="C65D4B"/>
            </a:solidFill>
          </a:ln>
        </p:spPr>
        <p:txBody>
          <a:bodyPr lIns="0" tIns="0" rIns="0" bIns="0"/>
          <a:lstStyle/>
          <a:p>
            <a:pPr/>
          </a:p>
        </p:txBody>
      </p:sp>
      <p:sp>
        <p:nvSpPr>
          <p:cNvPr id="407" name="0"/>
          <p:cNvSpPr txBox="1"/>
          <p:nvPr/>
        </p:nvSpPr>
        <p:spPr>
          <a:xfrm>
            <a:off x="476250" y="3975196"/>
            <a:ext cx="81915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62616A"/>
                </a:solidFill>
                <a:latin typeface="Chalkboard"/>
                <a:ea typeface="Chalkboard"/>
                <a:cs typeface="Chalkboard"/>
                <a:sym typeface="Chalkboard"/>
              </a:defRPr>
            </a:lvl1pPr>
          </a:lstStyle>
          <a:p>
            <a:pPr/>
            <a:r>
              <a:t>0</a:t>
            </a:r>
          </a:p>
        </p:txBody>
      </p:sp>
      <p:sp>
        <p:nvSpPr>
          <p:cNvPr id="408" name="Line"/>
          <p:cNvSpPr/>
          <p:nvPr/>
        </p:nvSpPr>
        <p:spPr>
          <a:xfrm>
            <a:off x="3426786" y="3533775"/>
            <a:ext cx="15423" cy="2286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771" y="0"/>
                </a:moveTo>
                <a:lnTo>
                  <a:pt x="7181" y="1625"/>
                </a:lnTo>
                <a:lnTo>
                  <a:pt x="21600" y="4398"/>
                </a:lnTo>
                <a:lnTo>
                  <a:pt x="17149" y="5898"/>
                </a:lnTo>
                <a:lnTo>
                  <a:pt x="12384" y="7376"/>
                </a:lnTo>
                <a:lnTo>
                  <a:pt x="20450" y="9720"/>
                </a:lnTo>
                <a:lnTo>
                  <a:pt x="6926" y="10608"/>
                </a:lnTo>
                <a:lnTo>
                  <a:pt x="0" y="11941"/>
                </a:lnTo>
                <a:lnTo>
                  <a:pt x="1408" y="13836"/>
                </a:lnTo>
                <a:lnTo>
                  <a:pt x="9953" y="16212"/>
                </a:lnTo>
                <a:lnTo>
                  <a:pt x="3537" y="17579"/>
                </a:lnTo>
                <a:lnTo>
                  <a:pt x="21393" y="20584"/>
                </a:lnTo>
                <a:lnTo>
                  <a:pt x="9771" y="21600"/>
                </a:lnTo>
              </a:path>
            </a:pathLst>
          </a:custGeom>
          <a:ln w="20479">
            <a:solidFill>
              <a:srgbClr val="7B6BA8"/>
            </a:solidFill>
            <a:prstDash val="dash"/>
          </a:ln>
        </p:spPr>
        <p:txBody>
          <a:bodyPr lIns="0" tIns="0" rIns="0" bIns="0"/>
          <a:lstStyle/>
          <a:p>
            <a:pPr/>
          </a:p>
        </p:txBody>
      </p:sp>
      <p:sp>
        <p:nvSpPr>
          <p:cNvPr id="409" name="0.25"/>
          <p:cNvSpPr txBox="1"/>
          <p:nvPr/>
        </p:nvSpPr>
        <p:spPr>
          <a:xfrm>
            <a:off x="3024188" y="3975196"/>
            <a:ext cx="819151"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62616A"/>
                </a:solidFill>
                <a:latin typeface="Chalkboard"/>
                <a:ea typeface="Chalkboard"/>
                <a:cs typeface="Chalkboard"/>
                <a:sym typeface="Chalkboard"/>
              </a:defRPr>
            </a:lvl1pPr>
          </a:lstStyle>
          <a:p>
            <a:pPr/>
            <a:r>
              <a:t>0.25</a:t>
            </a:r>
          </a:p>
        </p:txBody>
      </p:sp>
      <p:sp>
        <p:nvSpPr>
          <p:cNvPr id="410" name="Line"/>
          <p:cNvSpPr/>
          <p:nvPr/>
        </p:nvSpPr>
        <p:spPr>
          <a:xfrm>
            <a:off x="5973886" y="3533775"/>
            <a:ext cx="16365" cy="2286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313" y="0"/>
                </a:moveTo>
                <a:lnTo>
                  <a:pt x="16667" y="2255"/>
                </a:lnTo>
                <a:lnTo>
                  <a:pt x="5411" y="3249"/>
                </a:lnTo>
                <a:lnTo>
                  <a:pt x="5783" y="5076"/>
                </a:lnTo>
                <a:lnTo>
                  <a:pt x="8168" y="7046"/>
                </a:lnTo>
                <a:lnTo>
                  <a:pt x="9500" y="8942"/>
                </a:lnTo>
                <a:lnTo>
                  <a:pt x="0" y="10062"/>
                </a:lnTo>
                <a:lnTo>
                  <a:pt x="9906" y="12571"/>
                </a:lnTo>
                <a:lnTo>
                  <a:pt x="21600" y="15208"/>
                </a:lnTo>
                <a:lnTo>
                  <a:pt x="6514" y="15928"/>
                </a:lnTo>
                <a:lnTo>
                  <a:pt x="15881" y="18399"/>
                </a:lnTo>
                <a:lnTo>
                  <a:pt x="20586" y="20535"/>
                </a:lnTo>
                <a:lnTo>
                  <a:pt x="10313" y="21600"/>
                </a:lnTo>
              </a:path>
            </a:pathLst>
          </a:custGeom>
          <a:ln w="20479">
            <a:solidFill>
              <a:srgbClr val="B07A3F"/>
            </a:solidFill>
          </a:ln>
        </p:spPr>
        <p:txBody>
          <a:bodyPr lIns="0" tIns="0" rIns="0" bIns="0"/>
          <a:lstStyle/>
          <a:p>
            <a:pPr/>
          </a:p>
        </p:txBody>
      </p:sp>
      <p:sp>
        <p:nvSpPr>
          <p:cNvPr id="411" name="0.5"/>
          <p:cNvSpPr txBox="1"/>
          <p:nvPr/>
        </p:nvSpPr>
        <p:spPr>
          <a:xfrm>
            <a:off x="5572125" y="3975196"/>
            <a:ext cx="81915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62616A"/>
                </a:solidFill>
                <a:latin typeface="Chalkboard"/>
                <a:ea typeface="Chalkboard"/>
                <a:cs typeface="Chalkboard"/>
                <a:sym typeface="Chalkboard"/>
              </a:defRPr>
            </a:lvl1pPr>
          </a:lstStyle>
          <a:p>
            <a:pPr/>
            <a:r>
              <a:t>0.5</a:t>
            </a:r>
          </a:p>
        </p:txBody>
      </p:sp>
      <p:sp>
        <p:nvSpPr>
          <p:cNvPr id="412" name="Line"/>
          <p:cNvSpPr/>
          <p:nvPr/>
        </p:nvSpPr>
        <p:spPr>
          <a:xfrm>
            <a:off x="8521957" y="3533775"/>
            <a:ext cx="15341" cy="2286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14" y="0"/>
                </a:moveTo>
                <a:lnTo>
                  <a:pt x="18402" y="2309"/>
                </a:lnTo>
                <a:lnTo>
                  <a:pt x="3907" y="3137"/>
                </a:lnTo>
                <a:lnTo>
                  <a:pt x="2191" y="4821"/>
                </a:lnTo>
                <a:lnTo>
                  <a:pt x="10414" y="7173"/>
                </a:lnTo>
                <a:lnTo>
                  <a:pt x="15593" y="9321"/>
                </a:lnTo>
                <a:lnTo>
                  <a:pt x="15471" y="11112"/>
                </a:lnTo>
                <a:lnTo>
                  <a:pt x="1907" y="12002"/>
                </a:lnTo>
                <a:lnTo>
                  <a:pt x="21600" y="15124"/>
                </a:lnTo>
                <a:lnTo>
                  <a:pt x="3712" y="15723"/>
                </a:lnTo>
                <a:lnTo>
                  <a:pt x="0" y="17274"/>
                </a:lnTo>
                <a:lnTo>
                  <a:pt x="20505" y="20450"/>
                </a:lnTo>
                <a:lnTo>
                  <a:pt x="10814" y="21600"/>
                </a:lnTo>
              </a:path>
            </a:pathLst>
          </a:custGeom>
          <a:ln w="20479">
            <a:solidFill>
              <a:srgbClr val="355070"/>
            </a:solidFill>
          </a:ln>
        </p:spPr>
        <p:txBody>
          <a:bodyPr lIns="0" tIns="0" rIns="0" bIns="0"/>
          <a:lstStyle/>
          <a:p>
            <a:pPr/>
          </a:p>
        </p:txBody>
      </p:sp>
      <p:sp>
        <p:nvSpPr>
          <p:cNvPr id="413" name="0.75"/>
          <p:cNvSpPr txBox="1"/>
          <p:nvPr/>
        </p:nvSpPr>
        <p:spPr>
          <a:xfrm>
            <a:off x="8120063" y="3975196"/>
            <a:ext cx="819151"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62616A"/>
                </a:solidFill>
                <a:latin typeface="Chalkboard"/>
                <a:ea typeface="Chalkboard"/>
                <a:cs typeface="Chalkboard"/>
                <a:sym typeface="Chalkboard"/>
              </a:defRPr>
            </a:lvl1pPr>
          </a:lstStyle>
          <a:p>
            <a:pPr/>
            <a:r>
              <a:t>0.75</a:t>
            </a:r>
          </a:p>
        </p:txBody>
      </p:sp>
      <p:sp>
        <p:nvSpPr>
          <p:cNvPr id="414" name="Line"/>
          <p:cNvSpPr/>
          <p:nvPr/>
        </p:nvSpPr>
        <p:spPr>
          <a:xfrm>
            <a:off x="11071809" y="3533775"/>
            <a:ext cx="12701" cy="2286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753" y="0"/>
                </a:moveTo>
                <a:lnTo>
                  <a:pt x="6903" y="1650"/>
                </a:lnTo>
                <a:lnTo>
                  <a:pt x="14978" y="3875"/>
                </a:lnTo>
                <a:lnTo>
                  <a:pt x="5580" y="5180"/>
                </a:lnTo>
                <a:lnTo>
                  <a:pt x="13270" y="7385"/>
                </a:lnTo>
                <a:lnTo>
                  <a:pt x="0" y="8486"/>
                </a:lnTo>
                <a:lnTo>
                  <a:pt x="21600" y="11424"/>
                </a:lnTo>
                <a:lnTo>
                  <a:pt x="645" y="12120"/>
                </a:lnTo>
                <a:lnTo>
                  <a:pt x="1997" y="13991"/>
                </a:lnTo>
                <a:lnTo>
                  <a:pt x="3716" y="15882"/>
                </a:lnTo>
                <a:lnTo>
                  <a:pt x="8027" y="17909"/>
                </a:lnTo>
                <a:lnTo>
                  <a:pt x="18458" y="20259"/>
                </a:lnTo>
                <a:lnTo>
                  <a:pt x="9753" y="21600"/>
                </a:lnTo>
              </a:path>
            </a:pathLst>
          </a:custGeom>
          <a:ln w="20479">
            <a:solidFill>
              <a:srgbClr val="2A9D8F"/>
            </a:solidFill>
            <a:prstDash val="dashDot"/>
          </a:ln>
        </p:spPr>
        <p:txBody>
          <a:bodyPr lIns="0" tIns="0" rIns="0" bIns="0"/>
          <a:lstStyle/>
          <a:p>
            <a:pPr/>
          </a:p>
        </p:txBody>
      </p:sp>
      <p:sp>
        <p:nvSpPr>
          <p:cNvPr id="415" name="1"/>
          <p:cNvSpPr txBox="1"/>
          <p:nvPr/>
        </p:nvSpPr>
        <p:spPr>
          <a:xfrm>
            <a:off x="10668000" y="3975196"/>
            <a:ext cx="81915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000">
                <a:solidFill>
                  <a:srgbClr val="62616A"/>
                </a:solidFill>
                <a:latin typeface="Chalkboard"/>
                <a:ea typeface="Chalkboard"/>
                <a:cs typeface="Chalkboard"/>
                <a:sym typeface="Chalkboard"/>
              </a:defRPr>
            </a:lvl1pPr>
          </a:lstStyle>
          <a:p>
            <a:pPr/>
            <a:r>
              <a:t>1</a:t>
            </a:r>
          </a:p>
        </p:txBody>
      </p:sp>
      <p:sp>
        <p:nvSpPr>
          <p:cNvPr id="416" name="Line"/>
          <p:cNvSpPr/>
          <p:nvPr/>
        </p:nvSpPr>
        <p:spPr>
          <a:xfrm>
            <a:off x="5974265" y="2667000"/>
            <a:ext cx="14851" cy="8286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13" y="0"/>
                </a:moveTo>
                <a:lnTo>
                  <a:pt x="9073" y="1769"/>
                </a:lnTo>
                <a:lnTo>
                  <a:pt x="21600" y="3793"/>
                </a:lnTo>
                <a:lnTo>
                  <a:pt x="10726" y="5398"/>
                </a:lnTo>
                <a:lnTo>
                  <a:pt x="0" y="7006"/>
                </a:lnTo>
                <a:lnTo>
                  <a:pt x="10209" y="8989"/>
                </a:lnTo>
                <a:lnTo>
                  <a:pt x="21540" y="10992"/>
                </a:lnTo>
                <a:lnTo>
                  <a:pt x="20598" y="12775"/>
                </a:lnTo>
                <a:lnTo>
                  <a:pt x="13542" y="14449"/>
                </a:lnTo>
                <a:lnTo>
                  <a:pt x="13737" y="16252"/>
                </a:lnTo>
                <a:lnTo>
                  <a:pt x="10489" y="17994"/>
                </a:lnTo>
                <a:lnTo>
                  <a:pt x="8298" y="19755"/>
                </a:lnTo>
                <a:lnTo>
                  <a:pt x="10813" y="21600"/>
                </a:lnTo>
              </a:path>
            </a:pathLst>
          </a:custGeom>
          <a:ln w="20479">
            <a:solidFill>
              <a:srgbClr val="C65D4B"/>
            </a:solidFill>
          </a:ln>
        </p:spPr>
        <p:txBody>
          <a:bodyPr lIns="0" tIns="0" rIns="0" bIns="0"/>
          <a:lstStyle/>
          <a:p>
            <a:pPr/>
          </a:p>
        </p:txBody>
      </p:sp>
      <p:sp>
        <p:nvSpPr>
          <p:cNvPr id="417" name="Line"/>
          <p:cNvSpPr/>
          <p:nvPr/>
        </p:nvSpPr>
        <p:spPr>
          <a:xfrm>
            <a:off x="5936126" y="3401331"/>
            <a:ext cx="91148" cy="9434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path>
            </a:pathLst>
          </a:custGeom>
          <a:ln w="20479">
            <a:solidFill>
              <a:srgbClr val="7B6BA8"/>
            </a:solidFill>
            <a:prstDash val="dash"/>
          </a:ln>
        </p:spPr>
        <p:txBody>
          <a:bodyPr lIns="0" tIns="0" rIns="0" bIns="0"/>
          <a:lstStyle/>
          <a:p>
            <a:pPr/>
          </a:p>
        </p:txBody>
      </p:sp>
      <p:sp>
        <p:nvSpPr>
          <p:cNvPr id="418" name="threshold = 0.5"/>
          <p:cNvSpPr txBox="1"/>
          <p:nvPr/>
        </p:nvSpPr>
        <p:spPr>
          <a:xfrm>
            <a:off x="4333875" y="2178399"/>
            <a:ext cx="3390900" cy="37712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A88B59"/>
                </a:solidFill>
                <a:latin typeface="Chalkboard"/>
                <a:ea typeface="Chalkboard"/>
                <a:cs typeface="Chalkboard"/>
                <a:sym typeface="Chalkboard"/>
              </a:defRPr>
            </a:lvl1pPr>
          </a:lstStyle>
          <a:p>
            <a:pPr/>
            <a:r>
              <a:t>threshold = 0.5</a:t>
            </a:r>
          </a:p>
        </p:txBody>
      </p:sp>
      <p:sp>
        <p:nvSpPr>
          <p:cNvPr id="419" name="Shape"/>
          <p:cNvSpPr/>
          <p:nvPr/>
        </p:nvSpPr>
        <p:spPr>
          <a:xfrm>
            <a:off x="10295373" y="3478219"/>
            <a:ext cx="343690" cy="34362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420" name="0.94"/>
          <p:cNvSpPr txBox="1"/>
          <p:nvPr/>
        </p:nvSpPr>
        <p:spPr>
          <a:xfrm>
            <a:off x="9799319" y="2755335"/>
            <a:ext cx="1333501" cy="49008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3100">
                <a:solidFill>
                  <a:srgbClr val="8E7052"/>
                </a:solidFill>
                <a:latin typeface="Chalkboard"/>
                <a:ea typeface="Chalkboard"/>
                <a:cs typeface="Chalkboard"/>
                <a:sym typeface="Chalkboard"/>
              </a:defRPr>
            </a:lvl1pPr>
          </a:lstStyle>
          <a:p>
            <a:pPr/>
            <a:r>
              <a:t>0.94</a:t>
            </a:r>
          </a:p>
        </p:txBody>
      </p:sp>
      <p:sp>
        <p:nvSpPr>
          <p:cNvPr id="421" name="Not Spam"/>
          <p:cNvSpPr txBox="1"/>
          <p:nvPr/>
        </p:nvSpPr>
        <p:spPr>
          <a:xfrm>
            <a:off x="942975" y="4531747"/>
            <a:ext cx="3495675" cy="49008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100">
                <a:solidFill>
                  <a:srgbClr val="424548"/>
                </a:solidFill>
                <a:latin typeface="Chalkboard"/>
                <a:ea typeface="Chalkboard"/>
                <a:cs typeface="Chalkboard"/>
                <a:sym typeface="Chalkboard"/>
              </a:defRPr>
            </a:lvl1pPr>
          </a:lstStyle>
          <a:p>
            <a:pPr/>
            <a:r>
              <a:t>Not Spam</a:t>
            </a:r>
          </a:p>
        </p:txBody>
      </p:sp>
      <p:sp>
        <p:nvSpPr>
          <p:cNvPr id="422" name="Spam"/>
          <p:cNvSpPr txBox="1"/>
          <p:nvPr/>
        </p:nvSpPr>
        <p:spPr>
          <a:xfrm>
            <a:off x="8629650" y="4531747"/>
            <a:ext cx="2438400" cy="49008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3100">
                <a:solidFill>
                  <a:srgbClr val="8E7052"/>
                </a:solidFill>
                <a:latin typeface="Chalkboard"/>
                <a:ea typeface="Chalkboard"/>
                <a:cs typeface="Chalkboard"/>
                <a:sym typeface="Chalkboard"/>
              </a:defRPr>
            </a:lvl1pPr>
          </a:lstStyle>
          <a:p>
            <a:pPr/>
            <a:r>
              <a:t>Spam</a:t>
            </a:r>
          </a:p>
        </p:txBody>
      </p:sp>
      <p:sp>
        <p:nvSpPr>
          <p:cNvPr id="423" name="0.94 &gt; 0.5"/>
          <p:cNvSpPr txBox="1"/>
          <p:nvPr/>
        </p:nvSpPr>
        <p:spPr>
          <a:xfrm>
            <a:off x="6781800" y="5237680"/>
            <a:ext cx="4752975" cy="40219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2500">
                <a:solidFill>
                  <a:srgbClr val="8E7052"/>
                </a:solidFill>
                <a:latin typeface="Chalkboard"/>
                <a:ea typeface="Chalkboard"/>
                <a:cs typeface="Chalkboard"/>
                <a:sym typeface="Chalkboard"/>
              </a:defRPr>
            </a:lvl1pPr>
          </a:lstStyle>
          <a:p>
            <a:pPr/>
            <a:r>
              <a:t>0.94 &gt; 0.5</a:t>
            </a:r>
          </a:p>
        </p:txBody>
      </p:sp>
      <p:sp>
        <p:nvSpPr>
          <p:cNvPr id="424" name="Choose the threshold according to the cost of false positives and missed spam."/>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Choose the threshold according to the cost of false positives and missed spam.</a:t>
            </a:r>
          </a:p>
        </p:txBody>
      </p:sp>
      <p:sp>
        <p:nvSpPr>
          <p:cNvPr id="425"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426"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428"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429"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430" name="Training learns from prediction errors"/>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Training learns from prediction errors</a:t>
            </a:r>
          </a:p>
        </p:txBody>
      </p:sp>
      <p:sp>
        <p:nvSpPr>
          <p:cNvPr id="431" name="Compare the prediction with the true label, then send gradients backward."/>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Compare the prediction with the true label, then send gradients backward.</a:t>
            </a:r>
          </a:p>
        </p:txBody>
      </p:sp>
      <p:sp>
        <p:nvSpPr>
          <p:cNvPr id="432" name="13"/>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13</a:t>
            </a:r>
          </a:p>
        </p:txBody>
      </p:sp>
      <p:sp>
        <p:nvSpPr>
          <p:cNvPr id="433" name="Shape"/>
          <p:cNvSpPr/>
          <p:nvPr/>
        </p:nvSpPr>
        <p:spPr>
          <a:xfrm>
            <a:off x="993406" y="2158586"/>
            <a:ext cx="1279287" cy="12790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434" name="ŷ = 0.35"/>
          <p:cNvSpPr txBox="1"/>
          <p:nvPr/>
        </p:nvSpPr>
        <p:spPr>
          <a:xfrm>
            <a:off x="1038225" y="2595995"/>
            <a:ext cx="118110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ŷ = 0.35</a:t>
            </a:r>
          </a:p>
        </p:txBody>
      </p:sp>
      <p:sp>
        <p:nvSpPr>
          <p:cNvPr id="435" name="Line"/>
          <p:cNvSpPr/>
          <p:nvPr/>
        </p:nvSpPr>
        <p:spPr>
          <a:xfrm>
            <a:off x="2381250" y="2785970"/>
            <a:ext cx="2771776" cy="1299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8068"/>
                </a:moveTo>
                <a:lnTo>
                  <a:pt x="1841" y="16748"/>
                </a:lnTo>
                <a:lnTo>
                  <a:pt x="3623" y="13078"/>
                </a:lnTo>
                <a:lnTo>
                  <a:pt x="5399" y="7789"/>
                </a:lnTo>
                <a:lnTo>
                  <a:pt x="7254" y="19682"/>
                </a:lnTo>
                <a:lnTo>
                  <a:pt x="8962" y="0"/>
                </a:lnTo>
                <a:lnTo>
                  <a:pt x="10765" y="633"/>
                </a:lnTo>
                <a:lnTo>
                  <a:pt x="12663" y="21411"/>
                </a:lnTo>
                <a:lnTo>
                  <a:pt x="14387" y="5341"/>
                </a:lnTo>
                <a:lnTo>
                  <a:pt x="16193" y="6494"/>
                </a:lnTo>
                <a:lnTo>
                  <a:pt x="18063" y="21600"/>
                </a:lnTo>
                <a:lnTo>
                  <a:pt x="19836" y="15850"/>
                </a:lnTo>
                <a:lnTo>
                  <a:pt x="21600" y="8068"/>
                </a:lnTo>
              </a:path>
            </a:pathLst>
          </a:custGeom>
          <a:ln w="20479">
            <a:solidFill>
              <a:srgbClr val="2A9D8F"/>
            </a:solidFill>
          </a:ln>
        </p:spPr>
        <p:txBody>
          <a:bodyPr lIns="0" tIns="0" rIns="0" bIns="0"/>
          <a:lstStyle/>
          <a:p>
            <a:pPr/>
          </a:p>
        </p:txBody>
      </p:sp>
      <p:sp>
        <p:nvSpPr>
          <p:cNvPr id="436" name="Line"/>
          <p:cNvSpPr/>
          <p:nvPr/>
        </p:nvSpPr>
        <p:spPr>
          <a:xfrm>
            <a:off x="5058681" y="274525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C65D4B"/>
            </a:solidFill>
            <a:prstDash val="dash"/>
          </a:ln>
        </p:spPr>
        <p:txBody>
          <a:bodyPr lIns="0" tIns="0" rIns="0" bIns="0"/>
          <a:lstStyle/>
          <a:p>
            <a:pPr/>
          </a:p>
        </p:txBody>
      </p:sp>
      <p:sp>
        <p:nvSpPr>
          <p:cNvPr id="437" name="Shape"/>
          <p:cNvSpPr/>
          <p:nvPr/>
        </p:nvSpPr>
        <p:spPr>
          <a:xfrm>
            <a:off x="5270132" y="2158586"/>
            <a:ext cx="1279287" cy="12790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438" name="y = 1"/>
          <p:cNvSpPr txBox="1"/>
          <p:nvPr/>
        </p:nvSpPr>
        <p:spPr>
          <a:xfrm>
            <a:off x="5314950" y="2595995"/>
            <a:ext cx="118110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y = 1</a:t>
            </a:r>
          </a:p>
        </p:txBody>
      </p:sp>
      <p:sp>
        <p:nvSpPr>
          <p:cNvPr id="439" name="Line"/>
          <p:cNvSpPr/>
          <p:nvPr/>
        </p:nvSpPr>
        <p:spPr>
          <a:xfrm>
            <a:off x="6657975" y="2783239"/>
            <a:ext cx="2990851" cy="1615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0145"/>
                </a:moveTo>
                <a:lnTo>
                  <a:pt x="1818" y="13481"/>
                </a:lnTo>
                <a:lnTo>
                  <a:pt x="3659" y="21024"/>
                </a:lnTo>
                <a:lnTo>
                  <a:pt x="5448" y="19023"/>
                </a:lnTo>
                <a:lnTo>
                  <a:pt x="7145" y="0"/>
                </a:lnTo>
                <a:lnTo>
                  <a:pt x="9062" y="21600"/>
                </a:lnTo>
                <a:lnTo>
                  <a:pt x="10837" y="17024"/>
                </a:lnTo>
                <a:lnTo>
                  <a:pt x="12596" y="9372"/>
                </a:lnTo>
                <a:lnTo>
                  <a:pt x="14378" y="6113"/>
                </a:lnTo>
                <a:lnTo>
                  <a:pt x="16194" y="9047"/>
                </a:lnTo>
                <a:lnTo>
                  <a:pt x="18052" y="19821"/>
                </a:lnTo>
                <a:lnTo>
                  <a:pt x="19798" y="9759"/>
                </a:lnTo>
                <a:lnTo>
                  <a:pt x="21600" y="10145"/>
                </a:lnTo>
              </a:path>
            </a:pathLst>
          </a:custGeom>
          <a:ln w="20479">
            <a:solidFill>
              <a:srgbClr val="2A9D8F"/>
            </a:solidFill>
          </a:ln>
        </p:spPr>
        <p:txBody>
          <a:bodyPr lIns="0" tIns="0" rIns="0" bIns="0"/>
          <a:lstStyle/>
          <a:p>
            <a:pPr/>
          </a:p>
        </p:txBody>
      </p:sp>
      <p:sp>
        <p:nvSpPr>
          <p:cNvPr id="440" name="Line"/>
          <p:cNvSpPr/>
          <p:nvPr/>
        </p:nvSpPr>
        <p:spPr>
          <a:xfrm>
            <a:off x="9554481" y="274525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C65D4B"/>
            </a:solidFill>
            <a:prstDash val="dash"/>
          </a:ln>
        </p:spPr>
        <p:txBody>
          <a:bodyPr lIns="0" tIns="0" rIns="0" bIns="0"/>
          <a:lstStyle/>
          <a:p>
            <a:pPr/>
          </a:p>
        </p:txBody>
      </p:sp>
      <p:sp>
        <p:nvSpPr>
          <p:cNvPr id="441" name="Shape"/>
          <p:cNvSpPr/>
          <p:nvPr/>
        </p:nvSpPr>
        <p:spPr>
          <a:xfrm rot="42000">
            <a:off x="9765931" y="2158586"/>
            <a:ext cx="1279287" cy="12790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8"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442" name="Loss"/>
          <p:cNvSpPr txBox="1"/>
          <p:nvPr/>
        </p:nvSpPr>
        <p:spPr>
          <a:xfrm>
            <a:off x="9810750" y="2602261"/>
            <a:ext cx="1181100"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8E7052"/>
                </a:solidFill>
                <a:latin typeface="Chalkboard"/>
                <a:ea typeface="Chalkboard"/>
                <a:cs typeface="Chalkboard"/>
                <a:sym typeface="Chalkboard"/>
              </a:defRPr>
            </a:lvl1pPr>
          </a:lstStyle>
          <a:p>
            <a:pPr/>
            <a:r>
              <a:t>Loss</a:t>
            </a:r>
          </a:p>
        </p:txBody>
      </p:sp>
      <p:sp>
        <p:nvSpPr>
          <p:cNvPr id="443" name="Predict"/>
          <p:cNvSpPr txBox="1"/>
          <p:nvPr/>
        </p:nvSpPr>
        <p:spPr>
          <a:xfrm>
            <a:off x="361950" y="1797062"/>
            <a:ext cx="2533650" cy="301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900">
                <a:solidFill>
                  <a:srgbClr val="62616A"/>
                </a:solidFill>
                <a:latin typeface="Chalkboard"/>
                <a:ea typeface="Chalkboard"/>
                <a:cs typeface="Chalkboard"/>
                <a:sym typeface="Chalkboard"/>
              </a:defRPr>
            </a:lvl1pPr>
          </a:lstStyle>
          <a:p>
            <a:pPr/>
            <a:r>
              <a:t>Predict</a:t>
            </a:r>
          </a:p>
        </p:txBody>
      </p:sp>
      <p:sp>
        <p:nvSpPr>
          <p:cNvPr id="444" name="Compare label"/>
          <p:cNvSpPr txBox="1"/>
          <p:nvPr/>
        </p:nvSpPr>
        <p:spPr>
          <a:xfrm>
            <a:off x="4638675" y="1797062"/>
            <a:ext cx="2533650" cy="301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900">
                <a:solidFill>
                  <a:srgbClr val="62616A"/>
                </a:solidFill>
                <a:latin typeface="Chalkboard"/>
                <a:ea typeface="Chalkboard"/>
                <a:cs typeface="Chalkboard"/>
                <a:sym typeface="Chalkboard"/>
              </a:defRPr>
            </a:lvl1pPr>
          </a:lstStyle>
          <a:p>
            <a:pPr/>
            <a:r>
              <a:t>Compare label</a:t>
            </a:r>
          </a:p>
        </p:txBody>
      </p:sp>
      <p:sp>
        <p:nvSpPr>
          <p:cNvPr id="445" name="Measure error"/>
          <p:cNvSpPr txBox="1"/>
          <p:nvPr/>
        </p:nvSpPr>
        <p:spPr>
          <a:xfrm>
            <a:off x="9134475" y="1797062"/>
            <a:ext cx="2533650" cy="301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900">
                <a:solidFill>
                  <a:srgbClr val="62616A"/>
                </a:solidFill>
                <a:latin typeface="Chalkboard"/>
                <a:ea typeface="Chalkboard"/>
                <a:cs typeface="Chalkboard"/>
                <a:sym typeface="Chalkboard"/>
              </a:defRPr>
            </a:lvl1pPr>
          </a:lstStyle>
          <a:p>
            <a:pPr/>
            <a:r>
              <a:t>Measure error</a:t>
            </a:r>
          </a:p>
        </p:txBody>
      </p:sp>
      <p:sp>
        <p:nvSpPr>
          <p:cNvPr id="446" name="Line"/>
          <p:cNvSpPr/>
          <p:nvPr/>
        </p:nvSpPr>
        <p:spPr>
          <a:xfrm>
            <a:off x="10365061" y="3619500"/>
            <a:ext cx="15045" cy="8286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002" y="0"/>
                </a:moveTo>
                <a:lnTo>
                  <a:pt x="9201" y="1767"/>
                </a:lnTo>
                <a:lnTo>
                  <a:pt x="13531" y="3646"/>
                </a:lnTo>
                <a:lnTo>
                  <a:pt x="6190" y="5313"/>
                </a:lnTo>
                <a:lnTo>
                  <a:pt x="21600" y="7392"/>
                </a:lnTo>
                <a:lnTo>
                  <a:pt x="2382" y="8844"/>
                </a:lnTo>
                <a:lnTo>
                  <a:pt x="2902" y="10653"/>
                </a:lnTo>
                <a:lnTo>
                  <a:pt x="11921" y="12617"/>
                </a:lnTo>
                <a:lnTo>
                  <a:pt x="8106" y="14347"/>
                </a:lnTo>
                <a:lnTo>
                  <a:pt x="0" y="16000"/>
                </a:lnTo>
                <a:lnTo>
                  <a:pt x="8289" y="17951"/>
                </a:lnTo>
                <a:lnTo>
                  <a:pt x="5419" y="19699"/>
                </a:lnTo>
                <a:lnTo>
                  <a:pt x="11002" y="21600"/>
                </a:lnTo>
              </a:path>
            </a:pathLst>
          </a:custGeom>
          <a:ln w="20479">
            <a:solidFill>
              <a:srgbClr val="2A9D8F"/>
            </a:solidFill>
          </a:ln>
        </p:spPr>
        <p:txBody>
          <a:bodyPr lIns="0" tIns="0" rIns="0" bIns="0"/>
          <a:lstStyle/>
          <a:p>
            <a:pPr/>
          </a:p>
        </p:txBody>
      </p:sp>
      <p:sp>
        <p:nvSpPr>
          <p:cNvPr id="447" name="Line"/>
          <p:cNvSpPr/>
          <p:nvPr/>
        </p:nvSpPr>
        <p:spPr>
          <a:xfrm>
            <a:off x="10327151" y="4353831"/>
            <a:ext cx="91148" cy="9434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path>
            </a:pathLst>
          </a:custGeom>
          <a:ln w="20479">
            <a:solidFill>
              <a:srgbClr val="C65D4B"/>
            </a:solidFill>
            <a:prstDash val="dash"/>
          </a:ln>
        </p:spPr>
        <p:txBody>
          <a:bodyPr lIns="0" tIns="0" rIns="0" bIns="0"/>
          <a:lstStyle/>
          <a:p>
            <a:pPr/>
          </a:p>
        </p:txBody>
      </p:sp>
      <p:sp>
        <p:nvSpPr>
          <p:cNvPr id="448" name="Line"/>
          <p:cNvSpPr/>
          <p:nvPr/>
        </p:nvSpPr>
        <p:spPr>
          <a:xfrm>
            <a:off x="6696075" y="4716226"/>
            <a:ext cx="2905126" cy="1379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2802"/>
                </a:moveTo>
                <a:lnTo>
                  <a:pt x="19774" y="7289"/>
                </a:lnTo>
                <a:lnTo>
                  <a:pt x="18026" y="18245"/>
                </a:lnTo>
                <a:lnTo>
                  <a:pt x="16219" y="16756"/>
                </a:lnTo>
                <a:lnTo>
                  <a:pt x="14442" y="21600"/>
                </a:lnTo>
                <a:lnTo>
                  <a:pt x="12545" y="1298"/>
                </a:lnTo>
                <a:lnTo>
                  <a:pt x="10739" y="0"/>
                </a:lnTo>
                <a:lnTo>
                  <a:pt x="9005" y="13784"/>
                </a:lnTo>
                <a:lnTo>
                  <a:pt x="7169" y="6249"/>
                </a:lnTo>
                <a:lnTo>
                  <a:pt x="5351" y="2481"/>
                </a:lnTo>
                <a:lnTo>
                  <a:pt x="3614" y="15847"/>
                </a:lnTo>
                <a:lnTo>
                  <a:pt x="1774" y="7231"/>
                </a:lnTo>
                <a:lnTo>
                  <a:pt x="0" y="12802"/>
                </a:lnTo>
              </a:path>
            </a:pathLst>
          </a:custGeom>
          <a:ln w="20479">
            <a:solidFill>
              <a:srgbClr val="355070"/>
            </a:solidFill>
            <a:prstDash val="dashDot"/>
          </a:ln>
        </p:spPr>
        <p:txBody>
          <a:bodyPr lIns="0" tIns="0" rIns="0" bIns="0"/>
          <a:lstStyle/>
          <a:p>
            <a:pPr/>
          </a:p>
        </p:txBody>
      </p:sp>
      <p:sp>
        <p:nvSpPr>
          <p:cNvPr id="449" name="Line"/>
          <p:cNvSpPr/>
          <p:nvPr/>
        </p:nvSpPr>
        <p:spPr>
          <a:xfrm>
            <a:off x="6696075" y="467882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0" y="10800"/>
                </a:lnTo>
                <a:lnTo>
                  <a:pt x="21600" y="21600"/>
                </a:lnTo>
              </a:path>
            </a:pathLst>
          </a:custGeom>
          <a:ln w="20479">
            <a:solidFill>
              <a:srgbClr val="355070"/>
            </a:solidFill>
            <a:prstDash val="dashDot"/>
          </a:ln>
        </p:spPr>
        <p:txBody>
          <a:bodyPr lIns="0" tIns="0" rIns="0" bIns="0"/>
          <a:lstStyle/>
          <a:p>
            <a:pPr/>
          </a:p>
        </p:txBody>
      </p:sp>
      <p:sp>
        <p:nvSpPr>
          <p:cNvPr id="450" name="Backpropagate"/>
          <p:cNvSpPr txBox="1"/>
          <p:nvPr/>
        </p:nvSpPr>
        <p:spPr>
          <a:xfrm>
            <a:off x="7410450" y="4289521"/>
            <a:ext cx="2800350" cy="32683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rgbClr val="8E7052"/>
                </a:solidFill>
                <a:latin typeface="Chalkboard"/>
                <a:ea typeface="Chalkboard"/>
                <a:cs typeface="Chalkboard"/>
                <a:sym typeface="Chalkboard"/>
              </a:defRPr>
            </a:lvl1pPr>
          </a:lstStyle>
          <a:p>
            <a:pPr/>
            <a:r>
              <a:t>Backpropagate</a:t>
            </a:r>
          </a:p>
        </p:txBody>
      </p:sp>
      <p:sp>
        <p:nvSpPr>
          <p:cNvPr id="451" name="Update weights"/>
          <p:cNvSpPr txBox="1"/>
          <p:nvPr/>
        </p:nvSpPr>
        <p:spPr>
          <a:xfrm>
            <a:off x="3952875" y="4557977"/>
            <a:ext cx="2638425" cy="351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rgbClr val="424548"/>
                </a:solidFill>
                <a:latin typeface="Chalkboard"/>
                <a:ea typeface="Chalkboard"/>
                <a:cs typeface="Chalkboard"/>
                <a:sym typeface="Chalkboard"/>
              </a:defRPr>
            </a:lvl1pPr>
          </a:lstStyle>
          <a:p>
            <a:pPr/>
            <a:r>
              <a:t>Update weights</a:t>
            </a:r>
          </a:p>
        </p:txBody>
      </p:sp>
      <p:sp>
        <p:nvSpPr>
          <p:cNvPr id="452" name="Line"/>
          <p:cNvSpPr/>
          <p:nvPr/>
        </p:nvSpPr>
        <p:spPr>
          <a:xfrm>
            <a:off x="1581150" y="4718935"/>
            <a:ext cx="2238376" cy="127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9022"/>
                </a:moveTo>
                <a:lnTo>
                  <a:pt x="19786" y="6193"/>
                </a:lnTo>
                <a:lnTo>
                  <a:pt x="18060" y="21600"/>
                </a:lnTo>
                <a:lnTo>
                  <a:pt x="16207" y="10492"/>
                </a:lnTo>
                <a:lnTo>
                  <a:pt x="14460" y="21542"/>
                </a:lnTo>
                <a:lnTo>
                  <a:pt x="12557" y="0"/>
                </a:lnTo>
                <a:lnTo>
                  <a:pt x="10797" y="8434"/>
                </a:lnTo>
                <a:lnTo>
                  <a:pt x="9055" y="20387"/>
                </a:lnTo>
                <a:lnTo>
                  <a:pt x="7207" y="10524"/>
                </a:lnTo>
                <a:lnTo>
                  <a:pt x="5422" y="13642"/>
                </a:lnTo>
                <a:lnTo>
                  <a:pt x="3637" y="16630"/>
                </a:lnTo>
                <a:lnTo>
                  <a:pt x="1800" y="8974"/>
                </a:lnTo>
                <a:lnTo>
                  <a:pt x="0" y="9022"/>
                </a:lnTo>
              </a:path>
            </a:pathLst>
          </a:custGeom>
          <a:ln w="20479">
            <a:solidFill>
              <a:srgbClr val="7B6BA8"/>
            </a:solidFill>
          </a:ln>
        </p:spPr>
        <p:txBody>
          <a:bodyPr lIns="0" tIns="0" rIns="0" bIns="0"/>
          <a:lstStyle/>
          <a:p>
            <a:pPr/>
          </a:p>
        </p:txBody>
      </p:sp>
      <p:sp>
        <p:nvSpPr>
          <p:cNvPr id="453" name="Line"/>
          <p:cNvSpPr/>
          <p:nvPr/>
        </p:nvSpPr>
        <p:spPr>
          <a:xfrm>
            <a:off x="1581150" y="467882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0" y="10800"/>
                </a:lnTo>
                <a:lnTo>
                  <a:pt x="21600" y="21600"/>
                </a:lnTo>
              </a:path>
            </a:pathLst>
          </a:custGeom>
          <a:ln w="20479">
            <a:solidFill>
              <a:srgbClr val="7B6BA8"/>
            </a:solidFill>
          </a:ln>
        </p:spPr>
        <p:txBody>
          <a:bodyPr lIns="0" tIns="0" rIns="0" bIns="0"/>
          <a:lstStyle/>
          <a:p>
            <a:pPr/>
          </a:p>
        </p:txBody>
      </p:sp>
      <p:sp>
        <p:nvSpPr>
          <p:cNvPr id="454" name="Line"/>
          <p:cNvSpPr/>
          <p:nvPr/>
        </p:nvSpPr>
        <p:spPr>
          <a:xfrm>
            <a:off x="1572925" y="3619500"/>
            <a:ext cx="14696" cy="8001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2088" y="21600"/>
                </a:moveTo>
                <a:lnTo>
                  <a:pt x="17023" y="19891"/>
                </a:lnTo>
                <a:lnTo>
                  <a:pt x="5309" y="17875"/>
                </a:lnTo>
                <a:lnTo>
                  <a:pt x="19160" y="16330"/>
                </a:lnTo>
                <a:lnTo>
                  <a:pt x="1227" y="14201"/>
                </a:lnTo>
                <a:lnTo>
                  <a:pt x="4632" y="12463"/>
                </a:lnTo>
                <a:lnTo>
                  <a:pt x="6468" y="10697"/>
                </a:lnTo>
                <a:lnTo>
                  <a:pt x="0" y="8778"/>
                </a:lnTo>
                <a:lnTo>
                  <a:pt x="9791" y="7158"/>
                </a:lnTo>
                <a:lnTo>
                  <a:pt x="1211" y="5200"/>
                </a:lnTo>
                <a:lnTo>
                  <a:pt x="14274" y="3640"/>
                </a:lnTo>
                <a:lnTo>
                  <a:pt x="21600" y="1975"/>
                </a:lnTo>
                <a:lnTo>
                  <a:pt x="12088" y="0"/>
                </a:lnTo>
              </a:path>
            </a:pathLst>
          </a:custGeom>
          <a:ln w="20479">
            <a:solidFill>
              <a:srgbClr val="2A9D8F"/>
            </a:solidFill>
          </a:ln>
        </p:spPr>
        <p:txBody>
          <a:bodyPr lIns="0" tIns="0" rIns="0" bIns="0"/>
          <a:lstStyle/>
          <a:p>
            <a:pPr/>
          </a:p>
        </p:txBody>
      </p:sp>
      <p:sp>
        <p:nvSpPr>
          <p:cNvPr id="455" name="Line"/>
          <p:cNvSpPr/>
          <p:nvPr/>
        </p:nvSpPr>
        <p:spPr>
          <a:xfrm>
            <a:off x="1535576" y="3619500"/>
            <a:ext cx="91148" cy="9434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10800" y="0"/>
                </a:lnTo>
                <a:lnTo>
                  <a:pt x="0" y="21600"/>
                </a:lnTo>
              </a:path>
            </a:pathLst>
          </a:custGeom>
          <a:ln w="20479">
            <a:solidFill>
              <a:srgbClr val="2A9D8F"/>
            </a:solidFill>
          </a:ln>
        </p:spPr>
        <p:txBody>
          <a:bodyPr lIns="0" tIns="0" rIns="0" bIns="0"/>
          <a:lstStyle/>
          <a:p>
            <a:pPr/>
          </a:p>
        </p:txBody>
      </p:sp>
      <p:sp>
        <p:nvSpPr>
          <p:cNvPr id="456" name="w"/>
          <p:cNvSpPr txBox="1"/>
          <p:nvPr/>
        </p:nvSpPr>
        <p:spPr>
          <a:xfrm>
            <a:off x="3314700" y="5039663"/>
            <a:ext cx="381000" cy="46484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424548"/>
                </a:solidFill>
                <a:latin typeface="Chalkboard"/>
                <a:ea typeface="Chalkboard"/>
                <a:cs typeface="Chalkboard"/>
                <a:sym typeface="Chalkboard"/>
              </a:defRPr>
            </a:lvl1pPr>
          </a:lstStyle>
          <a:p>
            <a:pPr/>
            <a:r>
              <a:t>w</a:t>
            </a:r>
          </a:p>
        </p:txBody>
      </p:sp>
      <p:sp>
        <p:nvSpPr>
          <p:cNvPr id="457" name="new"/>
          <p:cNvSpPr txBox="1"/>
          <p:nvPr/>
        </p:nvSpPr>
        <p:spPr>
          <a:xfrm>
            <a:off x="3629025" y="5287722"/>
            <a:ext cx="609600" cy="26400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424548"/>
                </a:solidFill>
                <a:latin typeface="Chalkboard"/>
                <a:ea typeface="Chalkboard"/>
                <a:cs typeface="Chalkboard"/>
                <a:sym typeface="Chalkboard"/>
              </a:defRPr>
            </a:lvl1pPr>
          </a:lstStyle>
          <a:p>
            <a:pPr/>
            <a:r>
              <a:t>new</a:t>
            </a:r>
          </a:p>
        </p:txBody>
      </p:sp>
      <p:sp>
        <p:nvSpPr>
          <p:cNvPr id="458" name="="/>
          <p:cNvSpPr txBox="1"/>
          <p:nvPr/>
        </p:nvSpPr>
        <p:spPr>
          <a:xfrm>
            <a:off x="4343400" y="5052195"/>
            <a:ext cx="428625" cy="43978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424548"/>
                </a:solidFill>
                <a:latin typeface="Chalkboard"/>
                <a:ea typeface="Chalkboard"/>
                <a:cs typeface="Chalkboard"/>
                <a:sym typeface="Chalkboard"/>
              </a:defRPr>
            </a:lvl1pPr>
          </a:lstStyle>
          <a:p>
            <a:pPr/>
            <a:r>
              <a:t>=</a:t>
            </a:r>
          </a:p>
        </p:txBody>
      </p:sp>
      <p:sp>
        <p:nvSpPr>
          <p:cNvPr id="459" name="w"/>
          <p:cNvSpPr txBox="1"/>
          <p:nvPr/>
        </p:nvSpPr>
        <p:spPr>
          <a:xfrm>
            <a:off x="4981575" y="5039663"/>
            <a:ext cx="381000" cy="46484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424548"/>
                </a:solidFill>
                <a:latin typeface="Chalkboard"/>
                <a:ea typeface="Chalkboard"/>
                <a:cs typeface="Chalkboard"/>
                <a:sym typeface="Chalkboard"/>
              </a:defRPr>
            </a:lvl1pPr>
          </a:lstStyle>
          <a:p>
            <a:pPr/>
            <a:r>
              <a:t>w</a:t>
            </a:r>
          </a:p>
        </p:txBody>
      </p:sp>
      <p:sp>
        <p:nvSpPr>
          <p:cNvPr id="460" name="old"/>
          <p:cNvSpPr txBox="1"/>
          <p:nvPr/>
        </p:nvSpPr>
        <p:spPr>
          <a:xfrm>
            <a:off x="5314950" y="5287722"/>
            <a:ext cx="495300" cy="26400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424548"/>
                </a:solidFill>
                <a:latin typeface="Chalkboard"/>
                <a:ea typeface="Chalkboard"/>
                <a:cs typeface="Chalkboard"/>
                <a:sym typeface="Chalkboard"/>
              </a:defRPr>
            </a:lvl1pPr>
          </a:lstStyle>
          <a:p>
            <a:pPr/>
            <a:r>
              <a:t>old</a:t>
            </a:r>
          </a:p>
        </p:txBody>
      </p:sp>
      <p:sp>
        <p:nvSpPr>
          <p:cNvPr id="461" name="− η"/>
          <p:cNvSpPr txBox="1"/>
          <p:nvPr/>
        </p:nvSpPr>
        <p:spPr>
          <a:xfrm>
            <a:off x="6096000" y="4992687"/>
            <a:ext cx="1076325"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800">
                <a:solidFill>
                  <a:srgbClr val="424548"/>
                </a:solidFill>
                <a:latin typeface="Chalkboard"/>
                <a:ea typeface="Chalkboard"/>
                <a:cs typeface="Chalkboard"/>
                <a:sym typeface="Chalkboard"/>
              </a:defRPr>
            </a:lvl1pPr>
          </a:lstStyle>
          <a:p>
            <a:pPr/>
            <a:r>
              <a:t>− η</a:t>
            </a:r>
          </a:p>
        </p:txBody>
      </p:sp>
      <p:sp>
        <p:nvSpPr>
          <p:cNvPr id="462" name="∂L"/>
          <p:cNvSpPr txBox="1"/>
          <p:nvPr/>
        </p:nvSpPr>
        <p:spPr>
          <a:xfrm>
            <a:off x="7419975" y="4923355"/>
            <a:ext cx="942975" cy="40219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500">
                <a:solidFill>
                  <a:srgbClr val="424548"/>
                </a:solidFill>
                <a:latin typeface="Chalkboard"/>
                <a:ea typeface="Chalkboard"/>
                <a:cs typeface="Chalkboard"/>
                <a:sym typeface="Chalkboard"/>
              </a:defRPr>
            </a:lvl1pPr>
          </a:lstStyle>
          <a:p>
            <a:pPr/>
            <a:r>
              <a:t>∂L</a:t>
            </a:r>
          </a:p>
        </p:txBody>
      </p:sp>
      <p:sp>
        <p:nvSpPr>
          <p:cNvPr id="463" name="Line"/>
          <p:cNvSpPr/>
          <p:nvPr/>
        </p:nvSpPr>
        <p:spPr>
          <a:xfrm>
            <a:off x="7419975" y="5314949"/>
            <a:ext cx="942976" cy="1"/>
          </a:xfrm>
          <a:prstGeom prst="line">
            <a:avLst/>
          </a:prstGeom>
          <a:ln w="20479">
            <a:solidFill>
              <a:srgbClr val="C65D4B"/>
            </a:solidFill>
            <a:prstDash val="dash"/>
          </a:ln>
        </p:spPr>
        <p:txBody>
          <a:bodyPr lIns="0" tIns="0" rIns="0" bIns="0"/>
          <a:lstStyle/>
          <a:p>
            <a:pPr/>
          </a:p>
        </p:txBody>
      </p:sp>
      <p:sp>
        <p:nvSpPr>
          <p:cNvPr id="464" name="∂w"/>
          <p:cNvSpPr txBox="1"/>
          <p:nvPr/>
        </p:nvSpPr>
        <p:spPr>
          <a:xfrm>
            <a:off x="7419975" y="5323405"/>
            <a:ext cx="942975" cy="40219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500">
                <a:solidFill>
                  <a:srgbClr val="424548"/>
                </a:solidFill>
                <a:latin typeface="Chalkboard"/>
                <a:ea typeface="Chalkboard"/>
                <a:cs typeface="Chalkboard"/>
                <a:sym typeface="Chalkboard"/>
              </a:defRPr>
            </a:lvl1pPr>
          </a:lstStyle>
          <a:p>
            <a:pPr/>
            <a:r>
              <a:t>∂w</a:t>
            </a:r>
          </a:p>
        </p:txBody>
      </p:sp>
      <p:sp>
        <p:nvSpPr>
          <p:cNvPr id="465" name="Repeat over labeled emails. Backpropagation computes gradients; gradient descent uses them."/>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Repeat over labeled emails. Backpropagation computes gradients; gradient descent uses them.</a:t>
            </a:r>
          </a:p>
        </p:txBody>
      </p:sp>
      <p:sp>
        <p:nvSpPr>
          <p:cNvPr id="466"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467"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471"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472"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473" name="Examples teach shared patterns"/>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Examples teach shared patterns</a:t>
            </a:r>
          </a:p>
        </p:txBody>
      </p:sp>
      <p:sp>
        <p:nvSpPr>
          <p:cNvPr id="474" name="The same learned weights process both training emails and new emails."/>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The same learned weights process both training emails and new emails.</a:t>
            </a:r>
          </a:p>
        </p:txBody>
      </p:sp>
      <p:sp>
        <p:nvSpPr>
          <p:cNvPr id="475" name="14"/>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14</a:t>
            </a:r>
          </a:p>
        </p:txBody>
      </p:sp>
      <p:sp>
        <p:nvSpPr>
          <p:cNvPr id="476" name="“FREE prize!!! Click now”"/>
          <p:cNvSpPr txBox="1"/>
          <p:nvPr/>
        </p:nvSpPr>
        <p:spPr>
          <a:xfrm>
            <a:off x="647700" y="2222428"/>
            <a:ext cx="4524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“FREE prize!!! Click now”</a:t>
            </a:r>
          </a:p>
        </p:txBody>
      </p:sp>
      <p:sp>
        <p:nvSpPr>
          <p:cNvPr id="477" name="Spam"/>
          <p:cNvSpPr txBox="1"/>
          <p:nvPr/>
        </p:nvSpPr>
        <p:spPr>
          <a:xfrm>
            <a:off x="5143500" y="2222428"/>
            <a:ext cx="1476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8E7052"/>
                </a:solidFill>
                <a:latin typeface="Chalkboard"/>
                <a:ea typeface="Chalkboard"/>
                <a:cs typeface="Chalkboard"/>
                <a:sym typeface="Chalkboard"/>
              </a:defRPr>
            </a:lvl1pPr>
          </a:lstStyle>
          <a:p>
            <a:pPr/>
            <a:r>
              <a:t>Spam</a:t>
            </a:r>
          </a:p>
        </p:txBody>
      </p:sp>
      <p:sp>
        <p:nvSpPr>
          <p:cNvPr id="478" name="“You won $10,000”"/>
          <p:cNvSpPr txBox="1"/>
          <p:nvPr/>
        </p:nvSpPr>
        <p:spPr>
          <a:xfrm>
            <a:off x="647700" y="2812978"/>
            <a:ext cx="4524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“You won $10,000”</a:t>
            </a:r>
          </a:p>
        </p:txBody>
      </p:sp>
      <p:sp>
        <p:nvSpPr>
          <p:cNvPr id="479" name="Spam"/>
          <p:cNvSpPr txBox="1"/>
          <p:nvPr/>
        </p:nvSpPr>
        <p:spPr>
          <a:xfrm>
            <a:off x="5143500" y="2812978"/>
            <a:ext cx="1476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8E7052"/>
                </a:solidFill>
                <a:latin typeface="Chalkboard"/>
                <a:ea typeface="Chalkboard"/>
                <a:cs typeface="Chalkboard"/>
                <a:sym typeface="Chalkboard"/>
              </a:defRPr>
            </a:lvl1pPr>
          </a:lstStyle>
          <a:p>
            <a:pPr/>
            <a:r>
              <a:t>Spam</a:t>
            </a:r>
          </a:p>
        </p:txBody>
      </p:sp>
      <p:sp>
        <p:nvSpPr>
          <p:cNvPr id="480" name="“Verify your account here”"/>
          <p:cNvSpPr txBox="1"/>
          <p:nvPr/>
        </p:nvSpPr>
        <p:spPr>
          <a:xfrm>
            <a:off x="647700" y="3403528"/>
            <a:ext cx="4524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“Verify your account here”</a:t>
            </a:r>
          </a:p>
        </p:txBody>
      </p:sp>
      <p:sp>
        <p:nvSpPr>
          <p:cNvPr id="481" name="Spam"/>
          <p:cNvSpPr txBox="1"/>
          <p:nvPr/>
        </p:nvSpPr>
        <p:spPr>
          <a:xfrm>
            <a:off x="5143500" y="3403528"/>
            <a:ext cx="1476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8E7052"/>
                </a:solidFill>
                <a:latin typeface="Chalkboard"/>
                <a:ea typeface="Chalkboard"/>
                <a:cs typeface="Chalkboard"/>
                <a:sym typeface="Chalkboard"/>
              </a:defRPr>
            </a:lvl1pPr>
          </a:lstStyle>
          <a:p>
            <a:pPr/>
            <a:r>
              <a:t>Spam</a:t>
            </a:r>
          </a:p>
        </p:txBody>
      </p:sp>
      <p:sp>
        <p:nvSpPr>
          <p:cNvPr id="482" name="“Meeting moved to 3 PM”"/>
          <p:cNvSpPr txBox="1"/>
          <p:nvPr/>
        </p:nvSpPr>
        <p:spPr>
          <a:xfrm>
            <a:off x="647700" y="3994078"/>
            <a:ext cx="4524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“Meeting moved to 3 PM”</a:t>
            </a:r>
          </a:p>
        </p:txBody>
      </p:sp>
      <p:sp>
        <p:nvSpPr>
          <p:cNvPr id="483" name="Not Spam"/>
          <p:cNvSpPr txBox="1"/>
          <p:nvPr/>
        </p:nvSpPr>
        <p:spPr>
          <a:xfrm>
            <a:off x="5143500" y="3994078"/>
            <a:ext cx="1476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424548"/>
                </a:solidFill>
                <a:latin typeface="Chalkboard"/>
                <a:ea typeface="Chalkboard"/>
                <a:cs typeface="Chalkboard"/>
                <a:sym typeface="Chalkboard"/>
              </a:defRPr>
            </a:lvl1pPr>
          </a:lstStyle>
          <a:p>
            <a:pPr/>
            <a:r>
              <a:t>Not Spam</a:t>
            </a:r>
          </a:p>
        </p:txBody>
      </p:sp>
      <p:sp>
        <p:nvSpPr>
          <p:cNvPr id="484" name="“Here is the report”"/>
          <p:cNvSpPr txBox="1"/>
          <p:nvPr/>
        </p:nvSpPr>
        <p:spPr>
          <a:xfrm>
            <a:off x="647700" y="4584628"/>
            <a:ext cx="4524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“Here is the report”</a:t>
            </a:r>
          </a:p>
        </p:txBody>
      </p:sp>
      <p:sp>
        <p:nvSpPr>
          <p:cNvPr id="485" name="Not Spam"/>
          <p:cNvSpPr txBox="1"/>
          <p:nvPr/>
        </p:nvSpPr>
        <p:spPr>
          <a:xfrm>
            <a:off x="5143500" y="4584628"/>
            <a:ext cx="1476375" cy="2890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424548"/>
                </a:solidFill>
                <a:latin typeface="Chalkboard"/>
                <a:ea typeface="Chalkboard"/>
                <a:cs typeface="Chalkboard"/>
                <a:sym typeface="Chalkboard"/>
              </a:defRPr>
            </a:lvl1pPr>
          </a:lstStyle>
          <a:p>
            <a:pPr/>
            <a:r>
              <a:t>Not Spam</a:t>
            </a:r>
          </a:p>
        </p:txBody>
      </p:sp>
      <p:sp>
        <p:nvSpPr>
          <p:cNvPr id="486" name="Line"/>
          <p:cNvSpPr/>
          <p:nvPr/>
        </p:nvSpPr>
        <p:spPr>
          <a:xfrm>
            <a:off x="6667500" y="3548753"/>
            <a:ext cx="1028701" cy="127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6835"/>
                </a:moveTo>
                <a:lnTo>
                  <a:pt x="1978" y="21600"/>
                </a:lnTo>
                <a:lnTo>
                  <a:pt x="3723" y="17060"/>
                </a:lnTo>
                <a:lnTo>
                  <a:pt x="5572" y="21068"/>
                </a:lnTo>
                <a:lnTo>
                  <a:pt x="7320" y="16745"/>
                </a:lnTo>
                <a:lnTo>
                  <a:pt x="8946" y="2399"/>
                </a:lnTo>
                <a:lnTo>
                  <a:pt x="10829" y="9201"/>
                </a:lnTo>
                <a:lnTo>
                  <a:pt x="12705" y="15505"/>
                </a:lnTo>
                <a:lnTo>
                  <a:pt x="14474" y="12940"/>
                </a:lnTo>
                <a:lnTo>
                  <a:pt x="16162" y="3684"/>
                </a:lnTo>
                <a:lnTo>
                  <a:pt x="17918" y="0"/>
                </a:lnTo>
                <a:lnTo>
                  <a:pt x="19931" y="17704"/>
                </a:lnTo>
                <a:lnTo>
                  <a:pt x="21600" y="6835"/>
                </a:lnTo>
              </a:path>
            </a:pathLst>
          </a:custGeom>
          <a:ln w="20479">
            <a:solidFill>
              <a:srgbClr val="355070"/>
            </a:solidFill>
          </a:ln>
        </p:spPr>
        <p:txBody>
          <a:bodyPr lIns="0" tIns="0" rIns="0" bIns="0"/>
          <a:lstStyle/>
          <a:p>
            <a:pPr/>
          </a:p>
        </p:txBody>
      </p:sp>
      <p:sp>
        <p:nvSpPr>
          <p:cNvPr id="487" name="Line"/>
          <p:cNvSpPr/>
          <p:nvPr/>
        </p:nvSpPr>
        <p:spPr>
          <a:xfrm>
            <a:off x="7601856" y="3507251"/>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C65D4B"/>
            </a:solidFill>
          </a:ln>
        </p:spPr>
        <p:txBody>
          <a:bodyPr lIns="0" tIns="0" rIns="0" bIns="0"/>
          <a:lstStyle/>
          <a:p>
            <a:pPr/>
          </a:p>
        </p:txBody>
      </p:sp>
      <p:sp>
        <p:nvSpPr>
          <p:cNvPr id="488" name="Line"/>
          <p:cNvSpPr/>
          <p:nvPr/>
        </p:nvSpPr>
        <p:spPr>
          <a:xfrm>
            <a:off x="8252842" y="2807485"/>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94" y="2187"/>
                </a:lnTo>
                <a:lnTo>
                  <a:pt x="3728" y="4127"/>
                </a:lnTo>
                <a:lnTo>
                  <a:pt x="5192" y="4544"/>
                </a:lnTo>
                <a:lnTo>
                  <a:pt x="7257" y="7433"/>
                </a:lnTo>
                <a:lnTo>
                  <a:pt x="8933" y="8726"/>
                </a:lnTo>
                <a:lnTo>
                  <a:pt x="10794" y="10774"/>
                </a:lnTo>
                <a:lnTo>
                  <a:pt x="12561" y="12439"/>
                </a:lnTo>
                <a:lnTo>
                  <a:pt x="14420" y="14481"/>
                </a:lnTo>
                <a:lnTo>
                  <a:pt x="15973" y="15263"/>
                </a:lnTo>
                <a:lnTo>
                  <a:pt x="18078" y="18322"/>
                </a:lnTo>
                <a:lnTo>
                  <a:pt x="19811" y="19847"/>
                </a:lnTo>
                <a:lnTo>
                  <a:pt x="21600" y="21600"/>
                </a:lnTo>
              </a:path>
            </a:pathLst>
          </a:custGeom>
          <a:solidFill>
            <a:srgbClr val="DFF4EA"/>
          </a:solidFill>
          <a:ln w="22384">
            <a:solidFill>
              <a:srgbClr val="2A9D8F"/>
            </a:solidFill>
          </a:ln>
        </p:spPr>
        <p:txBody>
          <a:bodyPr lIns="0" tIns="0" rIns="0" bIns="0"/>
          <a:lstStyle/>
          <a:p>
            <a:pPr/>
          </a:p>
        </p:txBody>
      </p:sp>
      <p:sp>
        <p:nvSpPr>
          <p:cNvPr id="489" name="Line"/>
          <p:cNvSpPr/>
          <p:nvPr/>
        </p:nvSpPr>
        <p:spPr>
          <a:xfrm>
            <a:off x="8228103" y="2860882"/>
            <a:ext cx="749120" cy="5456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571" y="1486"/>
                </a:lnTo>
                <a:lnTo>
                  <a:pt x="3847" y="3939"/>
                </a:lnTo>
                <a:lnTo>
                  <a:pt x="5616" y="5696"/>
                </a:lnTo>
                <a:lnTo>
                  <a:pt x="6986" y="6906"/>
                </a:lnTo>
                <a:lnTo>
                  <a:pt x="9110" y="9151"/>
                </a:lnTo>
                <a:lnTo>
                  <a:pt x="11026" y="11110"/>
                </a:lnTo>
                <a:lnTo>
                  <a:pt x="12494" y="12454"/>
                </a:lnTo>
                <a:lnTo>
                  <a:pt x="14211" y="14141"/>
                </a:lnTo>
                <a:lnTo>
                  <a:pt x="16385" y="16454"/>
                </a:lnTo>
                <a:lnTo>
                  <a:pt x="18028" y="18038"/>
                </a:lnTo>
                <a:lnTo>
                  <a:pt x="19928" y="19976"/>
                </a:lnTo>
                <a:lnTo>
                  <a:pt x="21600" y="21600"/>
                </a:lnTo>
              </a:path>
            </a:pathLst>
          </a:custGeom>
          <a:solidFill>
            <a:srgbClr val="DFF4EA"/>
          </a:solidFill>
          <a:ln w="22384">
            <a:solidFill>
              <a:srgbClr val="2A9D8F"/>
            </a:solidFill>
          </a:ln>
        </p:spPr>
        <p:txBody>
          <a:bodyPr lIns="0" tIns="0" rIns="0" bIns="0"/>
          <a:lstStyle/>
          <a:p>
            <a:pPr/>
          </a:p>
        </p:txBody>
      </p:sp>
      <p:sp>
        <p:nvSpPr>
          <p:cNvPr id="490" name="Line"/>
          <p:cNvSpPr/>
          <p:nvPr/>
        </p:nvSpPr>
        <p:spPr>
          <a:xfrm rot="42000">
            <a:off x="8201994" y="2888590"/>
            <a:ext cx="801336" cy="97286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640" y="1668"/>
                </a:lnTo>
                <a:lnTo>
                  <a:pt x="3777" y="3745"/>
                </a:lnTo>
                <a:lnTo>
                  <a:pt x="5423" y="5419"/>
                </a:lnTo>
                <a:lnTo>
                  <a:pt x="7150" y="7159"/>
                </a:lnTo>
                <a:lnTo>
                  <a:pt x="8819" y="8851"/>
                </a:lnTo>
                <a:lnTo>
                  <a:pt x="10570" y="10611"/>
                </a:lnTo>
                <a:lnTo>
                  <a:pt x="12582" y="12585"/>
                </a:lnTo>
                <a:lnTo>
                  <a:pt x="14245" y="14272"/>
                </a:lnTo>
                <a:lnTo>
                  <a:pt x="15996" y="16032"/>
                </a:lnTo>
                <a:lnTo>
                  <a:pt x="18200" y="18165"/>
                </a:lnTo>
                <a:lnTo>
                  <a:pt x="19614" y="19647"/>
                </a:lnTo>
                <a:lnTo>
                  <a:pt x="21600" y="21600"/>
                </a:lnTo>
              </a:path>
            </a:pathLst>
          </a:custGeom>
          <a:solidFill>
            <a:srgbClr val="FADADD"/>
          </a:solidFill>
          <a:ln w="22384">
            <a:solidFill>
              <a:srgbClr val="C65D4B"/>
            </a:solidFill>
          </a:ln>
        </p:spPr>
        <p:txBody>
          <a:bodyPr lIns="0" tIns="0" rIns="0" bIns="0"/>
          <a:lstStyle/>
          <a:p>
            <a:pPr/>
          </a:p>
        </p:txBody>
      </p:sp>
      <p:sp>
        <p:nvSpPr>
          <p:cNvPr id="491" name="Line"/>
          <p:cNvSpPr/>
          <p:nvPr/>
        </p:nvSpPr>
        <p:spPr>
          <a:xfrm>
            <a:off x="8252842" y="3048785"/>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569" y="18849"/>
                </a:lnTo>
                <a:lnTo>
                  <a:pt x="3565" y="17857"/>
                </a:lnTo>
                <a:lnTo>
                  <a:pt x="5178" y="15287"/>
                </a:lnTo>
                <a:lnTo>
                  <a:pt x="7359" y="15056"/>
                </a:lnTo>
                <a:lnTo>
                  <a:pt x="8869" y="12059"/>
                </a:lnTo>
                <a:lnTo>
                  <a:pt x="10551" y="9776"/>
                </a:lnTo>
                <a:lnTo>
                  <a:pt x="12650" y="9208"/>
                </a:lnTo>
                <a:lnTo>
                  <a:pt x="14553" y="7829"/>
                </a:lnTo>
                <a:lnTo>
                  <a:pt x="16371" y="6103"/>
                </a:lnTo>
                <a:lnTo>
                  <a:pt x="18134" y="4152"/>
                </a:lnTo>
                <a:lnTo>
                  <a:pt x="19682" y="1315"/>
                </a:lnTo>
                <a:lnTo>
                  <a:pt x="21600" y="0"/>
                </a:lnTo>
              </a:path>
            </a:pathLst>
          </a:custGeom>
          <a:solidFill>
            <a:srgbClr val="FADADD"/>
          </a:solidFill>
          <a:ln w="22384">
            <a:solidFill>
              <a:srgbClr val="C65D4B"/>
            </a:solidFill>
          </a:ln>
        </p:spPr>
        <p:txBody>
          <a:bodyPr lIns="0" tIns="0" rIns="0" bIns="0"/>
          <a:lstStyle/>
          <a:p>
            <a:pPr/>
          </a:p>
        </p:txBody>
      </p:sp>
      <p:sp>
        <p:nvSpPr>
          <p:cNvPr id="492" name="Line"/>
          <p:cNvSpPr/>
          <p:nvPr/>
        </p:nvSpPr>
        <p:spPr>
          <a:xfrm>
            <a:off x="8252842" y="32900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968" y="2491"/>
                </a:lnTo>
                <a:lnTo>
                  <a:pt x="3664" y="3864"/>
                </a:lnTo>
                <a:lnTo>
                  <a:pt x="5255" y="4803"/>
                </a:lnTo>
                <a:lnTo>
                  <a:pt x="7459" y="8266"/>
                </a:lnTo>
                <a:lnTo>
                  <a:pt x="9234" y="9963"/>
                </a:lnTo>
                <a:lnTo>
                  <a:pt x="10727" y="10499"/>
                </a:lnTo>
                <a:lnTo>
                  <a:pt x="12393" y="11749"/>
                </a:lnTo>
                <a:lnTo>
                  <a:pt x="14540" y="14976"/>
                </a:lnTo>
                <a:lnTo>
                  <a:pt x="16370" y="16899"/>
                </a:lnTo>
                <a:lnTo>
                  <a:pt x="18147" y="18607"/>
                </a:lnTo>
                <a:lnTo>
                  <a:pt x="19839" y="19962"/>
                </a:lnTo>
                <a:lnTo>
                  <a:pt x="21600" y="21600"/>
                </a:lnTo>
              </a:path>
            </a:pathLst>
          </a:custGeom>
          <a:solidFill>
            <a:srgbClr val="FADADD"/>
          </a:solidFill>
          <a:ln w="22384">
            <a:solidFill>
              <a:srgbClr val="C65D4B"/>
            </a:solidFill>
          </a:ln>
        </p:spPr>
        <p:txBody>
          <a:bodyPr lIns="0" tIns="0" rIns="0" bIns="0"/>
          <a:lstStyle/>
          <a:p>
            <a:pPr/>
          </a:p>
        </p:txBody>
      </p:sp>
      <p:sp>
        <p:nvSpPr>
          <p:cNvPr id="493" name="Line"/>
          <p:cNvSpPr/>
          <p:nvPr/>
        </p:nvSpPr>
        <p:spPr>
          <a:xfrm rot="42000">
            <a:off x="8228103" y="3343483"/>
            <a:ext cx="749120" cy="5456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561" y="1472"/>
                </a:lnTo>
                <a:lnTo>
                  <a:pt x="3607" y="3610"/>
                </a:lnTo>
                <a:lnTo>
                  <a:pt x="5184" y="5104"/>
                </a:lnTo>
                <a:lnTo>
                  <a:pt x="6958" y="6868"/>
                </a:lnTo>
                <a:lnTo>
                  <a:pt x="9096" y="9131"/>
                </a:lnTo>
                <a:lnTo>
                  <a:pt x="10918" y="10963"/>
                </a:lnTo>
                <a:lnTo>
                  <a:pt x="12449" y="12393"/>
                </a:lnTo>
                <a:lnTo>
                  <a:pt x="14628" y="14714"/>
                </a:lnTo>
                <a:lnTo>
                  <a:pt x="16253" y="16273"/>
                </a:lnTo>
                <a:lnTo>
                  <a:pt x="18203" y="18278"/>
                </a:lnTo>
                <a:lnTo>
                  <a:pt x="19823" y="19831"/>
                </a:lnTo>
                <a:lnTo>
                  <a:pt x="21600" y="21600"/>
                </a:lnTo>
              </a:path>
            </a:pathLst>
          </a:custGeom>
          <a:solidFill>
            <a:srgbClr val="FADADD"/>
          </a:solidFill>
          <a:ln w="22384">
            <a:solidFill>
              <a:srgbClr val="C65D4B"/>
            </a:solidFill>
          </a:ln>
        </p:spPr>
        <p:txBody>
          <a:bodyPr lIns="0" tIns="0" rIns="0" bIns="0"/>
          <a:lstStyle/>
          <a:p>
            <a:pPr/>
          </a:p>
        </p:txBody>
      </p:sp>
      <p:sp>
        <p:nvSpPr>
          <p:cNvPr id="494" name="Line"/>
          <p:cNvSpPr/>
          <p:nvPr/>
        </p:nvSpPr>
        <p:spPr>
          <a:xfrm rot="42000">
            <a:off x="8228103" y="3102182"/>
            <a:ext cx="749120" cy="5456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56" y="19877"/>
                </a:lnTo>
                <a:lnTo>
                  <a:pt x="3817" y="18298"/>
                </a:lnTo>
                <a:lnTo>
                  <a:pt x="5552" y="16409"/>
                </a:lnTo>
                <a:lnTo>
                  <a:pt x="7208" y="14411"/>
                </a:lnTo>
                <a:lnTo>
                  <a:pt x="8941" y="12519"/>
                </a:lnTo>
                <a:lnTo>
                  <a:pt x="10946" y="11000"/>
                </a:lnTo>
                <a:lnTo>
                  <a:pt x="12668" y="9093"/>
                </a:lnTo>
                <a:lnTo>
                  <a:pt x="14210" y="6940"/>
                </a:lnTo>
                <a:lnTo>
                  <a:pt x="16085" y="5242"/>
                </a:lnTo>
                <a:lnTo>
                  <a:pt x="18164" y="3825"/>
                </a:lnTo>
                <a:lnTo>
                  <a:pt x="19861" y="1884"/>
                </a:lnTo>
                <a:lnTo>
                  <a:pt x="21600" y="0"/>
                </a:lnTo>
              </a:path>
            </a:pathLst>
          </a:custGeom>
          <a:solidFill>
            <a:srgbClr val="FADADD"/>
          </a:solidFill>
          <a:ln w="22384">
            <a:solidFill>
              <a:srgbClr val="C65D4B"/>
            </a:solidFill>
          </a:ln>
        </p:spPr>
        <p:txBody>
          <a:bodyPr lIns="0" tIns="0" rIns="0" bIns="0"/>
          <a:lstStyle/>
          <a:p>
            <a:pPr/>
          </a:p>
        </p:txBody>
      </p:sp>
      <p:sp>
        <p:nvSpPr>
          <p:cNvPr id="495" name="Line"/>
          <p:cNvSpPr/>
          <p:nvPr/>
        </p:nvSpPr>
        <p:spPr>
          <a:xfrm>
            <a:off x="8252842" y="35313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00" y="19801"/>
                </a:lnTo>
                <a:lnTo>
                  <a:pt x="3713" y="18464"/>
                </a:lnTo>
                <a:lnTo>
                  <a:pt x="5143" y="15142"/>
                </a:lnTo>
                <a:lnTo>
                  <a:pt x="6936" y="13312"/>
                </a:lnTo>
                <a:lnTo>
                  <a:pt x="9206" y="13447"/>
                </a:lnTo>
                <a:lnTo>
                  <a:pt x="10818" y="10874"/>
                </a:lnTo>
                <a:lnTo>
                  <a:pt x="12830" y="9947"/>
                </a:lnTo>
                <a:lnTo>
                  <a:pt x="14334" y="6929"/>
                </a:lnTo>
                <a:lnTo>
                  <a:pt x="16259" y="5642"/>
                </a:lnTo>
                <a:lnTo>
                  <a:pt x="17995" y="3581"/>
                </a:lnTo>
                <a:lnTo>
                  <a:pt x="19973" y="2512"/>
                </a:lnTo>
                <a:lnTo>
                  <a:pt x="21600" y="0"/>
                </a:lnTo>
              </a:path>
            </a:pathLst>
          </a:custGeom>
          <a:solidFill>
            <a:srgbClr val="ECE4F7"/>
          </a:solidFill>
          <a:ln w="22384">
            <a:solidFill>
              <a:srgbClr val="7B6BA8"/>
            </a:solidFill>
          </a:ln>
        </p:spPr>
        <p:txBody>
          <a:bodyPr lIns="0" tIns="0" rIns="0" bIns="0"/>
          <a:lstStyle/>
          <a:p>
            <a:pPr/>
          </a:p>
        </p:txBody>
      </p:sp>
      <p:sp>
        <p:nvSpPr>
          <p:cNvPr id="496" name="Line"/>
          <p:cNvSpPr/>
          <p:nvPr/>
        </p:nvSpPr>
        <p:spPr>
          <a:xfrm>
            <a:off x="8252842" y="37726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682" y="1315"/>
                </a:lnTo>
                <a:lnTo>
                  <a:pt x="3436" y="2924"/>
                </a:lnTo>
                <a:lnTo>
                  <a:pt x="5250" y="4781"/>
                </a:lnTo>
                <a:lnTo>
                  <a:pt x="7124" y="6889"/>
                </a:lnTo>
                <a:lnTo>
                  <a:pt x="8837" y="8329"/>
                </a:lnTo>
                <a:lnTo>
                  <a:pt x="10550" y="9770"/>
                </a:lnTo>
                <a:lnTo>
                  <a:pt x="12814" y="13482"/>
                </a:lnTo>
                <a:lnTo>
                  <a:pt x="14387" y="14348"/>
                </a:lnTo>
                <a:lnTo>
                  <a:pt x="16334" y="16753"/>
                </a:lnTo>
                <a:lnTo>
                  <a:pt x="18023" y="18096"/>
                </a:lnTo>
                <a:lnTo>
                  <a:pt x="19798" y="19792"/>
                </a:lnTo>
                <a:lnTo>
                  <a:pt x="21600" y="21600"/>
                </a:lnTo>
              </a:path>
            </a:pathLst>
          </a:custGeom>
          <a:solidFill>
            <a:srgbClr val="ECE4F7"/>
          </a:solidFill>
          <a:ln w="22384">
            <a:solidFill>
              <a:srgbClr val="7B6BA8"/>
            </a:solidFill>
          </a:ln>
        </p:spPr>
        <p:txBody>
          <a:bodyPr lIns="0" tIns="0" rIns="0" bIns="0"/>
          <a:lstStyle/>
          <a:p>
            <a:pPr/>
          </a:p>
        </p:txBody>
      </p:sp>
      <p:sp>
        <p:nvSpPr>
          <p:cNvPr id="497" name="Line"/>
          <p:cNvSpPr/>
          <p:nvPr/>
        </p:nvSpPr>
        <p:spPr>
          <a:xfrm rot="42000">
            <a:off x="8201994" y="3129890"/>
            <a:ext cx="801336" cy="97286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582" y="19620"/>
                </a:lnTo>
                <a:lnTo>
                  <a:pt x="3769" y="18139"/>
                </a:lnTo>
                <a:lnTo>
                  <a:pt x="5438" y="16231"/>
                </a:lnTo>
                <a:lnTo>
                  <a:pt x="7103" y="14320"/>
                </a:lnTo>
                <a:lnTo>
                  <a:pt x="8842" y="12470"/>
                </a:lnTo>
                <a:lnTo>
                  <a:pt x="10895" y="10879"/>
                </a:lnTo>
                <a:lnTo>
                  <a:pt x="12449" y="8876"/>
                </a:lnTo>
                <a:lnTo>
                  <a:pt x="14512" y="7292"/>
                </a:lnTo>
                <a:lnTo>
                  <a:pt x="16086" y="5306"/>
                </a:lnTo>
                <a:lnTo>
                  <a:pt x="17866" y="3490"/>
                </a:lnTo>
                <a:lnTo>
                  <a:pt x="19752" y="1761"/>
                </a:lnTo>
                <a:lnTo>
                  <a:pt x="21600" y="0"/>
                </a:lnTo>
              </a:path>
            </a:pathLst>
          </a:custGeom>
          <a:solidFill>
            <a:srgbClr val="FADADD"/>
          </a:solidFill>
          <a:ln w="22384">
            <a:solidFill>
              <a:srgbClr val="C65D4B"/>
            </a:solidFill>
          </a:ln>
        </p:spPr>
        <p:txBody>
          <a:bodyPr lIns="0" tIns="0" rIns="0" bIns="0"/>
          <a:lstStyle/>
          <a:p>
            <a:pPr/>
          </a:p>
        </p:txBody>
      </p:sp>
      <p:sp>
        <p:nvSpPr>
          <p:cNvPr id="498" name="Line"/>
          <p:cNvSpPr/>
          <p:nvPr/>
        </p:nvSpPr>
        <p:spPr>
          <a:xfrm rot="21557999">
            <a:off x="8228103" y="3584783"/>
            <a:ext cx="749120" cy="5456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993" y="20065"/>
                </a:lnTo>
                <a:lnTo>
                  <a:pt x="3802" y="18277"/>
                </a:lnTo>
                <a:lnTo>
                  <a:pt x="5611" y="16490"/>
                </a:lnTo>
                <a:lnTo>
                  <a:pt x="7343" y="14596"/>
                </a:lnTo>
                <a:lnTo>
                  <a:pt x="8911" y="12478"/>
                </a:lnTo>
                <a:lnTo>
                  <a:pt x="10763" y="10749"/>
                </a:lnTo>
                <a:lnTo>
                  <a:pt x="12538" y="8915"/>
                </a:lnTo>
                <a:lnTo>
                  <a:pt x="14309" y="7075"/>
                </a:lnTo>
                <a:lnTo>
                  <a:pt x="16393" y="5665"/>
                </a:lnTo>
                <a:lnTo>
                  <a:pt x="17863" y="3412"/>
                </a:lnTo>
                <a:lnTo>
                  <a:pt x="19834" y="1846"/>
                </a:lnTo>
                <a:lnTo>
                  <a:pt x="21600" y="0"/>
                </a:lnTo>
              </a:path>
            </a:pathLst>
          </a:custGeom>
          <a:solidFill>
            <a:srgbClr val="ECE4F7"/>
          </a:solidFill>
          <a:ln w="22384">
            <a:solidFill>
              <a:srgbClr val="7B6BA8"/>
            </a:solidFill>
          </a:ln>
        </p:spPr>
        <p:txBody>
          <a:bodyPr lIns="0" tIns="0" rIns="0" bIns="0"/>
          <a:lstStyle/>
          <a:p>
            <a:pPr/>
          </a:p>
        </p:txBody>
      </p:sp>
      <p:sp>
        <p:nvSpPr>
          <p:cNvPr id="499" name="Line"/>
          <p:cNvSpPr/>
          <p:nvPr/>
        </p:nvSpPr>
        <p:spPr>
          <a:xfrm>
            <a:off x="8252842" y="40139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47" y="19995"/>
                </a:lnTo>
                <a:lnTo>
                  <a:pt x="3617" y="18070"/>
                </a:lnTo>
                <a:lnTo>
                  <a:pt x="5511" y="16659"/>
                </a:lnTo>
                <a:lnTo>
                  <a:pt x="7170" y="14275"/>
                </a:lnTo>
                <a:lnTo>
                  <a:pt x="8848" y="11975"/>
                </a:lnTo>
                <a:lnTo>
                  <a:pt x="10681" y="10310"/>
                </a:lnTo>
                <a:lnTo>
                  <a:pt x="12420" y="8259"/>
                </a:lnTo>
                <a:lnTo>
                  <a:pt x="14588" y="7973"/>
                </a:lnTo>
                <a:lnTo>
                  <a:pt x="16008" y="4608"/>
                </a:lnTo>
                <a:lnTo>
                  <a:pt x="17886" y="3132"/>
                </a:lnTo>
                <a:lnTo>
                  <a:pt x="19993" y="2594"/>
                </a:lnTo>
                <a:lnTo>
                  <a:pt x="21600" y="0"/>
                </a:lnTo>
              </a:path>
            </a:pathLst>
          </a:custGeom>
          <a:solidFill>
            <a:srgbClr val="FFF0C7"/>
          </a:solidFill>
          <a:ln w="22384">
            <a:solidFill>
              <a:srgbClr val="B07A3F"/>
            </a:solidFill>
          </a:ln>
        </p:spPr>
        <p:txBody>
          <a:bodyPr lIns="0" tIns="0" rIns="0" bIns="0"/>
          <a:lstStyle/>
          <a:p>
            <a:pPr/>
          </a:p>
        </p:txBody>
      </p:sp>
      <p:sp>
        <p:nvSpPr>
          <p:cNvPr id="500" name="Line"/>
          <p:cNvSpPr/>
          <p:nvPr/>
        </p:nvSpPr>
        <p:spPr>
          <a:xfrm>
            <a:off x="9246617" y="3048785"/>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702" y="1395"/>
                </a:lnTo>
                <a:lnTo>
                  <a:pt x="3728" y="4127"/>
                </a:lnTo>
                <a:lnTo>
                  <a:pt x="5656" y="6453"/>
                </a:lnTo>
                <a:lnTo>
                  <a:pt x="7103" y="6799"/>
                </a:lnTo>
                <a:lnTo>
                  <a:pt x="9117" y="9483"/>
                </a:lnTo>
                <a:lnTo>
                  <a:pt x="10859" y="11041"/>
                </a:lnTo>
                <a:lnTo>
                  <a:pt x="12725" y="13113"/>
                </a:lnTo>
                <a:lnTo>
                  <a:pt x="14373" y="14289"/>
                </a:lnTo>
                <a:lnTo>
                  <a:pt x="16096" y="15772"/>
                </a:lnTo>
                <a:lnTo>
                  <a:pt x="17834" y="17318"/>
                </a:lnTo>
                <a:lnTo>
                  <a:pt x="19734" y="19528"/>
                </a:lnTo>
                <a:lnTo>
                  <a:pt x="21600" y="21600"/>
                </a:lnTo>
              </a:path>
            </a:pathLst>
          </a:custGeom>
          <a:solidFill>
            <a:srgbClr val="DCEAF7"/>
          </a:solidFill>
          <a:ln w="22384">
            <a:solidFill>
              <a:srgbClr val="355070"/>
            </a:solidFill>
          </a:ln>
        </p:spPr>
        <p:txBody>
          <a:bodyPr lIns="0" tIns="0" rIns="0" bIns="0"/>
          <a:lstStyle/>
          <a:p>
            <a:pPr/>
          </a:p>
        </p:txBody>
      </p:sp>
      <p:sp>
        <p:nvSpPr>
          <p:cNvPr id="501" name="Line"/>
          <p:cNvSpPr/>
          <p:nvPr/>
        </p:nvSpPr>
        <p:spPr>
          <a:xfrm rot="21557999">
            <a:off x="9221878" y="3102182"/>
            <a:ext cx="749120" cy="5456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981" y="2049"/>
                </a:lnTo>
                <a:lnTo>
                  <a:pt x="3626" y="3635"/>
                </a:lnTo>
                <a:lnTo>
                  <a:pt x="5161" y="5072"/>
                </a:lnTo>
                <a:lnTo>
                  <a:pt x="7303" y="7341"/>
                </a:lnTo>
                <a:lnTo>
                  <a:pt x="8769" y="8683"/>
                </a:lnTo>
                <a:lnTo>
                  <a:pt x="10742" y="10721"/>
                </a:lnTo>
                <a:lnTo>
                  <a:pt x="12516" y="12485"/>
                </a:lnTo>
                <a:lnTo>
                  <a:pt x="14230" y="14167"/>
                </a:lnTo>
                <a:lnTo>
                  <a:pt x="16178" y="16169"/>
                </a:lnTo>
                <a:lnTo>
                  <a:pt x="17968" y="17956"/>
                </a:lnTo>
                <a:lnTo>
                  <a:pt x="19920" y="19964"/>
                </a:lnTo>
                <a:lnTo>
                  <a:pt x="21600" y="21600"/>
                </a:lnTo>
              </a:path>
            </a:pathLst>
          </a:custGeom>
          <a:solidFill>
            <a:srgbClr val="DCEAF7"/>
          </a:solidFill>
          <a:ln w="22384">
            <a:solidFill>
              <a:srgbClr val="355070"/>
            </a:solidFill>
          </a:ln>
        </p:spPr>
        <p:txBody>
          <a:bodyPr lIns="0" tIns="0" rIns="0" bIns="0"/>
          <a:lstStyle/>
          <a:p>
            <a:pPr/>
          </a:p>
        </p:txBody>
      </p:sp>
      <p:sp>
        <p:nvSpPr>
          <p:cNvPr id="502" name="Line"/>
          <p:cNvSpPr/>
          <p:nvPr/>
        </p:nvSpPr>
        <p:spPr>
          <a:xfrm>
            <a:off x="9246617" y="32900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633" y="19112"/>
                </a:lnTo>
                <a:lnTo>
                  <a:pt x="3591" y="17965"/>
                </a:lnTo>
                <a:lnTo>
                  <a:pt x="5567" y="16888"/>
                </a:lnTo>
                <a:lnTo>
                  <a:pt x="7382" y="15149"/>
                </a:lnTo>
                <a:lnTo>
                  <a:pt x="8791" y="11741"/>
                </a:lnTo>
                <a:lnTo>
                  <a:pt x="10996" y="11609"/>
                </a:lnTo>
                <a:lnTo>
                  <a:pt x="12426" y="8282"/>
                </a:lnTo>
                <a:lnTo>
                  <a:pt x="14546" y="7800"/>
                </a:lnTo>
                <a:lnTo>
                  <a:pt x="16309" y="5850"/>
                </a:lnTo>
                <a:lnTo>
                  <a:pt x="17833" y="2912"/>
                </a:lnTo>
                <a:lnTo>
                  <a:pt x="19644" y="1158"/>
                </a:lnTo>
                <a:lnTo>
                  <a:pt x="21600" y="0"/>
                </a:lnTo>
              </a:path>
            </a:pathLst>
          </a:custGeom>
          <a:solidFill>
            <a:srgbClr val="DCEAF7"/>
          </a:solidFill>
          <a:ln w="22384">
            <a:solidFill>
              <a:srgbClr val="355070"/>
            </a:solidFill>
          </a:ln>
        </p:spPr>
        <p:txBody>
          <a:bodyPr lIns="0" tIns="0" rIns="0" bIns="0"/>
          <a:lstStyle/>
          <a:p>
            <a:pPr/>
          </a:p>
        </p:txBody>
      </p:sp>
      <p:sp>
        <p:nvSpPr>
          <p:cNvPr id="503" name="Line"/>
          <p:cNvSpPr/>
          <p:nvPr/>
        </p:nvSpPr>
        <p:spPr>
          <a:xfrm>
            <a:off x="9246617" y="35313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677" y="1295"/>
                </a:lnTo>
                <a:lnTo>
                  <a:pt x="3427" y="2888"/>
                </a:lnTo>
                <a:lnTo>
                  <a:pt x="5299" y="4985"/>
                </a:lnTo>
                <a:lnTo>
                  <a:pt x="6981" y="6297"/>
                </a:lnTo>
                <a:lnTo>
                  <a:pt x="8855" y="8404"/>
                </a:lnTo>
                <a:lnTo>
                  <a:pt x="11032" y="11756"/>
                </a:lnTo>
                <a:lnTo>
                  <a:pt x="12365" y="11634"/>
                </a:lnTo>
                <a:lnTo>
                  <a:pt x="14502" y="14820"/>
                </a:lnTo>
                <a:lnTo>
                  <a:pt x="16214" y="16258"/>
                </a:lnTo>
                <a:lnTo>
                  <a:pt x="17918" y="17663"/>
                </a:lnTo>
                <a:lnTo>
                  <a:pt x="19697" y="19376"/>
                </a:lnTo>
                <a:lnTo>
                  <a:pt x="21600" y="21600"/>
                </a:lnTo>
              </a:path>
            </a:pathLst>
          </a:custGeom>
          <a:solidFill>
            <a:srgbClr val="DFF4EA"/>
          </a:solidFill>
          <a:ln w="22384">
            <a:solidFill>
              <a:srgbClr val="2A9D8F"/>
            </a:solidFill>
          </a:ln>
        </p:spPr>
        <p:txBody>
          <a:bodyPr lIns="0" tIns="0" rIns="0" bIns="0"/>
          <a:lstStyle/>
          <a:p>
            <a:pPr/>
          </a:p>
        </p:txBody>
      </p:sp>
      <p:sp>
        <p:nvSpPr>
          <p:cNvPr id="504" name="Line"/>
          <p:cNvSpPr/>
          <p:nvPr/>
        </p:nvSpPr>
        <p:spPr>
          <a:xfrm rot="21557999">
            <a:off x="9221878" y="3343483"/>
            <a:ext cx="749120" cy="5456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032" y="20118"/>
                </a:lnTo>
                <a:lnTo>
                  <a:pt x="3455" y="17801"/>
                </a:lnTo>
                <a:lnTo>
                  <a:pt x="5244" y="15986"/>
                </a:lnTo>
                <a:lnTo>
                  <a:pt x="7444" y="14735"/>
                </a:lnTo>
                <a:lnTo>
                  <a:pt x="9000" y="12599"/>
                </a:lnTo>
                <a:lnTo>
                  <a:pt x="10940" y="10993"/>
                </a:lnTo>
                <a:lnTo>
                  <a:pt x="12753" y="9210"/>
                </a:lnTo>
                <a:lnTo>
                  <a:pt x="14612" y="7491"/>
                </a:lnTo>
                <a:lnTo>
                  <a:pt x="16406" y="5682"/>
                </a:lnTo>
                <a:lnTo>
                  <a:pt x="18009" y="3612"/>
                </a:lnTo>
                <a:lnTo>
                  <a:pt x="19696" y="1657"/>
                </a:lnTo>
                <a:lnTo>
                  <a:pt x="21600" y="0"/>
                </a:lnTo>
              </a:path>
            </a:pathLst>
          </a:custGeom>
          <a:solidFill>
            <a:srgbClr val="DCEAF7"/>
          </a:solidFill>
          <a:ln w="22384">
            <a:solidFill>
              <a:srgbClr val="355070"/>
            </a:solidFill>
          </a:ln>
        </p:spPr>
        <p:txBody>
          <a:bodyPr lIns="0" tIns="0" rIns="0" bIns="0"/>
          <a:lstStyle/>
          <a:p>
            <a:pPr/>
          </a:p>
        </p:txBody>
      </p:sp>
      <p:sp>
        <p:nvSpPr>
          <p:cNvPr id="505" name="Line"/>
          <p:cNvSpPr/>
          <p:nvPr/>
        </p:nvSpPr>
        <p:spPr>
          <a:xfrm>
            <a:off x="9246617" y="37726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847" y="19996"/>
                </a:lnTo>
                <a:lnTo>
                  <a:pt x="3574" y="17895"/>
                </a:lnTo>
                <a:lnTo>
                  <a:pt x="5426" y="16308"/>
                </a:lnTo>
                <a:lnTo>
                  <a:pt x="6954" y="13388"/>
                </a:lnTo>
                <a:lnTo>
                  <a:pt x="8939" y="12350"/>
                </a:lnTo>
                <a:lnTo>
                  <a:pt x="10700" y="10386"/>
                </a:lnTo>
                <a:lnTo>
                  <a:pt x="12629" y="9119"/>
                </a:lnTo>
                <a:lnTo>
                  <a:pt x="14525" y="7715"/>
                </a:lnTo>
                <a:lnTo>
                  <a:pt x="16364" y="6077"/>
                </a:lnTo>
                <a:lnTo>
                  <a:pt x="17898" y="3178"/>
                </a:lnTo>
                <a:lnTo>
                  <a:pt x="19912" y="2263"/>
                </a:lnTo>
                <a:lnTo>
                  <a:pt x="21600" y="0"/>
                </a:lnTo>
              </a:path>
            </a:pathLst>
          </a:custGeom>
          <a:solidFill>
            <a:srgbClr val="DFF4EA"/>
          </a:solidFill>
          <a:ln w="22384">
            <a:solidFill>
              <a:srgbClr val="2A9D8F"/>
            </a:solidFill>
          </a:ln>
        </p:spPr>
        <p:txBody>
          <a:bodyPr lIns="0" tIns="0" rIns="0" bIns="0"/>
          <a:lstStyle/>
          <a:p>
            <a:pPr/>
          </a:p>
        </p:txBody>
      </p:sp>
      <p:sp>
        <p:nvSpPr>
          <p:cNvPr id="506" name="Line"/>
          <p:cNvSpPr/>
          <p:nvPr/>
        </p:nvSpPr>
        <p:spPr>
          <a:xfrm>
            <a:off x="10240392" y="32900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852" y="2015"/>
                </a:lnTo>
                <a:lnTo>
                  <a:pt x="3764" y="4276"/>
                </a:lnTo>
                <a:lnTo>
                  <a:pt x="5507" y="5840"/>
                </a:lnTo>
                <a:lnTo>
                  <a:pt x="7116" y="6856"/>
                </a:lnTo>
                <a:lnTo>
                  <a:pt x="8817" y="8248"/>
                </a:lnTo>
                <a:lnTo>
                  <a:pt x="10954" y="11434"/>
                </a:lnTo>
                <a:lnTo>
                  <a:pt x="12745" y="13199"/>
                </a:lnTo>
                <a:lnTo>
                  <a:pt x="14297" y="13977"/>
                </a:lnTo>
                <a:lnTo>
                  <a:pt x="16074" y="15683"/>
                </a:lnTo>
                <a:lnTo>
                  <a:pt x="17883" y="17518"/>
                </a:lnTo>
                <a:lnTo>
                  <a:pt x="20039" y="20785"/>
                </a:lnTo>
                <a:lnTo>
                  <a:pt x="21600" y="21600"/>
                </a:lnTo>
              </a:path>
            </a:pathLst>
          </a:custGeom>
          <a:solidFill>
            <a:srgbClr val="FADADD"/>
          </a:solidFill>
          <a:ln w="22384">
            <a:solidFill>
              <a:srgbClr val="C65D4B"/>
            </a:solidFill>
          </a:ln>
        </p:spPr>
        <p:txBody>
          <a:bodyPr lIns="0" tIns="0" rIns="0" bIns="0"/>
          <a:lstStyle/>
          <a:p>
            <a:pPr/>
          </a:p>
        </p:txBody>
      </p:sp>
      <p:sp>
        <p:nvSpPr>
          <p:cNvPr id="507" name="Line"/>
          <p:cNvSpPr/>
          <p:nvPr/>
        </p:nvSpPr>
        <p:spPr>
          <a:xfrm>
            <a:off x="10240392" y="3531384"/>
            <a:ext cx="699639" cy="1698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682" y="19314"/>
                </a:lnTo>
                <a:lnTo>
                  <a:pt x="3436" y="17323"/>
                </a:lnTo>
                <a:lnTo>
                  <a:pt x="5355" y="16013"/>
                </a:lnTo>
                <a:lnTo>
                  <a:pt x="7294" y="14786"/>
                </a:lnTo>
                <a:lnTo>
                  <a:pt x="8831" y="11906"/>
                </a:lnTo>
                <a:lnTo>
                  <a:pt x="10983" y="11555"/>
                </a:lnTo>
                <a:lnTo>
                  <a:pt x="12773" y="9713"/>
                </a:lnTo>
                <a:lnTo>
                  <a:pt x="14288" y="6740"/>
                </a:lnTo>
                <a:lnTo>
                  <a:pt x="16215" y="5461"/>
                </a:lnTo>
                <a:lnTo>
                  <a:pt x="18111" y="4059"/>
                </a:lnTo>
                <a:lnTo>
                  <a:pt x="19708" y="1421"/>
                </a:lnTo>
                <a:lnTo>
                  <a:pt x="21600" y="0"/>
                </a:lnTo>
              </a:path>
            </a:pathLst>
          </a:custGeom>
          <a:solidFill>
            <a:srgbClr val="ECE4F7"/>
          </a:solidFill>
          <a:ln w="22384">
            <a:solidFill>
              <a:srgbClr val="7B6BA8"/>
            </a:solidFill>
          </a:ln>
        </p:spPr>
        <p:txBody>
          <a:bodyPr lIns="0" tIns="0" rIns="0" bIns="0"/>
          <a:lstStyle/>
          <a:p>
            <a:pPr/>
          </a:p>
        </p:txBody>
      </p:sp>
      <p:sp>
        <p:nvSpPr>
          <p:cNvPr id="508" name="Shape"/>
          <p:cNvSpPr/>
          <p:nvPr/>
        </p:nvSpPr>
        <p:spPr>
          <a:xfrm>
            <a:off x="7945615" y="2612405"/>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509" name="Shape"/>
          <p:cNvSpPr/>
          <p:nvPr/>
        </p:nvSpPr>
        <p:spPr>
          <a:xfrm>
            <a:off x="7945615" y="3095005"/>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510" name="Shape"/>
          <p:cNvSpPr/>
          <p:nvPr/>
        </p:nvSpPr>
        <p:spPr>
          <a:xfrm>
            <a:off x="7945615" y="3577604"/>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511" name="Shape"/>
          <p:cNvSpPr/>
          <p:nvPr/>
        </p:nvSpPr>
        <p:spPr>
          <a:xfrm>
            <a:off x="7945615" y="4060204"/>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512" name="Shape"/>
          <p:cNvSpPr/>
          <p:nvPr/>
        </p:nvSpPr>
        <p:spPr>
          <a:xfrm>
            <a:off x="8939390" y="2853705"/>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513" name="Shape"/>
          <p:cNvSpPr/>
          <p:nvPr/>
        </p:nvSpPr>
        <p:spPr>
          <a:xfrm>
            <a:off x="8939390" y="3336304"/>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FF0C7"/>
          </a:solidFill>
          <a:ln w="22384">
            <a:solidFill>
              <a:srgbClr val="B07A3F"/>
            </a:solidFill>
          </a:ln>
        </p:spPr>
        <p:txBody>
          <a:bodyPr lIns="0" tIns="0" rIns="0" bIns="0"/>
          <a:lstStyle/>
          <a:p>
            <a:pPr/>
          </a:p>
        </p:txBody>
      </p:sp>
      <p:sp>
        <p:nvSpPr>
          <p:cNvPr id="514" name="Shape"/>
          <p:cNvSpPr/>
          <p:nvPr/>
        </p:nvSpPr>
        <p:spPr>
          <a:xfrm>
            <a:off x="8939390" y="3818904"/>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515" name="Shape"/>
          <p:cNvSpPr/>
          <p:nvPr/>
        </p:nvSpPr>
        <p:spPr>
          <a:xfrm>
            <a:off x="9933165" y="3095005"/>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516" name="Shape"/>
          <p:cNvSpPr/>
          <p:nvPr/>
        </p:nvSpPr>
        <p:spPr>
          <a:xfrm>
            <a:off x="9933165" y="3577604"/>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FADADD"/>
          </a:solidFill>
          <a:ln w="22384">
            <a:solidFill>
              <a:srgbClr val="C65D4B"/>
            </a:solidFill>
          </a:ln>
        </p:spPr>
        <p:txBody>
          <a:bodyPr lIns="0" tIns="0" rIns="0" bIns="0"/>
          <a:lstStyle/>
          <a:p>
            <a:pPr/>
          </a:p>
        </p:txBody>
      </p:sp>
      <p:sp>
        <p:nvSpPr>
          <p:cNvPr id="517" name="Shape"/>
          <p:cNvSpPr/>
          <p:nvPr/>
        </p:nvSpPr>
        <p:spPr>
          <a:xfrm>
            <a:off x="10926940" y="3336304"/>
            <a:ext cx="322475" cy="32241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49"/>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4"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4" y="1159"/>
                </a:lnTo>
                <a:lnTo>
                  <a:pt x="16746" y="1669"/>
                </a:lnTo>
                <a:lnTo>
                  <a:pt x="17642"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ECE4F7"/>
          </a:solidFill>
          <a:ln w="22384">
            <a:solidFill>
              <a:srgbClr val="7B6BA8"/>
            </a:solidFill>
          </a:ln>
        </p:spPr>
        <p:txBody>
          <a:bodyPr lIns="0" tIns="0" rIns="0" bIns="0"/>
          <a:lstStyle/>
          <a:p>
            <a:pPr/>
          </a:p>
        </p:txBody>
      </p:sp>
      <p:sp>
        <p:nvSpPr>
          <p:cNvPr id="518" name="Shared weights"/>
          <p:cNvSpPr txBox="1"/>
          <p:nvPr/>
        </p:nvSpPr>
        <p:spPr>
          <a:xfrm>
            <a:off x="7715250" y="1986395"/>
            <a:ext cx="384810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424548"/>
                </a:solidFill>
                <a:latin typeface="Chalkboard"/>
                <a:ea typeface="Chalkboard"/>
                <a:cs typeface="Chalkboard"/>
                <a:sym typeface="Chalkboard"/>
              </a:defRPr>
            </a:lvl1pPr>
          </a:lstStyle>
          <a:p>
            <a:pPr/>
            <a:r>
              <a:t>Shared weights</a:t>
            </a:r>
          </a:p>
        </p:txBody>
      </p:sp>
      <p:sp>
        <p:nvSpPr>
          <p:cNvPr id="519" name="Promotional language…"/>
          <p:cNvSpPr txBox="1"/>
          <p:nvPr/>
        </p:nvSpPr>
        <p:spPr>
          <a:xfrm>
            <a:off x="7610475" y="4792590"/>
            <a:ext cx="4038600" cy="8732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a:solidFill>
                  <a:srgbClr val="62616A"/>
                </a:solidFill>
                <a:latin typeface="Chalkboard"/>
                <a:ea typeface="Chalkboard"/>
                <a:cs typeface="Chalkboard"/>
                <a:sym typeface="Chalkboard"/>
              </a:defRPr>
            </a:pPr>
            <a:r>
              <a:t>Promotional language</a:t>
            </a:r>
          </a:p>
          <a:p>
            <a:pPr algn="ctr">
              <a:defRPr>
                <a:solidFill>
                  <a:srgbClr val="62616A"/>
                </a:solidFill>
                <a:latin typeface="Chalkboard"/>
                <a:ea typeface="Chalkboard"/>
                <a:cs typeface="Chalkboard"/>
                <a:sym typeface="Chalkboard"/>
              </a:defRPr>
            </a:pPr>
            <a:r>
              <a:t>Links + urgency</a:t>
            </a:r>
          </a:p>
          <a:p>
            <a:pPr algn="ctr">
              <a:defRPr>
                <a:solidFill>
                  <a:srgbClr val="62616A"/>
                </a:solidFill>
                <a:latin typeface="Chalkboard"/>
                <a:ea typeface="Chalkboard"/>
                <a:cs typeface="Chalkboard"/>
                <a:sym typeface="Chalkboard"/>
              </a:defRPr>
            </a:pPr>
            <a:r>
              <a:t>Trusted-sender cues</a:t>
            </a:r>
          </a:p>
        </p:txBody>
      </p:sp>
      <p:sp>
        <p:nvSpPr>
          <p:cNvPr id="520" name="These are possible learned combinations. Individual neurons need not match human-readable concepts."/>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These are possible learned combinations. Individual neurons need not match human-readable concepts.</a:t>
            </a:r>
          </a:p>
        </p:txBody>
      </p:sp>
      <p:sp>
        <p:nvSpPr>
          <p:cNvPr id="521"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522"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8F6F2"/>
        </a:solidFill>
      </p:bgPr>
    </p:bg>
    <p:spTree>
      <p:nvGrpSpPr>
        <p:cNvPr id="1" name=""/>
        <p:cNvGrpSpPr/>
        <p:nvPr/>
      </p:nvGrpSpPr>
      <p:grpSpPr>
        <a:xfrm>
          <a:off x="0" y="0"/>
          <a:ext cx="0" cy="0"/>
          <a:chOff x="0" y="0"/>
          <a:chExt cx="0" cy="0"/>
        </a:xfrm>
      </p:grpSpPr>
      <p:sp>
        <p:nvSpPr>
          <p:cNvPr id="526" name="Rounded Rectangle"/>
          <p:cNvSpPr/>
          <p:nvPr/>
        </p:nvSpPr>
        <p:spPr>
          <a:xfrm>
            <a:off x="457200" y="1647825"/>
            <a:ext cx="11277600" cy="4086225"/>
          </a:xfrm>
          <a:prstGeom prst="roundRect">
            <a:avLst>
              <a:gd name="adj" fmla="val 4196"/>
            </a:avLst>
          </a:prstGeom>
          <a:solidFill>
            <a:srgbClr val="FCFBF8"/>
          </a:solidFill>
          <a:ln>
            <a:solidFill>
              <a:srgbClr val="E0D5C5"/>
            </a:solidFill>
          </a:ln>
        </p:spPr>
        <p:txBody>
          <a:bodyPr lIns="0" tIns="0" rIns="0" bIns="0"/>
          <a:lstStyle/>
          <a:p>
            <a:pPr/>
          </a:p>
        </p:txBody>
      </p:sp>
      <p:sp>
        <p:nvSpPr>
          <p:cNvPr id="527" name="Rounded Rectangle"/>
          <p:cNvSpPr/>
          <p:nvPr/>
        </p:nvSpPr>
        <p:spPr>
          <a:xfrm>
            <a:off x="457200" y="5800725"/>
            <a:ext cx="11277600" cy="504825"/>
          </a:xfrm>
          <a:prstGeom prst="roundRect">
            <a:avLst>
              <a:gd name="adj" fmla="val 33962"/>
            </a:avLst>
          </a:prstGeom>
          <a:solidFill>
            <a:srgbClr val="F6E7C3"/>
          </a:solidFill>
          <a:ln w="5715">
            <a:solidFill>
              <a:srgbClr val="EAD9B4"/>
            </a:solidFill>
          </a:ln>
        </p:spPr>
        <p:txBody>
          <a:bodyPr lIns="0" tIns="0" rIns="0" bIns="0"/>
          <a:lstStyle/>
          <a:p>
            <a:pPr/>
          </a:p>
        </p:txBody>
      </p:sp>
      <p:sp>
        <p:nvSpPr>
          <p:cNvPr id="528" name="The whole pipeline"/>
          <p:cNvSpPr txBox="1"/>
          <p:nvPr/>
        </p:nvSpPr>
        <p:spPr>
          <a:xfrm>
            <a:off x="609600" y="506502"/>
            <a:ext cx="10953750" cy="44432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100">
                <a:solidFill>
                  <a:srgbClr val="28282A"/>
                </a:solidFill>
                <a:latin typeface="Arial"/>
                <a:ea typeface="Arial"/>
                <a:cs typeface="Arial"/>
                <a:sym typeface="Arial"/>
              </a:defRPr>
            </a:lvl1pPr>
          </a:lstStyle>
          <a:p>
            <a:pPr/>
            <a:r>
              <a:t>The whole pipeline</a:t>
            </a:r>
          </a:p>
        </p:txBody>
      </p:sp>
      <p:sp>
        <p:nvSpPr>
          <p:cNvPr id="529" name="One forward pass transforms an email into a spam decision."/>
          <p:cNvSpPr txBox="1"/>
          <p:nvPr/>
        </p:nvSpPr>
        <p:spPr>
          <a:xfrm>
            <a:off x="628650" y="1212998"/>
            <a:ext cx="10934700"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rgbClr val="62616A"/>
                </a:solidFill>
                <a:latin typeface="Arial"/>
                <a:ea typeface="Arial"/>
                <a:cs typeface="Arial"/>
                <a:sym typeface="Arial"/>
              </a:defRPr>
            </a:lvl1pPr>
          </a:lstStyle>
          <a:p>
            <a:pPr/>
            <a:r>
              <a:t>One forward pass transforms an email into a spam decision.</a:t>
            </a:r>
          </a:p>
        </p:txBody>
      </p:sp>
      <p:sp>
        <p:nvSpPr>
          <p:cNvPr id="530" name="15"/>
          <p:cNvSpPr txBox="1"/>
          <p:nvPr/>
        </p:nvSpPr>
        <p:spPr>
          <a:xfrm>
            <a:off x="5715000" y="6536435"/>
            <a:ext cx="762000" cy="14783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858079"/>
                </a:solidFill>
                <a:latin typeface="Arial"/>
                <a:ea typeface="Arial"/>
                <a:cs typeface="Arial"/>
                <a:sym typeface="Arial"/>
              </a:defRPr>
            </a:lvl1pPr>
          </a:lstStyle>
          <a:p>
            <a:pPr/>
            <a:r>
              <a:t>15</a:t>
            </a:r>
          </a:p>
        </p:txBody>
      </p:sp>
      <p:sp>
        <p:nvSpPr>
          <p:cNvPr id="531" name="Shape"/>
          <p:cNvSpPr/>
          <p:nvPr/>
        </p:nvSpPr>
        <p:spPr>
          <a:xfrm rot="21557999">
            <a:off x="803117" y="2006629"/>
            <a:ext cx="1374757" cy="13744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532" name="Email"/>
          <p:cNvSpPr txBox="1"/>
          <p:nvPr/>
        </p:nvSpPr>
        <p:spPr>
          <a:xfrm>
            <a:off x="847725" y="2497486"/>
            <a:ext cx="1276350"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424548"/>
                </a:solidFill>
                <a:latin typeface="Chalkboard"/>
                <a:ea typeface="Chalkboard"/>
                <a:cs typeface="Chalkboard"/>
                <a:sym typeface="Chalkboard"/>
              </a:defRPr>
            </a:lvl1pPr>
          </a:lstStyle>
          <a:p>
            <a:pPr/>
            <a:r>
              <a:t>Email</a:t>
            </a:r>
          </a:p>
        </p:txBody>
      </p:sp>
      <p:sp>
        <p:nvSpPr>
          <p:cNvPr id="533" name="Line"/>
          <p:cNvSpPr/>
          <p:nvPr/>
        </p:nvSpPr>
        <p:spPr>
          <a:xfrm>
            <a:off x="2295525" y="2678577"/>
            <a:ext cx="685801" cy="127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733"/>
                </a:moveTo>
                <a:lnTo>
                  <a:pt x="1814" y="13477"/>
                </a:lnTo>
                <a:lnTo>
                  <a:pt x="3492" y="6850"/>
                </a:lnTo>
                <a:lnTo>
                  <a:pt x="5423" y="13971"/>
                </a:lnTo>
                <a:lnTo>
                  <a:pt x="7124" y="8581"/>
                </a:lnTo>
                <a:lnTo>
                  <a:pt x="8926" y="8688"/>
                </a:lnTo>
                <a:lnTo>
                  <a:pt x="10836" y="14705"/>
                </a:lnTo>
                <a:lnTo>
                  <a:pt x="12617" y="13658"/>
                </a:lnTo>
                <a:lnTo>
                  <a:pt x="14167" y="0"/>
                </a:lnTo>
                <a:lnTo>
                  <a:pt x="16030" y="3454"/>
                </a:lnTo>
                <a:lnTo>
                  <a:pt x="18162" y="21600"/>
                </a:lnTo>
                <a:lnTo>
                  <a:pt x="19841" y="14979"/>
                </a:lnTo>
                <a:lnTo>
                  <a:pt x="21600" y="12733"/>
                </a:lnTo>
              </a:path>
            </a:pathLst>
          </a:custGeom>
          <a:ln w="20479">
            <a:solidFill>
              <a:srgbClr val="B07A3F"/>
            </a:solidFill>
            <a:prstDash val="dash"/>
          </a:ln>
        </p:spPr>
        <p:txBody>
          <a:bodyPr lIns="0" tIns="0" rIns="0" bIns="0"/>
          <a:lstStyle/>
          <a:p>
            <a:pPr/>
          </a:p>
        </p:txBody>
      </p:sp>
      <p:sp>
        <p:nvSpPr>
          <p:cNvPr id="534" name="Line"/>
          <p:cNvSpPr/>
          <p:nvPr/>
        </p:nvSpPr>
        <p:spPr>
          <a:xfrm>
            <a:off x="2886980" y="264047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2A9D8F"/>
            </a:solidFill>
          </a:ln>
        </p:spPr>
        <p:txBody>
          <a:bodyPr lIns="0" tIns="0" rIns="0" bIns="0"/>
          <a:lstStyle/>
          <a:p>
            <a:pPr/>
          </a:p>
        </p:txBody>
      </p:sp>
      <p:sp>
        <p:nvSpPr>
          <p:cNvPr id="535" name="Shape"/>
          <p:cNvSpPr/>
          <p:nvPr/>
        </p:nvSpPr>
        <p:spPr>
          <a:xfrm rot="21557999">
            <a:off x="3089117" y="2006629"/>
            <a:ext cx="1374757" cy="13744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CEAF7"/>
          </a:solidFill>
          <a:ln w="22384">
            <a:solidFill>
              <a:srgbClr val="355070"/>
            </a:solidFill>
          </a:ln>
        </p:spPr>
        <p:txBody>
          <a:bodyPr lIns="0" tIns="0" rIns="0" bIns="0"/>
          <a:lstStyle/>
          <a:p>
            <a:pPr/>
          </a:p>
        </p:txBody>
      </p:sp>
      <p:sp>
        <p:nvSpPr>
          <p:cNvPr id="536" name="Features"/>
          <p:cNvSpPr txBox="1"/>
          <p:nvPr/>
        </p:nvSpPr>
        <p:spPr>
          <a:xfrm>
            <a:off x="3133725" y="2497486"/>
            <a:ext cx="1276350"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424548"/>
                </a:solidFill>
                <a:latin typeface="Chalkboard"/>
                <a:ea typeface="Chalkboard"/>
                <a:cs typeface="Chalkboard"/>
                <a:sym typeface="Chalkboard"/>
              </a:defRPr>
            </a:lvl1pPr>
          </a:lstStyle>
          <a:p>
            <a:pPr/>
            <a:r>
              <a:t>Features</a:t>
            </a:r>
          </a:p>
        </p:txBody>
      </p:sp>
      <p:sp>
        <p:nvSpPr>
          <p:cNvPr id="537" name="Line"/>
          <p:cNvSpPr/>
          <p:nvPr/>
        </p:nvSpPr>
        <p:spPr>
          <a:xfrm>
            <a:off x="4581525" y="2678876"/>
            <a:ext cx="685801" cy="1401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055"/>
                </a:moveTo>
                <a:lnTo>
                  <a:pt x="2015" y="21600"/>
                </a:lnTo>
                <a:lnTo>
                  <a:pt x="3792" y="20444"/>
                </a:lnTo>
                <a:lnTo>
                  <a:pt x="5426" y="12320"/>
                </a:lnTo>
                <a:lnTo>
                  <a:pt x="7120" y="7145"/>
                </a:lnTo>
                <a:lnTo>
                  <a:pt x="8984" y="10288"/>
                </a:lnTo>
                <a:lnTo>
                  <a:pt x="10808" y="11454"/>
                </a:lnTo>
                <a:lnTo>
                  <a:pt x="12660" y="13977"/>
                </a:lnTo>
                <a:lnTo>
                  <a:pt x="14174" y="0"/>
                </a:lnTo>
                <a:lnTo>
                  <a:pt x="16394" y="20567"/>
                </a:lnTo>
                <a:lnTo>
                  <a:pt x="17978" y="9965"/>
                </a:lnTo>
                <a:lnTo>
                  <a:pt x="19947" y="18269"/>
                </a:lnTo>
                <a:lnTo>
                  <a:pt x="21600" y="11055"/>
                </a:lnTo>
              </a:path>
            </a:pathLst>
          </a:custGeom>
          <a:ln w="20479">
            <a:solidFill>
              <a:srgbClr val="355070"/>
            </a:solidFill>
            <a:prstDash val="dash"/>
          </a:ln>
        </p:spPr>
        <p:txBody>
          <a:bodyPr lIns="0" tIns="0" rIns="0" bIns="0"/>
          <a:lstStyle/>
          <a:p>
            <a:pPr/>
          </a:p>
        </p:txBody>
      </p:sp>
      <p:sp>
        <p:nvSpPr>
          <p:cNvPr id="538" name="Line"/>
          <p:cNvSpPr/>
          <p:nvPr/>
        </p:nvSpPr>
        <p:spPr>
          <a:xfrm>
            <a:off x="5172981" y="264047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2A9D8F"/>
            </a:solidFill>
          </a:ln>
        </p:spPr>
        <p:txBody>
          <a:bodyPr lIns="0" tIns="0" rIns="0" bIns="0"/>
          <a:lstStyle/>
          <a:p>
            <a:pPr/>
          </a:p>
        </p:txBody>
      </p:sp>
      <p:sp>
        <p:nvSpPr>
          <p:cNvPr id="539" name="Shape"/>
          <p:cNvSpPr/>
          <p:nvPr/>
        </p:nvSpPr>
        <p:spPr>
          <a:xfrm>
            <a:off x="5375116" y="2006629"/>
            <a:ext cx="1374757" cy="13744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540" name="MLP"/>
          <p:cNvSpPr txBox="1"/>
          <p:nvPr/>
        </p:nvSpPr>
        <p:spPr>
          <a:xfrm>
            <a:off x="5419725" y="2497486"/>
            <a:ext cx="1276350"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424548"/>
                </a:solidFill>
                <a:latin typeface="Chalkboard"/>
                <a:ea typeface="Chalkboard"/>
                <a:cs typeface="Chalkboard"/>
                <a:sym typeface="Chalkboard"/>
              </a:defRPr>
            </a:lvl1pPr>
          </a:lstStyle>
          <a:p>
            <a:pPr/>
            <a:r>
              <a:t>MLP</a:t>
            </a:r>
          </a:p>
        </p:txBody>
      </p:sp>
      <p:sp>
        <p:nvSpPr>
          <p:cNvPr id="541" name="Line"/>
          <p:cNvSpPr/>
          <p:nvPr/>
        </p:nvSpPr>
        <p:spPr>
          <a:xfrm>
            <a:off x="6867525" y="2678710"/>
            <a:ext cx="685801" cy="1433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060"/>
                </a:moveTo>
                <a:lnTo>
                  <a:pt x="1809" y="11479"/>
                </a:lnTo>
                <a:lnTo>
                  <a:pt x="3764" y="18907"/>
                </a:lnTo>
                <a:lnTo>
                  <a:pt x="5618" y="21476"/>
                </a:lnTo>
                <a:lnTo>
                  <a:pt x="7309" y="16297"/>
                </a:lnTo>
                <a:lnTo>
                  <a:pt x="8916" y="7053"/>
                </a:lnTo>
                <a:lnTo>
                  <a:pt x="10942" y="17875"/>
                </a:lnTo>
                <a:lnTo>
                  <a:pt x="12604" y="11266"/>
                </a:lnTo>
                <a:lnTo>
                  <a:pt x="14340" y="8198"/>
                </a:lnTo>
                <a:lnTo>
                  <a:pt x="15969" y="0"/>
                </a:lnTo>
                <a:lnTo>
                  <a:pt x="17931" y="7769"/>
                </a:lnTo>
                <a:lnTo>
                  <a:pt x="20020" y="21600"/>
                </a:lnTo>
                <a:lnTo>
                  <a:pt x="21600" y="11060"/>
                </a:lnTo>
              </a:path>
            </a:pathLst>
          </a:custGeom>
          <a:ln w="20479">
            <a:solidFill>
              <a:srgbClr val="355070"/>
            </a:solidFill>
            <a:prstDash val="dash"/>
          </a:ln>
        </p:spPr>
        <p:txBody>
          <a:bodyPr lIns="0" tIns="0" rIns="0" bIns="0"/>
          <a:lstStyle/>
          <a:p>
            <a:pPr/>
          </a:p>
        </p:txBody>
      </p:sp>
      <p:sp>
        <p:nvSpPr>
          <p:cNvPr id="542" name="Line"/>
          <p:cNvSpPr/>
          <p:nvPr/>
        </p:nvSpPr>
        <p:spPr>
          <a:xfrm>
            <a:off x="7458981" y="264047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2A9D8F"/>
            </a:solidFill>
          </a:ln>
        </p:spPr>
        <p:txBody>
          <a:bodyPr lIns="0" tIns="0" rIns="0" bIns="0"/>
          <a:lstStyle/>
          <a:p>
            <a:pPr/>
          </a:p>
        </p:txBody>
      </p:sp>
      <p:sp>
        <p:nvSpPr>
          <p:cNvPr id="543" name="Shape"/>
          <p:cNvSpPr/>
          <p:nvPr/>
        </p:nvSpPr>
        <p:spPr>
          <a:xfrm>
            <a:off x="7661116" y="2006629"/>
            <a:ext cx="1374757" cy="13744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544" name="P(spam)"/>
          <p:cNvSpPr txBox="1"/>
          <p:nvPr/>
        </p:nvSpPr>
        <p:spPr>
          <a:xfrm>
            <a:off x="7705725" y="2491220"/>
            <a:ext cx="1276350" cy="3896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400">
                <a:solidFill>
                  <a:srgbClr val="8E7052"/>
                </a:solidFill>
                <a:latin typeface="Chalkboard"/>
                <a:ea typeface="Chalkboard"/>
                <a:cs typeface="Chalkboard"/>
                <a:sym typeface="Chalkboard"/>
              </a:defRPr>
            </a:lvl1pPr>
          </a:lstStyle>
          <a:p>
            <a:pPr/>
            <a:r>
              <a:t>P(spam)</a:t>
            </a:r>
          </a:p>
        </p:txBody>
      </p:sp>
      <p:sp>
        <p:nvSpPr>
          <p:cNvPr id="545" name="Line"/>
          <p:cNvSpPr/>
          <p:nvPr/>
        </p:nvSpPr>
        <p:spPr>
          <a:xfrm>
            <a:off x="9153525" y="2677624"/>
            <a:ext cx="685801" cy="162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1228"/>
                </a:moveTo>
                <a:lnTo>
                  <a:pt x="1535" y="0"/>
                </a:lnTo>
                <a:lnTo>
                  <a:pt x="3422" y="3702"/>
                </a:lnTo>
                <a:lnTo>
                  <a:pt x="5463" y="13880"/>
                </a:lnTo>
                <a:lnTo>
                  <a:pt x="7015" y="3416"/>
                </a:lnTo>
                <a:lnTo>
                  <a:pt x="9224" y="20716"/>
                </a:lnTo>
                <a:lnTo>
                  <a:pt x="10676" y="5961"/>
                </a:lnTo>
                <a:lnTo>
                  <a:pt x="12421" y="3660"/>
                </a:lnTo>
                <a:lnTo>
                  <a:pt x="14303" y="7124"/>
                </a:lnTo>
                <a:lnTo>
                  <a:pt x="16445" y="21600"/>
                </a:lnTo>
                <a:lnTo>
                  <a:pt x="17814" y="3357"/>
                </a:lnTo>
                <a:lnTo>
                  <a:pt x="20010" y="20118"/>
                </a:lnTo>
                <a:lnTo>
                  <a:pt x="21600" y="11228"/>
                </a:lnTo>
              </a:path>
            </a:pathLst>
          </a:custGeom>
          <a:ln w="20479">
            <a:solidFill>
              <a:srgbClr val="355070"/>
            </a:solidFill>
            <a:prstDash val="dash"/>
          </a:ln>
        </p:spPr>
        <p:txBody>
          <a:bodyPr lIns="0" tIns="0" rIns="0" bIns="0"/>
          <a:lstStyle/>
          <a:p>
            <a:pPr/>
          </a:p>
        </p:txBody>
      </p:sp>
      <p:sp>
        <p:nvSpPr>
          <p:cNvPr id="546" name="Line"/>
          <p:cNvSpPr/>
          <p:nvPr/>
        </p:nvSpPr>
        <p:spPr>
          <a:xfrm>
            <a:off x="9744981" y="264047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C65D4B"/>
            </a:solidFill>
            <a:prstDash val="dashDot"/>
          </a:ln>
        </p:spPr>
        <p:txBody>
          <a:bodyPr lIns="0" tIns="0" rIns="0" bIns="0"/>
          <a:lstStyle/>
          <a:p>
            <a:pPr/>
          </a:p>
        </p:txBody>
      </p:sp>
      <p:sp>
        <p:nvSpPr>
          <p:cNvPr id="547" name="Shape"/>
          <p:cNvSpPr/>
          <p:nvPr/>
        </p:nvSpPr>
        <p:spPr>
          <a:xfrm>
            <a:off x="9947116" y="2006629"/>
            <a:ext cx="1374757" cy="13744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0677"/>
                </a:moveTo>
                <a:lnTo>
                  <a:pt x="21578" y="11746"/>
                </a:lnTo>
                <a:lnTo>
                  <a:pt x="21392" y="12799"/>
                </a:lnTo>
                <a:lnTo>
                  <a:pt x="21091" y="13821"/>
                </a:lnTo>
                <a:lnTo>
                  <a:pt x="20720" y="14817"/>
                </a:lnTo>
                <a:lnTo>
                  <a:pt x="20284" y="15786"/>
                </a:lnTo>
                <a:lnTo>
                  <a:pt x="19755" y="16710"/>
                </a:lnTo>
                <a:lnTo>
                  <a:pt x="19100" y="17550"/>
                </a:lnTo>
                <a:lnTo>
                  <a:pt x="18325" y="18276"/>
                </a:lnTo>
                <a:lnTo>
                  <a:pt x="17472" y="18897"/>
                </a:lnTo>
                <a:lnTo>
                  <a:pt x="16593" y="19457"/>
                </a:lnTo>
                <a:lnTo>
                  <a:pt x="15712" y="20004"/>
                </a:lnTo>
                <a:lnTo>
                  <a:pt x="14817" y="20550"/>
                </a:lnTo>
                <a:lnTo>
                  <a:pt x="13873" y="21047"/>
                </a:lnTo>
                <a:lnTo>
                  <a:pt x="12864" y="21417"/>
                </a:lnTo>
                <a:lnTo>
                  <a:pt x="11803" y="21600"/>
                </a:lnTo>
                <a:lnTo>
                  <a:pt x="10728" y="21594"/>
                </a:lnTo>
                <a:lnTo>
                  <a:pt x="9667" y="21451"/>
                </a:lnTo>
                <a:lnTo>
                  <a:pt x="8629" y="21230"/>
                </a:lnTo>
                <a:lnTo>
                  <a:pt x="7609" y="20960"/>
                </a:lnTo>
                <a:lnTo>
                  <a:pt x="6611" y="20619"/>
                </a:lnTo>
                <a:lnTo>
                  <a:pt x="5656" y="20168"/>
                </a:lnTo>
                <a:lnTo>
                  <a:pt x="4773" y="19591"/>
                </a:lnTo>
                <a:lnTo>
                  <a:pt x="3971" y="18912"/>
                </a:lnTo>
                <a:lnTo>
                  <a:pt x="3227" y="18179"/>
                </a:lnTo>
                <a:lnTo>
                  <a:pt x="2505" y="17427"/>
                </a:lnTo>
                <a:lnTo>
                  <a:pt x="1791" y="16650"/>
                </a:lnTo>
                <a:lnTo>
                  <a:pt x="1122" y="15813"/>
                </a:lnTo>
                <a:lnTo>
                  <a:pt x="570" y="14885"/>
                </a:lnTo>
                <a:lnTo>
                  <a:pt x="201" y="13871"/>
                </a:lnTo>
                <a:lnTo>
                  <a:pt x="27" y="12806"/>
                </a:lnTo>
                <a:lnTo>
                  <a:pt x="0" y="11734"/>
                </a:lnTo>
                <a:lnTo>
                  <a:pt x="50" y="10677"/>
                </a:lnTo>
                <a:lnTo>
                  <a:pt x="131" y="9633"/>
                </a:lnTo>
                <a:lnTo>
                  <a:pt x="255" y="8594"/>
                </a:lnTo>
                <a:lnTo>
                  <a:pt x="468" y="7564"/>
                </a:lnTo>
                <a:lnTo>
                  <a:pt x="810" y="6568"/>
                </a:lnTo>
                <a:lnTo>
                  <a:pt x="1278" y="5625"/>
                </a:lnTo>
                <a:lnTo>
                  <a:pt x="1836" y="4735"/>
                </a:lnTo>
                <a:lnTo>
                  <a:pt x="2442" y="3875"/>
                </a:lnTo>
                <a:lnTo>
                  <a:pt x="3087" y="3035"/>
                </a:lnTo>
                <a:lnTo>
                  <a:pt x="3801" y="2235"/>
                </a:lnTo>
                <a:lnTo>
                  <a:pt x="4620" y="1535"/>
                </a:lnTo>
                <a:lnTo>
                  <a:pt x="5554" y="995"/>
                </a:lnTo>
                <a:lnTo>
                  <a:pt x="6570" y="636"/>
                </a:lnTo>
                <a:lnTo>
                  <a:pt x="7617" y="421"/>
                </a:lnTo>
                <a:lnTo>
                  <a:pt x="8659" y="276"/>
                </a:lnTo>
                <a:lnTo>
                  <a:pt x="9691" y="149"/>
                </a:lnTo>
                <a:lnTo>
                  <a:pt x="10728" y="40"/>
                </a:lnTo>
                <a:lnTo>
                  <a:pt x="11779" y="0"/>
                </a:lnTo>
                <a:lnTo>
                  <a:pt x="12833" y="90"/>
                </a:lnTo>
                <a:lnTo>
                  <a:pt x="13865" y="333"/>
                </a:lnTo>
                <a:lnTo>
                  <a:pt x="14858" y="705"/>
                </a:lnTo>
                <a:lnTo>
                  <a:pt x="15815" y="1159"/>
                </a:lnTo>
                <a:lnTo>
                  <a:pt x="16746" y="1669"/>
                </a:lnTo>
                <a:lnTo>
                  <a:pt x="17643" y="2250"/>
                </a:lnTo>
                <a:lnTo>
                  <a:pt x="18466" y="2938"/>
                </a:lnTo>
                <a:lnTo>
                  <a:pt x="19163" y="3753"/>
                </a:lnTo>
                <a:lnTo>
                  <a:pt x="19709" y="4675"/>
                </a:lnTo>
                <a:lnTo>
                  <a:pt x="20127" y="5652"/>
                </a:lnTo>
                <a:lnTo>
                  <a:pt x="20480" y="6637"/>
                </a:lnTo>
                <a:lnTo>
                  <a:pt x="20824" y="7614"/>
                </a:lnTo>
                <a:lnTo>
                  <a:pt x="21163" y="8601"/>
                </a:lnTo>
                <a:lnTo>
                  <a:pt x="21447" y="9621"/>
                </a:lnTo>
                <a:lnTo>
                  <a:pt x="21600" y="10677"/>
                </a:lnTo>
                <a:close/>
              </a:path>
            </a:pathLst>
          </a:custGeom>
          <a:solidFill>
            <a:srgbClr val="DFF4EA"/>
          </a:solidFill>
          <a:ln w="22384">
            <a:solidFill>
              <a:srgbClr val="2A9D8F"/>
            </a:solidFill>
          </a:ln>
        </p:spPr>
        <p:txBody>
          <a:bodyPr lIns="0" tIns="0" rIns="0" bIns="0"/>
          <a:lstStyle/>
          <a:p>
            <a:pPr/>
          </a:p>
        </p:txBody>
      </p:sp>
      <p:sp>
        <p:nvSpPr>
          <p:cNvPr id="548" name="Decision"/>
          <p:cNvSpPr txBox="1"/>
          <p:nvPr/>
        </p:nvSpPr>
        <p:spPr>
          <a:xfrm>
            <a:off x="9991725" y="2497486"/>
            <a:ext cx="1276350"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8E7052"/>
                </a:solidFill>
                <a:latin typeface="Chalkboard"/>
                <a:ea typeface="Chalkboard"/>
                <a:cs typeface="Chalkboard"/>
                <a:sym typeface="Chalkboard"/>
              </a:defRPr>
            </a:lvl1pPr>
          </a:lstStyle>
          <a:p>
            <a:pPr/>
            <a:r>
              <a:t>Decision</a:t>
            </a:r>
          </a:p>
        </p:txBody>
      </p:sp>
      <p:sp>
        <p:nvSpPr>
          <p:cNvPr id="549" name="Raw text"/>
          <p:cNvSpPr txBox="1"/>
          <p:nvPr/>
        </p:nvSpPr>
        <p:spPr>
          <a:xfrm>
            <a:off x="628650" y="3954643"/>
            <a:ext cx="1762125" cy="33936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100">
                <a:solidFill>
                  <a:srgbClr val="28282A"/>
                </a:solidFill>
                <a:latin typeface="Chalkboard"/>
                <a:ea typeface="Chalkboard"/>
                <a:cs typeface="Chalkboard"/>
                <a:sym typeface="Chalkboard"/>
              </a:defRPr>
            </a:lvl1pPr>
          </a:lstStyle>
          <a:p>
            <a:pPr/>
            <a:r>
              <a:t>Raw text</a:t>
            </a:r>
          </a:p>
        </p:txBody>
      </p:sp>
      <p:sp>
        <p:nvSpPr>
          <p:cNvPr id="550" name="[1, 1, 1, 0]ᵀ"/>
          <p:cNvSpPr txBox="1"/>
          <p:nvPr/>
        </p:nvSpPr>
        <p:spPr>
          <a:xfrm>
            <a:off x="2914650" y="3929753"/>
            <a:ext cx="1762125" cy="38914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28282A"/>
                </a:solidFill>
                <a:latin typeface="Chalkboard"/>
                <a:ea typeface="Chalkboard"/>
                <a:cs typeface="Chalkboard"/>
                <a:sym typeface="Chalkboard"/>
              </a:defRPr>
            </a:lvl1pPr>
          </a:lstStyle>
          <a:p>
            <a:pPr/>
            <a:r>
              <a:t>[1, 1, 1, 0]ᵀ</a:t>
            </a:r>
          </a:p>
        </p:txBody>
      </p:sp>
      <p:sp>
        <p:nvSpPr>
          <p:cNvPr id="551" name="Weighted layers…"/>
          <p:cNvSpPr txBox="1"/>
          <p:nvPr/>
        </p:nvSpPr>
        <p:spPr>
          <a:xfrm>
            <a:off x="5200650" y="3833740"/>
            <a:ext cx="1762125" cy="5811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a:solidFill>
                  <a:srgbClr val="28282A"/>
                </a:solidFill>
                <a:latin typeface="Chalkboard"/>
                <a:ea typeface="Chalkboard"/>
                <a:cs typeface="Chalkboard"/>
                <a:sym typeface="Chalkboard"/>
              </a:defRPr>
            </a:pPr>
            <a:r>
              <a:t>Weighted layers</a:t>
            </a:r>
          </a:p>
          <a:p>
            <a:pPr algn="ctr">
              <a:defRPr>
                <a:solidFill>
                  <a:srgbClr val="28282A"/>
                </a:solidFill>
                <a:latin typeface="Chalkboard"/>
                <a:ea typeface="Chalkboard"/>
                <a:cs typeface="Chalkboard"/>
                <a:sym typeface="Chalkboard"/>
              </a:defRPr>
            </a:pPr>
            <a:r>
              <a:t>+ ReLU</a:t>
            </a:r>
          </a:p>
        </p:txBody>
      </p:sp>
      <p:sp>
        <p:nvSpPr>
          <p:cNvPr id="552" name="0.94"/>
          <p:cNvSpPr txBox="1"/>
          <p:nvPr/>
        </p:nvSpPr>
        <p:spPr>
          <a:xfrm>
            <a:off x="7486650" y="3935761"/>
            <a:ext cx="1762125" cy="37712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300">
                <a:solidFill>
                  <a:srgbClr val="8E7052"/>
                </a:solidFill>
                <a:latin typeface="Chalkboard"/>
                <a:ea typeface="Chalkboard"/>
                <a:cs typeface="Chalkboard"/>
                <a:sym typeface="Chalkboard"/>
              </a:defRPr>
            </a:lvl1pPr>
          </a:lstStyle>
          <a:p>
            <a:pPr/>
            <a:r>
              <a:t>0.94</a:t>
            </a:r>
          </a:p>
        </p:txBody>
      </p:sp>
      <p:sp>
        <p:nvSpPr>
          <p:cNvPr id="553" name="Spam"/>
          <p:cNvSpPr txBox="1"/>
          <p:nvPr/>
        </p:nvSpPr>
        <p:spPr>
          <a:xfrm>
            <a:off x="9772650" y="3954643"/>
            <a:ext cx="1762125" cy="33936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2100">
                <a:solidFill>
                  <a:srgbClr val="8E7052"/>
                </a:solidFill>
                <a:latin typeface="Chalkboard"/>
                <a:ea typeface="Chalkboard"/>
                <a:cs typeface="Chalkboard"/>
                <a:sym typeface="Chalkboard"/>
              </a:defRPr>
            </a:lvl1pPr>
          </a:lstStyle>
          <a:p>
            <a:pPr/>
            <a:r>
              <a:t>Spam</a:t>
            </a:r>
          </a:p>
        </p:txBody>
      </p:sp>
      <p:sp>
        <p:nvSpPr>
          <p:cNvPr id="554" name="During training"/>
          <p:cNvSpPr txBox="1"/>
          <p:nvPr/>
        </p:nvSpPr>
        <p:spPr>
          <a:xfrm>
            <a:off x="628650" y="5059543"/>
            <a:ext cx="2981325" cy="33936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100">
                <a:solidFill>
                  <a:srgbClr val="424548"/>
                </a:solidFill>
                <a:latin typeface="Chalkboard"/>
                <a:ea typeface="Chalkboard"/>
                <a:cs typeface="Chalkboard"/>
                <a:sym typeface="Chalkboard"/>
              </a:defRPr>
            </a:lvl1pPr>
          </a:lstStyle>
          <a:p>
            <a:pPr/>
            <a:r>
              <a:t>During training</a:t>
            </a:r>
          </a:p>
        </p:txBody>
      </p:sp>
      <p:sp>
        <p:nvSpPr>
          <p:cNvPr id="555" name="Prediction"/>
          <p:cNvSpPr txBox="1"/>
          <p:nvPr/>
        </p:nvSpPr>
        <p:spPr>
          <a:xfrm>
            <a:off x="4010025" y="5084690"/>
            <a:ext cx="169545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Prediction</a:t>
            </a:r>
          </a:p>
        </p:txBody>
      </p:sp>
      <p:sp>
        <p:nvSpPr>
          <p:cNvPr id="556" name="Loss"/>
          <p:cNvSpPr txBox="1"/>
          <p:nvPr/>
        </p:nvSpPr>
        <p:spPr>
          <a:xfrm>
            <a:off x="6438900" y="5084690"/>
            <a:ext cx="95250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Loss</a:t>
            </a:r>
          </a:p>
        </p:txBody>
      </p:sp>
      <p:sp>
        <p:nvSpPr>
          <p:cNvPr id="557" name="Gradients"/>
          <p:cNvSpPr txBox="1"/>
          <p:nvPr/>
        </p:nvSpPr>
        <p:spPr>
          <a:xfrm>
            <a:off x="8143875" y="5084690"/>
            <a:ext cx="1790700" cy="28907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8282A"/>
                </a:solidFill>
                <a:latin typeface="Chalkboard"/>
                <a:ea typeface="Chalkboard"/>
                <a:cs typeface="Chalkboard"/>
                <a:sym typeface="Chalkboard"/>
              </a:defRPr>
            </a:lvl1pPr>
          </a:lstStyle>
          <a:p>
            <a:pPr/>
            <a:r>
              <a:t>Gradients</a:t>
            </a:r>
          </a:p>
        </p:txBody>
      </p:sp>
      <p:sp>
        <p:nvSpPr>
          <p:cNvPr id="558" name="Line"/>
          <p:cNvSpPr/>
          <p:nvPr/>
        </p:nvSpPr>
        <p:spPr>
          <a:xfrm>
            <a:off x="5762625" y="5230429"/>
            <a:ext cx="438151" cy="1398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851"/>
                </a:moveTo>
                <a:lnTo>
                  <a:pt x="1639" y="7799"/>
                </a:lnTo>
                <a:lnTo>
                  <a:pt x="3304" y="3580"/>
                </a:lnTo>
                <a:lnTo>
                  <a:pt x="5386" y="12402"/>
                </a:lnTo>
                <a:lnTo>
                  <a:pt x="7271" y="15086"/>
                </a:lnTo>
                <a:lnTo>
                  <a:pt x="8665" y="2348"/>
                </a:lnTo>
                <a:lnTo>
                  <a:pt x="11079" y="21600"/>
                </a:lnTo>
                <a:lnTo>
                  <a:pt x="12813" y="19513"/>
                </a:lnTo>
                <a:lnTo>
                  <a:pt x="14267" y="8690"/>
                </a:lnTo>
                <a:lnTo>
                  <a:pt x="15972" y="5715"/>
                </a:lnTo>
                <a:lnTo>
                  <a:pt x="17590" y="0"/>
                </a:lnTo>
                <a:lnTo>
                  <a:pt x="19657" y="8378"/>
                </a:lnTo>
                <a:lnTo>
                  <a:pt x="21600" y="12851"/>
                </a:lnTo>
              </a:path>
            </a:pathLst>
          </a:custGeom>
          <a:ln w="20479">
            <a:solidFill>
              <a:srgbClr val="C65D4B"/>
            </a:solidFill>
            <a:prstDash val="dashDot"/>
          </a:ln>
        </p:spPr>
        <p:txBody>
          <a:bodyPr lIns="0" tIns="0" rIns="0" bIns="0"/>
          <a:lstStyle/>
          <a:p>
            <a:pPr/>
          </a:p>
        </p:txBody>
      </p:sp>
      <p:sp>
        <p:nvSpPr>
          <p:cNvPr id="559" name="Line"/>
          <p:cNvSpPr/>
          <p:nvPr/>
        </p:nvSpPr>
        <p:spPr>
          <a:xfrm>
            <a:off x="6106431" y="519317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7B6BA8"/>
            </a:solidFill>
          </a:ln>
        </p:spPr>
        <p:txBody>
          <a:bodyPr lIns="0" tIns="0" rIns="0" bIns="0"/>
          <a:lstStyle/>
          <a:p>
            <a:pPr/>
          </a:p>
        </p:txBody>
      </p:sp>
      <p:sp>
        <p:nvSpPr>
          <p:cNvPr id="560" name="Line"/>
          <p:cNvSpPr/>
          <p:nvPr/>
        </p:nvSpPr>
        <p:spPr>
          <a:xfrm>
            <a:off x="7448550" y="5230235"/>
            <a:ext cx="485776" cy="145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643"/>
                </a:moveTo>
                <a:lnTo>
                  <a:pt x="1588" y="5573"/>
                </a:lnTo>
                <a:lnTo>
                  <a:pt x="3545" y="10807"/>
                </a:lnTo>
                <a:lnTo>
                  <a:pt x="5125" y="3457"/>
                </a:lnTo>
                <a:lnTo>
                  <a:pt x="6983" y="5386"/>
                </a:lnTo>
                <a:lnTo>
                  <a:pt x="8772" y="5035"/>
                </a:lnTo>
                <a:lnTo>
                  <a:pt x="11068" y="21600"/>
                </a:lnTo>
                <a:lnTo>
                  <a:pt x="12822" y="20062"/>
                </a:lnTo>
                <a:lnTo>
                  <a:pt x="14129" y="3592"/>
                </a:lnTo>
                <a:lnTo>
                  <a:pt x="15821" y="0"/>
                </a:lnTo>
                <a:lnTo>
                  <a:pt x="18177" y="18559"/>
                </a:lnTo>
                <a:lnTo>
                  <a:pt x="19808" y="12902"/>
                </a:lnTo>
                <a:lnTo>
                  <a:pt x="21600" y="12643"/>
                </a:lnTo>
              </a:path>
            </a:pathLst>
          </a:custGeom>
          <a:ln w="20479">
            <a:solidFill>
              <a:srgbClr val="2A9D8F"/>
            </a:solidFill>
          </a:ln>
        </p:spPr>
        <p:txBody>
          <a:bodyPr lIns="0" tIns="0" rIns="0" bIns="0"/>
          <a:lstStyle/>
          <a:p>
            <a:pPr/>
          </a:p>
        </p:txBody>
      </p:sp>
      <p:sp>
        <p:nvSpPr>
          <p:cNvPr id="561" name="Line"/>
          <p:cNvSpPr/>
          <p:nvPr/>
        </p:nvSpPr>
        <p:spPr>
          <a:xfrm>
            <a:off x="7839981" y="5193176"/>
            <a:ext cx="94345" cy="911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1600" y="10800"/>
                </a:lnTo>
                <a:lnTo>
                  <a:pt x="0" y="0"/>
                </a:lnTo>
              </a:path>
            </a:pathLst>
          </a:custGeom>
          <a:ln w="20479">
            <a:solidFill>
              <a:srgbClr val="C65D4B"/>
            </a:solidFill>
            <a:prstDash val="dashDot"/>
          </a:ln>
        </p:spPr>
        <p:txBody>
          <a:bodyPr lIns="0" tIns="0" rIns="0" bIns="0"/>
          <a:lstStyle/>
          <a:p>
            <a:pPr/>
          </a:p>
        </p:txBody>
      </p:sp>
      <p:sp>
        <p:nvSpPr>
          <p:cNvPr id="562" name="An MLP learns weighted connections that turn numeric inputs into predictions."/>
          <p:cNvSpPr txBox="1"/>
          <p:nvPr/>
        </p:nvSpPr>
        <p:spPr>
          <a:xfrm>
            <a:off x="628650" y="5967353"/>
            <a:ext cx="10906125" cy="2096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62616A"/>
                </a:solidFill>
                <a:latin typeface="Arial"/>
                <a:ea typeface="Arial"/>
                <a:cs typeface="Arial"/>
                <a:sym typeface="Arial"/>
              </a:defRPr>
            </a:lvl1pPr>
          </a:lstStyle>
          <a:p>
            <a:pPr/>
            <a:r>
              <a:t>An MLP learns weighted connections that turn numeric inputs into predictions.</a:t>
            </a:r>
          </a:p>
        </p:txBody>
      </p:sp>
      <p:sp>
        <p:nvSpPr>
          <p:cNvPr id="563" name="Line"/>
          <p:cNvSpPr/>
          <p:nvPr/>
        </p:nvSpPr>
        <p:spPr>
          <a:xfrm>
            <a:off x="628650" y="1562100"/>
            <a:ext cx="1619251" cy="0"/>
          </a:xfrm>
          <a:prstGeom prst="line">
            <a:avLst/>
          </a:prstGeom>
          <a:ln w="14288">
            <a:solidFill>
              <a:srgbClr val="C9AD7E"/>
            </a:solidFill>
          </a:ln>
        </p:spPr>
        <p:txBody>
          <a:bodyPr lIns="0" tIns="0" rIns="0" bIns="0"/>
          <a:lstStyle/>
          <a:p>
            <a:pPr/>
          </a:p>
        </p:txBody>
      </p:sp>
      <p:sp>
        <p:nvSpPr>
          <p:cNvPr id="564" name="Line"/>
          <p:cNvSpPr/>
          <p:nvPr/>
        </p:nvSpPr>
        <p:spPr>
          <a:xfrm>
            <a:off x="609600" y="6429375"/>
            <a:ext cx="10972801" cy="0"/>
          </a:xfrm>
          <a:prstGeom prst="line">
            <a:avLst/>
          </a:prstGeom>
          <a:ln w="7620">
            <a:solidFill>
              <a:srgbClr val="D9CDBB"/>
            </a:solidFill>
          </a:ln>
        </p:spPr>
        <p:txBody>
          <a:bodyPr lIns="0" tIns="0" rIns="0" bIns="0"/>
          <a:lstStyle/>
          <a:p>
            <a:pP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905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905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Helvetica"/>
        <a:ea typeface="Helvetica"/>
        <a:cs typeface="Helvetica"/>
      </a:majorFont>
      <a:minorFont>
        <a:latin typeface="Helvetica Neue"/>
        <a:ea typeface="Helvetica Neue"/>
        <a:cs typeface="Helvetica Neue"/>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9050" cap="flat">
          <a:solidFill>
            <a:schemeClr val="accent1"/>
          </a:solidFill>
          <a:prstDash val="solid"/>
          <a:round/>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905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0" tIns="0" rIns="0" bIns="0"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