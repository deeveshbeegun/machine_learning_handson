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Override PartName="/ppt/slides/slide14.xml" ContentType="application/vnd.openxmlformats-officedocument.presentationml.slide+xml"/>
  <Override PartName="/ppt/expanded/slideLayouts/slideLayout1.xml" ContentType="application/vnd.openxmlformats-officedocument.presentationml.slideLayout+xml"/>
  <Override PartName="/ppt/expanded/slideMasters/slideMaster1.xml" ContentType="application/vnd.openxmlformats-officedocument.presentationml.slideMaster+xml"/>
  <Override PartName="/ppt/expanded/slideMasters/theme/theme2.xml" ContentType="application/vnd.openxmlformats-officedocument.theme+xml"/>
  <Override PartName="/ppt/expanded/notesSlides/notesSlide1.xml" ContentType="application/vnd.openxmlformats-officedocument.presentationml.notesSlide+xml"/>
  <Override PartName="/ppt/expanded/notesMasters/notesMaster1.xml" ContentType="application/vnd.openxmlformats-officedocument.presentationml.notesMaster+xml"/>
  <Override PartName="/ppt/expanded/notesMasters/theme/theme3.xml" ContentType="application/vnd.openxmlformats-officedocument.theme+xml"/>
  <Override PartName="/ppt/slides/slide15.xml" ContentType="application/vnd.openxmlformats-officedocument.presentationml.slide+xml"/>
  <Override PartName="/ppt/expanded/notesSlides/notesSlide2.xml" ContentType="application/vnd.openxmlformats-officedocument.presentationml.notesSlide+xml"/>
  <Override PartName="/ppt/slides/slide16.xml" ContentType="application/vnd.openxmlformats-officedocument.presentationml.slide+xml"/>
  <Override PartName="/ppt/expanded/notesSlides/notesSlide3.xml" ContentType="application/vnd.openxmlformats-officedocument.presentationml.notesSlide+xml"/>
  <Override PartName="/ppt/slides/slide17.xml" ContentType="application/vnd.openxmlformats-officedocument.presentationml.slide+xml"/>
  <Override PartName="/ppt/expanded/slides/charts/chart1.xml" ContentType="application/vnd.openxmlformats-officedocument.drawingml.chart+xml"/>
  <Override PartName="/ppt/expanded/notesSlides/notesSlide4.xml" ContentType="application/vnd.openxmlformats-officedocument.presentationml.notesSlide+xml"/>
  <Override PartName="/ppt/slides/slide18.xml" ContentType="application/vnd.openxmlformats-officedocument.presentationml.slide+xml"/>
  <Override PartName="/ppt/expanded/slides/charts/chart2.xml" ContentType="application/vnd.openxmlformats-officedocument.drawingml.chart+xml"/>
  <Override PartName="/ppt/expanded/slides/charts/chart3.xml" ContentType="application/vnd.openxmlformats-officedocument.drawingml.chart+xml"/>
  <Override PartName="/ppt/expanded/notesSlides/notesSlide5.xml" ContentType="application/vnd.openxmlformats-officedocument.presentationml.notesSlide+xml"/>
  <Override PartName="/ppt/slides/slide19.xml" ContentType="application/vnd.openxmlformats-officedocument.presentationml.slide+xml"/>
  <Override PartName="/ppt/expanded/slides/charts/chart4.xml" ContentType="application/vnd.openxmlformats-officedocument.drawingml.chart+xml"/>
  <Override PartName="/ppt/expanded/notesSlides/notesSlide6.xml" ContentType="application/vnd.openxmlformats-officedocument.presentationml.notesSlide+xml"/>
  <Override PartName="/ppt/slides/slide20.xml" ContentType="application/vnd.openxmlformats-officedocument.presentationml.slide+xml"/>
  <Override PartName="/ppt/expanded/slides/charts/chart5.xml" ContentType="application/vnd.openxmlformats-officedocument.drawingml.chart+xml"/>
  <Override PartName="/ppt/expanded/notesSlides/notesSlide7.xml" ContentType="application/vnd.openxmlformats-officedocument.presentationml.notesSlide+xml"/>
  <Override PartName="/ppt/slides/slide21.xml" ContentType="application/vnd.openxmlformats-officedocument.presentationml.slide+xml"/>
  <Override PartName="/ppt/expanded/slides/charts/chart6.xml" ContentType="application/vnd.openxmlformats-officedocument.drawingml.chart+xml"/>
  <Override PartName="/ppt/expanded/notesSlides/notesSlide8.xml" ContentType="application/vnd.openxmlformats-officedocument.presentationml.notesSlide+xml"/>
  <Override PartName="/ppt/slides/slide22.xml" ContentType="application/vnd.openxmlformats-officedocument.presentationml.slide+xml"/>
  <Override PartName="/ppt/expanded/notesSlides/notesSlide9.xml" ContentType="application/vnd.openxmlformats-officedocument.presentationml.notesSlide+xml"/>
  <Override PartName="/ppt/slides/slide23.xml" ContentType="application/vnd.openxmlformats-officedocument.presentationml.slide+xml"/>
  <Override PartName="/ppt/expanded/notesSlides/notesSlide10.xml" ContentType="application/vnd.openxmlformats-officedocument.presentationml.notesSlide+xml"/>
  <Override PartName="/ppt/slides/slide24.xml" ContentType="application/vnd.openxmlformats-officedocument.presentationml.slide+xml"/>
  <Override PartName="/ppt/expanded/slides/charts/chart7.xml" ContentType="application/vnd.openxmlformats-officedocument.drawingml.chart+xml"/>
  <Override PartName="/ppt/expanded/notesSlides/notesSlide11.xml" ContentType="application/vnd.openxmlformats-officedocument.presentationml.notesSlide+xml"/>
  <Override PartName="/ppt/slides/slide25.xml" ContentType="application/vnd.openxmlformats-officedocument.presentationml.slide+xml"/>
  <Override PartName="/ppt/expanded/slides/charts/chart8.xml" ContentType="application/vnd.openxmlformats-officedocument.drawingml.chart+xml"/>
  <Override PartName="/ppt/expanded/notesSlides/notesSlide12.xml" ContentType="application/vnd.openxmlformats-officedocument.presentationml.notesSlide+xml"/>
  <Override PartName="/ppt/slides/slide26.xml" ContentType="application/vnd.openxmlformats-officedocument.presentationml.slide+xml"/>
  <Override PartName="/ppt/gradientsection/slideLayouts/slideLayout1.xml" ContentType="application/vnd.openxmlformats-officedocument.presentationml.slideLayout+xml"/>
  <Override PartName="/ppt/gradientsection/slideMasters/slideMaster1.xml" ContentType="application/vnd.openxmlformats-officedocument.presentationml.slideMaster+xml"/>
  <Override PartName="/ppt/gradientsection/slideMasters/theme/theme2.xml" ContentType="application/vnd.openxmlformats-officedocument.theme+xml"/>
  <Override PartName="/ppt/gradientsection/notesSlides/notesSlide1.xml" ContentType="application/vnd.openxmlformats-officedocument.presentationml.notesSlide+xml"/>
  <Override PartName="/ppt/gradientsection/notesMasters/notesMaster1.xml" ContentType="application/vnd.openxmlformats-officedocument.presentationml.notesMaster+xml"/>
  <Override PartName="/ppt/gradientsection/notesMasters/theme/theme3.xml" ContentType="application/vnd.openxmlformats-officedocument.theme+xml"/>
  <Override PartName="/ppt/slides/slide27.xml" ContentType="application/vnd.openxmlformats-officedocument.presentationml.slide+xml"/>
  <Override PartName="/ppt/gradientsection/slides/charts/chart1.xml" ContentType="application/vnd.openxmlformats-officedocument.drawingml.chart+xml"/>
  <Override PartName="/ppt/gradientsection/notesSlides/notesSlide2.xml" ContentType="application/vnd.openxmlformats-officedocument.presentationml.notesSlide+xml"/>
  <Override PartName="/ppt/slides/slide28.xml" ContentType="application/vnd.openxmlformats-officedocument.presentationml.slide+xml"/>
  <Override PartName="/ppt/gradientsection/slides/charts/chart2.xml" ContentType="application/vnd.openxmlformats-officedocument.drawingml.chart+xml"/>
  <Override PartName="/ppt/gradientsection/notesSlides/notesSlide3.xml" ContentType="application/vnd.openxmlformats-officedocument.presentationml.notesSlide+xml"/>
  <Override PartName="/ppt/slides/slide29.xml" ContentType="application/vnd.openxmlformats-officedocument.presentationml.slide+xml"/>
  <Override PartName="/ppt/gradientsection/slides/charts/chart3.xml" ContentType="application/vnd.openxmlformats-officedocument.drawingml.chart+xml"/>
  <Override PartName="/ppt/gradientsection/notesSlides/notesSlide4.xml" ContentType="application/vnd.openxmlformats-officedocument.presentationml.notesSlide+xml"/>
  <Override PartName="/ppt/slides/slide30.xml" ContentType="application/vnd.openxmlformats-officedocument.presentationml.slide+xml"/>
  <Override PartName="/ppt/gradientsection/notesSlides/notesSlide5.xml" ContentType="application/vnd.openxmlformats-officedocument.presentationml.notesSlide+xml"/>
  <Override PartName="/ppt/slides/slide31.xml" ContentType="application/vnd.openxmlformats-officedocument.presentationml.slide+xml"/>
  <Override PartName="/ppt/notesection/slideLayouts/slideLayout1.xml" ContentType="application/vnd.openxmlformats-officedocument.presentationml.slideLayout+xml"/>
  <Override PartName="/ppt/notesection/slideMasters/slideMaster1.xml" ContentType="application/vnd.openxmlformats-officedocument.presentationml.slideMaster+xml"/>
  <Override PartName="/ppt/notesection/slideMasters/theme/theme2.xml" ContentType="application/vnd.openxmlformats-officedocument.theme+xml"/>
  <Override PartName="/ppt/notesection/slides/charts/chart1.xml" ContentType="application/vnd.openxmlformats-officedocument.drawingml.chart+xml"/>
  <Override PartName="/ppt/notesection/notesSlides/notesSlide1.xml" ContentType="application/vnd.openxmlformats-officedocument.presentationml.notesSlide+xml"/>
  <Override PartName="/ppt/notesection/notesMasters/notesMaster1.xml" ContentType="application/vnd.openxmlformats-officedocument.presentationml.notesMaster+xml"/>
  <Override PartName="/ppt/notesection/notesMasters/theme/theme3.xml" ContentType="application/vnd.openxmlformats-officedocument.theme+xml"/>
  <Override PartName="/ppt/slides/slide32.xml" ContentType="application/vnd.openxmlformats-officedocument.presentationml.slide+xml"/>
  <Override PartName="/ppt/notesection/notesSlides/notesSlide2.xml" ContentType="application/vnd.openxmlformats-officedocument.presentationml.notesSlide+xml"/>
  <Override PartName="/ppt/slides/slide33.xml" ContentType="application/vnd.openxmlformats-officedocument.presentationml.slide+xml"/>
  <Override PartName="/ppt/notesection/notesSlides/notesSlide3.xml" ContentType="application/vnd.openxmlformats-officedocument.presentationml.notesSlide+xml"/>
  <Override PartName="/ppt/slides/slide34.xml" ContentType="application/vnd.openxmlformats-officedocument.presentationml.slide+xml"/>
  <Override PartName="/ppt/notesection/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f1f208d46d4c12" /><Relationship Type="http://schemas.openxmlformats.org/officeDocument/2006/relationships/extended-properties" Target="/docProps/app.xml" Id="Rf329c4c60e2240c1" /><Relationship Type="http://schemas.openxmlformats.org/officeDocument/2006/relationships/officeDocument" Target="/ppt/presentation.xml" Id="Re548839ad9b4423f" /></Relationships>
</file>

<file path=ppt/presentation.xml><?xml version="1.0" encoding="utf-8"?>
<p:presentation xmlns:p="http://schemas.openxmlformats.org/presentationml/2006/main">
  <p:sldMasterIdLst>
    <p:sldMasterId xmlns:r="http://schemas.openxmlformats.org/officeDocument/2006/relationships" id="2147483648" r:id="Reac8d7a5b57c4a4e"/>
  </p:sldMasterIdLst>
  <p:notesMasterIdLst>
    <p:notesMasterId xmlns:r="http://schemas.openxmlformats.org/officeDocument/2006/relationships" r:id="Rb689a28cc0a44895"/>
  </p:notesMasterIdLst>
  <p:sldIdLst>
    <p:sldId xmlns:r="http://schemas.openxmlformats.org/officeDocument/2006/relationships" id="256" r:id="Ra8f01224b3244028"/>
    <p:sldId xmlns:ns1="http://schemas.openxmlformats.org/officeDocument/2006/relationships" id="1001" ns1:id="expandedSlide1"/>
    <p:sldId xmlns:ns1="http://schemas.openxmlformats.org/officeDocument/2006/relationships" id="1002" ns1:id="expandedSlide2"/>
    <p:sldId xmlns:ns1="http://schemas.openxmlformats.org/officeDocument/2006/relationships" id="1003" ns1:id="expandedSlide3"/>
    <p:sldId xmlns:r="http://schemas.openxmlformats.org/officeDocument/2006/relationships" id="257" r:id="R4b6c3aa7c3204247"/>
    <p:sldId xmlns:ns1="http://schemas.openxmlformats.org/officeDocument/2006/relationships" id="1004" ns1:id="expandedSlide4"/>
    <p:sldId xmlns:r="http://schemas.openxmlformats.org/officeDocument/2006/relationships" id="258" r:id="R6377652374214f90"/>
    <p:sldId xmlns:r="http://schemas.openxmlformats.org/officeDocument/2006/relationships" id="259" r:id="R6c9941cc17a84532"/>
    <p:sldId xmlns:r="http://schemas.openxmlformats.org/officeDocument/2006/relationships" id="260" r:id="R0d647981ded74806"/>
    <p:sldId xmlns:ns1="http://schemas.openxmlformats.org/officeDocument/2006/relationships" id="1005" ns1:id="expandedSlide5"/>
    <p:sldId xmlns:r="http://schemas.openxmlformats.org/officeDocument/2006/relationships" id="261" r:id="R295db8c038e6440a"/>
    <p:sldId xmlns:r="http://schemas.openxmlformats.org/officeDocument/2006/relationships" id="262" r:id="Rad274c8d7e754ccb"/>
    <p:sldId xmlns:ns1="http://schemas.openxmlformats.org/officeDocument/2006/relationships" id="1006" ns1:id="expandedSlide6"/>
    <p:sldId xmlns:r="http://schemas.openxmlformats.org/officeDocument/2006/relationships" id="263" r:id="R7efc0c33187541cb"/>
    <p:sldId xmlns:ns1="http://schemas.openxmlformats.org/officeDocument/2006/relationships" id="1007" ns1:id="expandedSlide7"/>
    <p:sldId xmlns:r="http://schemas.openxmlformats.org/officeDocument/2006/relationships" id="264" r:id="R0620a59b6c4b4f75"/>
    <p:sldId xmlns:r="http://schemas.openxmlformats.org/officeDocument/2006/relationships" id="265" r:id="R38a0dfd0c5de4f15"/>
    <p:sldId xmlns:ns1="http://schemas.openxmlformats.org/officeDocument/2006/relationships" id="1008" ns1:id="expandedSlide8"/>
    <p:sldId xmlns:r="http://schemas.openxmlformats.org/officeDocument/2006/relationships" id="266" r:id="Rb37dd4424a4042b9"/>
    <p:sldId xmlns:ns1="http://schemas.openxmlformats.org/officeDocument/2006/relationships" id="1009" ns1:id="expandedSlide9"/>
    <p:sldId xmlns:r="http://schemas.openxmlformats.org/officeDocument/2006/relationships" id="267" r:id="R4d34350d9e7c4515"/>
    <p:sldId xmlns:ns1="http://schemas.openxmlformats.org/officeDocument/2006/relationships" id="1010" ns1:id="expandedSlide10"/>
    <p:sldId xmlns:ns1="http://schemas.openxmlformats.org/officeDocument/2006/relationships" id="2001" ns1:id="gradientSlide1"/>
    <p:sldId xmlns:ns1="http://schemas.openxmlformats.org/officeDocument/2006/relationships" id="2002" ns1:id="gradientSlide2"/>
    <p:sldId xmlns:ns1="http://schemas.openxmlformats.org/officeDocument/2006/relationships" id="3001" ns1:id="notesSlide1"/>
    <p:sldId xmlns:ns1="http://schemas.openxmlformats.org/officeDocument/2006/relationships" id="2003" ns1:id="gradientSlide3"/>
    <p:sldId xmlns:ns1="http://schemas.openxmlformats.org/officeDocument/2006/relationships" id="2004" ns1:id="gradientSlide4"/>
    <p:sldId xmlns:ns1="http://schemas.openxmlformats.org/officeDocument/2006/relationships" id="2005" ns1:id="gradientSlide5"/>
    <p:sldId xmlns:ns1="http://schemas.openxmlformats.org/officeDocument/2006/relationships" id="3002" ns1:id="notesSlide2"/>
    <p:sldId xmlns:ns1="http://schemas.openxmlformats.org/officeDocument/2006/relationships" id="3003" ns1:id="notesSlide3"/>
    <p:sldId xmlns:ns1="http://schemas.openxmlformats.org/officeDocument/2006/relationships" id="1011" ns1:id="expandedSlide11"/>
    <p:sldId xmlns:ns1="http://schemas.openxmlformats.org/officeDocument/2006/relationships" id="1012" ns1:id="expandedSlide12"/>
    <p:sldId xmlns:ns1="http://schemas.openxmlformats.org/officeDocument/2006/relationships" id="3004" ns1:id="notesSlide4"/>
    <p:sldId xmlns:r="http://schemas.openxmlformats.org/officeDocument/2006/relationships" id="268" r:id="R5059de0e05b040a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3e7ce68583a04d48"/><Relationship Type="http://schemas.openxmlformats.org/officeDocument/2006/relationships/slideMaster" Target="/ppt/slideMasters/slideMaster1.xml" Id="Reac8d7a5b57c4a4e"/><Relationship Type="http://schemas.openxmlformats.org/officeDocument/2006/relationships/notesMaster" Target="/ppt/notesMasters/notesMaster1.xml" Id="Rb689a28cc0a44895"/><Relationship Type="http://schemas.openxmlformats.org/officeDocument/2006/relationships/presProps" Target="/ppt/presProps.xml" Id="R74af38a14ad74f9f"/><Relationship Type="http://schemas.openxmlformats.org/officeDocument/2006/relationships/tableStyles" Target="/ppt/tableStyles.xml" Id="R12b79b577f8b469d"/><Relationship Type="http://schemas.openxmlformats.org/officeDocument/2006/relationships/slide" Target="/ppt/slides/slide1.xml" Id="Ra8f01224b3244028"/><Relationship Type="http://schemas.openxmlformats.org/officeDocument/2006/relationships/slide" Target="/ppt/slides/slide2.xml" Id="R4b6c3aa7c3204247"/><Relationship Type="http://schemas.openxmlformats.org/officeDocument/2006/relationships/slide" Target="/ppt/slides/slide3.xml" Id="R6377652374214f90"/><Relationship Type="http://schemas.openxmlformats.org/officeDocument/2006/relationships/slide" Target="/ppt/slides/slide4.xml" Id="R6c9941cc17a84532"/><Relationship Type="http://schemas.openxmlformats.org/officeDocument/2006/relationships/slide" Target="/ppt/slides/slide5.xml" Id="R0d647981ded74806"/><Relationship Type="http://schemas.openxmlformats.org/officeDocument/2006/relationships/slide" Target="/ppt/slides/slide6.xml" Id="R295db8c038e6440a"/><Relationship Type="http://schemas.openxmlformats.org/officeDocument/2006/relationships/slide" Target="/ppt/slides/slide7.xml" Id="Rad274c8d7e754ccb"/><Relationship Type="http://schemas.openxmlformats.org/officeDocument/2006/relationships/slide" Target="/ppt/slides/slide8.xml" Id="R7efc0c33187541cb"/><Relationship Type="http://schemas.openxmlformats.org/officeDocument/2006/relationships/slide" Target="/ppt/slides/slide9.xml" Id="R0620a59b6c4b4f75"/><Relationship Type="http://schemas.openxmlformats.org/officeDocument/2006/relationships/slide" Target="/ppt/slides/slide10.xml" Id="R38a0dfd0c5de4f15"/><Relationship Type="http://schemas.openxmlformats.org/officeDocument/2006/relationships/slide" Target="/ppt/slides/slide11.xml" Id="Rb37dd4424a4042b9"/><Relationship Type="http://schemas.openxmlformats.org/officeDocument/2006/relationships/slide" Target="/ppt/slides/slide12.xml" Id="R4d34350d9e7c4515"/><Relationship Type="http://schemas.openxmlformats.org/officeDocument/2006/relationships/slide" Target="/ppt/slides/slide13.xml" Id="R5059de0e05b040ac"/><Relationship Id="expandedSlide1" Type="http://schemas.openxmlformats.org/officeDocument/2006/relationships/slide" Target="/ppt/slides/slide14.xml"/><Relationship Id="expandedSlide2" Type="http://schemas.openxmlformats.org/officeDocument/2006/relationships/slide" Target="/ppt/slides/slide15.xml"/><Relationship Id="expandedSlide3" Type="http://schemas.openxmlformats.org/officeDocument/2006/relationships/slide" Target="/ppt/slides/slide16.xml"/><Relationship Id="expandedSlide4" Type="http://schemas.openxmlformats.org/officeDocument/2006/relationships/slide" Target="/ppt/slides/slide17.xml"/><Relationship Id="expandedSlide5" Type="http://schemas.openxmlformats.org/officeDocument/2006/relationships/slide" Target="/ppt/slides/slide18.xml"/><Relationship Id="expandedSlide6" Type="http://schemas.openxmlformats.org/officeDocument/2006/relationships/slide" Target="/ppt/slides/slide19.xml"/><Relationship Id="expandedSlide7" Type="http://schemas.openxmlformats.org/officeDocument/2006/relationships/slide" Target="/ppt/slides/slide20.xml"/><Relationship Id="expandedSlide8" Type="http://schemas.openxmlformats.org/officeDocument/2006/relationships/slide" Target="/ppt/slides/slide21.xml"/><Relationship Id="expandedSlide9" Type="http://schemas.openxmlformats.org/officeDocument/2006/relationships/slide" Target="/ppt/slides/slide22.xml"/><Relationship Id="expandedSlide10" Type="http://schemas.openxmlformats.org/officeDocument/2006/relationships/slide" Target="/ppt/slides/slide23.xml"/><Relationship Id="expandedSlide11" Type="http://schemas.openxmlformats.org/officeDocument/2006/relationships/slide" Target="/ppt/slides/slide24.xml"/><Relationship Id="expandedSlide12" Type="http://schemas.openxmlformats.org/officeDocument/2006/relationships/slide" Target="/ppt/slides/slide25.xml"/><Relationship Id="gradientSlide1" Type="http://schemas.openxmlformats.org/officeDocument/2006/relationships/slide" Target="/ppt/slides/slide26.xml"/><Relationship Id="gradientSlide2" Type="http://schemas.openxmlformats.org/officeDocument/2006/relationships/slide" Target="/ppt/slides/slide27.xml"/><Relationship Id="gradientSlide3" Type="http://schemas.openxmlformats.org/officeDocument/2006/relationships/slide" Target="/ppt/slides/slide28.xml"/><Relationship Id="gradientSlide4" Type="http://schemas.openxmlformats.org/officeDocument/2006/relationships/slide" Target="/ppt/slides/slide29.xml"/><Relationship Id="gradientSlide5" Type="http://schemas.openxmlformats.org/officeDocument/2006/relationships/slide" Target="/ppt/slides/slide30.xml"/><Relationship Id="notesSlide1" Type="http://schemas.openxmlformats.org/officeDocument/2006/relationships/slide" Target="/ppt/slides/slide31.xml"/><Relationship Id="notesSlide2" Type="http://schemas.openxmlformats.org/officeDocument/2006/relationships/slide" Target="/ppt/slides/slide32.xml"/><Relationship Id="notesSlide3" Type="http://schemas.openxmlformats.org/officeDocument/2006/relationships/slide" Target="/ppt/slides/slide33.xml"/><Relationship Id="notesSlide4" Type="http://schemas.openxmlformats.org/officeDocument/2006/relationships/slide" Target="/ppt/slides/slide34.xml"/></Relationships>
</file>

<file path=ppt/expanded/notesMasters/_rels/notesMaster1.xml.rels><?xml version='1.0' encoding='UTF-8'?>
<Relationships xmlns="http://schemas.openxmlformats.org/package/2006/relationships"><Relationship Type="http://schemas.openxmlformats.org/officeDocument/2006/relationships/theme" Target="/ppt/expanded/notesMasters/theme/theme3.xml" Id="R2adc0f618bcd448f"/></Relationships>
</file>

<file path=ppt/expanded/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expanded/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expanded/notesSlides/_rels/notesSlide1.xml.rels><?xml version='1.0' encoding='UTF-8'?>
<Relationships xmlns="http://schemas.openxmlformats.org/package/2006/relationships"><Relationship Type="http://schemas.openxmlformats.org/officeDocument/2006/relationships/slide" Target="/ppt/slides/slide14.xml" Id="R51515113e93b424b"/><Relationship Type="http://schemas.openxmlformats.org/officeDocument/2006/relationships/notesMaster" Target="/ppt/expanded/notesMasters/notesMaster1.xml" Id="R26944de41c9d49f3"/></Relationships>
</file>

<file path=ppt/expanded/notesSlides/_rels/notesSlide2.xml.rels><?xml version='1.0' encoding='UTF-8'?>
<Relationships xmlns="http://schemas.openxmlformats.org/package/2006/relationships"><Relationship Type="http://schemas.openxmlformats.org/officeDocument/2006/relationships/slide" Target="/ppt/slides/slide15.xml" Id="R25f4eeb8d12547e2"/><Relationship Type="http://schemas.openxmlformats.org/officeDocument/2006/relationships/notesMaster" Target="/ppt/expanded/notesMasters/notesMaster1.xml" Id="R746f9491614b4926"/></Relationships>
</file>

<file path=ppt/expanded/notesSlides/_rels/notesSlide3.xml.rels><?xml version='1.0' encoding='UTF-8'?>
<Relationships xmlns="http://schemas.openxmlformats.org/package/2006/relationships"><Relationship Type="http://schemas.openxmlformats.org/officeDocument/2006/relationships/slide" Target="/ppt/slides/slide16.xml" Id="R731026cc1fde4fe9"/><Relationship Type="http://schemas.openxmlformats.org/officeDocument/2006/relationships/notesMaster" Target="/ppt/expanded/notesMasters/notesMaster1.xml" Id="Rdcd9eab4f1e1428f"/></Relationships>
</file>

<file path=ppt/expanded/notesSlides/_rels/notesSlide4.xml.rels><?xml version='1.0' encoding='UTF-8'?>
<Relationships xmlns="http://schemas.openxmlformats.org/package/2006/relationships"><Relationship Type="http://schemas.openxmlformats.org/officeDocument/2006/relationships/slide" Target="/ppt/slides/slide17.xml" Id="Rb3708aa13f404afd"/><Relationship Type="http://schemas.openxmlformats.org/officeDocument/2006/relationships/notesMaster" Target="/ppt/expanded/notesMasters/notesMaster1.xml" Id="Rd2fd3ccd3d3e4e53"/></Relationships>
</file>

<file path=ppt/expanded/notesSlides/_rels/notesSlide5.xml.rels><?xml version='1.0' encoding='UTF-8'?>
<Relationships xmlns="http://schemas.openxmlformats.org/package/2006/relationships"><Relationship Type="http://schemas.openxmlformats.org/officeDocument/2006/relationships/slide" Target="/ppt/slides/slide18.xml" Id="Rd270baaba32c41e9"/><Relationship Type="http://schemas.openxmlformats.org/officeDocument/2006/relationships/notesMaster" Target="/ppt/expanded/notesMasters/notesMaster1.xml" Id="Rb9487ae1bd7a4465"/></Relationships>
</file>

<file path=ppt/expanded/notesSlides/_rels/notesSlide6.xml.rels><?xml version='1.0' encoding='UTF-8'?>
<Relationships xmlns="http://schemas.openxmlformats.org/package/2006/relationships"><Relationship Type="http://schemas.openxmlformats.org/officeDocument/2006/relationships/slide" Target="/ppt/slides/slide19.xml" Id="R558f39168cd44165"/><Relationship Type="http://schemas.openxmlformats.org/officeDocument/2006/relationships/notesMaster" Target="/ppt/expanded/notesMasters/notesMaster1.xml" Id="R2503eb85916643cd"/></Relationships>
</file>

<file path=ppt/expanded/notesSlides/_rels/notesSlide7.xml.rels><?xml version='1.0' encoding='UTF-8'?>
<Relationships xmlns="http://schemas.openxmlformats.org/package/2006/relationships"><Relationship Type="http://schemas.openxmlformats.org/officeDocument/2006/relationships/slide" Target="/ppt/slides/slide20.xml" Id="R27535cbde31a4cf4"/><Relationship Type="http://schemas.openxmlformats.org/officeDocument/2006/relationships/notesMaster" Target="/ppt/expanded/notesMasters/notesMaster1.xml" Id="R3b3690e920484b17"/></Relationships>
</file>

<file path=ppt/expanded/notesSlides/_rels/notesSlide8.xml.rels><?xml version='1.0' encoding='UTF-8'?>
<Relationships xmlns="http://schemas.openxmlformats.org/package/2006/relationships"><Relationship Type="http://schemas.openxmlformats.org/officeDocument/2006/relationships/slide" Target="/ppt/slides/slide21.xml" Id="R262cd457fb594dad"/><Relationship Type="http://schemas.openxmlformats.org/officeDocument/2006/relationships/notesMaster" Target="/ppt/expanded/notesMasters/notesMaster1.xml" Id="R225fc8801581475a"/></Relationships>
</file>

<file path=ppt/expanded/notesSlides/_rels/notesSlide9.xml.rels><?xml version='1.0' encoding='UTF-8'?>
<Relationships xmlns="http://schemas.openxmlformats.org/package/2006/relationships"><Relationship Type="http://schemas.openxmlformats.org/officeDocument/2006/relationships/slide" Target="/ppt/slides/slide22.xml" Id="Rffdf0fecb28e4585"/><Relationship Type="http://schemas.openxmlformats.org/officeDocument/2006/relationships/notesMaster" Target="/ppt/expanded/notesMasters/notesMaster1.xml" Id="R6a88a0a2dc5b4012"/></Relationships>
</file>

<file path=ppt/expanded/notesSlides/_rels/notesSlide10.xml.rels><?xml version='1.0' encoding='UTF-8'?>
<Relationships xmlns="http://schemas.openxmlformats.org/package/2006/relationships"><Relationship Type="http://schemas.openxmlformats.org/officeDocument/2006/relationships/slide" Target="/ppt/slides/slide23.xml" Id="R56eea4836bbb4560"/><Relationship Type="http://schemas.openxmlformats.org/officeDocument/2006/relationships/notesMaster" Target="/ppt/expanded/notesMasters/notesMaster1.xml" Id="R989e470248c34a29"/></Relationships>
</file>

<file path=ppt/expanded/notesSlides/_rels/notesSlide11.xml.rels><?xml version='1.0' encoding='UTF-8'?>
<Relationships xmlns="http://schemas.openxmlformats.org/package/2006/relationships"><Relationship Type="http://schemas.openxmlformats.org/officeDocument/2006/relationships/slide" Target="/ppt/slides/slide24.xml" Id="R9696d90e53e54f3a"/><Relationship Type="http://schemas.openxmlformats.org/officeDocument/2006/relationships/notesMaster" Target="/ppt/expanded/notesMasters/notesMaster1.xml" Id="Rd56136aed0914698"/></Relationships>
</file>

<file path=ppt/expanded/notesSlides/_rels/notesSlide12.xml.rels><?xml version='1.0' encoding='UTF-8'?>
<Relationships xmlns="http://schemas.openxmlformats.org/package/2006/relationships"><Relationship Type="http://schemas.openxmlformats.org/officeDocument/2006/relationships/slide" Target="/ppt/slides/slide25.xml" Id="R808a83b30de24a2b"/><Relationship Type="http://schemas.openxmlformats.org/officeDocument/2006/relationships/notesMaster" Target="/ppt/expanded/notesMasters/notesMaster1.xml" Id="Rdd1784db894d4d1d"/></Relationships>
</file>

<file path=ppt/expanded/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Explain: In the earlier network, four input features feed layers with three neurons, then two neurons, then one output. Count the connections: four times three gives twelve weights, three times two gives six, and two times one gives two. That makes twenty weights. Each receiving neuron also has a bias, giving three plus two plus one, or six biases. These twenty-six parameters are the values training changes. Input features describe the email; they are not trainable parameters in this example.</ns0:t>
            </ns0:r>
          </ns0:p>
          <ns1:p xmlns:ns1="http://schemas.openxmlformats.org/drawingml/2006/main">
            <ns1:r>
              <ns1:t>Audience question: Why do input nodes have no bias here? Answer: They simply supply the feature values to the first learned layer.</ns1:t>
            </ns1:r>
          </ns1:p>
          <ns2:p xmlns:ns2="http://schemas.openxmlformats.org/drawingml/2006/main">
            <ns2:r>
              <ns2:t>Transition: Each receiving neuron performs the same basic calculation.</ns2:t>
            </ns2:r>
          </ns2:p>
          <ns3:p xmlns:ns3="http://schemas.openxmlformats.org/drawingml/2006/main">
            <ns3:r>
              <ns3:t/>
            </ns3:r>
          </ns3:p>
          <ns4:p xmlns:ns4="http://schemas.openxmlformats.org/drawingml/2006/main">
            <ns4:r>
              <ns4:t>Reference details</ns4:t>
            </ns4:r>
          </ns4:p>
          <ns5:p xmlns:ns5="http://schemas.openxmlformats.org/drawingml/2006/main">
            <ns5:r>
              <ns5:t>Source: neural_networks.pptx, slides 4, 8–10 and 15–16. Weights scale inputs; biases shift each receiving neuron’s weighted sum. Diagram generated with the built-in image tool to illustrate the source architecture.</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expanded/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Explain: A neuron first multiplies each input by its weight and adds those contributions. It then adds a bias and applies an activation function. A weight controls how strongly one input contributes, while a bias shifts the weighted sum. In the earlier example, the weighted inputs total 2.6 and the bias is minus 0.5, so z equals 2.1. ReLU returns 2.1 because this value is positive. A sigmoid instead maps a finite score to a number between zero and one.</ns0:t>
            </ns0:r>
          </ns0:p>
          <ns1:p xmlns:ns1="http://schemas.openxmlformats.org/drawingml/2006/main">
            <ns1:r>
              <ns1:t>Audience question: What would ReLU return for z equal to minus two? Answer: Zero.</ns1:t>
            </ns1:r>
          </ns1:p>
          <ns2:p xmlns:ns2="http://schemas.openxmlformats.org/drawingml/2006/main">
            <ns2:r>
              <ns2:t>Transition: At the output, we interpret the sigmoid value as the model's spam probability.</ns2:t>
            </ns2:r>
          </ns2:p>
          <ns3:p xmlns:ns3="http://schemas.openxmlformats.org/drawingml/2006/main">
            <ns3:r>
              <ns3:t/>
            </ns3:r>
          </ns3:p>
          <ns4:p xmlns:ns4="http://schemas.openxmlformats.org/drawingml/2006/main">
            <ns4:r>
              <ns4:t>Reference details</ns4:t>
            </ns4:r>
          </ns4:p>
          <ns5:p xmlns:ns5="http://schemas.openxmlformats.org/drawingml/2006/main">
            <ns5:r>
              <ns5:t>Source: neural_networks.pptx, slides 5–10 and 14. Diagram uses three generic inputs for readability; the earlier email example has four inputs. A finite sigmoid input produces a result strictly between 0 and 1. Image generated with the built-in image tool.</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expanded/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Explain: We keep a fixed feature order when converting an email into numbers. The network uses its current parameters to calculate a probability, and a threshold turns that probability into a class decision. Training requires an additional piece of information: the true label. We compare the predicted probability with that label to calculate the loss. The earlier larger network gave a probability around 0.94. The smaller worked example that follows starts at 0.6225 because it uses different illustrative parameters.</ns0:t>
            </ns0:r>
          </ns0:p>
          <ns1:p xmlns:ns1="http://schemas.openxmlformats.org/drawingml/2006/main">
            <ns1:r>
              <ns1:t>Audience question: Can we train just from the word “spam” produced by the threshold? Explain that the differentiable probability and loss provide the signal used by backpropagation.</ns1:t>
            </ns1:r>
          </ns1:p>
          <ns2:p xmlns:ns2="http://schemas.openxmlformats.org/drawingml/2006/main">
            <ns2:r>
              <ns2:t>Transition: This separates prediction from the backward calculation.</ns2:t>
            </ns2:r>
          </ns2:p>
          <ns3:p xmlns:ns3="http://schemas.openxmlformats.org/drawingml/2006/main">
            <ns3:r>
              <ns3:t/>
            </ns3:r>
          </ns3:p>
          <ns4:p xmlns:ns4="http://schemas.openxmlformats.org/drawingml/2006/main">
            <ns4:r>
              <ns4:t>Reference details</ns4:t>
            </ns4:r>
          </ns4:p>
          <ns5:p xmlns:ns5="http://schemas.openxmlformats.org/drawingml/2006/main">
            <ns5:r>
              <ns5:t>Source: neural_networks.pptx, slides 12–13 and 17–21. Fixed input feature order is [spam-like words, suspicious link, aggressive formatting, trusted sender]. Earlier output is sigmoid(2.75) ≈ 0.94, threshold 0.5, known label y=1. Training compares the unthresholded probability to its label. Image generated with the built-in image tool.</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expanded/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Explain: The tangent represents the local slope of the loss with respect to a weight. A positive slope means a small increase in the weight would increase the loss, so a downhill step decreases the weight. A negative slope means a small increase in the weight would reduce the loss, so the update increases it. The gradient generalizes this idea to all parameters at once. The local approximation shown on the slide is most useful for small changes.</ns0:t>
            </ns0:r>
          </ns0:p>
          <ns1:p xmlns:ns1="http://schemas.openxmlformats.org/drawingml/2006/main">
            <ns1:r>
              <ns1:t>Audience question: If the gradient is negative, why do we increase the weight? Answer: The update subtracts a negative value.</ns1:t>
            </ns1:r>
          </ns1:p>
          <ns2:p xmlns:ns2="http://schemas.openxmlformats.org/drawingml/2006/main">
            <ns2:r>
              <ns2:t>Transition: The quadratic curve makes both directions easy to see.</ns2:t>
            </ns2:r>
          </ns2:p>
          <ns3:p xmlns:ns3="http://schemas.openxmlformats.org/drawingml/2006/main">
            <ns3:r>
              <ns3:t/>
            </ns3:r>
          </ns3:p>
          <ns4:p xmlns:ns4="http://schemas.openxmlformats.org/drawingml/2006/main">
            <ns4:r>
              <ns4:t>Reference details</ns4:t>
            </ns4:r>
          </ns4:p>
          <ns5:p xmlns:ns5="http://schemas.openxmlformats.org/drawingml/2006/main">
            <ns5:r>
              <ns5:t>Source: gradient_descent_backpropagation_visual_reformatted.pptx, slides 2–3 and 6–8. Chart data calculated from L(w)=w²; tangents at w=−1 and w=1 have slopes −2 and +2. Full gradient ∇L contains one derivative per parameter.</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expanded/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Explain: Both probabilities lie above the classification threshold of 0.5, so both predictions label the email as spam. Nevertheless, the probability rises from 0.6225 to 0.6512 and the loss falls from 0.4741 to 0.4290. Accuracy on this one example therefore stays unchanged while the training objective improves. This is why the loss is a more informative signal for small parameter updates than the hard class label.</ns0:t>
            </ns0:r>
          </ns0:p>
          <ns1:p xmlns:ns1="http://schemas.openxmlformats.org/drawingml/2006/main">
            <ns1:r>
              <ns1:t>Audience question: Would the same increase in probability help an email whose true label is zero? Answer: No, it would increase its loss.</ns1:t>
            </ns1:r>
          </ns1:p>
          <ns2:p xmlns:ns2="http://schemas.openxmlformats.org/drawingml/2006/main">
            <ns2:r>
              <ns2:t>Transition: The chain rule tells us how each weight affects that loss.</ns2:t>
            </ns2:r>
          </ns2:p>
          <ns3:p xmlns:ns3="http://schemas.openxmlformats.org/drawingml/2006/main">
            <ns3:r>
              <ns3:t/>
            </ns3:r>
          </ns3:p>
          <ns4:p xmlns:ns4="http://schemas.openxmlformats.org/drawingml/2006/main">
            <ns4:r>
              <ns4:t>Reference details</ns4:t>
            </ns4:r>
          </ns4:p>
          <ns5:p xmlns:ns5="http://schemas.openxmlformats.org/drawingml/2006/main">
            <ns5:r>
              <ns5:t>Source: gradient_descent_backpropagation_visual_reformatted.pptx, slides 5, 9 and 13; neural_networks.pptx, slides 18–19. Before/after probability 0.6225/0.6512; binary cross-entropy 0.4741/0.4290. Label y=1. Native editable charts contain the displayed values.</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expanded/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Explain: Every trainable parameter needs its own gradient. The output weight gradient is smaller in magnitude because it multiplies the output error by the hidden activation 0.5. The other three gradients are approximately -0.3775 in this particular example. This equality is a consequence of our chosen values, not a general property of networks. The bias derivatives equal the corresponding neuron error signals. Read the negative bars as directions for a local change, not as negative losses.</ns0:t>
            </ns0:r>
          </ns0:p>
          <ns1:p xmlns:ns1="http://schemas.openxmlformats.org/drawingml/2006/main">
            <ns1:r>
              <ns1:t>Audience question: Why is the output weight gradient about half the output bias gradient? Answer: The weight derivative includes h=0.5.</ns1:t>
            </ns1:r>
          </ns1:p>
          <ns2:p xmlns:ns2="http://schemas.openxmlformats.org/drawingml/2006/main">
            <ns2:r>
              <ns2:t>Transition: The optimizer now turns these gradients into parameter changes.</ns2:t>
            </ns2:r>
          </ns2:p>
          <ns3:p xmlns:ns3="http://schemas.openxmlformats.org/drawingml/2006/main">
            <ns3:r>
              <ns3:t/>
            </ns3:r>
          </ns3:p>
          <ns4:p xmlns:ns4="http://schemas.openxmlformats.org/drawingml/2006/main">
            <ns4:r>
              <ns4:t>Reference details</ns4:t>
            </ns4:r>
          </ns4:p>
          <ns5:p xmlns:ns5="http://schemas.openxmlformats.org/drawingml/2006/main">
            <ns5:r>
              <ns5:t>Source: gradient_descent_backpropagation_visual_reformatted.pptx, slides 4 and 6–8. x=1,h=0.5,w2=1,ReLU′(z1)=1. Output weight gradient δ2h=−0.1888, output bias δ2=−0.3775, hidden weight δ2w2ReLU′(z1)x=−0.3775, hidden bias δ2w2ReLU′(z1)=−0.3775. Values rounded.</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expanded/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Explain: Use every updated parameter together in the next forward pass. The hidden activation becomes approximately 0.5755. The new output score is approximately 0.6241, and sigmoid converts it to a probability of 0.6512. The loss is approximately 0.4290. These numbers use unrounded values internally, so recalculating from the four-decimal values on the slides may produce a small rounding difference. The output score and probability are different quantities: the score is the input to sigmoid.</ns0:t>
            </ns0:r>
          </ns0:p>
          <ns1:p xmlns:ns1="http://schemas.openxmlformats.org/drawingml/2006/main">
            <ns1:r>
              <ns1:t>Audience question: Why did both the hidden activation and the output score change? Answer: Parameters in both layers changed.</ns1:t>
            </ns1:r>
          </ns1:p>
          <ns2:p xmlns:ns2="http://schemas.openxmlformats.org/drawingml/2006/main">
            <ns2:r>
              <ns2:t>Transition: Compare the original and updated loss directly.</ns2:t>
            </ns2:r>
          </ns2:p>
          <ns3:p xmlns:ns3="http://schemas.openxmlformats.org/drawingml/2006/main">
            <ns3:r>
              <ns3:t/>
            </ns3:r>
          </ns3:p>
          <ns4:p xmlns:ns4="http://schemas.openxmlformats.org/drawingml/2006/main">
            <ns4:r>
              <ns4:t>Reference details</ns4:t>
            </ns4:r>
          </ns4:p>
          <ns5:p xmlns:ns5="http://schemas.openxmlformats.org/drawingml/2006/main">
            <ns5:r>
              <ns5:t>Source: supplied gradient descent deck, slides 4 and 8–9. New h=0.5755081338, score=0.6241260869, probability=0.65115638 and loss=0.42900545. h=ReLU(0.5377540669+0.0377540669), z2=1.0188770334h+0.0377540669.</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expanded/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Explain: Substituting the quadratic derivative into the update rule gives w at the next step equal to (1-2η) times the current w. Convergence from a nonzero start requires the magnitude of this multiplier to be less than one, which here gives 0&lt;η&lt;1. With η=0.1, the weight shrinks gradually. With η=0.5, it reaches zero immediately. With η=1.1, the multiplier is -1.2, so the sign alternates while the magnitude grows. This range applies to this exact loss, not to every neural network.</ns0:t>
            </ns0:r>
          </ns0:p>
          <ns1:p xmlns:ns1="http://schemas.openxmlformats.org/drawingml/2006/main">
            <ns1:r>
              <ns1:t>Audience question: What happens at η=1? Answer: The weight alternates between 1 and -1 without approaching zero.</ns1:t>
            </ns1:r>
          </ns1:p>
          <ns2:p xmlns:ns2="http://schemas.openxmlformats.org/drawingml/2006/main">
            <ns2:r>
              <ns2:t>Transition: Real training also combines information from multiple examples.</ns2:t>
            </ns2:r>
          </ns2:p>
          <ns3:p xmlns:ns3="http://schemas.openxmlformats.org/drawingml/2006/main">
            <ns3:r>
              <ns3:t/>
            </ns3:r>
          </ns3:p>
          <ns4:p xmlns:ns4="http://schemas.openxmlformats.org/drawingml/2006/main">
            <ns4:r>
              <ns4:t>Reference details</ns4:t>
            </ns4:r>
          </ns4:p>
          <ns5:p xmlns:ns5="http://schemas.openxmlformats.org/drawingml/2006/main">
            <ns5:r>
              <ns5:t>Derived from the supplied gradient descent deck, slides 3 and 10. Exact data for steps 0,1,2,3: η=.1:[1,.8,.64,.512]; η=.5:[1,0,0,0]; η=1.1:[1,−1.2,1.44,−1.728]. The divergent path alternates sides and increases its distance from zero.</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expanded/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Explain: Full-batch training computes a gradient using the whole training set for each update. Stochastic training uses one example per update. Mini-batch training uses a subset. With 1,000 training emails and batch size 100, one epoch contains ten updates when each email is used once. Smaller batches often provide noisier gradient estimates, while larger batches require more examples for each update. Batch size and learning rate are separate choices.</ns0:t>
            </ns0:r>
          </ns0:p>
          <ns1:p xmlns:ns1="http://schemas.openxmlformats.org/drawingml/2006/main">
            <ns1:r>
              <ns1:t>Audience question: With batch size 50 and 1,000 examples, how many updates occur per epoch? Answer: Twenty.</ns1:t>
            </ns1:r>
          </ns1:p>
          <ns2:p xmlns:ns2="http://schemas.openxmlformats.org/drawingml/2006/main">
            <ns2:r>
              <ns2:t>Transition: Regardless of batch size, the basic learning loop stays the same.</ns2:t>
            </ns2:r>
          </ns2:p>
          <ns3:p xmlns:ns3="http://schemas.openxmlformats.org/drawingml/2006/main">
            <ns3:r>
              <ns3:t/>
            </ns3:r>
          </ns3:p>
          <ns4:p xmlns:ns4="http://schemas.openxmlformats.org/drawingml/2006/main">
            <ns4:r>
              <ns4:t>Reference details</ns4:t>
            </ns4:r>
          </ns4:p>
          <ns5:p xmlns:ns5="http://schemas.openxmlformats.org/drawingml/2006/main">
            <ns5:r>
              <ns5:t>Expansion of gradient_descent_backpropagation_visual_reformatted.pptx, slide 11. Full batch averages all training gradients, stochastic uses one example, mini-batch uses a subset. Each diagram row shows the data for one update. Diagram generated using the built-in image tool.</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expanded/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Explain: The table shows a new illustrative layer with four inputs and three neurons. A weight gradient equals the receiving neuron's error signal times the corresponding input activation. This produces the outer product δa transpose. The first error signal is -0.2, so its row contains -0.2 for each input equal to one. The fourth input is zero, so the entire fourth column is zero for this example. The third neuron error is zero, so its row is also zero. The bias gradient vector is δ itself.</ns0:t>
            </ns0:r>
          </ns0:p>
          <ns1:p xmlns:ns1="http://schemas.openxmlformats.org/drawingml/2006/main">
            <ns1:r>
              <ns1:t>Audience question: Is that fourth column guaranteed to stay zero for every example? Answer: No. Another example can have a nonzero fourth input.</ns1:t>
            </ns1:r>
          </ns1:p>
          <ns2:p xmlns:ns2="http://schemas.openxmlformats.org/drawingml/2006/main">
            <ns2:r>
              <ns2:t>Transition: Repeating this propagation across many layers can change the gradient scale dramatically.</ns2:t>
            </ns2:r>
          </ns2:p>
          <ns3:p xmlns:ns3="http://schemas.openxmlformats.org/drawingml/2006/main">
            <ns3:r>
              <ns3:t/>
            </ns3:r>
          </ns3:p>
          <ns4:p xmlns:ns4="http://schemas.openxmlformats.org/drawingml/2006/main">
            <ns4:r>
              <ns4:t>Reference details</ns4:t>
            </ns4:r>
          </ns4:p>
          <ns5:p xmlns:ns5="http://schemas.openxmlformats.org/drawingml/2006/main">
            <ns5:r>
              <ns5:t>Source: neural_networks.pptx, slides 15–16; gradient descent deck slides 6–7,11. Numerical values here are a NEW illustrative example, not gradients computed from the earlier 4–3–2–1 example. Let a(previous)=[1,1,1,0]ᵀ and δ=[−0.2,0.1,0]ᵀ. Their outer product gives the shown 3×4 weight-gradient matrix; bias gradient is δ. General hidden error rule δ(l)=((W(l+1))ᵀδ(l+1)) ⊙ f′(z(l)).</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expanded/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Explain: These curves are illustrative. Training loss keeps falling, but validation loss reaches its lowest shown value at epoch five and then rises. That divergence suggests the model is fitting the training data more closely without improving on unseen examples. Early stopping can save a checkpoint with good validation performance. In practice, allow for noise and use a suitable patience rule rather than assuming one upward point settles the decision. Use validation data for tuning and a separate test set for the final evaluation.</ns0:t>
            </ns0:r>
          </ns0:p>
          <ns1:p xmlns:ns1="http://schemas.openxmlformats.org/drawingml/2006/main">
            <ns1:r>
              <ns1:t>Audience question: Which checkpoint looks best on the validation values shown? Answer: Epoch five.</ns1:t>
            </ns1:r>
          </ns1:p>
          <ns2:p xmlns:ns2="http://schemas.openxmlformats.org/drawingml/2006/main">
            <ns2:r>
              <ns2:t>Transition: We will finish by checking the update calculations ourselves.</ns2:t>
            </ns2:r>
          </ns2:p>
          <ns3:p xmlns:ns3="http://schemas.openxmlformats.org/drawingml/2006/main">
            <ns3:r>
              <ns3:t/>
            </ns3:r>
          </ns3:p>
          <ns4:p xmlns:ns4="http://schemas.openxmlformats.org/drawingml/2006/main">
            <ns4:r>
              <ns4:t>Reference details</ns4:t>
            </ns4:r>
          </ns4:p>
          <ns5:p xmlns:ns5="http://schemas.openxmlformats.org/drawingml/2006/main">
            <ns5:r>
              <ns5:t>Source principle: neural_networks.pptx slide 20 and gradient descent deck slides 9 and 11. Chart data are explicitly illustrative, not experimental measurements. Training loss [.70,.56,.46,.38,.32,.27,.23,.20]. Validation [.74,.61,.53,.48,.46,.48,.52,.59]. The lowest shown validation loss is at epoch 5. In practice early stopping often uses patience and saves the best checkpoint.</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expanded/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Pause for the audience: Give a short moment to substitute the values into the update rule. The calculation is 0.8 minus 0.2 times -0.3, which equals 0.86. The negative gradient leads to an increase in the weight. If the gradient were +0.3, the updated weight would be 0.74. The drawn line is a local illustration; it is not the measured network loss.</ns0:t>
            </ns0:r>
          </ns0:p>
          <ns1:p xmlns:ns1="http://schemas.openxmlformats.org/drawingml/2006/main">
            <ns1:r>
              <ns1:t>Follow-up question: What happens if the learning rate doubles? The step magnitude doubles, but a larger step does not guarantee a lower actual loss because the local slope can change.</ns1:t>
            </ns1:r>
          </ns1:p>
          <ns2:p xmlns:ns2="http://schemas.openxmlformats.org/drawingml/2006/main">
            <ns2:r>
              <ns2:t>Transition: The next exercise adds gradient clipping before the update.</ns2:t>
            </ns2:r>
          </ns2:p>
          <ns3:p xmlns:ns3="http://schemas.openxmlformats.org/drawingml/2006/main">
            <ns3:r>
              <ns3:t/>
            </ns3:r>
          </ns3:p>
          <ns4:p xmlns:ns4="http://schemas.openxmlformats.org/drawingml/2006/main">
            <ns4:r>
              <ns4:t>Reference details</ns4:t>
            </ns4:r>
          </ns4:p>
          <ns5:p xmlns:ns5="http://schemas.openxmlformats.org/drawingml/2006/main">
            <ns5:r>
              <ns5:t>Exercise from the supplied gradient descent update rule. Answer: w_new=0.8−0.2×(−0.3)=0.86. Negative gradient suggests increasing w reduces loss locally. With gradient +0.3, the new weight is 0.74. The chart is a local linear illustration L(w)=1−0.3(w−0.8), not the actual network loss.</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expanded/slideLayouts/_rels/slideLayout1.xml.rels><?xml version='1.0' encoding='UTF-8'?>
<Relationships xmlns="http://schemas.openxmlformats.org/package/2006/relationships"><Relationship Type="http://schemas.openxmlformats.org/officeDocument/2006/relationships/slideMaster" Target="/ppt/expanded/slideMasters/slideMaster1.xml" Id="Rf0e8a57fbcb041b1"/></Relationships>
</file>

<file path=ppt/expanded/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expanded/slideMasters/_rels/slideMaster1.xml.rels><?xml version='1.0' encoding='UTF-8'?>
<Relationships xmlns="http://schemas.openxmlformats.org/package/2006/relationships"><Relationship Type="http://schemas.openxmlformats.org/officeDocument/2006/relationships/theme" Target="/ppt/expanded/slideMasters/theme/theme2.xml" Id="Rba724d1f94584557"/><Relationship Type="http://schemas.openxmlformats.org/officeDocument/2006/relationships/slideLayout" Target="/ppt/expanded/slideLayouts/slideLayout1.xml" Id="R90afadb44bde48d0"/></Relationships>
</file>

<file path=ppt/expanded/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afadb44bde48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expanded/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expanded/slides/charts/_rels/chart1.xml.rels><Relationships xmlns="http://schemas.openxmlformats.org/package/2006/relationships"><Relationship Id="rIdChartSnapshot1" Type="http://schemas.openxmlformats.org/officeDocument/2006/relationships/package" Target="../../../embeddings/chart-data-snapshot-007.xlsx"/></Relationships>
</file>

<file path=ppt/expanded/slides/charts/_rels/chart2.xml.rels><Relationships xmlns="http://schemas.openxmlformats.org/package/2006/relationships"><Relationship Id="rIdChartSnapshot1" Type="http://schemas.openxmlformats.org/officeDocument/2006/relationships/package" Target="../../../embeddings/chart-data-snapshot-008.xlsx"/></Relationships>
</file>

<file path=ppt/expanded/slides/charts/_rels/chart3.xml.rels><Relationships xmlns="http://schemas.openxmlformats.org/package/2006/relationships"><Relationship Id="rIdChartSnapshot1" Type="http://schemas.openxmlformats.org/officeDocument/2006/relationships/package" Target="../../../embeddings/chart-data-snapshot-009.xlsx"/></Relationships>
</file>

<file path=ppt/expanded/slides/charts/_rels/chart4.xml.rels><Relationships xmlns="http://schemas.openxmlformats.org/package/2006/relationships"><Relationship Id="rIdChartSnapshot1" Type="http://schemas.openxmlformats.org/officeDocument/2006/relationships/package" Target="../../../embeddings/chart-data-snapshot-010.xlsx"/></Relationships>
</file>

<file path=ppt/expanded/slides/charts/_rels/chart5.xml.rels><Relationships xmlns="http://schemas.openxmlformats.org/package/2006/relationships"><Relationship Id="rIdChartSnapshot1" Type="http://schemas.openxmlformats.org/officeDocument/2006/relationships/package" Target="../../../embeddings/chart-data-snapshot-011.xlsx"/></Relationships>
</file>

<file path=ppt/expanded/slides/charts/_rels/chart6.xml.rels><Relationships xmlns="http://schemas.openxmlformats.org/package/2006/relationships"><Relationship Id="rIdChartSnapshot1" Type="http://schemas.openxmlformats.org/officeDocument/2006/relationships/package" Target="../../../embeddings/chart-data-snapshot-012.xlsx"/></Relationships>
</file>

<file path=ppt/expanded/slides/charts/_rels/chart7.xml.rels><Relationships xmlns="http://schemas.openxmlformats.org/package/2006/relationships"><Relationship Id="rIdChartSnapshot1" Type="http://schemas.openxmlformats.org/officeDocument/2006/relationships/package" Target="../../../embeddings/chart-data-snapshot-013.xlsx"/></Relationships>
</file>

<file path=ppt/expanded/slides/charts/_rels/chart8.xml.rels><Relationships xmlns="http://schemas.openxmlformats.org/package/2006/relationships"><Relationship Id="rIdChartSnapshot1" Type="http://schemas.openxmlformats.org/officeDocument/2006/relationships/package" Target="../../../embeddings/chart-data-snapshot-014.xlsx"/></Relationships>
</file>

<file path=ppt/expanded/slides/charts/chart1.xml><?xml version="1.0" encoding="utf-8"?>
<c:chartSpace xmlns:c="http://schemas.openxmlformats.org/drawingml/2006/chart" xmlns:r="http://schemas.openxmlformats.org/officeDocument/2006/relationships">
  <c:lang val="en-US"/>
  <c:chart>
    <c:plotArea>
      <c:scatterChart>
        <c:scatterStyle val="line"/>
        <c:ser>
          <c:idx val="0"/>
          <c:order val="0"/>
          <c:tx>
            <c:v>L(w) = w²</c:v>
          </c:tx>
          <c:spPr>
            <a:ln xmlns:a="http://schemas.openxmlformats.org/drawingml/2006/main" w="28575">
              <a:solidFill>
                <a:srgbClr val="277A95"/>
              </a:solidFill>
            </a:ln>
          </c:spPr>
          <c:marker>
            <c:symbol val="none"/>
          </c:marker>
          <c:xVal>
            <c:numRef>
              <c:f>'Chart Data'!$A$2:$A$42</c:f>
              <c:numCache>
                <c:formatCode>General</c:formatCode>
                <c:ptCount val="41"/>
                <c:pt idx="0">
                  <c:v>-1.6</c:v>
                </c:pt>
                <c:pt idx="1">
                  <c:v>-1.52</c:v>
                </c:pt>
                <c:pt idx="2">
                  <c:v>-1.44</c:v>
                </c:pt>
                <c:pt idx="3">
                  <c:v>-1.36</c:v>
                </c:pt>
                <c:pt idx="4">
                  <c:v>-1.28</c:v>
                </c:pt>
                <c:pt idx="5">
                  <c:v>-1.2</c:v>
                </c:pt>
                <c:pt idx="6">
                  <c:v>-1.12</c:v>
                </c:pt>
                <c:pt idx="7">
                  <c:v>-1.04</c:v>
                </c:pt>
                <c:pt idx="8">
                  <c:v>-0.96</c:v>
                </c:pt>
                <c:pt idx="9">
                  <c:v>-0.88</c:v>
                </c:pt>
                <c:pt idx="10">
                  <c:v>-0.8</c:v>
                </c:pt>
                <c:pt idx="11">
                  <c:v>-0.72</c:v>
                </c:pt>
                <c:pt idx="12">
                  <c:v>-0.64</c:v>
                </c:pt>
                <c:pt idx="13">
                  <c:v>-0.56</c:v>
                </c:pt>
                <c:pt idx="14">
                  <c:v>-0.48</c:v>
                </c:pt>
                <c:pt idx="15">
                  <c:v>-0.4</c:v>
                </c:pt>
                <c:pt idx="16">
                  <c:v>-0.32</c:v>
                </c:pt>
                <c:pt idx="17">
                  <c:v>-0.24</c:v>
                </c:pt>
                <c:pt idx="18">
                  <c:v>-0.16</c:v>
                </c:pt>
                <c:pt idx="19">
                  <c:v>-0.08</c:v>
                </c:pt>
                <c:pt idx="20">
                  <c:v>0</c:v>
                </c:pt>
                <c:pt idx="21">
                  <c:v>0.08</c:v>
                </c:pt>
                <c:pt idx="22">
                  <c:v>0.16</c:v>
                </c:pt>
                <c:pt idx="23">
                  <c:v>0.24</c:v>
                </c:pt>
                <c:pt idx="24">
                  <c:v>0.32</c:v>
                </c:pt>
                <c:pt idx="25">
                  <c:v>0.4</c:v>
                </c:pt>
                <c:pt idx="26">
                  <c:v>0.48</c:v>
                </c:pt>
                <c:pt idx="27">
                  <c:v>0.56</c:v>
                </c:pt>
                <c:pt idx="28">
                  <c:v>0.64</c:v>
                </c:pt>
                <c:pt idx="29">
                  <c:v>0.72</c:v>
                </c:pt>
                <c:pt idx="30">
                  <c:v>0.8</c:v>
                </c:pt>
                <c:pt idx="31">
                  <c:v>0.88</c:v>
                </c:pt>
                <c:pt idx="32">
                  <c:v>0.96</c:v>
                </c:pt>
                <c:pt idx="33">
                  <c:v>1.04</c:v>
                </c:pt>
                <c:pt idx="34">
                  <c:v>1.12</c:v>
                </c:pt>
                <c:pt idx="35">
                  <c:v>1.2</c:v>
                </c:pt>
                <c:pt idx="36">
                  <c:v>1.28</c:v>
                </c:pt>
                <c:pt idx="37">
                  <c:v>1.36</c:v>
                </c:pt>
                <c:pt idx="38">
                  <c:v>1.44</c:v>
                </c:pt>
                <c:pt idx="39">
                  <c:v>1.52</c:v>
                </c:pt>
                <c:pt idx="40">
                  <c:v>1.6</c:v>
                </c:pt>
              </c:numCache>
            </c:numRef>
          </c:xVal>
          <c:yVal>
            <c:numRef>
              <c:f>'Chart Data'!$B$2:$B$42</c:f>
              <c:numCache>
                <c:formatCode>0.0</c:formatCode>
                <c:ptCount val="41"/>
                <c:pt idx="0">
                  <c:v>2.56</c:v>
                </c:pt>
                <c:pt idx="1">
                  <c:v>2.3104</c:v>
                </c:pt>
                <c:pt idx="2">
                  <c:v>2.0736</c:v>
                </c:pt>
                <c:pt idx="3">
                  <c:v>1.8496</c:v>
                </c:pt>
                <c:pt idx="4">
                  <c:v>1.6384</c:v>
                </c:pt>
                <c:pt idx="5">
                  <c:v>1.44</c:v>
                </c:pt>
                <c:pt idx="6">
                  <c:v>1.2544</c:v>
                </c:pt>
                <c:pt idx="7">
                  <c:v>1.0816</c:v>
                </c:pt>
                <c:pt idx="8">
                  <c:v>0.9216</c:v>
                </c:pt>
                <c:pt idx="9">
                  <c:v>0.7744</c:v>
                </c:pt>
                <c:pt idx="10">
                  <c:v>0.64</c:v>
                </c:pt>
                <c:pt idx="11">
                  <c:v>0.5184</c:v>
                </c:pt>
                <c:pt idx="12">
                  <c:v>0.4096</c:v>
                </c:pt>
                <c:pt idx="13">
                  <c:v>0.3136</c:v>
                </c:pt>
                <c:pt idx="14">
                  <c:v>0.2304</c:v>
                </c:pt>
                <c:pt idx="15">
                  <c:v>0.16</c:v>
                </c:pt>
                <c:pt idx="16">
                  <c:v>0.1024</c:v>
                </c:pt>
                <c:pt idx="17">
                  <c:v>0.0576</c:v>
                </c:pt>
                <c:pt idx="18">
                  <c:v>0.0256</c:v>
                </c:pt>
                <c:pt idx="19">
                  <c:v>0.0064</c:v>
                </c:pt>
                <c:pt idx="20">
                  <c:v>0</c:v>
                </c:pt>
                <c:pt idx="21">
                  <c:v>0.0064</c:v>
                </c:pt>
                <c:pt idx="22">
                  <c:v>0.0256</c:v>
                </c:pt>
                <c:pt idx="23">
                  <c:v>0.0576</c:v>
                </c:pt>
                <c:pt idx="24">
                  <c:v>0.1024</c:v>
                </c:pt>
                <c:pt idx="25">
                  <c:v>0.16</c:v>
                </c:pt>
                <c:pt idx="26">
                  <c:v>0.2304</c:v>
                </c:pt>
                <c:pt idx="27">
                  <c:v>0.3136</c:v>
                </c:pt>
                <c:pt idx="28">
                  <c:v>0.4096</c:v>
                </c:pt>
                <c:pt idx="29">
                  <c:v>0.5184</c:v>
                </c:pt>
                <c:pt idx="30">
                  <c:v>0.64</c:v>
                </c:pt>
                <c:pt idx="31">
                  <c:v>0.7744</c:v>
                </c:pt>
                <c:pt idx="32">
                  <c:v>0.9216</c:v>
                </c:pt>
                <c:pt idx="33">
                  <c:v>1.0816</c:v>
                </c:pt>
                <c:pt idx="34">
                  <c:v>1.2544</c:v>
                </c:pt>
                <c:pt idx="35">
                  <c:v>1.44</c:v>
                </c:pt>
                <c:pt idx="36">
                  <c:v>1.6384</c:v>
                </c:pt>
                <c:pt idx="37">
                  <c:v>1.8496</c:v>
                </c:pt>
                <c:pt idx="38">
                  <c:v>2.0736</c:v>
                </c:pt>
                <c:pt idx="39">
                  <c:v>2.3104</c:v>
                </c:pt>
                <c:pt idx="40">
                  <c:v>2.56</c:v>
                </c:pt>
              </c:numCache>
            </c:numRef>
          </c:yVal>
        </c:ser>
        <c:ser>
          <c:idx val="1"/>
          <c:order val="1"/>
          <c:tx>
            <c:v>Negative slope</c:v>
          </c:tx>
          <c:spPr>
            <a:ln xmlns:a="http://schemas.openxmlformats.org/drawingml/2006/main" w="28575">
              <a:solidFill>
                <a:srgbClr val="478B79"/>
              </a:solidFill>
            </a:ln>
          </c:spPr>
          <c:marker>
            <c:symbol val="none"/>
          </c:marker>
          <c:xVal>
            <c:numRef>
              <c:f>'Chart Data'!$C$2:$C$3</c:f>
              <c:numCache>
                <c:formatCode>General</c:formatCode>
                <c:ptCount val="2"/>
                <c:pt idx="0">
                  <c:v>-1.45</c:v>
                </c:pt>
                <c:pt idx="1">
                  <c:v>-0.55</c:v>
                </c:pt>
              </c:numCache>
            </c:numRef>
          </c:xVal>
          <c:yVal>
            <c:numRef>
              <c:f>'Chart Data'!$D$2:$D$3</c:f>
              <c:numCache>
                <c:formatCode>0.0</c:formatCode>
                <c:ptCount val="2"/>
                <c:pt idx="0">
                  <c:v>1.9</c:v>
                </c:pt>
                <c:pt idx="1">
                  <c:v>0.1</c:v>
                </c:pt>
              </c:numCache>
            </c:numRef>
          </c:yVal>
        </c:ser>
        <c:ser>
          <c:idx val="2"/>
          <c:order val="2"/>
          <c:tx>
            <c:v>Positive slope</c:v>
          </c:tx>
          <c:spPr>
            <a:ln xmlns:a="http://schemas.openxmlformats.org/drawingml/2006/main" w="28575">
              <a:solidFill>
                <a:srgbClr val="A45E56"/>
              </a:solidFill>
            </a:ln>
          </c:spPr>
          <c:marker>
            <c:symbol val="none"/>
          </c:marker>
          <c:xVal>
            <c:numRef>
              <c:f>'Chart Data'!$E$2:$E$3</c:f>
              <c:numCache>
                <c:formatCode>General</c:formatCode>
                <c:ptCount val="2"/>
                <c:pt idx="0">
                  <c:v>0.55</c:v>
                </c:pt>
                <c:pt idx="1">
                  <c:v>1.45</c:v>
                </c:pt>
              </c:numCache>
            </c:numRef>
          </c:xVal>
          <c:yVal>
            <c:numRef>
              <c:f>'Chart Data'!$F$2:$F$3</c:f>
              <c:numCache>
                <c:formatCode>0.0</c:formatCode>
                <c:ptCount val="2"/>
                <c:pt idx="0">
                  <c:v>0.1</c:v>
                </c:pt>
                <c:pt idx="1">
                  <c:v>1.9</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8"/>
          <c:min val="0"/>
        </c:scaling>
        <c:delete val="0"/>
        <c:axPos val="l"/>
        <c:majorGridlines>
          <c:spPr>
            <a:ln xmlns:a="http://schemas.openxmlformats.org/drawingml/2006/main" w="4763">
              <a:solidFill>
                <a:srgbClr val="E4E0D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Loss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B8B4AD"/>
            </a:solidFill>
          </a:ln>
        </c:spPr>
        <c:txPr>
          <a:bodyPr xmlns:a="http://schemas.openxmlformats.org/drawingml/2006/main" anchorCtr="1"/>
          <a:lstStyle xmlns:a="http://schemas.openxmlformats.org/drawingml/2006/main"/>
          <a:p xmlns:a="http://schemas.openxmlformats.org/drawingml/2006/main">
            <a:pPr>
              <a:defRPr sz="1200">
                <a:solidFill>
                  <a:srgbClr val="616069"/>
                </a:solidFill>
                <a:latin typeface="Arial"/>
                <a:ea typeface="Arial"/>
                <a:cs typeface="Arial"/>
              </a:defRPr>
            </a:pPr>
          </a:p>
        </c:txPr>
        <c:crossAx val="48650112"/>
        <c:majorUnit val="0.7"/>
      </c:valAx>
      <c:valAx>
        <c:axId val="48650112"/>
        <c:scaling>
          <c:orientation val="minMax"/>
          <c:max val="1.6"/>
          <c:min val="-1.6"/>
        </c:scaling>
        <c:delete val="0"/>
        <c:axPos val="b"/>
        <c:majorGridlines>
          <c:spPr>
            <a:ln xmlns:a="http://schemas.openxmlformats.org/drawingml/2006/main" w="4763">
              <a:solidFill>
                <a:srgbClr val="E4E0D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Weight w</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B8B4AD"/>
            </a:solidFill>
          </a:ln>
        </c:spPr>
        <c:txPr>
          <a:bodyPr xmlns:a="http://schemas.openxmlformats.org/drawingml/2006/main" anchorCtr="1"/>
          <a:lstStyle xmlns:a="http://schemas.openxmlformats.org/drawingml/2006/main"/>
          <a:p xmlns:a="http://schemas.openxmlformats.org/drawingml/2006/main">
            <a:pPr>
              <a:defRPr sz="1200">
                <a:solidFill>
                  <a:srgbClr val="616069"/>
                </a:solidFill>
                <a:latin typeface="Arial"/>
                <a:ea typeface="Arial"/>
                <a:cs typeface="Arial"/>
              </a:defRPr>
            </a:pPr>
          </a:p>
        </c:txPr>
        <c:crossAx val="48672768"/>
        <c:majorUnit val="0.8"/>
      </c:valAx>
      <c:spPr>
        <ns0:solidFill xmlns:ns0="http://schemas.openxmlformats.org/drawingml/2006/main">
          <ns0:srgbClr val="FCFBF8"/>
        </ns0:solidFill>
        <a:ln xmlns:a="http://schemas.openxmlformats.org/drawingml/2006/main" w="0">
          <a:noFill/>
        </a:ln>
      </c:spPr>
    </c:plotArea>
    <c:plotVisOnly val="1"/>
  </c:chart>
  <c:spPr>
    <ns0:solidFill xmlns:ns0="http://schemas.openxmlformats.org/drawingml/2006/main">
      <ns0:srgbClr val="FCFBF8"/>
    </ns0:solidFill>
    <a:ln xmlns:a="http://schemas.openxmlformats.org/drawingml/2006/main" w="0">
      <a:noFill/>
    </a:ln>
  </c:spPr>
  <c:externalData r:id="rIdChartSnapshot1">
    <c:autoUpdate val="0"/>
  </c:externalData>
</c:chartSpace>
</file>

<file path=ppt/expanded/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Spam probability</c:v>
          </c:tx>
          <c:spPr>
            <a:solidFill xmlns:a="http://schemas.openxmlformats.org/drawingml/2006/main">
              <a:srgbClr val="277A95"/>
            </a:solidFill>
          </c:spPr>
          <c:dPt>
            <c:idx val="0"/>
            <c:invertIfNegative val="0"/>
            <c:spPr>
              <a:solidFill xmlns:a="http://schemas.openxmlformats.org/drawingml/2006/main">
                <a:srgbClr val="A45E56"/>
              </a:solidFill>
            </c:spPr>
          </c:dPt>
          <c:dPt>
            <c:idx val="1"/>
            <c:invertIfNegative val="0"/>
            <c:spPr>
              <a:solidFill xmlns:a="http://schemas.openxmlformats.org/drawingml/2006/main">
                <a:srgbClr val="277A95"/>
              </a:solidFill>
            </c:spPr>
          </c:dPt>
          <c:cat>
            <c:strRef>
              <c:f>'Chart Data'!$A$2:$A$3</c:f>
              <c:strCache>
                <c:ptCount val="2"/>
                <c:pt idx="0">
                  <c:v>Before</c:v>
                </c:pt>
                <c:pt idx="1">
                  <c:v>After</c:v>
                </c:pt>
              </c:strCache>
            </c:strRef>
          </c:cat>
          <c:val>
            <c:numRef>
              <c:f>'Chart Data'!$B$2:$B$3</c:f>
              <c:numCache>
                <c:formatCode>0.0000</c:formatCode>
                <c:ptCount val="2"/>
                <c:pt idx="0">
                  <c:v>0.6225</c:v>
                </c:pt>
                <c:pt idx="1">
                  <c:v>0.6512</c:v>
                </c:pt>
              </c:numCache>
            </c:numRef>
          </c:val>
        </c:ser>
        <c:dLbls>
          <c:txPr>
            <a:bodyPr xmlns:a="http://schemas.openxmlformats.org/drawingml/2006/main" anchorCtr="1"/>
            <a:lstStyle xmlns:a="http://schemas.openxmlformats.org/drawingml/2006/main"/>
            <a:p xmlns:a="http://schemas.openxmlformats.org/drawingml/2006/main">
              <a:pPr>
                <a:defRPr sz="1650" b="1">
                  <a:latin typeface="Arial"/>
                  <a:ea typeface="Arial"/>
                  <a:cs typeface="Arial"/>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4763">
              <a:solidFill>
                <a:srgbClr val="E4E0D9"/>
              </a:solidFill>
            </a:ln>
          </c:spPr>
        </c:majorGridlines>
        <c:numFmt formatCode="0.0"/>
        <c:majorTickMark val="none"/>
        <c:minorTickMark val="none"/>
        <c:spPr>
          <a:ln xmlns:a="http://schemas.openxmlformats.org/drawingml/2006/main" w="9525">
            <a:solidFill>
              <a:srgbClr val="B8B4AD"/>
            </a:solidFill>
          </a:ln>
        </c:spPr>
        <c:txPr>
          <a:bodyPr xmlns:a="http://schemas.openxmlformats.org/drawingml/2006/main" anchorCtr="1"/>
          <a:lstStyle xmlns:a="http://schemas.openxmlformats.org/drawingml/2006/main"/>
          <a:p xmlns:a="http://schemas.openxmlformats.org/drawingml/2006/main">
            <a:pPr>
              <a:defRPr sz="1200">
                <a:solidFill>
                  <a:srgbClr val="616069"/>
                </a:solidFill>
                <a:latin typeface="Arial"/>
                <a:ea typeface="Arial"/>
                <a:cs typeface="Arial"/>
              </a:defRPr>
            </a:pPr>
          </a:p>
        </c:txPr>
        <c:crossAx val="48650112"/>
        <c:crossBetween val="between"/>
        <c:majorUnit val="0.5"/>
      </c:valAx>
      <c:spPr>
        <ns0:solidFill xmlns:ns0="http://schemas.openxmlformats.org/drawingml/2006/main">
          <ns0:srgbClr val="FCFBF8"/>
        </ns0:solidFill>
        <a:ln xmlns:a="http://schemas.openxmlformats.org/drawingml/2006/main" w="0">
          <a:noFill/>
        </a:ln>
      </c:spPr>
    </c:plotArea>
    <c:plotVisOnly val="1"/>
  </c:chart>
  <c:spPr>
    <ns0:solidFill xmlns:ns0="http://schemas.openxmlformats.org/drawingml/2006/main">
      <ns0:srgbClr val="FCFBF8"/>
    </ns0:solidFill>
    <a:ln xmlns:a="http://schemas.openxmlformats.org/drawingml/2006/main" w="0">
      <a:noFill/>
    </a:ln>
  </c:spPr>
  <c:externalData r:id="rIdChartSnapshot1">
    <c:autoUpdate val="0"/>
  </c:externalData>
</c:chartSpace>
</file>

<file path=ppt/expanded/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Binary cross-entropy</c:v>
          </c:tx>
          <c:spPr>
            <a:solidFill xmlns:a="http://schemas.openxmlformats.org/drawingml/2006/main">
              <a:srgbClr val="277A95"/>
            </a:solidFill>
          </c:spPr>
          <c:dPt>
            <c:idx val="0"/>
            <c:invertIfNegative val="0"/>
            <c:spPr>
              <a:solidFill xmlns:a="http://schemas.openxmlformats.org/drawingml/2006/main">
                <a:srgbClr val="A45E56"/>
              </a:solidFill>
            </c:spPr>
          </c:dPt>
          <c:dPt>
            <c:idx val="1"/>
            <c:invertIfNegative val="0"/>
            <c:spPr>
              <a:solidFill xmlns:a="http://schemas.openxmlformats.org/drawingml/2006/main">
                <a:srgbClr val="277A95"/>
              </a:solidFill>
            </c:spPr>
          </c:dPt>
          <c:cat>
            <c:strRef>
              <c:f>'Chart Data'!$A$2:$A$3</c:f>
              <c:strCache>
                <c:ptCount val="2"/>
                <c:pt idx="0">
                  <c:v>Before</c:v>
                </c:pt>
                <c:pt idx="1">
                  <c:v>After</c:v>
                </c:pt>
              </c:strCache>
            </c:strRef>
          </c:cat>
          <c:val>
            <c:numRef>
              <c:f>'Chart Data'!$B$2:$B$3</c:f>
              <c:numCache>
                <c:formatCode>0.0000</c:formatCode>
                <c:ptCount val="2"/>
                <c:pt idx="0">
                  <c:v>0.4741</c:v>
                </c:pt>
                <c:pt idx="1">
                  <c:v>0.429</c:v>
                </c:pt>
              </c:numCache>
            </c:numRef>
          </c:val>
        </c:ser>
        <c:dLbls>
          <c:txPr>
            <a:bodyPr xmlns:a="http://schemas.openxmlformats.org/drawingml/2006/main" anchorCtr="1"/>
            <a:lstStyle xmlns:a="http://schemas.openxmlformats.org/drawingml/2006/main"/>
            <a:p xmlns:a="http://schemas.openxmlformats.org/drawingml/2006/main">
              <a:pPr>
                <a:defRPr sz="1650" b="1">
                  <a:latin typeface="Arial"/>
                  <a:ea typeface="Arial"/>
                  <a:cs typeface="Arial"/>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0.6"/>
          <c:min val="0"/>
        </c:scaling>
        <c:delete val="0"/>
        <c:axPos val="l"/>
        <c:majorGridlines>
          <c:spPr>
            <a:ln xmlns:a="http://schemas.openxmlformats.org/drawingml/2006/main" w="4763">
              <a:solidFill>
                <a:srgbClr val="E4E0D9"/>
              </a:solidFill>
            </a:ln>
          </c:spPr>
        </c:majorGridlines>
        <c:numFmt formatCode="0.0"/>
        <c:majorTickMark val="none"/>
        <c:minorTickMark val="none"/>
        <c:spPr>
          <a:ln xmlns:a="http://schemas.openxmlformats.org/drawingml/2006/main" w="9525">
            <a:solidFill>
              <a:srgbClr val="B8B4AD"/>
            </a:solidFill>
          </a:ln>
        </c:spPr>
        <c:txPr>
          <a:bodyPr xmlns:a="http://schemas.openxmlformats.org/drawingml/2006/main" anchorCtr="1"/>
          <a:lstStyle xmlns:a="http://schemas.openxmlformats.org/drawingml/2006/main"/>
          <a:p xmlns:a="http://schemas.openxmlformats.org/drawingml/2006/main">
            <a:pPr>
              <a:defRPr sz="1200">
                <a:solidFill>
                  <a:srgbClr val="616069"/>
                </a:solidFill>
                <a:latin typeface="Arial"/>
                <a:ea typeface="Arial"/>
                <a:cs typeface="Arial"/>
              </a:defRPr>
            </a:pPr>
          </a:p>
        </c:txPr>
        <c:crossAx val="48650112"/>
        <c:crossBetween val="between"/>
        <c:majorUnit val="0.3"/>
      </c:valAx>
      <c:spPr>
        <ns0:solidFill xmlns:ns0="http://schemas.openxmlformats.org/drawingml/2006/main">
          <ns0:srgbClr val="FCFBF8"/>
        </ns0:solidFill>
        <a:ln xmlns:a="http://schemas.openxmlformats.org/drawingml/2006/main" w="0">
          <a:noFill/>
        </a:ln>
      </c:spPr>
    </c:plotArea>
    <c:plotVisOnly val="1"/>
  </c:chart>
  <c:spPr>
    <ns0:solidFill xmlns:ns0="http://schemas.openxmlformats.org/drawingml/2006/main">
      <ns0:srgbClr val="FCFBF8"/>
    </ns0:solidFill>
    <a:ln xmlns:a="http://schemas.openxmlformats.org/drawingml/2006/main" w="0">
      <a:noFill/>
    </a:ln>
  </c:spPr>
  <c:externalData r:id="rIdChartSnapshot1">
    <c:autoUpdate val="0"/>
  </c:externalData>
</c:chartSpace>
</file>

<file path=ppt/expanded/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Gradient</c:v>
          </c:tx>
          <c:spPr>
            <a:solidFill xmlns:a="http://schemas.openxmlformats.org/drawingml/2006/main">
              <a:srgbClr val="A45E56"/>
            </a:solidFill>
          </c:spPr>
          <c:invertIfNegative val="0"/>
          <c:cat>
            <c:strRef>
              <c:f>'Chart Data'!$A$2:$A$5</c:f>
              <c:strCache>
                <c:ptCount val="4"/>
                <c:pt idx="0">
                  <c:v>w₂</c:v>
                </c:pt>
                <c:pt idx="1">
                  <c:v>b₂</c:v>
                </c:pt>
                <c:pt idx="2">
                  <c:v>w₁</c:v>
                </c:pt>
                <c:pt idx="3">
                  <c:v>b₁</c:v>
                </c:pt>
              </c:strCache>
            </c:strRef>
          </c:cat>
          <c:val>
            <c:numRef>
              <c:f>'Chart Data'!$B$2:$B$5</c:f>
              <c:numCache>
                <c:formatCode>0.0000</c:formatCode>
                <c:ptCount val="4"/>
                <c:pt idx="0">
                  <c:v>-0.1888</c:v>
                </c:pt>
                <c:pt idx="1">
                  <c:v>-0.3775</c:v>
                </c:pt>
                <c:pt idx="2">
                  <c:v>-0.3775</c:v>
                </c:pt>
                <c:pt idx="3">
                  <c:v>-0.3775</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FFFFFF"/>
                  </a:solidFill>
                  <a:latin typeface="Arial"/>
                  <a:ea typeface="Arial"/>
                  <a:cs typeface="Arial"/>
                </a:defRPr>
              </a:pPr>
            </a:p>
          </c:txPr>
          <c:dLblPos val="in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ax val="0"/>
          <c:min val="-0.5"/>
        </c:scaling>
        <c:delete val="0"/>
        <c:axPos val="l"/>
        <c:majorGridlines>
          <c:spPr>
            <a:ln xmlns:a="http://schemas.openxmlformats.org/drawingml/2006/main" w="4763">
              <a:solidFill>
                <a:srgbClr val="E4E0D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Gradient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B8B4AD"/>
            </a:solidFill>
          </a:ln>
        </c:spPr>
        <c:txPr>
          <a:bodyPr xmlns:a="http://schemas.openxmlformats.org/drawingml/2006/main" anchorCtr="1"/>
          <a:lstStyle xmlns:a="http://schemas.openxmlformats.org/drawingml/2006/main"/>
          <a:p xmlns:a="http://schemas.openxmlformats.org/drawingml/2006/main">
            <a:pPr>
              <a:defRPr sz="1200">
                <a:solidFill>
                  <a:srgbClr val="616069"/>
                </a:solidFill>
                <a:latin typeface="Arial"/>
                <a:ea typeface="Arial"/>
                <a:cs typeface="Arial"/>
              </a:defRPr>
            </a:pPr>
          </a:p>
        </c:txPr>
        <c:crossAx val="48650112"/>
        <c:crossBetween val="between"/>
        <c:majorUnit val="0.1"/>
      </c:valAx>
      <c:spPr>
        <ns0:solidFill xmlns:ns0="http://schemas.openxmlformats.org/drawingml/2006/main">
          <ns0:srgbClr val="FCFBF8"/>
        </ns0:solidFill>
        <a:ln xmlns:a="http://schemas.openxmlformats.org/drawingml/2006/main" w="0">
          <a:noFill/>
        </a:ln>
      </c:spPr>
    </c:plotArea>
    <c:plotVisOnly val="1"/>
  </c:chart>
  <c:spPr>
    <ns0:solidFill xmlns:ns0="http://schemas.openxmlformats.org/drawingml/2006/main">
      <ns0:srgbClr val="FCFBF8"/>
    </ns0:solidFill>
    <a:ln xmlns:a="http://schemas.openxmlformats.org/drawingml/2006/main" w="0">
      <a:noFill/>
    </a:ln>
  </c:spPr>
  <c:externalData r:id="rIdChartSnapshot1">
    <c:autoUpdate val="0"/>
  </c:externalData>
</c:chartSpace>
</file>

<file path=ppt/expanded/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Before</c:v>
          </c:tx>
          <c:spPr>
            <a:solidFill xmlns:a="http://schemas.openxmlformats.org/drawingml/2006/main">
              <a:srgbClr val="A45E56"/>
            </a:solidFill>
          </c:spPr>
          <c:cat>
            <c:strRef>
              <c:f>'Chart Data'!$A$2:$A$4</c:f>
              <c:strCache>
                <c:ptCount val="3"/>
                <c:pt idx="0">
                  <c:v>Hidden h</c:v>
                </c:pt>
                <c:pt idx="1">
                  <c:v>Output score z₂</c:v>
                </c:pt>
                <c:pt idx="2">
                  <c:v>Probability ŷ</c:v>
                </c:pt>
              </c:strCache>
            </c:strRef>
          </c:cat>
          <c:val>
            <c:numRef>
              <c:f>'Chart Data'!$B$2:$B$4</c:f>
              <c:numCache>
                <c:formatCode>0.0000</c:formatCode>
                <c:ptCount val="3"/>
                <c:pt idx="0">
                  <c:v>0.5</c:v>
                </c:pt>
                <c:pt idx="1">
                  <c:v>0.5</c:v>
                </c:pt>
                <c:pt idx="2">
                  <c:v>0.6225</c:v>
                </c:pt>
              </c:numCache>
            </c:numRef>
          </c:val>
        </c:ser>
        <c:ser>
          <c:idx val="1"/>
          <c:order val="1"/>
          <c:tx>
            <c:v>After</c:v>
          </c:tx>
          <c:spPr>
            <a:solidFill xmlns:a="http://schemas.openxmlformats.org/drawingml/2006/main">
              <a:srgbClr val="277A95"/>
            </a:solidFill>
          </c:spPr>
          <c:cat>
            <c:strRef>
              <c:f>'Chart Data'!$C$2:$C$4</c:f>
              <c:strCache>
                <c:ptCount val="3"/>
                <c:pt idx="0">
                  <c:v>Hidden h</c:v>
                </c:pt>
                <c:pt idx="1">
                  <c:v>Output score z₂</c:v>
                </c:pt>
                <c:pt idx="2">
                  <c:v>Probability ŷ</c:v>
                </c:pt>
              </c:strCache>
            </c:strRef>
          </c:cat>
          <c:val>
            <c:numRef>
              <c:f>'Chart Data'!$D$2:$D$4</c:f>
              <c:numCache>
                <c:formatCode>0.0000</c:formatCode>
                <c:ptCount val="3"/>
                <c:pt idx="0">
                  <c:v>0.5755</c:v>
                </c:pt>
                <c:pt idx="1">
                  <c:v>0.6241</c:v>
                </c:pt>
                <c:pt idx="2">
                  <c:v>0.6512</c:v>
                </c:pt>
              </c:numCache>
            </c:numRef>
          </c:val>
        </c:ser>
        <c:dLbls>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max val="0.8"/>
          <c:min val="0"/>
        </c:scaling>
        <c:delete val="0"/>
        <c:axPos val="l"/>
        <c:majorGridlines>
          <c:spPr>
            <a:ln xmlns:a="http://schemas.openxmlformats.org/drawingml/2006/main" w="4763">
              <a:solidFill>
                <a:srgbClr val="E4E0D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Value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B8B4AD"/>
            </a:solidFill>
          </a:ln>
        </c:spPr>
        <c:txPr>
          <a:bodyPr xmlns:a="http://schemas.openxmlformats.org/drawingml/2006/main" anchorCtr="1"/>
          <a:lstStyle xmlns:a="http://schemas.openxmlformats.org/drawingml/2006/main"/>
          <a:p xmlns:a="http://schemas.openxmlformats.org/drawingml/2006/main">
            <a:pPr>
              <a:defRPr sz="1200">
                <a:solidFill>
                  <a:srgbClr val="616069"/>
                </a:solidFill>
                <a:latin typeface="Arial"/>
                <a:ea typeface="Arial"/>
                <a:cs typeface="Arial"/>
              </a:defRPr>
            </a:pPr>
          </a:p>
        </c:txPr>
        <c:crossAx val="48650112"/>
        <c:crossBetween val="between"/>
        <c:majorUnit val="0.2"/>
      </c:valAx>
      <c:spPr>
        <ns0:solidFill xmlns:ns0="http://schemas.openxmlformats.org/drawingml/2006/main">
          <ns0:srgbClr val="FCFBF8"/>
        </ns0: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272729"/>
              </a:solidFill>
              <a:latin typeface="Arial"/>
              <a:ea typeface="Arial"/>
              <a:cs typeface="Arial"/>
            </a:defRPr>
          </a:pPr>
        </a:p>
      </c:txPr>
    </c:legend>
    <c:plotVisOnly val="1"/>
  </c:chart>
  <c:spPr>
    <ns0:solidFill xmlns:ns0="http://schemas.openxmlformats.org/drawingml/2006/main">
      <ns0:srgbClr val="FCFBF8"/>
    </ns0:solidFill>
    <a:ln xmlns:a="http://schemas.openxmlformats.org/drawingml/2006/main" w="0">
      <a:noFill/>
    </a:ln>
  </c:spPr>
  <c:externalData r:id="rIdChartSnapshot1">
    <c:autoUpdate val="0"/>
  </c:externalData>
</c:chartSpace>
</file>

<file path=ppt/expanded/slides/charts/chart6.xml><?xml version="1.0" encoding="utf-8"?>
<c:chartSpace xmlns:c="http://schemas.openxmlformats.org/drawingml/2006/chart" xmlns:r="http://schemas.openxmlformats.org/officeDocument/2006/relationships">
  <c:lang val="en-US"/>
  <c:chart>
    <c:plotArea>
      <c:lineChart>
        <c:grouping val="standard"/>
        <c:varyColors val="0"/>
        <c:ser>
          <c:idx val="0"/>
          <c:order val="0"/>
          <c:tx>
            <c:v>η = 0.1</c:v>
          </c:tx>
          <c:spPr>
            <a:solidFill xmlns:a="http://schemas.openxmlformats.org/drawingml/2006/main">
              <a:srgbClr val="277A95"/>
            </a:solidFill>
            <a:ln xmlns:a="http://schemas.openxmlformats.org/drawingml/2006/main" w="28575">
              <a:solidFill>
                <a:srgbClr val="277A95"/>
              </a:solidFill>
            </a:ln>
          </c:spPr>
          <c:marker>
            <c:symbol val="circle"/>
            <c:size val="6"/>
            <c:spPr>
              <a:solidFill xmlns:a="http://schemas.openxmlformats.org/drawingml/2006/main">
                <a:srgbClr val="277A95"/>
              </a:solidFill>
            </c:spPr>
          </c:marker>
          <c:cat>
            <c:numRef>
              <c:f>'Chart Data'!$A$2:$A$5</c:f>
              <c:numCache>
                <c:formatCode>General</c:formatCode>
                <c:ptCount val="4"/>
                <c:pt idx="0">
                  <c:v>0</c:v>
                </c:pt>
                <c:pt idx="1">
                  <c:v>1</c:v>
                </c:pt>
                <c:pt idx="2">
                  <c:v>2</c:v>
                </c:pt>
                <c:pt idx="3">
                  <c:v>3</c:v>
                </c:pt>
              </c:numCache>
            </c:numRef>
          </c:cat>
          <c:val>
            <c:numRef>
              <c:f>'Chart Data'!$B$2:$B$5</c:f>
              <c:numCache>
                <c:formatCode>0.0000</c:formatCode>
                <c:ptCount val="4"/>
                <c:pt idx="0">
                  <c:v>1</c:v>
                </c:pt>
                <c:pt idx="1">
                  <c:v>0.8</c:v>
                </c:pt>
                <c:pt idx="2">
                  <c:v>0.64</c:v>
                </c:pt>
                <c:pt idx="3">
                  <c:v>0.512</c:v>
                </c:pt>
              </c:numCache>
            </c:numRef>
          </c:val>
          <c:smooth val="0"/>
        </c:ser>
        <c:ser>
          <c:idx val="1"/>
          <c:order val="1"/>
          <c:tx>
            <c:v>η = 0.5</c:v>
          </c:tx>
          <c:spPr>
            <a:solidFill xmlns:a="http://schemas.openxmlformats.org/drawingml/2006/main">
              <a:srgbClr val="478B79"/>
            </a:solidFill>
            <a:ln xmlns:a="http://schemas.openxmlformats.org/drawingml/2006/main" w="28575">
              <a:solidFill>
                <a:srgbClr val="478B79"/>
              </a:solidFill>
            </a:ln>
          </c:spPr>
          <c:marker>
            <c:symbol val="circle"/>
            <c:size val="6"/>
            <c:spPr>
              <a:solidFill xmlns:a="http://schemas.openxmlformats.org/drawingml/2006/main">
                <a:srgbClr val="478B79"/>
              </a:solidFill>
            </c:spPr>
          </c:marker>
          <c:cat>
            <c:numRef>
              <c:f>'Chart Data'!$C$2:$C$5</c:f>
              <c:numCache>
                <c:formatCode>General</c:formatCode>
                <c:ptCount val="4"/>
                <c:pt idx="0">
                  <c:v>0</c:v>
                </c:pt>
                <c:pt idx="1">
                  <c:v>1</c:v>
                </c:pt>
                <c:pt idx="2">
                  <c:v>2</c:v>
                </c:pt>
                <c:pt idx="3">
                  <c:v>3</c:v>
                </c:pt>
              </c:numCache>
            </c:numRef>
          </c:cat>
          <c:val>
            <c:numRef>
              <c:f>'Chart Data'!$D$2:$D$5</c:f>
              <c:numCache>
                <c:formatCode>0.0000</c:formatCode>
                <c:ptCount val="4"/>
                <c:pt idx="0">
                  <c:v>1</c:v>
                </c:pt>
                <c:pt idx="1">
                  <c:v>0</c:v>
                </c:pt>
                <c:pt idx="2">
                  <c:v>0</c:v>
                </c:pt>
                <c:pt idx="3">
                  <c:v>0</c:v>
                </c:pt>
              </c:numCache>
            </c:numRef>
          </c:val>
          <c:smooth val="0"/>
        </c:ser>
        <c:ser>
          <c:idx val="2"/>
          <c:order val="2"/>
          <c:tx>
            <c:v>η = 1.1</c:v>
          </c:tx>
          <c:spPr>
            <a:solidFill xmlns:a="http://schemas.openxmlformats.org/drawingml/2006/main">
              <a:srgbClr val="A45E56"/>
            </a:solidFill>
            <a:ln xmlns:a="http://schemas.openxmlformats.org/drawingml/2006/main" w="28575">
              <a:solidFill>
                <a:srgbClr val="A45E56"/>
              </a:solidFill>
            </a:ln>
          </c:spPr>
          <c:marker>
            <c:symbol val="circle"/>
            <c:size val="6"/>
            <c:spPr>
              <a:solidFill xmlns:a="http://schemas.openxmlformats.org/drawingml/2006/main">
                <a:srgbClr val="A45E56"/>
              </a:solidFill>
            </c:spPr>
          </c:marker>
          <c:cat>
            <c:numRef>
              <c:f>'Chart Data'!$E$2:$E$5</c:f>
              <c:numCache>
                <c:formatCode>General</c:formatCode>
                <c:ptCount val="4"/>
                <c:pt idx="0">
                  <c:v>0</c:v>
                </c:pt>
                <c:pt idx="1">
                  <c:v>1</c:v>
                </c:pt>
                <c:pt idx="2">
                  <c:v>2</c:v>
                </c:pt>
                <c:pt idx="3">
                  <c:v>3</c:v>
                </c:pt>
              </c:numCache>
            </c:numRef>
          </c:cat>
          <c:val>
            <c:numRef>
              <c:f>'Chart Data'!$F$2:$F$5</c:f>
              <c:numCache>
                <c:formatCode>0.0000</c:formatCode>
                <c:ptCount val="4"/>
                <c:pt idx="0">
                  <c:v>1</c:v>
                </c:pt>
                <c:pt idx="1">
                  <c:v>-1.2</c:v>
                </c:pt>
                <c:pt idx="2">
                  <c:v>1.44</c:v>
                </c:pt>
                <c:pt idx="3">
                  <c:v>-1.728</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Update number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ax val="2"/>
          <c:min val="-2"/>
        </c:scaling>
        <c:delete val="0"/>
        <c:axPos val="l"/>
        <c:majorGridlines>
          <c:spPr>
            <a:ln xmlns:a="http://schemas.openxmlformats.org/drawingml/2006/main" w="4763">
              <a:solidFill>
                <a:srgbClr val="E4E0D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Weight w</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B8B4AD"/>
            </a:solidFill>
          </a:ln>
        </c:spPr>
        <c:txPr>
          <a:bodyPr xmlns:a="http://schemas.openxmlformats.org/drawingml/2006/main" anchorCtr="1"/>
          <a:lstStyle xmlns:a="http://schemas.openxmlformats.org/drawingml/2006/main"/>
          <a:p xmlns:a="http://schemas.openxmlformats.org/drawingml/2006/main">
            <a:pPr>
              <a:defRPr sz="1200">
                <a:solidFill>
                  <a:srgbClr val="616069"/>
                </a:solidFill>
                <a:latin typeface="Arial"/>
                <a:ea typeface="Arial"/>
                <a:cs typeface="Arial"/>
              </a:defRPr>
            </a:pPr>
          </a:p>
        </c:txPr>
        <c:crossAx val="48650112"/>
        <c:crossBetween val="between"/>
        <c:majorUnit val="1"/>
      </c:valAx>
      <c:spPr>
        <ns0:solidFill xmlns:ns0="http://schemas.openxmlformats.org/drawingml/2006/main">
          <ns0:srgbClr val="FCFBF8"/>
        </ns0: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272729"/>
              </a:solidFill>
              <a:latin typeface="Arial"/>
              <a:ea typeface="Arial"/>
              <a:cs typeface="Arial"/>
            </a:defRPr>
          </a:pPr>
        </a:p>
      </c:txPr>
    </c:legend>
    <c:plotVisOnly val="1"/>
  </c:chart>
  <c:spPr>
    <ns0:solidFill xmlns:ns0="http://schemas.openxmlformats.org/drawingml/2006/main">
      <ns0:srgbClr val="FCFBF8"/>
    </ns0:solidFill>
    <a:ln xmlns:a="http://schemas.openxmlformats.org/drawingml/2006/main" w="0">
      <a:noFill/>
    </a:ln>
  </c:spPr>
  <c:externalData r:id="rIdChartSnapshot1">
    <c:autoUpdate val="0"/>
  </c:externalData>
</c:chartSpace>
</file>

<file path=ppt/expanded/slides/charts/chart7.xml><?xml version="1.0" encoding="utf-8"?>
<c:chartSpace xmlns:c="http://schemas.openxmlformats.org/drawingml/2006/chart" xmlns:r="http://schemas.openxmlformats.org/officeDocument/2006/relationships">
  <c:lang val="en-US"/>
  <c:chart>
    <c:plotArea>
      <c:lineChart>
        <c:grouping val="standard"/>
        <c:varyColors val="0"/>
        <c:ser>
          <c:idx val="0"/>
          <c:order val="0"/>
          <c:tx>
            <c:v>Training</c:v>
          </c:tx>
          <c:spPr>
            <a:solidFill xmlns:a="http://schemas.openxmlformats.org/drawingml/2006/main">
              <a:srgbClr val="277A95"/>
            </a:solidFill>
            <a:ln xmlns:a="http://schemas.openxmlformats.org/drawingml/2006/main" w="28575">
              <a:solidFill>
                <a:srgbClr val="277A95"/>
              </a:solidFill>
            </a:ln>
          </c:spPr>
          <c:marker>
            <c:symbol val="circle"/>
            <c:size val="6"/>
            <c:spPr>
              <a:solidFill xmlns:a="http://schemas.openxmlformats.org/drawingml/2006/main">
                <a:srgbClr val="277A95"/>
              </a:solidFill>
            </c:spPr>
          </c:marker>
          <c:cat>
            <c:numRef>
              <c:f>'Chart Data'!$A$2:$A$9</c:f>
              <c:numCache>
                <c:formatCode>General</c:formatCode>
                <c:ptCount val="8"/>
                <c:pt idx="0">
                  <c:v>1</c:v>
                </c:pt>
                <c:pt idx="1">
                  <c:v>2</c:v>
                </c:pt>
                <c:pt idx="2">
                  <c:v>3</c:v>
                </c:pt>
                <c:pt idx="3">
                  <c:v>4</c:v>
                </c:pt>
                <c:pt idx="4">
                  <c:v>5</c:v>
                </c:pt>
                <c:pt idx="5">
                  <c:v>6</c:v>
                </c:pt>
                <c:pt idx="6">
                  <c:v>7</c:v>
                </c:pt>
                <c:pt idx="7">
                  <c:v>8</c:v>
                </c:pt>
              </c:numCache>
            </c:numRef>
          </c:cat>
          <c:val>
            <c:numRef>
              <c:f>'Chart Data'!$B$2:$B$9</c:f>
              <c:numCache>
                <c:formatCode>0.0000</c:formatCode>
                <c:ptCount val="8"/>
                <c:pt idx="0">
                  <c:v>0.7</c:v>
                </c:pt>
                <c:pt idx="1">
                  <c:v>0.56</c:v>
                </c:pt>
                <c:pt idx="2">
                  <c:v>0.46</c:v>
                </c:pt>
                <c:pt idx="3">
                  <c:v>0.38</c:v>
                </c:pt>
                <c:pt idx="4">
                  <c:v>0.32</c:v>
                </c:pt>
                <c:pt idx="5">
                  <c:v>0.27</c:v>
                </c:pt>
                <c:pt idx="6">
                  <c:v>0.23</c:v>
                </c:pt>
                <c:pt idx="7">
                  <c:v>0.2</c:v>
                </c:pt>
              </c:numCache>
            </c:numRef>
          </c:val>
          <c:smooth val="0"/>
        </c:ser>
        <c:ser>
          <c:idx val="1"/>
          <c:order val="1"/>
          <c:tx>
            <c:v>Validation</c:v>
          </c:tx>
          <c:spPr>
            <a:solidFill xmlns:a="http://schemas.openxmlformats.org/drawingml/2006/main">
              <a:srgbClr val="A45E56"/>
            </a:solidFill>
            <a:ln xmlns:a="http://schemas.openxmlformats.org/drawingml/2006/main" w="28575">
              <a:solidFill>
                <a:srgbClr val="A45E56"/>
              </a:solidFill>
            </a:ln>
          </c:spPr>
          <c:marker>
            <c:symbol val="circle"/>
            <c:size val="6"/>
            <c:spPr>
              <a:solidFill xmlns:a="http://schemas.openxmlformats.org/drawingml/2006/main">
                <a:srgbClr val="A45E56"/>
              </a:solidFill>
            </c:spPr>
          </c:marker>
          <c:cat>
            <c:numRef>
              <c:f>'Chart Data'!$C$2:$C$9</c:f>
              <c:numCache>
                <c:formatCode>General</c:formatCode>
                <c:ptCount val="8"/>
                <c:pt idx="0">
                  <c:v>1</c:v>
                </c:pt>
                <c:pt idx="1">
                  <c:v>2</c:v>
                </c:pt>
                <c:pt idx="2">
                  <c:v>3</c:v>
                </c:pt>
                <c:pt idx="3">
                  <c:v>4</c:v>
                </c:pt>
                <c:pt idx="4">
                  <c:v>5</c:v>
                </c:pt>
                <c:pt idx="5">
                  <c:v>6</c:v>
                </c:pt>
                <c:pt idx="6">
                  <c:v>7</c:v>
                </c:pt>
                <c:pt idx="7">
                  <c:v>8</c:v>
                </c:pt>
              </c:numCache>
            </c:numRef>
          </c:cat>
          <c:val>
            <c:numRef>
              <c:f>'Chart Data'!$D$2:$D$9</c:f>
              <c:numCache>
                <c:formatCode>0.0000</c:formatCode>
                <c:ptCount val="8"/>
                <c:pt idx="0">
                  <c:v>0.74</c:v>
                </c:pt>
                <c:pt idx="1">
                  <c:v>0.61</c:v>
                </c:pt>
                <c:pt idx="2">
                  <c:v>0.53</c:v>
                </c:pt>
                <c:pt idx="3">
                  <c:v>0.48</c:v>
                </c:pt>
                <c:pt idx="4">
                  <c:v>0.46</c:v>
                </c:pt>
                <c:pt idx="5">
                  <c:v>0.48</c:v>
                </c:pt>
                <c:pt idx="6">
                  <c:v>0.52</c:v>
                </c:pt>
                <c:pt idx="7">
                  <c:v>0.59</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ax val="0.8"/>
          <c:min val="0"/>
        </c:scaling>
        <c:delete val="0"/>
        <c:axPos val="l"/>
        <c:majorGridlines>
          <c:spPr>
            <a:ln xmlns:a="http://schemas.openxmlformats.org/drawingml/2006/main" w="4763">
              <a:solidFill>
                <a:srgbClr val="E4E0D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Loss (illustrative)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B8B4AD"/>
            </a:solidFill>
          </a:ln>
        </c:spPr>
        <c:txPr>
          <a:bodyPr xmlns:a="http://schemas.openxmlformats.org/drawingml/2006/main" anchorCtr="1"/>
          <a:lstStyle xmlns:a="http://schemas.openxmlformats.org/drawingml/2006/main"/>
          <a:p xmlns:a="http://schemas.openxmlformats.org/drawingml/2006/main">
            <a:pPr>
              <a:defRPr sz="1200">
                <a:solidFill>
                  <a:srgbClr val="616069"/>
                </a:solidFill>
                <a:latin typeface="Arial"/>
                <a:ea typeface="Arial"/>
                <a:cs typeface="Arial"/>
              </a:defRPr>
            </a:pPr>
          </a:p>
        </c:txPr>
        <c:crossAx val="48650112"/>
        <c:crossBetween val="between"/>
        <c:majorUnit val="0.2"/>
      </c:valAx>
      <c:spPr>
        <ns0:solidFill xmlns:ns0="http://schemas.openxmlformats.org/drawingml/2006/main">
          <ns0:srgbClr val="FCFBF8"/>
        </ns0: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272729"/>
              </a:solidFill>
              <a:latin typeface="Arial"/>
              <a:ea typeface="Arial"/>
              <a:cs typeface="Arial"/>
            </a:defRPr>
          </a:pPr>
        </a:p>
      </c:txPr>
    </c:legend>
    <c:plotVisOnly val="1"/>
  </c:chart>
  <c:spPr>
    <ns0:solidFill xmlns:ns0="http://schemas.openxmlformats.org/drawingml/2006/main">
      <ns0:srgbClr val="FCFBF8"/>
    </ns0:solidFill>
    <a:ln xmlns:a="http://schemas.openxmlformats.org/drawingml/2006/main" w="0">
      <a:noFill/>
    </a:ln>
  </c:spPr>
  <c:externalData r:id="rIdChartSnapshot1">
    <c:autoUpdate val="0"/>
  </c:externalData>
</c:chartSpace>
</file>

<file path=ppt/expanded/slides/charts/chart8.xml><?xml version="1.0" encoding="utf-8"?>
<c:chartSpace xmlns:c="http://schemas.openxmlformats.org/drawingml/2006/chart" xmlns:r="http://schemas.openxmlformats.org/officeDocument/2006/relationships">
  <c:lang val="en-US"/>
  <c:chart>
    <c:plotArea>
      <c:scatterChart>
        <c:scatterStyle val="lineMarker"/>
        <c:ser>
          <c:idx val="0"/>
          <c:order val="0"/>
          <c:tx>
            <c:v>Local slope −0.3</c:v>
          </c:tx>
          <c:spPr>
            <a:ln xmlns:a="http://schemas.openxmlformats.org/drawingml/2006/main" w="28575">
              <a:solidFill>
                <a:srgbClr val="277A95"/>
              </a:solidFill>
            </a:ln>
          </c:spPr>
          <c:marker>
            <c:symbol val="none"/>
          </c:marker>
          <c:xVal>
            <c:numRef>
              <c:f>'Chart Data'!$A$2:$A$3</c:f>
              <c:numCache>
                <c:formatCode>General</c:formatCode>
                <c:ptCount val="2"/>
                <c:pt idx="0">
                  <c:v>0.6</c:v>
                </c:pt>
                <c:pt idx="1">
                  <c:v>1</c:v>
                </c:pt>
              </c:numCache>
            </c:numRef>
          </c:xVal>
          <c:yVal>
            <c:numRef>
              <c:f>'Chart Data'!$B$2:$B$3</c:f>
              <c:numCache>
                <c:formatCode>0.0</c:formatCode>
                <c:ptCount val="2"/>
                <c:pt idx="0">
                  <c:v>1.06</c:v>
                </c:pt>
                <c:pt idx="1">
                  <c:v>0.94</c:v>
                </c:pt>
              </c:numCache>
            </c:numRef>
          </c:yVal>
        </c:ser>
        <c:ser>
          <c:idx val="1"/>
          <c:order val="1"/>
          <c:tx>
            <c:v>Current weight</c:v>
          </c:tx>
          <c:spPr>
            <a:solidFill xmlns:a="http://schemas.openxmlformats.org/drawingml/2006/main">
              <a:srgbClr val="A45E56"/>
            </a:solidFill>
            <a:ln xmlns:a="http://schemas.openxmlformats.org/drawingml/2006/main" w="0">
              <a:solidFill>
                <a:srgbClr val="A45E56"/>
              </a:solidFill>
            </a:ln>
          </c:spPr>
          <c:marker>
            <c:symbol val="circle"/>
            <c:size val="11"/>
            <c:spPr>
              <a:solidFill xmlns:a="http://schemas.openxmlformats.org/drawingml/2006/main">
                <a:srgbClr val="A45E56"/>
              </a:solidFill>
            </c:spPr>
          </c:marker>
          <c:xVal>
            <c:numRef>
              <c:f>'Chart Data'!$C$2:$C$2</c:f>
              <c:numCache>
                <c:formatCode>General</c:formatCode>
                <c:ptCount val="1"/>
                <c:pt idx="0">
                  <c:v>0.8</c:v>
                </c:pt>
              </c:numCache>
            </c:numRef>
          </c:xVal>
          <c:yVal>
            <c:numRef>
              <c:f>'Chart Data'!$D$2:$D$2</c:f>
              <c:numCache>
                <c:formatCode>0.0</c:formatCode>
                <c:ptCount val="1"/>
                <c:pt idx="0">
                  <c:v>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1"/>
          <c:min val="0.9"/>
        </c:scaling>
        <c:delete val="0"/>
        <c:axPos val="l"/>
        <c:majorGridlines>
          <c:spPr>
            <a:ln xmlns:a="http://schemas.openxmlformats.org/drawingml/2006/main" w="4763">
              <a:solidFill>
                <a:srgbClr val="E4E0D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Local loss (illustrative)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B8B4AD"/>
            </a:solidFill>
          </a:ln>
        </c:spPr>
        <c:txPr>
          <a:bodyPr xmlns:a="http://schemas.openxmlformats.org/drawingml/2006/main" anchorCtr="1"/>
          <a:lstStyle xmlns:a="http://schemas.openxmlformats.org/drawingml/2006/main"/>
          <a:p xmlns:a="http://schemas.openxmlformats.org/drawingml/2006/main">
            <a:pPr>
              <a:defRPr sz="1200">
                <a:solidFill>
                  <a:srgbClr val="616069"/>
                </a:solidFill>
                <a:latin typeface="Arial"/>
                <a:ea typeface="Arial"/>
                <a:cs typeface="Arial"/>
              </a:defRPr>
            </a:pPr>
          </a:p>
        </c:txPr>
        <c:crossAx val="48650112"/>
        <c:majorUnit val="0.1"/>
      </c:valAx>
      <c:valAx>
        <c:axId val="48650112"/>
        <c:scaling>
          <c:orientation val="minMax"/>
          <c:max val="1"/>
          <c:min val="0.6"/>
        </c:scaling>
        <c:delete val="0"/>
        <c:axPos val="b"/>
        <c:majorGridlines>
          <c:spPr>
            <a:ln xmlns:a="http://schemas.openxmlformats.org/drawingml/2006/main" w="4763">
              <a:solidFill>
                <a:srgbClr val="E4E0D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Weight w</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B8B4AD"/>
            </a:solidFill>
          </a:ln>
        </c:spPr>
        <c:txPr>
          <a:bodyPr xmlns:a="http://schemas.openxmlformats.org/drawingml/2006/main" anchorCtr="1"/>
          <a:lstStyle xmlns:a="http://schemas.openxmlformats.org/drawingml/2006/main"/>
          <a:p xmlns:a="http://schemas.openxmlformats.org/drawingml/2006/main">
            <a:pPr>
              <a:defRPr sz="1200">
                <a:solidFill>
                  <a:srgbClr val="616069"/>
                </a:solidFill>
                <a:latin typeface="Arial"/>
                <a:ea typeface="Arial"/>
                <a:cs typeface="Arial"/>
              </a:defRPr>
            </a:pPr>
          </a:p>
        </c:txPr>
        <c:crossAx val="48672768"/>
        <c:majorUnit val="0.1"/>
      </c:valAx>
      <c:spPr>
        <ns0:solidFill xmlns:ns0="http://schemas.openxmlformats.org/drawingml/2006/main">
          <ns0:srgbClr val="FCFBF8"/>
        </ns0:solidFill>
        <a:ln xmlns:a="http://schemas.openxmlformats.org/drawingml/2006/main" w="0">
          <a:noFill/>
        </a:ln>
      </c:spPr>
    </c:plotArea>
    <c:plotVisOnly val="1"/>
  </c:chart>
  <c:spPr>
    <ns0:solidFill xmlns:ns0="http://schemas.openxmlformats.org/drawingml/2006/main">
      <ns0:srgbClr val="FCFBF8"/>
    </ns0:solidFill>
    <a:ln xmlns:a="http://schemas.openxmlformats.org/drawingml/2006/main" w="0">
      <a:noFill/>
    </a:ln>
  </c:spPr>
  <c:externalData r:id="rIdChartSnapshot1">
    <c:autoUpdate val="0"/>
  </c:externalData>
</c:chartSpace>
</file>

<file path=ppt/gradientsection/notesMasters/_rels/notesMaster1.xml.rels><?xml version='1.0' encoding='UTF-8'?>
<Relationships xmlns="http://schemas.openxmlformats.org/package/2006/relationships"><Relationship Type="http://schemas.openxmlformats.org/officeDocument/2006/relationships/theme" Target="/ppt/gradientsection/notesMasters/theme/theme3.xml" Id="Rd32b90a4c4294e69"/></Relationships>
</file>

<file path=ppt/gradientsection/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gradientsection/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gradientsection/notesSlides/_rels/notesSlide1.xml.rels><?xml version='1.0' encoding='UTF-8'?>
<Relationships xmlns="http://schemas.openxmlformats.org/package/2006/relationships"><Relationship Type="http://schemas.openxmlformats.org/officeDocument/2006/relationships/slide" Target="/ppt/slides/slide26.xml" Id="Rbdf1d150742f4516"/><Relationship Type="http://schemas.openxmlformats.org/officeDocument/2006/relationships/notesMaster" Target="/ppt/gradientsection/notesMasters/notesMaster1.xml" Id="R9de28cee5c6b451f"/></Relationships>
</file>

<file path=ppt/gradientsection/notesSlides/_rels/notesSlide2.xml.rels><?xml version='1.0' encoding='UTF-8'?>
<Relationships xmlns="http://schemas.openxmlformats.org/package/2006/relationships"><Relationship Type="http://schemas.openxmlformats.org/officeDocument/2006/relationships/slide" Target="/ppt/slides/slide27.xml" Id="R84fb39523bac4135"/><Relationship Type="http://schemas.openxmlformats.org/officeDocument/2006/relationships/notesMaster" Target="/ppt/gradientsection/notesMasters/notesMaster1.xml" Id="Re619d25d70cb4970"/></Relationships>
</file>

<file path=ppt/gradientsection/notesSlides/_rels/notesSlide3.xml.rels><?xml version='1.0' encoding='UTF-8'?>
<Relationships xmlns="http://schemas.openxmlformats.org/package/2006/relationships"><Relationship Type="http://schemas.openxmlformats.org/officeDocument/2006/relationships/slide" Target="/ppt/slides/slide28.xml" Id="Rb7bd08bd571a412c"/><Relationship Type="http://schemas.openxmlformats.org/officeDocument/2006/relationships/notesMaster" Target="/ppt/gradientsection/notesMasters/notesMaster1.xml" Id="R46c15f97de4c4557"/></Relationships>
</file>

<file path=ppt/gradientsection/notesSlides/_rels/notesSlide4.xml.rels><?xml version='1.0' encoding='UTF-8'?>
<Relationships xmlns="http://schemas.openxmlformats.org/package/2006/relationships"><Relationship Type="http://schemas.openxmlformats.org/officeDocument/2006/relationships/slide" Target="/ppt/slides/slide29.xml" Id="R89ddd2e667ec498d"/><Relationship Type="http://schemas.openxmlformats.org/officeDocument/2006/relationships/notesMaster" Target="/ppt/gradientsection/notesMasters/notesMaster1.xml" Id="Ra2eb04f145b14ebc"/></Relationships>
</file>

<file path=ppt/gradientsection/notesSlides/_rels/notesSlide5.xml.rels><?xml version='1.0' encoding='UTF-8'?>
<Relationships xmlns="http://schemas.openxmlformats.org/package/2006/relationships"><Relationship Type="http://schemas.openxmlformats.org/officeDocument/2006/relationships/slide" Target="/ppt/slides/slide30.xml" Id="R234db2863bed43ad"/><Relationship Type="http://schemas.openxmlformats.org/officeDocument/2006/relationships/notesMaster" Target="/ppt/gradientsection/notesMasters/notesMaster1.xml" Id="Rdccc4cd62973466f"/></Relationships>
</file>

<file path=ppt/gradientsection/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Explain: Along a scalar chain, the chain rule multiplies local derivatives. Each factor includes the effect of the relevant operation, such as a weight multiplication or an activation. If the repeated magnitudes are below one, the product can shrink. If they repeatedly exceed one, it can grow. In a full network we use Jacobian matrices and sum contributions across paths, but this scalar model isolates the basic mechanism.</ns0:t>
            </ns0:r>
          </ns0:p>
          <ns1:p xmlns:ns1="http://schemas.openxmlformats.org/drawingml/2006/main">
            <ns1:r>
              <ns1:t>Demonstrate: Begin with one and multiply by one-half several times. Then repeat with two. The contrast becomes larger as the chain gets longer.</ns1:t>
            </ns1:r>
          </ns1:p>
          <ns2:p xmlns:ns2="http://schemas.openxmlformats.org/drawingml/2006/main">
            <ns2:r>
              <ns2:t>Transition: We will first look at the shrinking case, which can make earlier layers learn very slowly.</ns2:t>
            </ns2:r>
          </ns2:p>
          <ns3:p xmlns:ns3="http://schemas.openxmlformats.org/drawingml/2006/main">
            <ns3:r>
              <ns3:t/>
            </ns3:r>
          </ns3:p>
          <ns4:p xmlns:ns4="http://schemas.openxmlformats.org/drawingml/2006/main">
            <ns4:r>
              <ns4:t>Reference details</ns4:t>
            </ns4:r>
          </ns4:p>
          <ns5:p xmlns:ns5="http://schemas.openxmlformats.org/drawingml/2006/main">
            <ns5:r>
              <ns5:t>Sources: Goodfellow, Bengio &amp; Courville, Deep Learning, chapter 8, https://www.deeplearningbook.org/contents/optimization.html; Pascanu et al. (2013), https://arxiv.org/abs/1211.5063. Scalar illustration: starting upstream gradient g0=1 and constant local derivative c gives gk=c^k. In a full network the propagation uses Jacobian matrix products and sums across paths, not one scalar product. The chart examples on the next slides show backward depth, not training iterations.</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gradientsection/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Explain: The horizontal axis counts backward steps away from the output, not training epochs. Start with a gradient magnitude of one and multiply by 0.5 at each step. After six steps the magnitude is 0.015625, only one sixty-fourth of its original size. For plain gradient descent with learning rate 0.1, a parameter gradient of that size produces an update magnitude of 0.0015625. Very small early-layer gradients may slow learning even when later layers continue changing.</ns0:t>
            </ns0:r>
          </ns0:p>
          <ns1:p xmlns:ns1="http://schemas.openxmlformats.org/drawingml/2006/main">
            <ns1:r>
              <ns1:t>Audience question: Does a small gradient always mean something is wrong? Answer: No. It can also occur near convergence, so inspect it alongside training progress.</ns1:t>
            </ns1:r>
          </ns1:p>
          <ns2:p xmlns:ns2="http://schemas.openxmlformats.org/drawingml/2006/main">
            <ns2:r>
              <ns2:t>Transition: Saturated hidden activations are one source of small local derivatives.</ns2:t>
            </ns2:r>
          </ns2:p>
          <ns3:p xmlns:ns3="http://schemas.openxmlformats.org/drawingml/2006/main">
            <ns3:r>
              <ns3:t/>
            </ns3:r>
          </ns3:p>
          <ns4:p xmlns:ns4="http://schemas.openxmlformats.org/drawingml/2006/main">
            <ns4:r>
              <ns4:t>Reference details</ns4:t>
            </ns4:r>
          </ns4:p>
          <ns5:p xmlns:ns5="http://schemas.openxmlformats.org/drawingml/2006/main">
            <ns5:r>
              <ns5:t>Sources: Goodfellow, Bengio &amp; Courville, Deep Learning, chapter 8, https://www.deeplearningbook.org/contents/optimization.html; Pascanu et al. (2013), https://arxiv.org/abs/1211.5063. Calculated illustrative data, not a measured neural-network run: gk=0.5^k for k=0..6. With SGD eta=.1, a scalar gradient .015625 gives an update magnitude .0015625. Sigmoid derivative is sigma(z)(1-sigma(z)), at most .25 and close to zero in saturation. Weight factors also matter. For sigmoid with binary cross-entropy, output score derivative is yhat-y, as in the earlier worked example. The saturation issue here concerns repeated hidden-layer derivatives.</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gradientsection/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Explain: This graph uses the same backward-depth interpretation, but every local factor is now two. Starting from one, the magnitude becomes sixty-four after six steps. With plain gradient descent and learning rate 0.1, a scalar gradient of sixty-four changes the parameter by magnitude 6.4. This can send the model into a region with much higher loss. Very large values may also cause numerical overflow. The plot is calculated teaching data, not a measured training run.</ns0:t>
            </ns0:r>
          </ns0:p>
          <ns1:p xmlns:ns1="http://schemas.openxmlformats.org/drawingml/2006/main">
            <ns1:r>
              <ns1:t>Audience question: Is lowering the learning rate the same as preventing gradients from growing during backpropagation? Answer: No. It reduces the update size after the gradient calculation.</ns1:t>
            </ns1:r>
          </ns1:p>
          <ns2:p xmlns:ns2="http://schemas.openxmlformats.org/drawingml/2006/main">
            <ns2:r>
              <ns2:t>Transition: Gradient clipping directly limits the gradient passed to the optimizer.</ns2:t>
            </ns2:r>
          </ns2:p>
          <ns3:p xmlns:ns3="http://schemas.openxmlformats.org/drawingml/2006/main">
            <ns3:r>
              <ns3:t/>
            </ns3:r>
          </ns3:p>
          <ns4:p xmlns:ns4="http://schemas.openxmlformats.org/drawingml/2006/main">
            <ns4:r>
              <ns4:t>Reference details</ns4:t>
            </ns4:r>
          </ns4:p>
          <ns5:p xmlns:ns5="http://schemas.openxmlformats.org/drawingml/2006/main">
            <ns5:r>
              <ns5:t>Sources: Goodfellow, Bengio &amp; Courville, Deep Learning, chapter 8, https://www.deeplearningbook.org/contents/optimization.html; Pascanu et al. (2013), https://arxiv.org/abs/1211.5063. Calculated illustrative data, not a measured neural-network run: gk=2^k for k=0..6. With SGD eta=.1 the update magnitude is .1*64=6.4, compared with .1 for gradient 1. This is amplification through backward depth, not growth over training iterations. Large products of local Jacobians can amplify gradients. Possible symptoms include spikes in loss and numerical overflow, but these symptoms are not a unique diagnosis.</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gradientsection/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Walk through the example: Treat g=[6,8] as one combined gradient vector. Its Euclidean norm is the square root of 36 plus 64, which is ten. We choose a maximum norm of five, so the vector is too large. Scale every component by five divided by ten, giving [3,4]. Its norm is five and its direction is unchanged. In general, keep g unchanged when its norm is below the threshold; otherwise multiply it by threshold divided by norm.</ns0:t>
            </ns0:r>
          </ns0:p>
          <ns1:p xmlns:ns1="http://schemas.openxmlformats.org/drawingml/2006/main">
            <ns1:r>
              <ns1:t>Audience question: Would clipping make a very small gradient larger? Answer: No.</ns1:t>
            </ns1:r>
          </ns1:p>
          <ns2:p xmlns:ns2="http://schemas.openxmlformats.org/drawingml/2006/main">
            <ns2:r>
              <ns2:t>Emphasize: Five is an illustrative threshold, not a universal recommendation.</ns2:t>
            </ns2:r>
          </ns2:p>
          <ns3:p xmlns:ns3="http://schemas.openxmlformats.org/drawingml/2006/main">
            <ns3:r>
              <ns3:t>Transition: Other remedies address how the gradient flows through the network.</ns3:t>
            </ns3:r>
          </ns3:p>
          <ns4:p xmlns:ns4="http://schemas.openxmlformats.org/drawingml/2006/main">
            <ns4:r>
              <ns4:t/>
            </ns4:r>
          </ns4:p>
          <ns5:p xmlns:ns5="http://schemas.openxmlformats.org/drawingml/2006/main">
            <ns5:r>
              <ns5:t>Reference details</ns5:t>
            </ns5:r>
          </ns5:p>
          <ns6:p xmlns:ns6="http://schemas.openxmlformats.org/drawingml/2006/main">
            <ns6:r>
              <ns6:t>Source: Pascanu et al. (2013), https://arxiv.org/abs/1211.5063; PyTorch clip_grad_norm_ documentation, https://docs.pytorch.org/docs/main/generated/torch.nn.utils.clip_grad_norm_.html. Global L2 norm clipping with threshold tau=5: g=[6,8], norm=10, scale=.5, clipped gradient=[3,4], norm=5. With plain SGD eta=.1 the update changes from [-.6,-.8] to [-.3,-.4]. The clipped vector keeps its direction. The exact bound on the final update depends on the optimizer. Apply after backward and before optimizer.step. Numeric example is illustrative; 5 is not a universal threshold.</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gradientsection/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Explain: For vanishing gradients, consider whether hidden activations are saturated and whether the initial weight scale suits the activation. ReLU has derivative one for positive inputs, though inactive units still have zero derivative. He initialization is designed for rectifiers, while Xavier initialization is a common choice for tanh. Residual connections provide another path for the backward signal. For large gradients, clipping can control their magnitude, while a smaller learning rate reduces the size of a plain gradient-descent step.</ns0:t>
            </ns0:r>
          </ns0:p>
          <ns1:p xmlns:ns1="http://schemas.openxmlformats.org/drawingml/2006/main">
            <ns1:r>
              <ns1:t>Emphasize: No single technique guarantees stable training. Monitor the loss and the gradients together, and avoid diagnosing the cause from one loss spike.</ns1:t>
            </ns1:r>
          </ns1:p>
          <ns2:p xmlns:ns2="http://schemas.openxmlformats.org/drawingml/2006/main">
            <ns2:r>
              <ns2:t>Transition: Let us look more closely at the additional path created by a residual connection.</ns2:t>
            </ns2:r>
          </ns2:p>
          <ns3:p xmlns:ns3="http://schemas.openxmlformats.org/drawingml/2006/main">
            <ns3:r>
              <ns3:t/>
            </ns3:r>
          </ns3:p>
          <ns4:p xmlns:ns4="http://schemas.openxmlformats.org/drawingml/2006/main">
            <ns4:r>
              <ns4:t>Reference details</ns4:t>
            </ns4:r>
          </ns4:p>
          <ns5:p xmlns:ns5="http://schemas.openxmlformats.org/drawingml/2006/main">
            <ns5:r>
              <ns5:t>Sources: Glorot &amp; Bengio (2010), https://proceedings.mlr.press/v9/glorot10a.html; He et al. (2015), https://arxiv.org/abs/1502.01852; He et al. (2016), https://arxiv.org/abs/1512.03385; Goodfellow et al., https://www.deeplearningbook.org/contents/optimization.html. ReLU derivative is 1 for positive inputs and 0 for negative inputs. Suitable initialization helps preserve signal scale but does not guarantee stable training. Residual connections create additive paths that often improve optimization. Monitoring per-layer gradient norms and activation distributions is a diagnostic suggestion, not a guarantee that low gradients are pathological. Small gradients can be expected near convergence.</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gradientsection/slideLayouts/_rels/slideLayout1.xml.rels><?xml version='1.0' encoding='UTF-8'?>
<Relationships xmlns="http://schemas.openxmlformats.org/package/2006/relationships"><Relationship Type="http://schemas.openxmlformats.org/officeDocument/2006/relationships/slideMaster" Target="/ppt/gradientsection/slideMasters/slideMaster1.xml" Id="Rd362e8d6510e416c"/></Relationships>
</file>

<file path=ppt/gradientsection/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gradientsection/slideMasters/_rels/slideMaster1.xml.rels><?xml version='1.0' encoding='UTF-8'?>
<Relationships xmlns="http://schemas.openxmlformats.org/package/2006/relationships"><Relationship Type="http://schemas.openxmlformats.org/officeDocument/2006/relationships/theme" Target="/ppt/gradientsection/slideMasters/theme/theme2.xml" Id="R80b064dc444749cf"/><Relationship Type="http://schemas.openxmlformats.org/officeDocument/2006/relationships/slideLayout" Target="/ppt/gradientsection/slideLayouts/slideLayout1.xml" Id="R4ef759f56b524fd1"/></Relationships>
</file>

<file path=ppt/gradientsection/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f759f56b524f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gradientsection/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gradientsection/slides/charts/_rels/chart1.xml.rels><Relationships xmlns="http://schemas.openxmlformats.org/package/2006/relationships"><Relationship Id="rIdChartSnapshot1" Type="http://schemas.openxmlformats.org/officeDocument/2006/relationships/package" Target="../../../embeddings/chart-data-snapshot-015.xlsx"/></Relationships>
</file>

<file path=ppt/gradientsection/slides/charts/_rels/chart2.xml.rels><Relationships xmlns="http://schemas.openxmlformats.org/package/2006/relationships"><Relationship Id="rIdChartSnapshot1" Type="http://schemas.openxmlformats.org/officeDocument/2006/relationships/package" Target="../../../embeddings/chart-data-snapshot-016.xlsx"/></Relationships>
</file>

<file path=ppt/gradientsection/slides/charts/_rels/chart3.xml.rels><Relationships xmlns="http://schemas.openxmlformats.org/package/2006/relationships"><Relationship Id="rIdChartSnapshot1" Type="http://schemas.openxmlformats.org/officeDocument/2006/relationships/package" Target="../../../embeddings/chart-data-snapshot-017.xlsx"/></Relationships>
</file>

<file path=ppt/gradientsection/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Gradient magnitude</c:v>
          </c:tx>
          <c:spPr>
            <a:solidFill xmlns:a="http://schemas.openxmlformats.org/drawingml/2006/main">
              <a:srgbClr val="287B95"/>
            </a:solidFill>
            <a:ln xmlns:a="http://schemas.openxmlformats.org/drawingml/2006/main" w="28575">
              <a:solidFill>
                <a:srgbClr val="287B95"/>
              </a:solidFill>
            </a:ln>
          </c:spPr>
          <c:marker>
            <c:symbol val="circle"/>
            <c:size val="7"/>
            <c:spPr>
              <a:solidFill xmlns:a="http://schemas.openxmlformats.org/drawingml/2006/main">
                <a:srgbClr val="287B95"/>
              </a:solidFill>
            </c:spPr>
          </c:marker>
          <c:cat>
            <c:numRef>
              <c:f>'Chart Data'!$A$2:$A$8</c:f>
              <c:numCache>
                <c:formatCode>General</c:formatCode>
                <c:ptCount val="7"/>
                <c:pt idx="0">
                  <c:v>0</c:v>
                </c:pt>
                <c:pt idx="1">
                  <c:v>1</c:v>
                </c:pt>
                <c:pt idx="2">
                  <c:v>2</c:v>
                </c:pt>
                <c:pt idx="3">
                  <c:v>3</c:v>
                </c:pt>
                <c:pt idx="4">
                  <c:v>4</c:v>
                </c:pt>
                <c:pt idx="5">
                  <c:v>5</c:v>
                </c:pt>
                <c:pt idx="6">
                  <c:v>6</c:v>
                </c:pt>
              </c:numCache>
            </c:numRef>
          </c:cat>
          <c:val>
            <c:numRef>
              <c:f>'Chart Data'!$B$2:$B$8</c:f>
              <c:numCache>
                <c:formatCode>0.000000</c:formatCode>
                <c:ptCount val="7"/>
                <c:pt idx="0">
                  <c:v>1</c:v>
                </c:pt>
                <c:pt idx="1">
                  <c:v>0.5</c:v>
                </c:pt>
                <c:pt idx="2">
                  <c:v>0.25</c:v>
                </c:pt>
                <c:pt idx="3">
                  <c:v>0.125</c:v>
                </c:pt>
                <c:pt idx="4">
                  <c:v>0.0625</c:v>
                </c:pt>
                <c:pt idx="5">
                  <c:v>0.03125</c:v>
                </c:pt>
                <c:pt idx="6">
                  <c:v>0.015625</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Backward steps from the output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4763">
              <a:solidFill>
                <a:srgbClr val="E4E0D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Gradient magnitude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majorUnit val="0.25"/>
      </c:valAx>
      <c:spPr>
        <a:solidFill xmlns:a="http://schemas.openxmlformats.org/drawingml/2006/main">
          <a:srgbClr val="FCFBF8"/>
        </a:solidFill>
        <a:ln xmlns:a="http://schemas.openxmlformats.org/drawingml/2006/main" w="0">
          <a:noFill/>
        </a:ln>
      </c:spPr>
    </c:plotArea>
    <c:plotVisOnly val="1"/>
  </c:chart>
  <c:spPr>
    <a:solidFill xmlns:a="http://schemas.openxmlformats.org/drawingml/2006/main">
      <a:srgbClr val="FCFBF8"/>
    </a:solidFill>
    <a:ln xmlns:a="http://schemas.openxmlformats.org/drawingml/2006/main" w="0">
      <a:noFill/>
    </a:ln>
  </c:spPr>
  <c:externalData r:id="rIdChartSnapshot1">
    <c:autoUpdate val="0"/>
  </c:externalData>
</c:chartSpace>
</file>

<file path=ppt/gradientsection/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Gradient magnitude</c:v>
          </c:tx>
          <c:spPr>
            <a:solidFill xmlns:a="http://schemas.openxmlformats.org/drawingml/2006/main">
              <a:srgbClr val="A45F57"/>
            </a:solidFill>
            <a:ln xmlns:a="http://schemas.openxmlformats.org/drawingml/2006/main" w="28575">
              <a:solidFill>
                <a:srgbClr val="A45F57"/>
              </a:solidFill>
            </a:ln>
          </c:spPr>
          <c:marker>
            <c:symbol val="circle"/>
            <c:size val="7"/>
            <c:spPr>
              <a:solidFill xmlns:a="http://schemas.openxmlformats.org/drawingml/2006/main">
                <a:srgbClr val="A45F57"/>
              </a:solidFill>
            </c:spPr>
          </c:marker>
          <c:cat>
            <c:numRef>
              <c:f>'Chart Data'!$A$2:$A$8</c:f>
              <c:numCache>
                <c:formatCode>General</c:formatCode>
                <c:ptCount val="7"/>
                <c:pt idx="0">
                  <c:v>0</c:v>
                </c:pt>
                <c:pt idx="1">
                  <c:v>1</c:v>
                </c:pt>
                <c:pt idx="2">
                  <c:v>2</c:v>
                </c:pt>
                <c:pt idx="3">
                  <c:v>3</c:v>
                </c:pt>
                <c:pt idx="4">
                  <c:v>4</c:v>
                </c:pt>
                <c:pt idx="5">
                  <c:v>5</c:v>
                </c:pt>
                <c:pt idx="6">
                  <c:v>6</c:v>
                </c:pt>
              </c:numCache>
            </c:numRef>
          </c:cat>
          <c:val>
            <c:numRef>
              <c:f>'Chart Data'!$B$2:$B$8</c:f>
              <c:numCache>
                <c:formatCode>0.000000</c:formatCode>
                <c:ptCount val="7"/>
                <c:pt idx="0">
                  <c:v>1</c:v>
                </c:pt>
                <c:pt idx="1">
                  <c:v>2</c:v>
                </c:pt>
                <c:pt idx="2">
                  <c:v>4</c:v>
                </c:pt>
                <c:pt idx="3">
                  <c:v>8</c:v>
                </c:pt>
                <c:pt idx="4">
                  <c:v>16</c:v>
                </c:pt>
                <c:pt idx="5">
                  <c:v>32</c:v>
                </c:pt>
                <c:pt idx="6">
                  <c:v>64</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Backward steps from the output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ax val="64"/>
          <c:min val="0"/>
        </c:scaling>
        <c:delete val="0"/>
        <c:axPos val="l"/>
        <c:majorGridlines>
          <c:spPr>
            <a:ln xmlns:a="http://schemas.openxmlformats.org/drawingml/2006/main" w="4763">
              <a:solidFill>
                <a:srgbClr val="E4E0D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Gradient magnitude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majorUnit val="16"/>
      </c:valAx>
      <c:spPr>
        <a:solidFill xmlns:a="http://schemas.openxmlformats.org/drawingml/2006/main">
          <a:srgbClr val="FCFBF8"/>
        </a:solidFill>
        <a:ln xmlns:a="http://schemas.openxmlformats.org/drawingml/2006/main" w="0">
          <a:noFill/>
        </a:ln>
      </c:spPr>
    </c:plotArea>
    <c:plotVisOnly val="1"/>
  </c:chart>
  <c:spPr>
    <a:solidFill xmlns:a="http://schemas.openxmlformats.org/drawingml/2006/main">
      <a:srgbClr val="FCFBF8"/>
    </a:solidFill>
    <a:ln xmlns:a="http://schemas.openxmlformats.org/drawingml/2006/main" w="0">
      <a:noFill/>
    </a:ln>
  </c:spPr>
  <c:externalData r:id="rIdChartSnapshot1">
    <c:autoUpdate val="0"/>
  </c:externalData>
</c:chartSpace>
</file>

<file path=ppt/gradientsection/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Before clipping</c:v>
          </c:tx>
          <c:spPr>
            <a:solidFill xmlns:a="http://schemas.openxmlformats.org/drawingml/2006/main">
              <a:srgbClr val="A45F57"/>
            </a:solidFill>
          </c:spPr>
          <c:cat>
            <c:strRef>
              <c:f>'Chart Data'!$A$2:$A$3</c:f>
              <c:strCache>
                <c:ptCount val="2"/>
                <c:pt idx="0">
                  <c:v>Gradient 1</c:v>
                </c:pt>
                <c:pt idx="1">
                  <c:v>Gradient 2</c:v>
                </c:pt>
              </c:strCache>
            </c:strRef>
          </c:cat>
          <c:val>
            <c:numRef>
              <c:f>'Chart Data'!$B$2:$B$3</c:f>
              <c:numCache>
                <c:formatCode>0</c:formatCode>
                <c:ptCount val="2"/>
                <c:pt idx="0">
                  <c:v>6</c:v>
                </c:pt>
                <c:pt idx="1">
                  <c:v>8</c:v>
                </c:pt>
              </c:numCache>
            </c:numRef>
          </c:val>
        </c:ser>
        <c:ser>
          <c:idx val="1"/>
          <c:order val="1"/>
          <c:tx>
            <c:v>After clipping</c:v>
          </c:tx>
          <c:spPr>
            <a:solidFill xmlns:a="http://schemas.openxmlformats.org/drawingml/2006/main">
              <a:srgbClr val="287B95"/>
            </a:solidFill>
          </c:spPr>
          <c:cat>
            <c:strRef>
              <c:f>'Chart Data'!$C$2:$C$3</c:f>
              <c:strCache>
                <c:ptCount val="2"/>
                <c:pt idx="0">
                  <c:v>Gradient 1</c:v>
                </c:pt>
                <c:pt idx="1">
                  <c:v>Gradient 2</c:v>
                </c:pt>
              </c:strCache>
            </c:strRef>
          </c:cat>
          <c:val>
            <c:numRef>
              <c:f>'Chart Data'!$D$2:$D$3</c:f>
              <c:numCache>
                <c:formatCode>0</c:formatCode>
                <c:ptCount val="2"/>
                <c:pt idx="0">
                  <c:v>3</c:v>
                </c:pt>
                <c:pt idx="1">
                  <c:v>4</c:v>
                </c:pt>
              </c:numCache>
            </c:numRef>
          </c:val>
        </c:s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10"/>
          <c:min val="0"/>
        </c:scaling>
        <c:delete val="0"/>
        <c:axPos val="l"/>
        <c:majorGridlines>
          <c:spPr>
            <a:ln xmlns:a="http://schemas.openxmlformats.org/drawingml/2006/main" w="4763">
              <a:solidFill>
                <a:srgbClr val="E4E0D9"/>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majorUnit val="2"/>
      </c:valAx>
      <c:spPr>
        <a:solidFill xmlns:a="http://schemas.openxmlformats.org/drawingml/2006/main">
          <a:srgbClr val="FCFBF8"/>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CFBF8"/>
    </a:solidFill>
  </c:spPr>
  <c:externalData r:id="rIdChartSnapshot1">
    <c:autoUpdate val="0"/>
  </c:externalData>
</c:chartSpace>
</file>

<file path=ppt/notesMasters/_rels/notesMaster1.xml.rels>&#65279;<?xml version="1.0" encoding="utf-8"?><Relationships xmlns="http://schemas.openxmlformats.org/package/2006/relationships"><Relationship Type="http://schemas.openxmlformats.org/officeDocument/2006/relationships/theme" Target="/ppt/notesMasters/theme/theme3.xml" Id="R0633d456598d4c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Neural Networks Visual Notes">
      <a:dk1>
        <a:srgbClr val="000000"/>
      </a:dk1>
      <a:lt1>
        <a:srgbClr val="FFFFFF"/>
      </a:lt1>
      <a:dk2>
        <a:srgbClr val="414447"/>
      </a:dk2>
      <a:lt2>
        <a:srgbClr val="F8F6F2"/>
      </a:lt2>
      <a:accent1>
        <a:srgbClr val="277A95"/>
      </a:accent1>
      <a:accent2>
        <a:srgbClr val="A45E56"/>
      </a:accent2>
      <a:accent3>
        <a:srgbClr val="8E6F51"/>
      </a:accent3>
      <a:accent4>
        <a:srgbClr val="9A54B3"/>
      </a:accent4>
      <a:accent5>
        <a:srgbClr val="228778"/>
      </a:accent5>
      <a:accent6>
        <a:srgbClr val="C99C00"/>
      </a:accent6>
      <a:hlink>
        <a:srgbClr val="277A95"/>
      </a:hlink>
      <a:folHlink>
        <a:srgbClr val="9A54B3"/>
      </a:folHlink>
    </a:clrScheme>
    <a:fontScheme name="Office">
      <a:majorFont>
        <a:latin typeface="Calibri Light"/>
        <a:ea typeface="Calibri Light"/>
        <a:cs typeface="Calibri Light"/>
      </a:majorFont>
      <a:minorFont>
        <a:latin typeface="Calibri"/>
        <a:ea typeface="Calibri"/>
        <a:cs typeface="Calibri"/>
      </a:minorFont>
    </a:fontScheme>
    <a:fmtScheme name="Neural Networks Visual Note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57ecfc901946d6" /><Relationship Type="http://schemas.openxmlformats.org/officeDocument/2006/relationships/notesMaster" Target="/ppt/notesMasters/notesMaster1.xml" Id="R22af3939dd6849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66bdcd558948b0" /><Relationship Type="http://schemas.openxmlformats.org/officeDocument/2006/relationships/notesMaster" Target="/ppt/notesMasters/notesMaster1.xml" Id="Rc161ce7160914f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27020c393149ea" /><Relationship Type="http://schemas.openxmlformats.org/officeDocument/2006/relationships/notesMaster" Target="/ppt/notesMasters/notesMaster1.xml" Id="Ra07a1883a0e04e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b32f6816c049ae" /><Relationship Type="http://schemas.openxmlformats.org/officeDocument/2006/relationships/notesMaster" Target="/ppt/notesMasters/notesMaster1.xml" Id="Rc5fc0ad0167940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54f161cb7b4fef" /><Relationship Type="http://schemas.openxmlformats.org/officeDocument/2006/relationships/notesMaster" Target="/ppt/notesMasters/notesMaster1.xml" Id="R2e8da70442354c3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45e202fb074bb7" /><Relationship Type="http://schemas.openxmlformats.org/officeDocument/2006/relationships/notesMaster" Target="/ppt/notesMasters/notesMaster1.xml" Id="R852c6d25fa9043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1e787e7d854f34" /><Relationship Type="http://schemas.openxmlformats.org/officeDocument/2006/relationships/notesMaster" Target="/ppt/notesMasters/notesMaster1.xml" Id="R1baac937abb742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ea221c2e77d4707" /><Relationship Type="http://schemas.openxmlformats.org/officeDocument/2006/relationships/notesMaster" Target="/ppt/notesMasters/notesMaster1.xml" Id="Rc1e7210f43fa4269" /></Relationships>
</file>

<file path=ppt/notesSlides/_rels/notesSlide9.xml.rels>&#65279;<?xml version="1.0" encoding="utf-8"?><Relationships xmlns="http://schemas.openxmlformats.org/package/2006/relationships"><Relationship Type="http://schemas.openxmlformats.org/officeDocument/2006/relationships/slide" Target="/ppt/slides/slide9.xml" Id="R9c1261e6891e4f0a" /><Relationship Type="http://schemas.openxmlformats.org/officeDocument/2006/relationships/notesMaster" Target="/ppt/notesMasters/notesMaster1.xml" Id="R617d9432dc6544c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36e731bc270417b" /><Relationship Type="http://schemas.openxmlformats.org/officeDocument/2006/relationships/notesMaster" Target="/ppt/notesMasters/notesMaster1.xml" Id="R817a2afe853c455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f26b09e800d4a83" /><Relationship Type="http://schemas.openxmlformats.org/officeDocument/2006/relationships/notesMaster" Target="/ppt/notesMasters/notesMaster1.xml" Id="R33622043abd34e9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aa314c0e02491a" /><Relationship Type="http://schemas.openxmlformats.org/officeDocument/2006/relationships/notesMaster" Target="/ppt/notesMasters/notesMaster1.xml" Id="R614a1d9a14c54f0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c195b4a862e46ba" /><Relationship Type="http://schemas.openxmlformats.org/officeDocument/2006/relationships/notesMaster" Target="/ppt/notesMasters/notesMaster1.xml" Id="Rcdd781dbfb9d4ba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Opening: Today we will connect the neural network's prediction to the calculations that allow it to learn. We will use a small spam-classification example so that every parameter, gradient, and update is visible. Then we will examine what changes in deeper networks, including vanishing and exploding gradients.</ns0:t>
            </ns0:r>
          </ns0:p>
          <ns1:p xmlns:ns1="http://schemas.openxmlformats.org/drawingml/2006/main">
            <ns1:r>
              <ns1:t>Learning objectives: By the end, you should be able to explain the roles of the forward pass, the loss, backpropagation, and gradient descent. You should also be able to calculate a simple update and explain why gradient scale matters.</ns1:t>
            </ns1:r>
          </ns1:p>
          <ns2:p xmlns:ns2="http://schemas.openxmlformats.org/drawingml/2006/main">
            <ns2:r>
              <ns2:t>Transition: First, let us recall what the network actually learns.</ns2:t>
            </ns2:r>
          </ns2:p>
          <ns3:p xmlns:ns3="http://schemas.openxmlformats.org/drawingml/2006/main">
            <ns3:r>
              <ns3:t/>
            </ns3:r>
          </ns3:p>
          <ns4:p xmlns:ns4="http://schemas.openxmlformats.org/drawingml/2006/main">
            <ns4:r>
              <ns4:t>Reference details</ns4:t>
            </ns4:r>
          </ns4:p>
          <ns5:p xmlns:ns5="http://schemas.openxmlformats.org/drawingml/2006/main">
            <ns5:r>
              <ns5:t>Cover illustration generated with the built-in ImageGen tool. Conceptual loss landscape, not measured data.</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Explain: Follow the forward direction first. Inputs pass through weighted sums and activations until the network produces its prediction and loss. Backpropagation then works backward through those same operations to calculate how the loss changes with each parameter. The optimizer uses those derivatives to update the parameters. Backpropagation computes gradients; gradient descent uses them. Keeping these roles separate makes the training loop easier to understand.</ns0:t>
            </ns0:r>
          </ns0:p>
          <ns1:p xmlns:ns1="http://schemas.openxmlformats.org/drawingml/2006/main">
            <ns1:r>
              <ns1:t>Audience question: At which stage do the weights actually change? Answer: During the optimizer update, after the gradients have been calculated.</ns1:t>
            </ns1:r>
          </ns1:p>
          <ns2:p xmlns:ns2="http://schemas.openxmlformats.org/drawingml/2006/main">
            <ns2:r>
              <ns2:t>Transition: Before calculating gradients in a network, we will interpret one derivative on a simple curve.</ns2:t>
            </ns2:r>
          </ns2:p>
          <ns3:p xmlns:ns3="http://schemas.openxmlformats.org/drawingml/2006/main">
            <ns3:r>
              <ns3:t/>
            </ns3:r>
          </ns3:p>
          <ns4:p xmlns:ns4="http://schemas.openxmlformats.org/drawingml/2006/main">
            <ns4:r>
              <ns4:t>Reference details</ns4:t>
            </ns4:r>
          </ns4:p>
          <ns5:p xmlns:ns5="http://schemas.openxmlformats.org/drawingml/2006/main">
            <ns5:r>
              <ns5:t>Backpropagation computes derivatives of the loss with respect to parameters. Gradient descent is the separate update rule.</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Explain: For L(w)=w squared, the derivative is 2w. At w=1 the derivative is positive two, and at w=-1 it is negative two. Subtracting a small multiple of either derivative moves the weight toward zero. The minimum of this particular loss is at zero. Neural-network losses involve many parameters and are usually more complicated, so this bowl is a teaching example rather than a complete picture of the optimization landscape.</ns0:t>
            </ns0:r>
          </ns0:p>
          <ns1:p xmlns:ns1="http://schemas.openxmlformats.org/drawingml/2006/main">
            <ns1:r>
              <ns1:t>Audience question: What is the derivative at the minimum? Answer: Zero. A zero derivative alone does not guarantee a minimum for every possible loss.</ns1:t>
            </ns1:r>
          </ns1:p>
          <ns2:p xmlns:ns2="http://schemas.openxmlformats.org/drawingml/2006/main">
            <ns2:r>
              <ns2:t>Transition: We now apply the same update idea to a tiny neural network.</ns2:t>
            </ns2:r>
          </ns2:p>
          <ns3:p xmlns:ns3="http://schemas.openxmlformats.org/drawingml/2006/main">
            <ns3:r>
              <ns3:t/>
            </ns3:r>
          </ns3:p>
          <ns4:p xmlns:ns4="http://schemas.openxmlformats.org/drawingml/2006/main">
            <ns4:r>
              <ns4:t>Reference details</ns4:t>
            </ns4:r>
          </ns4:p>
          <ns5:p xmlns:ns5="http://schemas.openxmlformats.org/drawingml/2006/main">
            <ns5:r>
              <ns5:t>Analytic chart of L(w)=w². Highlighted points are (−1,1) and (1,1). A zero gradient is not generally proof of a minimum.</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Walk through the calculation: Set x=1, w1=0.5, b1=0, w2=1, and b2=0. The hidden score is 0.5 times 1 plus zero, giving 0.5. ReLU leaves it unchanged, so h=0.5. The output score is 1 times 0.5 plus zero, also 0.5. Applying sigmoid gives approximately 0.6225. Because the true label is one, binary cross-entropy is minus the natural logarithm of this probability, approximately 0.4741.</ns0:t>
            </ns0:r>
          </ns0:p>
          <ns1:p xmlns:ns1="http://schemas.openxmlformats.org/drawingml/2006/main">
            <ns1:r>
              <ns1:t>Emphasize: Keep the intermediate values from this forward pass. Backpropagation will reuse them.</ns1:t>
            </ns1:r>
          </ns1:p>
          <ns2:p xmlns:ns2="http://schemas.openxmlformats.org/drawingml/2006/main">
            <ns2:r>
              <ns2:t>Audience question: Which quantities are parameters and which are intermediate results?</ns2:t>
            </ns2:r>
          </ns2:p>
          <ns3:p xmlns:ns3="http://schemas.openxmlformats.org/drawingml/2006/main">
            <ns3:r>
              <ns3:t>Transition: Let us examine why this loss rewards a better prediction.</ns3:t>
            </ns3:r>
          </ns3:p>
          <ns4:p xmlns:ns4="http://schemas.openxmlformats.org/drawingml/2006/main">
            <ns4:r>
              <ns4:t/>
            </ns4:r>
          </ns4:p>
          <ns5:p xmlns:ns5="http://schemas.openxmlformats.org/drawingml/2006/main">
            <ns5:r>
              <ns5:t>Reference details</ns5:t>
            </ns5:r>
          </ns5:p>
          <ns6:p xmlns:ns6="http://schemas.openxmlformats.org/drawingml/2006/main">
            <ns6:r>
              <ns6:t>w₁=.5,b₁=0,w₂=1,b₂=0,x=1. h=.5, z₂=.5, sigmoid(z₂)=.6224593312. BCE with y=1 is .4740769842.</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Explain: Binary cross-entropy measures how well the predicted probability agrees with a binary label. For this email the label is one, so the formula simplifies to minus log of the prediction. As the probability approaches one, the loss approaches zero. A probability near zero gives a large loss for this positive example. For a negative example, y=0, the formula becomes minus log of one minus the prediction, which rewards a low spam probability. These logarithms are natural logarithms.</ns0:t>
            </ns0:r>
          </ns0:p>
          <ns1:p xmlns:ns1="http://schemas.openxmlformats.org/drawingml/2006/main">
            <ns1:r>
              <ns1:t>Audience question: What happens to the loss if this spam probability rises from 0.6 to 0.8? Answer: It decreases.</ns1:t>
            </ns1:r>
          </ns1:p>
          <ns2:p xmlns:ns2="http://schemas.openxmlformats.org/drawingml/2006/main">
            <ns2:r>
              <ns2:t>Transition: The class decision can stay the same during that improvement.</ns2:t>
            </ns2:r>
          </ns2:p>
          <ns3:p xmlns:ns3="http://schemas.openxmlformats.org/drawingml/2006/main">
            <ns3:r>
              <ns3:t/>
            </ns3:r>
          </ns3:p>
          <ns4:p xmlns:ns4="http://schemas.openxmlformats.org/drawingml/2006/main">
            <ns4:r>
              <ns4:t>Reference details</ns4:t>
            </ns4:r>
          </ns4:p>
          <ns5:p xmlns:ns5="http://schemas.openxmlformats.org/drawingml/2006/main">
            <ns5:r>
              <ns5:t>Natural log. The chart plots the exact binary cross-entropy for y=1. As ŷ approaches 0, loss grows without bound.</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Explain: Follow the output weight through the output score, the sigmoid prediction, and finally the loss. The chain rule multiplies the local derivatives along this path. For sigmoid paired with binary cross-entropy, the derivative of loss with respect to the output score simplifies to prediction minus label. Here that is 0.6225 minus 1, or approximately -0.3775. The derivative of the score with respect to w2 is the hidden activation, 0.5. Their product gives the output weight gradient, approximately -0.1888.</ns0:t>
            </ns0:r>
          </ns0:p>
          <ns1:p xmlns:ns1="http://schemas.openxmlformats.org/drawingml/2006/main">
            <ns1:r>
              <ns1:t>Audience question: What does the negative sign suggest? Answer: Increasing this weight slightly should reduce the loss locally.</ns1:t>
            </ns1:r>
          </ns1:p>
          <ns2:p xmlns:ns2="http://schemas.openxmlformats.org/drawingml/2006/main">
            <ns2:r>
              <ns2:t>Transition: The same error signal continues into the hidden layer.</ns2:t>
            </ns2:r>
          </ns2:p>
          <ns3:p xmlns:ns3="http://schemas.openxmlformats.org/drawingml/2006/main">
            <ns3:r>
              <ns3:t/>
            </ns3:r>
          </ns3:p>
          <ns4:p xmlns:ns4="http://schemas.openxmlformats.org/drawingml/2006/main">
            <ns4:r>
              <ns4:t>Reference details</ns4:t>
            </ns4:r>
          </ns4:p>
          <ns5:p xmlns:ns5="http://schemas.openxmlformats.org/drawingml/2006/main">
            <ns5:r>
              <ns5:t>For y=1, ∂L/∂ŷ=−1/ŷ. ∂ŷ/∂z₂=ŷ(1−ŷ), and ∂z₂/∂w₂=h. Output bias gradient ∂L/∂b₂=δ₂=−.3775406688. For general y, sigmoid plus BCE still gives δ₂=ŷ−y.</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Explain: The hidden neuron influences the loss through the output weight, so multiply the output error by w2 and by the hidden activation derivative. The forward-pass output weight is one. Since the hidden score is positive, the ReLU derivative is also one. The hidden error is therefore -0.3775. Multiplying by input x=1 gives the same value for the hidden weight gradient. The bias gradient also equals this error because the derivative of adding a bias is one.</ns0:t>
            </ns0:r>
          </ns0:p>
          <ns1:p xmlns:ns1="http://schemas.openxmlformats.org/drawingml/2006/main">
            <ns1:r>
              <ns1:t>Emphasize: Use the weights from the forward pass throughout this backward calculation. Do not update one layer before computing the others.</ns1:t>
            </ns1:r>
          </ns1:p>
          <ns2:p xmlns:ns2="http://schemas.openxmlformats.org/drawingml/2006/main">
            <ns2:r>
              <ns2:t>Transition: We can now collect all four gradients.</ns2:t>
            </ns2:r>
          </ns2:p>
          <ns3:p xmlns:ns3="http://schemas.openxmlformats.org/drawingml/2006/main">
            <ns3:r>
              <ns3:t/>
            </ns3:r>
          </ns3:p>
          <ns4:p xmlns:ns4="http://schemas.openxmlformats.org/drawingml/2006/main">
            <ns4:r>
              <ns4:t>Reference details</ns4:t>
            </ns4:r>
          </ns4:p>
          <ns5:p xmlns:ns5="http://schemas.openxmlformats.org/drawingml/2006/main">
            <ns5:r>
              <ns5:t>For z&lt;0, ReLU derivative is 0. At 0, implementations commonly choose 0. In a larger network, gradient contributions from multiple downstream paths sum.</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Walk through one row: With learning rate 0.1, w1 becomes 0.5 minus 0.1 times -0.3775, or approximately 0.5378. Repeat the rule for the biases and output weight. Because all four gradients are negative, all four parameters increase. The output weight takes a smaller step, approximately 0.0189, because its gradient magnitude is smaller. All rows use gradients from the same original forward pass.</ns0:t>
            </ns0:r>
          </ns0:p>
          <ns1:p xmlns:ns1="http://schemas.openxmlformats.org/drawingml/2006/main">
            <ns1:r>
              <ns1:t>Audience question: Is the gradient the same as the parameter change? Answer: No. The change is minus the learning rate times the gradient for plain gradient descent.</ns1:t>
            </ns1:r>
          </ns1:p>
          <ns2:p xmlns:ns2="http://schemas.openxmlformats.org/drawingml/2006/main">
            <ns2:r>
              <ns2:t>Transition: We must run the updated network again to see the actual result.</ns2:t>
            </ns2:r>
          </ns2:p>
          <ns3:p xmlns:ns3="http://schemas.openxmlformats.org/drawingml/2006/main">
            <ns3:r>
              <ns3:t/>
            </ns3:r>
          </ns3:p>
          <ns4:p xmlns:ns4="http://schemas.openxmlformats.org/drawingml/2006/main">
            <ns4:r>
              <ns4:t>Reference details</ns4:t>
            </ns4:r>
          </ns4:p>
          <ns5:p xmlns:ns5="http://schemas.openxmlformats.org/drawingml/2006/main">
            <ns5:r>
              <ns5:t>w_new=w_old−ηg. Gradients: w₁,b₁,b₂=−.3775406688; w₂=−.1887703344. Exact updated values .5377540669,.0377540669,1.0188770334,.0377540669. Values shown rounded.</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Explain: For the same training email, one update increased the predicted spam probability and reduced the loss. This confirms that the chosen step helped this example. It does not establish that the model is now better on every email. Other examples may produce different gradients, and performance on unseen data needs a separate evaluation. We also cannot assume every future update will reduce the measured loss, especially when using different mini-batches.</ns0:t>
            </ns0:r>
          </ns0:p>
          <ns1:p xmlns:ns1="http://schemas.openxmlformats.org/drawingml/2006/main">
            <ns1:r>
              <ns1:t>Audience question: What additional evidence would show that the model generalizes? Answer: Performance on held-out data.</ns1:t>
            </ns1:r>
          </ns1:p>
          <ns2:p xmlns:ns2="http://schemas.openxmlformats.org/drawingml/2006/main">
            <ns2:r>
              <ns2:t>Transition: The learning rate is one reason an update may help or hurt.</ns2:t>
            </ns2:r>
          </ns2:p>
          <ns3:p xmlns:ns3="http://schemas.openxmlformats.org/drawingml/2006/main">
            <ns3:r>
              <ns3:t/>
            </ns3:r>
          </ns3:p>
          <ns4:p xmlns:ns4="http://schemas.openxmlformats.org/drawingml/2006/main">
            <ns4:r>
              <ns4:t>Reference details</ns4:t>
            </ns4:r>
          </ns4:p>
          <ns5:p xmlns:ns5="http://schemas.openxmlformats.org/drawingml/2006/main">
            <ns5:r>
              <ns5:t>Exact new h=.5755081338,z₂=.6241260869,ŷ=.6511563800,L=.4290054505. Calculations use unrounded parameters.</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Explain: Each case starts at the same point on L(w)=w squared, where the gradient is two. A learning rate of 0.1 gives w=0.8 and loss 0.64. A learning rate of 0.5 gives w=0 and reaches this simple minimum in one step. A learning rate of 1.1 gives w=-1.2 and loss 1.44, worse than the starting loss of one. The direction initially points downhill, but a large step can go too far.</ns0:t>
            </ns0:r>
          </ns0:p>
          <ns1:p xmlns:ns1="http://schemas.openxmlformats.org/drawingml/2006/main">
            <ns1:r>
              <ns1:t>Audience question: Does a larger learning rate always learn faster? Answer: No; it may overshoot and become unstable.</ns1:t>
            </ns1:r>
          </ns1:p>
          <ns2:p xmlns:ns2="http://schemas.openxmlformats.org/drawingml/2006/main">
            <ns2:r>
              <ns2:t>Transition: Repeating these updates reveals the longer-term behavior.</ns2:t>
            </ns2:r>
          </ns2:p>
          <ns3:p xmlns:ns3="http://schemas.openxmlformats.org/drawingml/2006/main">
            <ns3:r>
              <ns3:t/>
            </ns3:r>
          </ns3:p>
          <ns4:p xmlns:ns4="http://schemas.openxmlformats.org/drawingml/2006/main">
            <ns4:r>
              <ns4:t>Reference details</ns4:t>
            </ns4:r>
          </ns4:p>
          <ns5:p xmlns:ns5="http://schemas.openxmlformats.org/drawingml/2006/main">
            <ns5:r>
              <ns5:t>Analytic quadratic with derivative 2w. Colored segments connect successive iterates rather than tracing the loss surface between them. These learning-rate outcomes are specific to this example.</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Explain: Each email supplies a gradient vector, with one entry for every parameter. For the mean batch loss, we average those vectors and take one update. Different examples may agree or disagree about how a weight should change. As an extra scalar example, gradients -0.6, +0.3, and -0.3 average to -0.2. At learning rate 0.1, that parameter increases by 0.02. This example illustrates averaging and is separate from the earlier four-parameter network.</ns0:t>
            </ns0:r>
          </ns0:p>
          <ns1:p xmlns:ns1="http://schemas.openxmlformats.org/drawingml/2006/main">
            <ns1:r>
              <ns1:t>Audience question: Does one batch of three emails normally produce three optimizer steps? Answer: No, this procedure makes one step from the mean gradient.</ns1:t>
            </ns1:r>
          </ns1:p>
          <ns2:p xmlns:ns2="http://schemas.openxmlformats.org/drawingml/2006/main">
            <ns2:r>
              <ns2:t>Transition: Batch size controls how often these updates occur.</ns2:t>
            </ns2:r>
          </ns2:p>
          <ns3:p xmlns:ns3="http://schemas.openxmlformats.org/drawingml/2006/main">
            <ns3:r>
              <ns3:t/>
            </ns3:r>
          </ns3:p>
          <ns4:p xmlns:ns4="http://schemas.openxmlformats.org/drawingml/2006/main">
            <ns4:r>
              <ns4:t>Reference details</ns4:t>
            </ns4:r>
          </ns4:p>
          <ns5:p xmlns:ns5="http://schemas.openxmlformats.org/drawingml/2006/main">
            <ns5:r>
              <ns5:t>Each gᵢ is a vector covering all parameters. This diagram shows a batch of 3 for illustration. The batch objective is mean loss. Use a separate test set for final evaluation.</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Explain: Read the loop in order. First predict using the current parameters. Then compare the prediction with the label to compute the loss. Next, backpropagate to calculate gradients. Finally, let the optimizer update the parameters. The next pass uses these new parameter values. In common software, clear old accumulated gradients before computing a fresh batch unless gradient accumulation is intentional. If clipping is needed, it happens after the backward pass and before the optimizer step.</ns0:t>
            </ns0:r>
          </ns0:p>
          <ns1:p xmlns:ns1="http://schemas.openxmlformats.org/drawingml/2006/main">
            <ns1:r>
              <ns1:t>Audience question: Which stage needs the correct labels? Answer: The loss calculation during supervised training.</ns1:t>
            </ns1:r>
          </ns1:p>
          <ns2:p xmlns:ns2="http://schemas.openxmlformats.org/drawingml/2006/main">
            <ns2:r>
              <ns2:t>Transition: Larger layers use the same logic with vectors and matrices.</ns2:t>
            </ns2:r>
          </ns2:p>
          <ns3:p xmlns:ns3="http://schemas.openxmlformats.org/drawingml/2006/main">
            <ns3:r>
              <ns3:t/>
            </ns3:r>
          </ns3:p>
          <ns4:p xmlns:ns4="http://schemas.openxmlformats.org/drawingml/2006/main">
            <ns4:r>
              <ns4:t>Reference details</ns4:t>
            </ns4:r>
          </ns4:p>
          <ns5:p xmlns:ns5="http://schemas.openxmlformats.org/drawingml/2006/main">
            <ns5:r>
              <ns5:t>θ contains every weight and bias. Backpropagation uses the chain rule. Gradient descent subtracts the learning rate times the gradient. Repeat with training data and evaluate generalization on held-out examples.</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Closing explanation: We have connected the complete learning cycle. A forward pass produces a probability. The loss compares it with the true label. Backpropagation applies the chain rule to calculate parameter gradients. Gradient descent uses those gradients and a learning rate to update the parameters. In our worked example, the spam probability rose from 0.6225 to 0.6512 and the loss fell from 0.4741 to 0.4290 after one step.</ns0:t>
            </ns0:r>
          </ns0:p>
          <ns1:p xmlns:ns1="http://schemas.openxmlformats.org/drawingml/2006/main">
            <ns1:r>
              <ns1:t>Connect the extensions: In deep networks, repeated derivative products can vanish or explode. Initialization, activation choice, residual paths, and clipping address different parts of that problem. Validation checks whether learning also helps on unseen examples.</ns1:t>
            </ns1:r>
          </ns1:p>
          <ns2:p xmlns:ns2="http://schemas.openxmlformats.org/drawingml/2006/main">
            <ns2:r>
              <ns2:t>Final audience check: Can you explain the difference between backpropagation and gradient descent, and name one observation that would prompt you to inspect the gradients?</ns2:t>
            </ns2:r>
          </ns2:p>
          <ns3:p xmlns:ns3="http://schemas.openxmlformats.org/drawingml/2006/main">
            <ns3:r>
              <ns3:t/>
            </ns3:r>
          </ns3:p>
          <ns4:p xmlns:ns4="http://schemas.openxmlformats.org/drawingml/2006/main">
            <ns4:r>
              <ns4:t>Reference details</ns4:t>
            </ns4:r>
          </ns4:p>
          <ns5:p xmlns:ns5="http://schemas.openxmlformats.org/drawingml/2006/main">
            <ns5:r>
              <ns5:t>Recap the worked example in four steps. The first forward pass produced a spam probability of 0.6225 and loss of 0.4741. Backpropagation computed gradients, and gradient descent updated the weights and biases. A second forward pass raised the spam probability to 0.6512 and reduced loss to 0.4290 on this training example.</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ection/notesMasters/_rels/notesMaster1.xml.rels><?xml version='1.0' encoding='UTF-8'?>
<Relationships xmlns="http://schemas.openxmlformats.org/package/2006/relationships"><Relationship Type="http://schemas.openxmlformats.org/officeDocument/2006/relationships/theme" Target="/ppt/notesection/notesMasters/theme/theme3.xml" Id="R210cc42a216148fa"/></Relationships>
</file>

<file path=ppt/notesection/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ection/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ection/notesSlides/_rels/notesSlide1.xml.rels><?xml version='1.0' encoding='UTF-8'?>
<Relationships xmlns="http://schemas.openxmlformats.org/package/2006/relationships"><Relationship Type="http://schemas.openxmlformats.org/officeDocument/2006/relationships/slide" Target="/ppt/slides/slide31.xml" Id="Rcfd877e3214e45f3"/><Relationship Type="http://schemas.openxmlformats.org/officeDocument/2006/relationships/notesMaster" Target="/ppt/notesection/notesMasters/notesMaster1.xml" Id="R55ecf0e6d2e147cc"/></Relationships>
</file>

<file path=ppt/notesection/notesSlides/_rels/notesSlide2.xml.rels><?xml version='1.0' encoding='UTF-8'?>
<Relationships xmlns="http://schemas.openxmlformats.org/package/2006/relationships"><Relationship Type="http://schemas.openxmlformats.org/officeDocument/2006/relationships/slide" Target="/ppt/slides/slide32.xml" Id="Rdbad76bbec1a4ccb"/><Relationship Type="http://schemas.openxmlformats.org/officeDocument/2006/relationships/notesMaster" Target="/ppt/notesection/notesMasters/notesMaster1.xml" Id="R5fdbc72e7abd4948"/></Relationships>
</file>

<file path=ppt/notesection/notesSlides/_rels/notesSlide3.xml.rels><?xml version='1.0' encoding='UTF-8'?>
<Relationships xmlns="http://schemas.openxmlformats.org/package/2006/relationships"><Relationship Type="http://schemas.openxmlformats.org/officeDocument/2006/relationships/slide" Target="/ppt/slides/slide33.xml" Id="R4af4e2d326564186"/><Relationship Type="http://schemas.openxmlformats.org/officeDocument/2006/relationships/notesMaster" Target="/ppt/notesection/notesMasters/notesMaster1.xml" Id="R663837ed01524bf1"/></Relationships>
</file>

<file path=ppt/notesection/notesSlides/_rels/notesSlide4.xml.rels><?xml version='1.0' encoding='UTF-8'?>
<Relationships xmlns="http://schemas.openxmlformats.org/package/2006/relationships"><Relationship Type="http://schemas.openxmlformats.org/officeDocument/2006/relationships/slide" Target="/ppt/slides/slide34.xml" Id="R5d098e51264a4231"/><Relationship Type="http://schemas.openxmlformats.org/officeDocument/2006/relationships/notesMaster" Target="/ppt/notesection/notesMasters/notesMaster1.xml" Id="R0f3b4930e1c84503"/></Relationships>
</file>

<file path=ppt/notesection/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sigmoid curve flattens when its input is strongly positive or negative. Backpropagation multiplies by the slope, so a nearly flat hidden activation passes back a much smaller gradient. Point to the centre of this derivative chart, where z=0 and the derivative is 0.25. At z=5 it is only about 0.0066. If weight factors are 1, multiplying six hidden sigmoid derivatives no larger than 0.25 gives at most 0.25^6, or 0.000244. Actual networks also multiply weights and sum over paths, so this is an illustration rather than a universal bound on the network gradient.</a:t>
            </a:r>
          </a:p>
          <a:p xmlns:a="http://schemas.openxmlformats.org/drawingml/2006/main">
            <a:r>
              <a:t>Audience question: Does a confident sigmoid output always mean the loss gradient vanishes? Answer: No. In our sigmoid-plus-cross-entropy example, the derivative with respect to the output score simplifies to prediction minus label.</a:t>
            </a:r>
          </a:p>
          <a:p xmlns:a="http://schemas.openxmlformats.org/drawingml/2006/main">
            <a:r>
              <a:t>Transition: Gradients can also grow when the combined local factors amplify them.</a:t>
            </a:r>
          </a:p>
          <a:p xmlns:a="http://schemas.openxmlformats.org/drawingml/2006/main">
            <a:r>
              <a:t>Sources: https://proceedings.mlr.press/v9/glorot10a.html. Curve calculated directly from the sigmoid derivative.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ection/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A residual block computes y=x+F(x). F is the transformation learned by the block, while the shortcut carries x directly to the addition. For a scalar illustration the local derivative is 1+F′(x). The one comes from the identity path. If the learned branch has derivative 0.01, a plain branch has local factor 0.01 while the residual block has factor 1.01. This helps explain why residual connections can make deep networks easier to optimize. The example compares a local derivative, not a measured training result. In a vector network the corresponding expression is I+J_F, where I is the identity matrix. Large or cancelling derivatives can still cause problems.</a:t>
            </a:r>
          </a:p>
          <a:p xmlns:a="http://schemas.openxmlformats.org/drawingml/2006/main">
            <a:r>
              <a:t>Audience question: Does the shortcut remove the learned branch? Answer: No. The block learns a correction that is added to its input.</a:t>
            </a:r>
          </a:p>
          <a:p xmlns:a="http://schemas.openxmlformats.org/drawingml/2006/main">
            <a:r>
              <a:t>Transition: We can use gradient measurements to decide which problem needs attention.</a:t>
            </a:r>
          </a:p>
          <a:p xmlns:a="http://schemas.openxmlformats.org/drawingml/2006/main">
            <a:r>
              <a:t>Source: He et al., Deep Residual Learning for Image Recognition, https://arxiv.org/abs/1512.03385.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ection/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This table is a starting point for investigation, not an automatic diagnosis. A small gradient may be appropriate near convergence, but very small early-layer gradients with stalled training can suggest poor signal flow. Check activations and initialization in that case. Very large gradients alongside loss spikes suggest checking the update size and considering clipping. If training loss improves while validation loss worsens, the problem may be overfitting rather than gradient propagation. Validation data should guide these decisions, while the test set remains reserved for the final evaluation.</a:t>
            </a:r>
          </a:p>
          <a:p xmlns:a="http://schemas.openxmlformats.org/drawingml/2006/main">
            <a:r>
              <a:t>Demonstrate: Compare gradient norms by layer and across successive batches. For layers with very different parameter counts, include a per-parameter scale such as the root-mean-square gradient, since raw norms depend on the number of parameters.</a:t>
            </a:r>
          </a:p>
          <a:p xmlns:a="http://schemas.openxmlformats.org/drawingml/2006/main">
            <a:r>
              <a:t>Audience question: Is a flat loss curve enough to prove vanishing gradients? Answer: No. The data, loss calculation, and update process may also be wrong.</a:t>
            </a:r>
          </a:p>
          <a:p xmlns:a="http://schemas.openxmlformats.org/drawingml/2006/main">
            <a:r>
              <a:t>Transition: The next learning curve shows why training and validation need separate attention.</a:t>
            </a:r>
          </a:p>
          <a:p xmlns:a="http://schemas.openxmlformats.org/drawingml/2006/main">
            <a:r>
              <a:t>Sources: https://www.deeplearningbook.org/contents/optimization.html and the earlier deck's training/validation example. Diagnostic steps are teaching guidance, not experimental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ection/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the audience to solve each step before revealing the answer. The L2 norm is sqrt(6^2+8^2)=10, which exceeds the threshold 5. Scale the whole vector by 5/10, giving the clipped gradient [3,4]. Plain gradient descent then gives [1,1] minus 0.1 times [3,4], so the new parameters are [0.7,0.6]. Without clipping they would become [0.4,0.2]. The clipped update has norm 0.5, compared with 1.0 without clipping.</a:t>
            </a:r>
          </a:p>
          <a:p xmlns:a="http://schemas.openxmlformats.org/drawingml/2006/main">
            <a:r>
              <a:t>Follow-up question: What if the gradient were [0.06,0.08]? Its norm would be 0.1, already below 5, so clipping would leave it unchanged. Clipping does not enlarge small gradients.</a:t>
            </a:r>
          </a:p>
          <a:p xmlns:a="http://schemas.openxmlformats.org/drawingml/2006/main">
            <a:r>
              <a:t>Clarification: This calculation uses plain gradient descent. Momentum or adaptive optimizers may produce a different relationship between the clipped gradient and the final parameter update. The threshold here is illustrative, not a recommended value for every network.</a:t>
            </a:r>
          </a:p>
          <a:p xmlns:a="http://schemas.openxmlformats.org/drawingml/2006/main">
            <a:r>
              <a:t>Transition: We can now connect gradient calculation, update size, and stable training in the final recap.</a:t>
            </a:r>
          </a:p>
          <a:p xmlns:a="http://schemas.openxmlformats.org/drawingml/2006/main">
            <a:r>
              <a:t>Source: https://arxiv.org/abs/1211.5063. All numbers are calculated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ection/slideLayouts/_rels/slideLayout1.xml.rels><?xml version='1.0' encoding='UTF-8'?>
<Relationships xmlns="http://schemas.openxmlformats.org/package/2006/relationships"><Relationship Type="http://schemas.openxmlformats.org/officeDocument/2006/relationships/slideMaster" Target="/ppt/notesection/slideMasters/slideMaster1.xml" Id="Rd72df31181e043f5"/></Relationships>
</file>

<file path=ppt/notesection/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notesection/slideMasters/_rels/slideMaster1.xml.rels><?xml version='1.0' encoding='UTF-8'?>
<Relationships xmlns="http://schemas.openxmlformats.org/package/2006/relationships"><Relationship Type="http://schemas.openxmlformats.org/officeDocument/2006/relationships/theme" Target="/ppt/notesection/slideMasters/theme/theme2.xml" Id="R87bf872401ef4e55"/><Relationship Type="http://schemas.openxmlformats.org/officeDocument/2006/relationships/slideLayout" Target="/ppt/notesection/slideLayouts/slideLayout1.xml" Id="R0efc889f75ed4c28"/></Relationships>
</file>

<file path=ppt/notesection/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fc889f75ed4c2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notesection/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ection/slides/charts/_rels/chart1.xml.rels><Relationships xmlns="http://schemas.openxmlformats.org/package/2006/relationships"><Relationship Id="rIdChartSnapshot1" Type="http://schemas.openxmlformats.org/officeDocument/2006/relationships/package" Target="../../../embeddings/chart-data-snapshot-018.xlsx"/></Relationships>
</file>

<file path=ppt/notesection/slides/charts/chart1.xml><?xml version="1.0" encoding="utf-8"?>
<c:chartSpace xmlns:c="http://schemas.openxmlformats.org/drawingml/2006/chart" xmlns:r="http://schemas.openxmlformats.org/officeDocument/2006/relationships">
  <c:lang val="en-US"/>
  <c:chart>
    <c:plotArea>
      <c:scatterChart>
        <c:scatterStyle val="line"/>
        <c:ser>
          <c:idx val="0"/>
          <c:order val="0"/>
          <c:tx>
            <c:v>Sigmoid derivative</c:v>
          </c:tx>
          <c:spPr>
            <a:ln xmlns:a="http://schemas.openxmlformats.org/drawingml/2006/main" w="28575">
              <a:solidFill>
                <a:srgbClr val="287B95"/>
              </a:solidFill>
            </a:ln>
          </c:spPr>
          <c:marker>
            <c:symbol val="none"/>
          </c:marker>
          <c:xVal>
            <c:numRef>
              <c:f>'Chart Data'!$A$2:$A$42</c:f>
              <c:numCache>
                <c:formatCode>General</c:formatCode>
                <c:ptCount val="41"/>
                <c:pt idx="0">
                  <c:v>-5</c:v>
                </c:pt>
                <c:pt idx="1">
                  <c:v>-4.75</c:v>
                </c:pt>
                <c:pt idx="2">
                  <c:v>-4.5</c:v>
                </c:pt>
                <c:pt idx="3">
                  <c:v>-4.25</c:v>
                </c:pt>
                <c:pt idx="4">
                  <c:v>-4</c:v>
                </c:pt>
                <c:pt idx="5">
                  <c:v>-3.75</c:v>
                </c:pt>
                <c:pt idx="6">
                  <c:v>-3.5</c:v>
                </c:pt>
                <c:pt idx="7">
                  <c:v>-3.25</c:v>
                </c:pt>
                <c:pt idx="8">
                  <c:v>-3</c:v>
                </c:pt>
                <c:pt idx="9">
                  <c:v>-2.75</c:v>
                </c:pt>
                <c:pt idx="10">
                  <c:v>-2.5</c:v>
                </c:pt>
                <c:pt idx="11">
                  <c:v>-2.25</c:v>
                </c:pt>
                <c:pt idx="12">
                  <c:v>-2</c:v>
                </c:pt>
                <c:pt idx="13">
                  <c:v>-1.75</c:v>
                </c:pt>
                <c:pt idx="14">
                  <c:v>-1.5</c:v>
                </c:pt>
                <c:pt idx="15">
                  <c:v>-1.25</c:v>
                </c:pt>
                <c:pt idx="16">
                  <c:v>-1</c:v>
                </c:pt>
                <c:pt idx="17">
                  <c:v>-0.75</c:v>
                </c:pt>
                <c:pt idx="18">
                  <c:v>-0.5</c:v>
                </c:pt>
                <c:pt idx="19">
                  <c:v>-0.25</c:v>
                </c:pt>
                <c:pt idx="20">
                  <c:v>0</c:v>
                </c:pt>
                <c:pt idx="21">
                  <c:v>0.25</c:v>
                </c:pt>
                <c:pt idx="22">
                  <c:v>0.5</c:v>
                </c:pt>
                <c:pt idx="23">
                  <c:v>0.75</c:v>
                </c:pt>
                <c:pt idx="24">
                  <c:v>1</c:v>
                </c:pt>
                <c:pt idx="25">
                  <c:v>1.25</c:v>
                </c:pt>
                <c:pt idx="26">
                  <c:v>1.5</c:v>
                </c:pt>
                <c:pt idx="27">
                  <c:v>1.75</c:v>
                </c:pt>
                <c:pt idx="28">
                  <c:v>2</c:v>
                </c:pt>
                <c:pt idx="29">
                  <c:v>2.25</c:v>
                </c:pt>
                <c:pt idx="30">
                  <c:v>2.5</c:v>
                </c:pt>
                <c:pt idx="31">
                  <c:v>2.75</c:v>
                </c:pt>
                <c:pt idx="32">
                  <c:v>3</c:v>
                </c:pt>
                <c:pt idx="33">
                  <c:v>3.25</c:v>
                </c:pt>
                <c:pt idx="34">
                  <c:v>3.5</c:v>
                </c:pt>
                <c:pt idx="35">
                  <c:v>3.75</c:v>
                </c:pt>
                <c:pt idx="36">
                  <c:v>4</c:v>
                </c:pt>
                <c:pt idx="37">
                  <c:v>4.25</c:v>
                </c:pt>
                <c:pt idx="38">
                  <c:v>4.5</c:v>
                </c:pt>
                <c:pt idx="39">
                  <c:v>4.75</c:v>
                </c:pt>
                <c:pt idx="40">
                  <c:v>5</c:v>
                </c:pt>
              </c:numCache>
            </c:numRef>
          </c:xVal>
          <c:yVal>
            <c:numRef>
              <c:f>'Chart Data'!$B$2:$B$42</c:f>
              <c:numCache>
                <c:formatCode>0.0000</c:formatCode>
                <c:ptCount val="41"/>
                <c:pt idx="0">
                  <c:v>0.00664806</c:v>
                </c:pt>
                <c:pt idx="1">
                  <c:v>0.00850391</c:v>
                </c:pt>
                <c:pt idx="2">
                  <c:v>0.01086623</c:v>
                </c:pt>
                <c:pt idx="3">
                  <c:v>0.01386584</c:v>
                </c:pt>
                <c:pt idx="4">
                  <c:v>0.01766271</c:v>
                </c:pt>
                <c:pt idx="5">
                  <c:v>0.02244941</c:v>
                </c:pt>
                <c:pt idx="6">
                  <c:v>0.02845302</c:v>
                </c:pt>
                <c:pt idx="7">
                  <c:v>0.03593359</c:v>
                </c:pt>
                <c:pt idx="8">
                  <c:v>0.04517666</c:v>
                </c:pt>
                <c:pt idx="9">
                  <c:v>0.05647624</c:v>
                </c:pt>
                <c:pt idx="10">
                  <c:v>0.07010372</c:v>
                </c:pt>
                <c:pt idx="11">
                  <c:v>0.08625794</c:v>
                </c:pt>
                <c:pt idx="12">
                  <c:v>0.10499359</c:v>
                </c:pt>
                <c:pt idx="13">
                  <c:v>0.12612923</c:v>
                </c:pt>
                <c:pt idx="14">
                  <c:v>0.14914645</c:v>
                </c:pt>
                <c:pt idx="15">
                  <c:v>0.17310479</c:v>
                </c:pt>
                <c:pt idx="16">
                  <c:v>0.19661193</c:v>
                </c:pt>
                <c:pt idx="17">
                  <c:v>0.21789499</c:v>
                </c:pt>
                <c:pt idx="18">
                  <c:v>0.23500371</c:v>
                </c:pt>
                <c:pt idx="19">
                  <c:v>0.24613408</c:v>
                </c:pt>
                <c:pt idx="20">
                  <c:v>0.25</c:v>
                </c:pt>
                <c:pt idx="21">
                  <c:v>0.24613408</c:v>
                </c:pt>
                <c:pt idx="22">
                  <c:v>0.23500371</c:v>
                </c:pt>
                <c:pt idx="23">
                  <c:v>0.21789499</c:v>
                </c:pt>
                <c:pt idx="24">
                  <c:v>0.19661193</c:v>
                </c:pt>
                <c:pt idx="25">
                  <c:v>0.17310479</c:v>
                </c:pt>
                <c:pt idx="26">
                  <c:v>0.14914645</c:v>
                </c:pt>
                <c:pt idx="27">
                  <c:v>0.12612923</c:v>
                </c:pt>
                <c:pt idx="28">
                  <c:v>0.10499359</c:v>
                </c:pt>
                <c:pt idx="29">
                  <c:v>0.08625794</c:v>
                </c:pt>
                <c:pt idx="30">
                  <c:v>0.07010372</c:v>
                </c:pt>
                <c:pt idx="31">
                  <c:v>0.05647624</c:v>
                </c:pt>
                <c:pt idx="32">
                  <c:v>0.04517666</c:v>
                </c:pt>
                <c:pt idx="33">
                  <c:v>0.03593359</c:v>
                </c:pt>
                <c:pt idx="34">
                  <c:v>0.02845302</c:v>
                </c:pt>
                <c:pt idx="35">
                  <c:v>0.02244941</c:v>
                </c:pt>
                <c:pt idx="36">
                  <c:v>0.01766271</c:v>
                </c:pt>
                <c:pt idx="37">
                  <c:v>0.01386584</c:v>
                </c:pt>
                <c:pt idx="38">
                  <c:v>0.01086623</c:v>
                </c:pt>
                <c:pt idx="39">
                  <c:v>0.00850391</c:v>
                </c:pt>
                <c:pt idx="40">
                  <c:v>0.00664806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3"/>
          <c:min val="0"/>
        </c:scaling>
        <c:delete val="0"/>
        <c:axPos val="l"/>
        <c:majorGridlines>
          <c:spPr>
            <a:ln xmlns:a="http://schemas.openxmlformats.org/drawingml/2006/main" w="4763">
              <a:solidFill>
                <a:srgbClr val="E4E0D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Derivative σ′(z)</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majorUnit val="0.1"/>
      </c:valAx>
      <c:valAx>
        <c:axId val="48650112"/>
        <c:scaling>
          <c:orientation val="minMax"/>
          <c:max val="5"/>
          <c:min val="-5"/>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Input z</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majorUnit val="2.5"/>
      </c:valAx>
      <c:spPr>
        <a:solidFill xmlns:a="http://schemas.openxmlformats.org/drawingml/2006/main">
          <a:srgbClr val="FCFBF8"/>
        </a:solidFill>
      </c:spPr>
    </c:plotArea>
    <c:plotVisOnly val="1"/>
  </c:chart>
  <c:spPr>
    <a:solidFill xmlns:a="http://schemas.openxmlformats.org/drawingml/2006/main">
      <a:srgbClr val="FCFBF8"/>
    </a:solidFill>
  </c:spPr>
  <c:externalData r:id="rIdChartSnapshot1">
    <c:autoUpdate val="0"/>
  </c:externalData>
</c:chartSpace>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d620e396a043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98e9d3bd094808" /><Relationship Type="http://schemas.openxmlformats.org/officeDocument/2006/relationships/slideLayout" Target="/ppt/slideLayouts/slideLayout1.xml" Id="Rd4a2804e17a348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a2804e17a348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071de44e24142d9" /><Relationship Type="http://schemas.openxmlformats.org/officeDocument/2006/relationships/image" Target="/ppt/media/image.png" Id="Rb393b89da6b44864" /><Relationship Type="http://schemas.openxmlformats.org/officeDocument/2006/relationships/notesSlide" Target="/ppt/notesSlides/notesSlide1.xml" Id="R54f3eb5ffd2d48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db3d3fc751e48bb" /><Relationship Type="http://schemas.openxmlformats.org/officeDocument/2006/relationships/notesSlide" Target="/ppt/notesSlides/notesSlide2.xml" Id="R9d79a97680704e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357b42293fe4b6d" /><Relationship Type="http://schemas.openxmlformats.org/officeDocument/2006/relationships/chart" Target="/ppt/slides/charts/chart1.xml" Id="R0b68277be233418c" /><Relationship Type="http://schemas.openxmlformats.org/officeDocument/2006/relationships/notesSlide" Target="/ppt/notesSlides/notesSlide3.xml" Id="Ra00e7ef002c04e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ffd94fb2c61448f" /><Relationship Type="http://schemas.openxmlformats.org/officeDocument/2006/relationships/notesSlide" Target="/ppt/notesSlides/notesSlide4.xml" Id="R783e78764bc149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7055e43e8b64a7c" /><Relationship Type="http://schemas.openxmlformats.org/officeDocument/2006/relationships/chart" Target="/ppt/slides/charts/chart2.xml" Id="R71ea8b1b77544772" /><Relationship Type="http://schemas.openxmlformats.org/officeDocument/2006/relationships/notesSlide" Target="/ppt/notesSlides/notesSlide5.xml" Id="R26b83e09ef8847e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226396d33ee42c2" /><Relationship Type="http://schemas.openxmlformats.org/officeDocument/2006/relationships/notesSlide" Target="/ppt/notesSlides/notesSlide6.xml" Id="Re2473ff890e740b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c95ddb0d46542c8" /><Relationship Type="http://schemas.openxmlformats.org/officeDocument/2006/relationships/notesSlide" Target="/ppt/notesSlides/notesSlide7.xml" Id="Ra8bf6191fc8648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bc746271f384fbc" /><Relationship Type="http://schemas.openxmlformats.org/officeDocument/2006/relationships/notesSlide" Target="/ppt/notesSlides/notesSlide8.xml" Id="R9c93255cb4d9423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61e956a88f14ee9" /><Relationship Type="http://schemas.openxmlformats.org/officeDocument/2006/relationships/chart" Target="/ppt/slides/charts/chart3.xml" Id="Rea5913d515644b3a" /><Relationship Type="http://schemas.openxmlformats.org/officeDocument/2006/relationships/notesSlide" Target="/ppt/notesSlides/notesSlide9.xml" Id="Rf2975b2fc7194cf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929868c2ccc49dd" /><Relationship Type="http://schemas.openxmlformats.org/officeDocument/2006/relationships/chart" Target="/ppt/slides/charts/chart4.xml" Id="R69002f6add6f4afe" /><Relationship Type="http://schemas.openxmlformats.org/officeDocument/2006/relationships/chart" Target="/ppt/slides/charts/chart5.xml" Id="R567b0a1429344397" /><Relationship Type="http://schemas.openxmlformats.org/officeDocument/2006/relationships/chart" Target="/ppt/slides/charts/chart6.xml" Id="Rf228c010c2e0483b" /><Relationship Type="http://schemas.openxmlformats.org/officeDocument/2006/relationships/notesSlide" Target="/ppt/notesSlides/notesSlide10.xml" Id="R264184df2dd94d6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d0cd4cce0d946ed" /><Relationship Type="http://schemas.openxmlformats.org/officeDocument/2006/relationships/notesSlide" Target="/ppt/notesSlides/notesSlide11.xml" Id="R76a9498cf73a490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b5cd6deaed44080" /><Relationship Type="http://schemas.openxmlformats.org/officeDocument/2006/relationships/notesSlide" Target="/ppt/notesSlides/notesSlide12.xml" Id="R729926054b1146b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9a0186bb3fd4c0b" /><Relationship Type="http://schemas.openxmlformats.org/officeDocument/2006/relationships/notesSlide" Target="/ppt/notesSlides/notesSlide13.xml" Id="R0def7d5d8bb34f0d" /></Relationships>
</file>

<file path=ppt/slides/_rels/slide14.xml.rels><?xml version='1.0' encoding='UTF-8'?>
<Relationships xmlns="http://schemas.openxmlformats.org/package/2006/relationships"><Relationship Type="http://schemas.openxmlformats.org/officeDocument/2006/relationships/slideLayout" Target="/ppt/expanded/slideLayouts/slideLayout1.xml" Id="R6faca868b0374975"/><Relationship Type="http://schemas.openxmlformats.org/officeDocument/2006/relationships/image" Target="/ppt/expanded/media/image.png" Id="Rd3930a82a9814985"/><Relationship Type="http://schemas.openxmlformats.org/officeDocument/2006/relationships/notesSlide" Target="/ppt/expanded/notesSlides/notesSlide1.xml" Id="R9a2791f09cca425f"/></Relationships>
</file>

<file path=ppt/slides/_rels/slide15.xml.rels><?xml version='1.0' encoding='UTF-8'?>
<Relationships xmlns="http://schemas.openxmlformats.org/package/2006/relationships"><Relationship Type="http://schemas.openxmlformats.org/officeDocument/2006/relationships/slideLayout" Target="/ppt/expanded/slideLayouts/slideLayout1.xml" Id="Rc9f43019221d4dff"/><Relationship Type="http://schemas.openxmlformats.org/officeDocument/2006/relationships/image" Target="/ppt/expanded/media/image2.png" Id="Rf2d5910c8f6a467e"/><Relationship Type="http://schemas.openxmlformats.org/officeDocument/2006/relationships/notesSlide" Target="/ppt/expanded/notesSlides/notesSlide2.xml" Id="R680ed87da6c04fcc"/></Relationships>
</file>

<file path=ppt/slides/_rels/slide16.xml.rels><?xml version='1.0' encoding='UTF-8'?>
<Relationships xmlns="http://schemas.openxmlformats.org/package/2006/relationships"><Relationship Type="http://schemas.openxmlformats.org/officeDocument/2006/relationships/slideLayout" Target="/ppt/expanded/slideLayouts/slideLayout1.xml" Id="R98d702b148ea4e06"/><Relationship Type="http://schemas.openxmlformats.org/officeDocument/2006/relationships/image" Target="/ppt/expanded/media/image3.png" Id="R06c85109c1c946f3"/><Relationship Type="http://schemas.openxmlformats.org/officeDocument/2006/relationships/notesSlide" Target="/ppt/expanded/notesSlides/notesSlide3.xml" Id="Rfaf1b44797634623"/></Relationships>
</file>

<file path=ppt/slides/_rels/slide17.xml.rels><?xml version='1.0' encoding='UTF-8'?>
<Relationships xmlns="http://schemas.openxmlformats.org/package/2006/relationships"><Relationship Type="http://schemas.openxmlformats.org/officeDocument/2006/relationships/slideLayout" Target="/ppt/expanded/slideLayouts/slideLayout1.xml" Id="R4f55e00546f942ed"/><Relationship Type="http://schemas.openxmlformats.org/officeDocument/2006/relationships/chart" Target="/ppt/expanded/slides/charts/chart1.xml" Id="Rb3b0b4691a334d30"/><Relationship Type="http://schemas.openxmlformats.org/officeDocument/2006/relationships/notesSlide" Target="/ppt/expanded/notesSlides/notesSlide4.xml" Id="R71d3c957381a41f5"/></Relationships>
</file>

<file path=ppt/slides/_rels/slide18.xml.rels><?xml version='1.0' encoding='UTF-8'?>
<Relationships xmlns="http://schemas.openxmlformats.org/package/2006/relationships"><Relationship Type="http://schemas.openxmlformats.org/officeDocument/2006/relationships/slideLayout" Target="/ppt/expanded/slideLayouts/slideLayout1.xml" Id="R879bc8ee274a40ef"/><Relationship Type="http://schemas.openxmlformats.org/officeDocument/2006/relationships/chart" Target="/ppt/expanded/slides/charts/chart2.xml" Id="R4c287940b58a4914"/><Relationship Type="http://schemas.openxmlformats.org/officeDocument/2006/relationships/chart" Target="/ppt/expanded/slides/charts/chart3.xml" Id="R597b0d03e62a4de2"/><Relationship Type="http://schemas.openxmlformats.org/officeDocument/2006/relationships/notesSlide" Target="/ppt/expanded/notesSlides/notesSlide5.xml" Id="Rcba138bcba9e4469"/></Relationships>
</file>

<file path=ppt/slides/_rels/slide19.xml.rels><?xml version='1.0' encoding='UTF-8'?>
<Relationships xmlns="http://schemas.openxmlformats.org/package/2006/relationships"><Relationship Type="http://schemas.openxmlformats.org/officeDocument/2006/relationships/slideLayout" Target="/ppt/expanded/slideLayouts/slideLayout1.xml" Id="R97d52ae7f3b647ad"/><Relationship Type="http://schemas.openxmlformats.org/officeDocument/2006/relationships/chart" Target="/ppt/expanded/slides/charts/chart4.xml" Id="R8a5e9953957a473f"/><Relationship Type="http://schemas.openxmlformats.org/officeDocument/2006/relationships/notesSlide" Target="/ppt/expanded/notesSlides/notesSlide6.xml" Id="R34bdd4cc756946ca"/></Relationships>
</file>

<file path=ppt/slides/_rels/slide20.xml.rels><?xml version='1.0' encoding='UTF-8'?>
<Relationships xmlns="http://schemas.openxmlformats.org/package/2006/relationships"><Relationship Type="http://schemas.openxmlformats.org/officeDocument/2006/relationships/slideLayout" Target="/ppt/expanded/slideLayouts/slideLayout1.xml" Id="R435c305e6f704fa8"/><Relationship Type="http://schemas.openxmlformats.org/officeDocument/2006/relationships/chart" Target="/ppt/expanded/slides/charts/chart5.xml" Id="R4a27f9c7ee834cd3"/><Relationship Type="http://schemas.openxmlformats.org/officeDocument/2006/relationships/notesSlide" Target="/ppt/expanded/notesSlides/notesSlide7.xml" Id="Re3b5f3ed02d54417"/></Relationships>
</file>

<file path=ppt/slides/_rels/slide21.xml.rels><?xml version='1.0' encoding='UTF-8'?>
<Relationships xmlns="http://schemas.openxmlformats.org/package/2006/relationships"><Relationship Type="http://schemas.openxmlformats.org/officeDocument/2006/relationships/slideLayout" Target="/ppt/expanded/slideLayouts/slideLayout1.xml" Id="R3daeb22399e44873"/><Relationship Type="http://schemas.openxmlformats.org/officeDocument/2006/relationships/chart" Target="/ppt/expanded/slides/charts/chart6.xml" Id="Rcc7cdaf4c5cb4e74"/><Relationship Type="http://schemas.openxmlformats.org/officeDocument/2006/relationships/notesSlide" Target="/ppt/expanded/notesSlides/notesSlide8.xml" Id="Rfd797cfb80ef4f8e"/></Relationships>
</file>

<file path=ppt/slides/_rels/slide22.xml.rels><?xml version='1.0' encoding='UTF-8'?>
<Relationships xmlns="http://schemas.openxmlformats.org/package/2006/relationships"><Relationship Type="http://schemas.openxmlformats.org/officeDocument/2006/relationships/slideLayout" Target="/ppt/expanded/slideLayouts/slideLayout1.xml" Id="R176c907b9a244fa7"/><Relationship Type="http://schemas.openxmlformats.org/officeDocument/2006/relationships/image" Target="/ppt/expanded/media/image4.png" Id="R0fa2820f5a8f4c67"/><Relationship Type="http://schemas.openxmlformats.org/officeDocument/2006/relationships/notesSlide" Target="/ppt/expanded/notesSlides/notesSlide9.xml" Id="Rf25d21e8e003465b"/></Relationships>
</file>

<file path=ppt/slides/_rels/slide23.xml.rels><?xml version='1.0' encoding='UTF-8'?>
<Relationships xmlns="http://schemas.openxmlformats.org/package/2006/relationships"><Relationship Type="http://schemas.openxmlformats.org/officeDocument/2006/relationships/slideLayout" Target="/ppt/expanded/slideLayouts/slideLayout1.xml" Id="Rd8546bc0fa5540f1"/><Relationship Type="http://schemas.openxmlformats.org/officeDocument/2006/relationships/notesSlide" Target="/ppt/expanded/notesSlides/notesSlide10.xml" Id="R5ecb007404934807"/></Relationships>
</file>

<file path=ppt/slides/_rels/slide24.xml.rels><?xml version='1.0' encoding='UTF-8'?>
<Relationships xmlns="http://schemas.openxmlformats.org/package/2006/relationships"><Relationship Type="http://schemas.openxmlformats.org/officeDocument/2006/relationships/slideLayout" Target="/ppt/expanded/slideLayouts/slideLayout1.xml" Id="R50faebb9cb954584"/><Relationship Type="http://schemas.openxmlformats.org/officeDocument/2006/relationships/chart" Target="/ppt/expanded/slides/charts/chart7.xml" Id="R84d87bff59094d5a"/><Relationship Type="http://schemas.openxmlformats.org/officeDocument/2006/relationships/notesSlide" Target="/ppt/expanded/notesSlides/notesSlide11.xml" Id="R817456b0dc9c4ae8"/></Relationships>
</file>

<file path=ppt/slides/_rels/slide25.xml.rels><?xml version='1.0' encoding='UTF-8'?>
<Relationships xmlns="http://schemas.openxmlformats.org/package/2006/relationships"><Relationship Type="http://schemas.openxmlformats.org/officeDocument/2006/relationships/slideLayout" Target="/ppt/expanded/slideLayouts/slideLayout1.xml" Id="Re5e52c86b42e43d0"/><Relationship Type="http://schemas.openxmlformats.org/officeDocument/2006/relationships/chart" Target="/ppt/expanded/slides/charts/chart8.xml" Id="Rb0fc684fbb294b1e"/><Relationship Type="http://schemas.openxmlformats.org/officeDocument/2006/relationships/notesSlide" Target="/ppt/expanded/notesSlides/notesSlide12.xml" Id="R41be6a7b7b5b4b8f"/></Relationships>
</file>

<file path=ppt/slides/_rels/slide26.xml.rels><?xml version='1.0' encoding='UTF-8'?>
<Relationships xmlns="http://schemas.openxmlformats.org/package/2006/relationships"><Relationship Type="http://schemas.openxmlformats.org/officeDocument/2006/relationships/slideLayout" Target="/ppt/gradientsection/slideLayouts/slideLayout1.xml" Id="R63f871c72a234505"/><Relationship Type="http://schemas.openxmlformats.org/officeDocument/2006/relationships/notesSlide" Target="/ppt/gradientsection/notesSlides/notesSlide1.xml" Id="Rd83169ea6a1940cb"/></Relationships>
</file>

<file path=ppt/slides/_rels/slide27.xml.rels><?xml version='1.0' encoding='UTF-8'?>
<Relationships xmlns="http://schemas.openxmlformats.org/package/2006/relationships"><Relationship Type="http://schemas.openxmlformats.org/officeDocument/2006/relationships/slideLayout" Target="/ppt/gradientsection/slideLayouts/slideLayout1.xml" Id="Rd894b6543c504dba"/><Relationship Type="http://schemas.openxmlformats.org/officeDocument/2006/relationships/chart" Target="/ppt/gradientsection/slides/charts/chart1.xml" Id="R86628965633a4a5e"/><Relationship Type="http://schemas.openxmlformats.org/officeDocument/2006/relationships/notesSlide" Target="/ppt/gradientsection/notesSlides/notesSlide2.xml" Id="R2aeb0f2802c04efb"/></Relationships>
</file>

<file path=ppt/slides/_rels/slide28.xml.rels><?xml version='1.0' encoding='UTF-8'?>
<Relationships xmlns="http://schemas.openxmlformats.org/package/2006/relationships"><Relationship Type="http://schemas.openxmlformats.org/officeDocument/2006/relationships/slideLayout" Target="/ppt/gradientsection/slideLayouts/slideLayout1.xml" Id="R7f9f689649c24240"/><Relationship Type="http://schemas.openxmlformats.org/officeDocument/2006/relationships/chart" Target="/ppt/gradientsection/slides/charts/chart2.xml" Id="R7ff6b9dbfa804e4d"/><Relationship Type="http://schemas.openxmlformats.org/officeDocument/2006/relationships/notesSlide" Target="/ppt/gradientsection/notesSlides/notesSlide3.xml" Id="R1100e0f77ff940f2"/></Relationships>
</file>

<file path=ppt/slides/_rels/slide29.xml.rels><?xml version='1.0' encoding='UTF-8'?>
<Relationships xmlns="http://schemas.openxmlformats.org/package/2006/relationships"><Relationship Type="http://schemas.openxmlformats.org/officeDocument/2006/relationships/slideLayout" Target="/ppt/gradientsection/slideLayouts/slideLayout1.xml" Id="R345f87d767db42b9"/><Relationship Type="http://schemas.openxmlformats.org/officeDocument/2006/relationships/chart" Target="/ppt/gradientsection/slides/charts/chart3.xml" Id="R80e7b3c059434101"/><Relationship Type="http://schemas.openxmlformats.org/officeDocument/2006/relationships/notesSlide" Target="/ppt/gradientsection/notesSlides/notesSlide4.xml" Id="R3ba3a4de006541de"/></Relationships>
</file>

<file path=ppt/slides/_rels/slide30.xml.rels><?xml version='1.0' encoding='UTF-8'?>
<Relationships xmlns="http://schemas.openxmlformats.org/package/2006/relationships"><Relationship Type="http://schemas.openxmlformats.org/officeDocument/2006/relationships/slideLayout" Target="/ppt/gradientsection/slideLayouts/slideLayout1.xml" Id="Re875191787ba468b"/><Relationship Type="http://schemas.openxmlformats.org/officeDocument/2006/relationships/notesSlide" Target="/ppt/gradientsection/notesSlides/notesSlide5.xml" Id="Rac8c17174b4949c4"/></Relationships>
</file>

<file path=ppt/slides/_rels/slide31.xml.rels><?xml version='1.0' encoding='UTF-8'?>
<Relationships xmlns="http://schemas.openxmlformats.org/package/2006/relationships"><Relationship Type="http://schemas.openxmlformats.org/officeDocument/2006/relationships/slideLayout" Target="/ppt/notesection/slideLayouts/slideLayout1.xml" Id="R498e4d06380b47d5"/><Relationship Type="http://schemas.openxmlformats.org/officeDocument/2006/relationships/chart" Target="/ppt/notesection/slides/charts/chart1.xml" Id="R6c2a69b4ef114b14"/><Relationship Type="http://schemas.openxmlformats.org/officeDocument/2006/relationships/notesSlide" Target="/ppt/notesection/notesSlides/notesSlide1.xml" Id="R8f56ac66e5254be4"/></Relationships>
</file>

<file path=ppt/slides/_rels/slide32.xml.rels><?xml version='1.0' encoding='UTF-8'?>
<Relationships xmlns="http://schemas.openxmlformats.org/package/2006/relationships"><Relationship Type="http://schemas.openxmlformats.org/officeDocument/2006/relationships/slideLayout" Target="/ppt/notesection/slideLayouts/slideLayout1.xml" Id="Rc2d0038899ea491d"/><Relationship Type="http://schemas.openxmlformats.org/officeDocument/2006/relationships/notesSlide" Target="/ppt/notesection/notesSlides/notesSlide2.xml" Id="Rb2fafe34ee4a4547"/></Relationships>
</file>

<file path=ppt/slides/_rels/slide33.xml.rels><?xml version='1.0' encoding='UTF-8'?>
<Relationships xmlns="http://schemas.openxmlformats.org/package/2006/relationships"><Relationship Type="http://schemas.openxmlformats.org/officeDocument/2006/relationships/slideLayout" Target="/ppt/notesection/slideLayouts/slideLayout1.xml" Id="R5a3fc6aea9224faa"/><Relationship Type="http://schemas.openxmlformats.org/officeDocument/2006/relationships/notesSlide" Target="/ppt/notesection/notesSlides/notesSlide3.xml" Id="R8c59905dc2d8427f"/></Relationships>
</file>

<file path=ppt/slides/_rels/slide34.xml.rels><?xml version='1.0' encoding='UTF-8'?>
<Relationships xmlns="http://schemas.openxmlformats.org/package/2006/relationships"><Relationship Type="http://schemas.openxmlformats.org/officeDocument/2006/relationships/slideLayout" Target="/ppt/notesection/slideLayouts/slideLayout1.xml" Id="Rf06708f0fe2143bd"/><Relationship Type="http://schemas.openxmlformats.org/officeDocument/2006/relationships/notesSlide" Target="/ppt/notesection/notesSlides/notesSlide4.xml" Id="Rd4c0325a2243434f"/></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L = w²</c:v>
          </c:tx>
          <c:spPr>
            <a:ln xmlns:a="http://schemas.openxmlformats.org/drawingml/2006/main" w="23813">
              <a:solidFill>
                <a:srgbClr val="277A95"/>
              </a:solidFill>
              <a:prstDash val="solid"/>
            </a:ln>
          </c:spPr>
          <c:marker>
            <c:symbol val="none"/>
          </c:marker>
          <c:xVal>
            <c:numRef>
              <c:f>'Chart Data'!$A$2:$A$62</c:f>
              <c:numCache>
                <c:formatCode>General</c:formatCode>
                <c:ptCount val="61"/>
                <c:pt idx="0">
                  <c:v>-1.5</c:v>
                </c:pt>
                <c:pt idx="1">
                  <c:v>-1.45</c:v>
                </c:pt>
                <c:pt idx="2">
                  <c:v>-1.4</c:v>
                </c:pt>
                <c:pt idx="3">
                  <c:v>-1.35</c:v>
                </c:pt>
                <c:pt idx="4">
                  <c:v>-1.3</c:v>
                </c:pt>
                <c:pt idx="5">
                  <c:v>-1.25</c:v>
                </c:pt>
                <c:pt idx="6">
                  <c:v>-1.2</c:v>
                </c:pt>
                <c:pt idx="7">
                  <c:v>-1.15</c:v>
                </c:pt>
                <c:pt idx="8">
                  <c:v>-1.1</c:v>
                </c:pt>
                <c:pt idx="9">
                  <c:v>-1.05</c:v>
                </c:pt>
                <c:pt idx="10">
                  <c:v>-1</c:v>
                </c:pt>
                <c:pt idx="11">
                  <c:v>-0.95</c:v>
                </c:pt>
                <c:pt idx="12">
                  <c:v>-0.9</c:v>
                </c:pt>
                <c:pt idx="13">
                  <c:v>-0.85</c:v>
                </c:pt>
                <c:pt idx="14">
                  <c:v>-0.8</c:v>
                </c:pt>
                <c:pt idx="15">
                  <c:v>-0.75</c:v>
                </c:pt>
                <c:pt idx="16">
                  <c:v>-0.7</c:v>
                </c:pt>
                <c:pt idx="17">
                  <c:v>-0.65</c:v>
                </c:pt>
                <c:pt idx="18">
                  <c:v>-0.6</c:v>
                </c:pt>
                <c:pt idx="19">
                  <c:v>-0.55</c:v>
                </c:pt>
                <c:pt idx="20">
                  <c:v>-0.5</c:v>
                </c:pt>
                <c:pt idx="21">
                  <c:v>-0.45</c:v>
                </c:pt>
                <c:pt idx="22">
                  <c:v>-0.4</c:v>
                </c:pt>
                <c:pt idx="23">
                  <c:v>-0.35</c:v>
                </c:pt>
                <c:pt idx="24">
                  <c:v>-0.3</c:v>
                </c:pt>
                <c:pt idx="25">
                  <c:v>-0.25</c:v>
                </c:pt>
                <c:pt idx="26">
                  <c:v>-0.2</c:v>
                </c:pt>
                <c:pt idx="27">
                  <c:v>-0.15</c:v>
                </c:pt>
                <c:pt idx="28">
                  <c:v>-0.1</c:v>
                </c:pt>
                <c:pt idx="29">
                  <c:v>-0.05</c:v>
                </c:pt>
                <c:pt idx="30">
                  <c:v>0</c:v>
                </c:pt>
                <c:pt idx="31">
                  <c:v>0.05</c:v>
                </c:pt>
                <c:pt idx="32">
                  <c:v>0.1</c:v>
                </c:pt>
                <c:pt idx="33">
                  <c:v>0.15</c:v>
                </c:pt>
                <c:pt idx="34">
                  <c:v>0.2</c:v>
                </c:pt>
                <c:pt idx="35">
                  <c:v>0.25</c:v>
                </c:pt>
                <c:pt idx="36">
                  <c:v>0.3</c:v>
                </c:pt>
                <c:pt idx="37">
                  <c:v>0.35</c:v>
                </c:pt>
                <c:pt idx="38">
                  <c:v>0.4</c:v>
                </c:pt>
                <c:pt idx="39">
                  <c:v>0.45</c:v>
                </c:pt>
                <c:pt idx="40">
                  <c:v>0.5</c:v>
                </c:pt>
                <c:pt idx="41">
                  <c:v>0.55</c:v>
                </c:pt>
                <c:pt idx="42">
                  <c:v>0.6</c:v>
                </c:pt>
                <c:pt idx="43">
                  <c:v>0.65</c:v>
                </c:pt>
                <c:pt idx="44">
                  <c:v>0.7</c:v>
                </c:pt>
                <c:pt idx="45">
                  <c:v>0.75</c:v>
                </c:pt>
                <c:pt idx="46">
                  <c:v>0.8</c:v>
                </c:pt>
                <c:pt idx="47">
                  <c:v>0.85</c:v>
                </c:pt>
                <c:pt idx="48">
                  <c:v>0.9</c:v>
                </c:pt>
                <c:pt idx="49">
                  <c:v>0.95</c:v>
                </c:pt>
                <c:pt idx="50">
                  <c:v>1</c:v>
                </c:pt>
                <c:pt idx="51">
                  <c:v>1.05</c:v>
                </c:pt>
                <c:pt idx="52">
                  <c:v>1.1</c:v>
                </c:pt>
                <c:pt idx="53">
                  <c:v>1.15</c:v>
                </c:pt>
                <c:pt idx="54">
                  <c:v>1.2</c:v>
                </c:pt>
                <c:pt idx="55">
                  <c:v>1.25</c:v>
                </c:pt>
                <c:pt idx="56">
                  <c:v>1.3</c:v>
                </c:pt>
                <c:pt idx="57">
                  <c:v>1.35</c:v>
                </c:pt>
                <c:pt idx="58">
                  <c:v>1.4</c:v>
                </c:pt>
                <c:pt idx="59">
                  <c:v>1.45</c:v>
                </c:pt>
                <c:pt idx="60">
                  <c:v>1.5</c:v>
                </c:pt>
              </c:numCache>
            </c:numRef>
          </c:xVal>
          <c:yVal>
            <c:numRef>
              <c:f>'Chart Data'!$B$2:$B$62</c:f>
              <c:numCache>
                <c:formatCode>0.0</c:formatCode>
                <c:ptCount val="61"/>
                <c:pt idx="0">
                  <c:v>2.25</c:v>
                </c:pt>
                <c:pt idx="1">
                  <c:v>2.1025</c:v>
                </c:pt>
                <c:pt idx="2">
                  <c:v>1.96</c:v>
                </c:pt>
                <c:pt idx="3">
                  <c:v>1.8225</c:v>
                </c:pt>
                <c:pt idx="4">
                  <c:v>1.69</c:v>
                </c:pt>
                <c:pt idx="5">
                  <c:v>1.5625</c:v>
                </c:pt>
                <c:pt idx="6">
                  <c:v>1.44</c:v>
                </c:pt>
                <c:pt idx="7">
                  <c:v>1.3225</c:v>
                </c:pt>
                <c:pt idx="8">
                  <c:v>1.21</c:v>
                </c:pt>
                <c:pt idx="9">
                  <c:v>1.1025</c:v>
                </c:pt>
                <c:pt idx="10">
                  <c:v>1</c:v>
                </c:pt>
                <c:pt idx="11">
                  <c:v>0.9025</c:v>
                </c:pt>
                <c:pt idx="12">
                  <c:v>0.81</c:v>
                </c:pt>
                <c:pt idx="13">
                  <c:v>0.7225</c:v>
                </c:pt>
                <c:pt idx="14">
                  <c:v>0.64</c:v>
                </c:pt>
                <c:pt idx="15">
                  <c:v>0.5625</c:v>
                </c:pt>
                <c:pt idx="16">
                  <c:v>0.49</c:v>
                </c:pt>
                <c:pt idx="17">
                  <c:v>0.4225</c:v>
                </c:pt>
                <c:pt idx="18">
                  <c:v>0.36</c:v>
                </c:pt>
                <c:pt idx="19">
                  <c:v>0.3025</c:v>
                </c:pt>
                <c:pt idx="20">
                  <c:v>0.25</c:v>
                </c:pt>
                <c:pt idx="21">
                  <c:v>0.2025</c:v>
                </c:pt>
                <c:pt idx="22">
                  <c:v>0.16</c:v>
                </c:pt>
                <c:pt idx="23">
                  <c:v>0.1225</c:v>
                </c:pt>
                <c:pt idx="24">
                  <c:v>0.09</c:v>
                </c:pt>
                <c:pt idx="25">
                  <c:v>0.0625</c:v>
                </c:pt>
                <c:pt idx="26">
                  <c:v>0.04</c:v>
                </c:pt>
                <c:pt idx="27">
                  <c:v>0.0225</c:v>
                </c:pt>
                <c:pt idx="28">
                  <c:v>0.01</c:v>
                </c:pt>
                <c:pt idx="29">
                  <c:v>0.0025</c:v>
                </c:pt>
                <c:pt idx="30">
                  <c:v>0</c:v>
                </c:pt>
                <c:pt idx="31">
                  <c:v>0.0025</c:v>
                </c:pt>
                <c:pt idx="32">
                  <c:v>0.01</c:v>
                </c:pt>
                <c:pt idx="33">
                  <c:v>0.0225</c:v>
                </c:pt>
                <c:pt idx="34">
                  <c:v>0.04</c:v>
                </c:pt>
                <c:pt idx="35">
                  <c:v>0.0625</c:v>
                </c:pt>
                <c:pt idx="36">
                  <c:v>0.09</c:v>
                </c:pt>
                <c:pt idx="37">
                  <c:v>0.1225</c:v>
                </c:pt>
                <c:pt idx="38">
                  <c:v>0.16</c:v>
                </c:pt>
                <c:pt idx="39">
                  <c:v>0.2025</c:v>
                </c:pt>
                <c:pt idx="40">
                  <c:v>0.25</c:v>
                </c:pt>
                <c:pt idx="41">
                  <c:v>0.3025</c:v>
                </c:pt>
                <c:pt idx="42">
                  <c:v>0.36</c:v>
                </c:pt>
                <c:pt idx="43">
                  <c:v>0.4225</c:v>
                </c:pt>
                <c:pt idx="44">
                  <c:v>0.49</c:v>
                </c:pt>
                <c:pt idx="45">
                  <c:v>0.5625</c:v>
                </c:pt>
                <c:pt idx="46">
                  <c:v>0.64</c:v>
                </c:pt>
                <c:pt idx="47">
                  <c:v>0.7225</c:v>
                </c:pt>
                <c:pt idx="48">
                  <c:v>0.81</c:v>
                </c:pt>
                <c:pt idx="49">
                  <c:v>0.9025</c:v>
                </c:pt>
                <c:pt idx="50">
                  <c:v>1</c:v>
                </c:pt>
                <c:pt idx="51">
                  <c:v>1.1025</c:v>
                </c:pt>
                <c:pt idx="52">
                  <c:v>1.21</c:v>
                </c:pt>
                <c:pt idx="53">
                  <c:v>1.3225</c:v>
                </c:pt>
                <c:pt idx="54">
                  <c:v>1.44</c:v>
                </c:pt>
                <c:pt idx="55">
                  <c:v>1.5625</c:v>
                </c:pt>
                <c:pt idx="56">
                  <c:v>1.69</c:v>
                </c:pt>
                <c:pt idx="57">
                  <c:v>1.8225</c:v>
                </c:pt>
                <c:pt idx="58">
                  <c:v>1.96</c:v>
                </c:pt>
                <c:pt idx="59">
                  <c:v>2.1025</c:v>
                </c:pt>
                <c:pt idx="60">
                  <c:v>2.25</c:v>
                </c:pt>
              </c:numCache>
            </c:numRef>
          </c:yVal>
        </c:ser>
        <c:ser>
          <c:idx val="1"/>
          <c:order val="1"/>
          <c:tx>
            <c:v>Negative gradient side</c:v>
          </c:tx>
          <c:spPr>
            <a:solidFill xmlns:a="http://schemas.openxmlformats.org/drawingml/2006/main">
              <a:srgbClr val="A45E56"/>
            </a:solidFill>
            <a:ln xmlns:a="http://schemas.openxmlformats.org/drawingml/2006/main" w="0">
              <a:noFill/>
              <a:prstDash val="solid"/>
            </a:ln>
          </c:spPr>
          <c:marker>
            <c:symbol val="circle"/>
            <c:size val="9"/>
            <c:spPr>
              <a:noFill xmlns:a="http://schemas.openxmlformats.org/drawingml/2006/main"/>
            </c:spPr>
          </c:marker>
          <c:xVal>
            <c:numRef>
              <c:f>'Chart Data'!$C$2:$C$2</c:f>
              <c:numCache>
                <c:formatCode>General</c:formatCode>
                <c:ptCount val="1"/>
                <c:pt idx="0">
                  <c:v>-1</c:v>
                </c:pt>
              </c:numCache>
            </c:numRef>
          </c:xVal>
          <c:yVal>
            <c:numRef>
              <c:f>'Chart Data'!$D$2:$D$2</c:f>
              <c:numCache>
                <c:formatCode>0.0</c:formatCode>
                <c:ptCount val="1"/>
                <c:pt idx="0">
                  <c:v>1</c:v>
                </c:pt>
              </c:numCache>
            </c:numRef>
          </c:yVal>
        </c:ser>
        <c:ser>
          <c:idx val="2"/>
          <c:order val="2"/>
          <c:tx>
            <c:v>Positive gradient side</c:v>
          </c:tx>
          <c:spPr>
            <a:solidFill xmlns:a="http://schemas.openxmlformats.org/drawingml/2006/main">
              <a:srgbClr val="A45E56"/>
            </a:solidFill>
            <a:ln xmlns:a="http://schemas.openxmlformats.org/drawingml/2006/main" w="0">
              <a:noFill/>
              <a:prstDash val="solid"/>
            </a:ln>
          </c:spPr>
          <c:marker>
            <c:symbol val="circle"/>
            <c:size val="9"/>
            <c:spPr>
              <a:noFill xmlns:a="http://schemas.openxmlformats.org/drawingml/2006/main"/>
            </c:spPr>
          </c:marker>
          <c:xVal>
            <c:numRef>
              <c:f>'Chart Data'!$E$2:$E$2</c:f>
              <c:numCache>
                <c:formatCode>General</c:formatCode>
                <c:ptCount val="1"/>
                <c:pt idx="0">
                  <c:v>1</c:v>
                </c:pt>
              </c:numCache>
            </c:numRef>
          </c:xVal>
          <c:yVal>
            <c:numRef>
              <c:f>'Chart Data'!$F$2:$F$2</c:f>
              <c:numCache>
                <c:formatCode>0.0</c:formatCode>
                <c:ptCount val="1"/>
                <c:pt idx="0">
                  <c:v>1</c:v>
                </c:pt>
              </c:numCache>
            </c:numRef>
          </c:yVal>
        </c:ser>
        <c:dLbls>
          <c:txPr>
            <a:bodyPr xmlns:a="http://schemas.openxmlformats.org/drawingml/2006/main" anchorCtr="1"/>
            <a:lstStyle xmlns:a="http://schemas.openxmlformats.org/drawingml/2006/main"/>
            <a:p xmlns:a="http://schemas.openxmlformats.org/drawingml/2006/main">
              <a:pPr>
                <a:defRPr>
                  <a:latin typeface="Chalkboard"/>
                  <a:ea typeface="Chalkboard"/>
                  <a:cs typeface="Chalkboard"/>
                </a:defRPr>
              </a:pPr>
            </a: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title>
          <c:tx>
            <c:rich>
              <a:bodyPr xmlns:a="http://schemas.openxmlformats.org/drawingml/2006/main"/>
              <a:lstStyle xmlns:a="http://schemas.openxmlformats.org/drawingml/2006/main"/>
              <a:p xmlns:a="http://schemas.openxmlformats.org/drawingml/2006/main">
                <a:r>
                  <a:rPr sz="1050" b="1">
                    <a:solidFill>
                      <a:srgbClr val="272729"/>
                    </a:solidFill>
                    <a:latin typeface="Chalkboard"/>
                    <a:ea typeface="Chalkboard"/>
                    <a:cs typeface="Chalkboard"/>
                  </a:rPr>
                  <a:t>Loss L</a:t>
                </a:r>
              </a:p>
            </c:rich>
          </c:tx>
          <c:overlay val="0"/>
          <c:txPr>
            <a:bodyPr xmlns:a="http://schemas.openxmlformats.org/drawingml/2006/main" anchorCtr="1"/>
            <a:lstStyle xmlns:a="http://schemas.openxmlformats.org/drawingml/2006/main"/>
            <a:p xmlns:a="http://schemas.openxmlformats.org/drawingml/2006/main">
              <a:pPr>
                <a:defRPr sz="1050" b="1">
                  <a:solidFill>
                    <a:srgbClr val="272729"/>
                  </a:solidFill>
                  <a:latin typeface="Chalkboard"/>
                  <a:ea typeface="Chalkboard"/>
                  <a:cs typeface="Chalkboard"/>
                </a:defRPr>
              </a:pPr>
            </a:p>
          </c:txPr>
        </c:title>
        <c:numFmt formatCode="0.0"/>
        <c:majorTickMark val="none"/>
        <c:minorTickMark val="none"/>
        <c:spPr>
          <a:ln xmlns:a="http://schemas.openxmlformats.org/drawingml/2006/main" w="9525">
            <a:solidFill>
              <a:srgbClr val="858078"/>
            </a:solidFill>
            <a:prstDash val="solid"/>
          </a:ln>
        </c:spPr>
        <c:txPr>
          <a:bodyPr xmlns:a="http://schemas.openxmlformats.org/drawingml/2006/main" anchorCtr="1"/>
          <a:lstStyle xmlns:a="http://schemas.openxmlformats.org/drawingml/2006/main"/>
          <a:p xmlns:a="http://schemas.openxmlformats.org/drawingml/2006/main">
            <a:pPr>
              <a:defRPr sz="900">
                <a:solidFill>
                  <a:srgbClr val="414447"/>
                </a:solidFill>
                <a:latin typeface="Chalkboard"/>
                <a:ea typeface="Chalkboard"/>
                <a:cs typeface="Chalkboard"/>
              </a:defRPr>
            </a:pPr>
          </a:p>
        </c:txPr>
        <c:crossAx val="48650112"/>
        <c:majorUnit val="0.5"/>
      </c:valAx>
      <c:valAx>
        <c:axId val="48650112"/>
        <c:scaling>
          <c:orientation val="minMax"/>
          <c:max val="1.5"/>
          <c:min val="-1.5"/>
        </c:scaling>
        <c:delete val="0"/>
        <c:axPos val="b"/>
        <c:title>
          <c:tx>
            <c:rich>
              <a:bodyPr xmlns:a="http://schemas.openxmlformats.org/drawingml/2006/main"/>
              <a:lstStyle xmlns:a="http://schemas.openxmlformats.org/drawingml/2006/main"/>
              <a:p xmlns:a="http://schemas.openxmlformats.org/drawingml/2006/main">
                <a:r>
                  <a:rPr sz="1050" b="1">
                    <a:solidFill>
                      <a:srgbClr val="272729"/>
                    </a:solidFill>
                    <a:latin typeface="Chalkboard"/>
                    <a:ea typeface="Chalkboard"/>
                    <a:cs typeface="Chalkboard"/>
                  </a:rPr>
                  <a:t>Weight w</a:t>
                </a:r>
              </a:p>
            </c:rich>
          </c:tx>
          <c:overlay val="0"/>
          <c:txPr>
            <a:bodyPr xmlns:a="http://schemas.openxmlformats.org/drawingml/2006/main" anchorCtr="1"/>
            <a:lstStyle xmlns:a="http://schemas.openxmlformats.org/drawingml/2006/main"/>
            <a:p xmlns:a="http://schemas.openxmlformats.org/drawingml/2006/main">
              <a:pPr>
                <a:defRPr sz="1050" b="1">
                  <a:solidFill>
                    <a:srgbClr val="272729"/>
                  </a:solidFill>
                  <a:latin typeface="Chalkboard"/>
                  <a:ea typeface="Chalkboard"/>
                  <a:cs typeface="Chalkboard"/>
                </a:defRPr>
              </a:pPr>
            </a:p>
          </c:txPr>
        </c:title>
        <c:numFmt formatCode="0.0"/>
        <c:majorTickMark val="none"/>
        <c:minorTickMark val="none"/>
        <c:spPr>
          <a:ln xmlns:a="http://schemas.openxmlformats.org/drawingml/2006/main" w="9525">
            <a:solidFill>
              <a:srgbClr val="858078"/>
            </a:solidFill>
            <a:prstDash val="solid"/>
          </a:ln>
        </c:spPr>
        <c:txPr>
          <a:bodyPr xmlns:a="http://schemas.openxmlformats.org/drawingml/2006/main" anchorCtr="1"/>
          <a:lstStyle xmlns:a="http://schemas.openxmlformats.org/drawingml/2006/main"/>
          <a:p xmlns:a="http://schemas.openxmlformats.org/drawingml/2006/main">
            <a:pPr>
              <a:defRPr sz="900">
                <a:solidFill>
                  <a:srgbClr val="414447"/>
                </a:solidFill>
                <a:latin typeface="Chalkboard"/>
                <a:ea typeface="Chalkboard"/>
                <a:cs typeface="Chalkboard"/>
              </a:defRPr>
            </a:pPr>
          </a:p>
        </c:txPr>
        <c:crossAx val="48672768"/>
        <c:majorUnit val="0.5"/>
      </c:valAx>
      <c:spPr>
        <ns0:solidFill xmlns:ns0="http://schemas.openxmlformats.org/drawingml/2006/main">
          <ns0:srgbClr val="FCFBF8"/>
        </ns0:solidFill>
        <a:ln xmlns:a="http://schemas.openxmlformats.org/drawingml/2006/main" w="0">
          <a:noFill/>
          <a:prstDash val="solid"/>
        </a:ln>
      </c:spPr>
    </c:plotArea>
    <c:plotVisOnly val="1"/>
  </c:chart>
  <c:spPr>
    <ns0:solidFill xmlns:ns0="http://schemas.openxmlformats.org/drawingml/2006/main">
      <ns0:srgbClr val="FCFBF8"/>
    </ns0: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L = −log(ŷ)</c:v>
          </c:tx>
          <c:spPr>
            <a:ln xmlns:a="http://schemas.openxmlformats.org/drawingml/2006/main" w="23813">
              <a:solidFill>
                <a:srgbClr val="277A95"/>
              </a:solidFill>
              <a:prstDash val="solid"/>
            </a:ln>
          </c:spPr>
          <c:marker>
            <c:symbol val="none"/>
          </c:marker>
          <c:xVal>
            <c:numRef>
              <c:f>'Chart Data'!$A$2:$A$51</c:f>
              <c:numCache>
                <c:formatCode>General</c:formatCode>
                <c:ptCount val="50"/>
                <c:pt idx="0">
                  <c:v>0.05</c:v>
                </c:pt>
                <c:pt idx="1">
                  <c:v>0.06938776</c:v>
                </c:pt>
                <c:pt idx="2">
                  <c:v>0.08877551</c:v>
                </c:pt>
                <c:pt idx="3">
                  <c:v>0.10816327</c:v>
                </c:pt>
                <c:pt idx="4">
                  <c:v>0.12755102</c:v>
                </c:pt>
                <c:pt idx="5">
                  <c:v>0.14693878</c:v>
                </c:pt>
                <c:pt idx="6">
                  <c:v>0.16632653</c:v>
                </c:pt>
                <c:pt idx="7">
                  <c:v>0.18571429</c:v>
                </c:pt>
                <c:pt idx="8">
                  <c:v>0.20510204</c:v>
                </c:pt>
                <c:pt idx="9">
                  <c:v>0.2244898</c:v>
                </c:pt>
                <c:pt idx="10">
                  <c:v>0.24387755</c:v>
                </c:pt>
                <c:pt idx="11">
                  <c:v>0.26326531</c:v>
                </c:pt>
                <c:pt idx="12">
                  <c:v>0.28265306</c:v>
                </c:pt>
                <c:pt idx="13">
                  <c:v>0.30204082</c:v>
                </c:pt>
                <c:pt idx="14">
                  <c:v>0.32142857</c:v>
                </c:pt>
                <c:pt idx="15">
                  <c:v>0.34081633</c:v>
                </c:pt>
                <c:pt idx="16">
                  <c:v>0.36020408</c:v>
                </c:pt>
                <c:pt idx="17">
                  <c:v>0.37959184</c:v>
                </c:pt>
                <c:pt idx="18">
                  <c:v>0.39897959</c:v>
                </c:pt>
                <c:pt idx="19">
                  <c:v>0.41836735</c:v>
                </c:pt>
                <c:pt idx="20">
                  <c:v>0.4377551</c:v>
                </c:pt>
                <c:pt idx="21">
                  <c:v>0.45714286</c:v>
                </c:pt>
                <c:pt idx="22">
                  <c:v>0.47653061</c:v>
                </c:pt>
                <c:pt idx="23">
                  <c:v>0.49591837</c:v>
                </c:pt>
                <c:pt idx="24">
                  <c:v>0.51530612</c:v>
                </c:pt>
                <c:pt idx="25">
                  <c:v>0.53469388</c:v>
                </c:pt>
                <c:pt idx="26">
                  <c:v>0.55408163</c:v>
                </c:pt>
                <c:pt idx="27">
                  <c:v>0.57346939</c:v>
                </c:pt>
                <c:pt idx="28">
                  <c:v>0.59285714</c:v>
                </c:pt>
                <c:pt idx="29">
                  <c:v>0.6122449</c:v>
                </c:pt>
                <c:pt idx="30">
                  <c:v>0.63163265</c:v>
                </c:pt>
                <c:pt idx="31">
                  <c:v>0.65102041</c:v>
                </c:pt>
                <c:pt idx="32">
                  <c:v>0.67040816</c:v>
                </c:pt>
                <c:pt idx="33">
                  <c:v>0.68979592</c:v>
                </c:pt>
                <c:pt idx="34">
                  <c:v>0.70918367</c:v>
                </c:pt>
                <c:pt idx="35">
                  <c:v>0.72857143</c:v>
                </c:pt>
                <c:pt idx="36">
                  <c:v>0.74795918</c:v>
                </c:pt>
                <c:pt idx="37">
                  <c:v>0.76734694</c:v>
                </c:pt>
                <c:pt idx="38">
                  <c:v>0.78673469</c:v>
                </c:pt>
                <c:pt idx="39">
                  <c:v>0.80612245</c:v>
                </c:pt>
                <c:pt idx="40">
                  <c:v>0.8255102</c:v>
                </c:pt>
                <c:pt idx="41">
                  <c:v>0.84489796</c:v>
                </c:pt>
                <c:pt idx="42">
                  <c:v>0.86428571</c:v>
                </c:pt>
                <c:pt idx="43">
                  <c:v>0.88367347</c:v>
                </c:pt>
                <c:pt idx="44">
                  <c:v>0.90306122</c:v>
                </c:pt>
                <c:pt idx="45">
                  <c:v>0.92244898</c:v>
                </c:pt>
                <c:pt idx="46">
                  <c:v>0.94183673</c:v>
                </c:pt>
                <c:pt idx="47">
                  <c:v>0.96122449</c:v>
                </c:pt>
                <c:pt idx="48">
                  <c:v>0.98061224</c:v>
                </c:pt>
                <c:pt idx="49">
                  <c:v>1</c:v>
                </c:pt>
              </c:numCache>
            </c:numRef>
          </c:xVal>
          <c:yVal>
            <c:numRef>
              <c:f>'Chart Data'!$B$2:$B$51</c:f>
              <c:numCache>
                <c:formatCode>0.0</c:formatCode>
                <c:ptCount val="50"/>
                <c:pt idx="0">
                  <c:v>2.99573227</c:v>
                </c:pt>
                <c:pt idx="1">
                  <c:v>2.6680448</c:v>
                </c:pt>
                <c:pt idx="2">
                  <c:v>2.42164446</c:v>
                </c:pt>
                <c:pt idx="3">
                  <c:v>2.22411343</c:v>
                </c:pt>
                <c:pt idx="4">
                  <c:v>2.05923884</c:v>
                </c:pt>
                <c:pt idx="5">
                  <c:v>1.91773924</c:v>
                </c:pt>
                <c:pt idx="6">
                  <c:v>1.79380237</c:v>
                </c:pt>
                <c:pt idx="7">
                  <c:v>1.68354586</c:v>
                </c:pt>
                <c:pt idx="8">
                  <c:v>1.58424767</c:v>
                </c:pt>
                <c:pt idx="9">
                  <c:v>1.49392501</c:v>
                </c:pt>
                <c:pt idx="10">
                  <c:v>1.41108902</c:v>
                </c:pt>
                <c:pt idx="11">
                  <c:v>1.33459297</c:v>
                </c:pt>
                <c:pt idx="12">
                  <c:v>1.26353507</c:v>
                </c:pt>
                <c:pt idx="13">
                  <c:v>1.19719311</c:v>
                </c:pt>
                <c:pt idx="14">
                  <c:v>1.13497994</c:v>
                </c:pt>
                <c:pt idx="15">
                  <c:v>1.07641157</c:v>
                </c:pt>
                <c:pt idx="16">
                  <c:v>1.02108452</c:v>
                </c:pt>
                <c:pt idx="17">
                  <c:v>0.96865871</c:v>
                </c:pt>
                <c:pt idx="18">
                  <c:v>0.91884502</c:v>
                </c:pt>
                <c:pt idx="19">
                  <c:v>0.8713954</c:v>
                </c:pt>
                <c:pt idx="20">
                  <c:v>0.82609566</c:v>
                </c:pt>
                <c:pt idx="21">
                  <c:v>0.78275933</c:v>
                </c:pt>
                <c:pt idx="22">
                  <c:v>0.74122332</c:v>
                </c:pt>
                <c:pt idx="23">
                  <c:v>0.70134394</c:v>
                </c:pt>
                <c:pt idx="24">
                  <c:v>0.66299415</c:v>
                </c:pt>
                <c:pt idx="25">
                  <c:v>0.62606088</c:v>
                </c:pt>
                <c:pt idx="26">
                  <c:v>0.59044326</c:v>
                </c:pt>
                <c:pt idx="27">
                  <c:v>0.55605072</c:v>
                </c:pt>
                <c:pt idx="28">
                  <c:v>0.52280182</c:v>
                </c:pt>
                <c:pt idx="29">
                  <c:v>0.49062291</c:v>
                </c:pt>
                <c:pt idx="30">
                  <c:v>0.4594473</c:v>
                </c:pt>
                <c:pt idx="31">
                  <c:v>0.42921429</c:v>
                </c:pt>
                <c:pt idx="32">
                  <c:v>0.39986856</c:v>
                </c:pt>
                <c:pt idx="33">
                  <c:v>0.37135949</c:v>
                </c:pt>
                <c:pt idx="34">
                  <c:v>0.34364073</c:v>
                </c:pt>
                <c:pt idx="35">
                  <c:v>0.31666961</c:v>
                </c:pt>
                <c:pt idx="36">
                  <c:v>0.29040687</c:v>
                </c:pt>
                <c:pt idx="37">
                  <c:v>0.26481625</c:v>
                </c:pt>
                <c:pt idx="38">
                  <c:v>0.2398642</c:v>
                </c:pt>
                <c:pt idx="39">
                  <c:v>0.21551962</c:v>
                </c:pt>
                <c:pt idx="40">
                  <c:v>0.19175366</c:v>
                </c:pt>
                <c:pt idx="41">
                  <c:v>0.16853942</c:v>
                </c:pt>
                <c:pt idx="42">
                  <c:v>0.14585188</c:v>
                </c:pt>
                <c:pt idx="43">
                  <c:v>0.12366766</c:v>
                </c:pt>
                <c:pt idx="44">
                  <c:v>0.10196493</c:v>
                </c:pt>
                <c:pt idx="45">
                  <c:v>0.08072321</c:v>
                </c:pt>
                <c:pt idx="46">
                  <c:v>0.05992334</c:v>
                </c:pt>
                <c:pt idx="47">
                  <c:v>0.0395473</c:v>
                </c:pt>
                <c:pt idx="48">
                  <c:v>0.01957817</c:v>
                </c:pt>
                <c:pt idx="49">
                  <c:v>0</c:v>
                </c:pt>
              </c:numCache>
            </c:numRef>
          </c:yVal>
        </c:ser>
        <c:ser>
          <c:idx val="1"/>
          <c:order val="1"/>
          <c:tx>
            <c:v>Current prediction</c:v>
          </c:tx>
          <c:spPr>
            <a:solidFill xmlns:a="http://schemas.openxmlformats.org/drawingml/2006/main">
              <a:srgbClr val="A45E56"/>
            </a:solidFill>
            <a:ln xmlns:a="http://schemas.openxmlformats.org/drawingml/2006/main" w="0">
              <a:noFill/>
              <a:prstDash val="solid"/>
            </a:ln>
          </c:spPr>
          <c:marker>
            <c:symbol val="circle"/>
            <c:size val="9"/>
            <c:spPr>
              <a:noFill xmlns:a="http://schemas.openxmlformats.org/drawingml/2006/main"/>
            </c:spPr>
          </c:marker>
          <c:xVal>
            <c:numRef>
              <c:f>'Chart Data'!$C$2:$C$2</c:f>
              <c:numCache>
                <c:formatCode>General</c:formatCode>
                <c:ptCount val="1"/>
                <c:pt idx="0">
                  <c:v>0.62245933</c:v>
                </c:pt>
              </c:numCache>
            </c:numRef>
          </c:xVal>
          <c:yVal>
            <c:numRef>
              <c:f>'Chart Data'!$D$2:$D$2</c:f>
              <c:numCache>
                <c:formatCode>0.0</c:formatCode>
                <c:ptCount val="1"/>
                <c:pt idx="0">
                  <c:v>0.47407698</c:v>
                </c:pt>
              </c:numCache>
            </c:numRef>
          </c:yVal>
        </c:ser>
        <c:dLbls>
          <c:txPr>
            <a:bodyPr xmlns:a="http://schemas.openxmlformats.org/drawingml/2006/main" anchorCtr="1"/>
            <a:lstStyle xmlns:a="http://schemas.openxmlformats.org/drawingml/2006/main"/>
            <a:p xmlns:a="http://schemas.openxmlformats.org/drawingml/2006/main">
              <a:pPr>
                <a:defRPr>
                  <a:latin typeface="Chalkboard"/>
                  <a:ea typeface="Chalkboard"/>
                  <a:cs typeface="Chalkboard"/>
                </a:defRPr>
              </a:pPr>
            </a:p>
          </c:txPr>
          <c:showLegendKey val="0"/>
          <c:showVal val="0"/>
          <c:showCatName val="0"/>
          <c:showSerName val="0"/>
          <c:showPercent val="0"/>
          <c:showBubbleSize val="0"/>
          <c:showLeaderLines val="0"/>
        </c:dLbls>
        <c:axId val="48650112"/>
        <c:axId val="48672768"/>
      </c:scatterChart>
      <c:valAx>
        <c:axId val="48672768"/>
        <c:scaling>
          <c:orientation val="minMax"/>
          <c:max val="3"/>
          <c:min val="0"/>
        </c:scaling>
        <c:delete val="0"/>
        <c:axPos val="l"/>
        <c:title>
          <c:tx>
            <c:rich>
              <a:bodyPr xmlns:a="http://schemas.openxmlformats.org/drawingml/2006/main"/>
              <a:lstStyle xmlns:a="http://schemas.openxmlformats.org/drawingml/2006/main"/>
              <a:p xmlns:a="http://schemas.openxmlformats.org/drawingml/2006/main">
                <a:r>
                  <a:rPr sz="1050" b="1">
                    <a:solidFill>
                      <a:srgbClr val="272729"/>
                    </a:solidFill>
                    <a:latin typeface="Chalkboard"/>
                    <a:ea typeface="Chalkboard"/>
                    <a:cs typeface="Chalkboard"/>
                  </a:rPr>
                  <a:t>Loss L</a:t>
                </a:r>
              </a:p>
            </c:rich>
          </c:tx>
          <c:overlay val="0"/>
          <c:txPr>
            <a:bodyPr xmlns:a="http://schemas.openxmlformats.org/drawingml/2006/main" anchorCtr="1"/>
            <a:lstStyle xmlns:a="http://schemas.openxmlformats.org/drawingml/2006/main"/>
            <a:p xmlns:a="http://schemas.openxmlformats.org/drawingml/2006/main">
              <a:pPr>
                <a:defRPr sz="1050" b="1">
                  <a:solidFill>
                    <a:srgbClr val="272729"/>
                  </a:solidFill>
                  <a:latin typeface="Chalkboard"/>
                  <a:ea typeface="Chalkboard"/>
                  <a:cs typeface="Chalkboard"/>
                </a:defRPr>
              </a:pPr>
            </a:p>
          </c:txPr>
        </c:title>
        <c:numFmt formatCode="0.0"/>
        <c:majorTickMark val="none"/>
        <c:minorTickMark val="none"/>
        <c:spPr>
          <a:ln xmlns:a="http://schemas.openxmlformats.org/drawingml/2006/main" w="9525">
            <a:solidFill>
              <a:srgbClr val="858078"/>
            </a:solidFill>
            <a:prstDash val="solid"/>
          </a:ln>
        </c:spPr>
        <c:txPr>
          <a:bodyPr xmlns:a="http://schemas.openxmlformats.org/drawingml/2006/main" anchorCtr="1"/>
          <a:lstStyle xmlns:a="http://schemas.openxmlformats.org/drawingml/2006/main"/>
          <a:p xmlns:a="http://schemas.openxmlformats.org/drawingml/2006/main">
            <a:pPr>
              <a:defRPr sz="900">
                <a:solidFill>
                  <a:srgbClr val="414447"/>
                </a:solidFill>
                <a:latin typeface="Chalkboard"/>
                <a:ea typeface="Chalkboard"/>
                <a:cs typeface="Chalkboard"/>
              </a:defRPr>
            </a:pPr>
          </a:p>
        </c:txPr>
        <c:crossAx val="48650112"/>
        <c:majorUnit val="0.5"/>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050" b="1">
                    <a:solidFill>
                      <a:srgbClr val="272729"/>
                    </a:solidFill>
                    <a:latin typeface="Chalkboard"/>
                    <a:ea typeface="Chalkboard"/>
                    <a:cs typeface="Chalkboard"/>
                  </a:rPr>
                  <a:t>Predicted probability ŷ</a:t>
                </a:r>
              </a:p>
            </c:rich>
          </c:tx>
          <c:overlay val="0"/>
          <c:txPr>
            <a:bodyPr xmlns:a="http://schemas.openxmlformats.org/drawingml/2006/main" anchorCtr="1"/>
            <a:lstStyle xmlns:a="http://schemas.openxmlformats.org/drawingml/2006/main"/>
            <a:p xmlns:a="http://schemas.openxmlformats.org/drawingml/2006/main">
              <a:pPr>
                <a:defRPr sz="1050" b="1">
                  <a:solidFill>
                    <a:srgbClr val="272729"/>
                  </a:solidFill>
                  <a:latin typeface="Chalkboard"/>
                  <a:ea typeface="Chalkboard"/>
                  <a:cs typeface="Chalkboard"/>
                </a:defRPr>
              </a:pPr>
            </a:p>
          </c:txPr>
        </c:title>
        <c:numFmt formatCode="0.0"/>
        <c:majorTickMark val="none"/>
        <c:minorTickMark val="none"/>
        <c:spPr>
          <a:ln xmlns:a="http://schemas.openxmlformats.org/drawingml/2006/main" w="9525">
            <a:solidFill>
              <a:srgbClr val="858078"/>
            </a:solidFill>
            <a:prstDash val="solid"/>
          </a:ln>
        </c:spPr>
        <c:txPr>
          <a:bodyPr xmlns:a="http://schemas.openxmlformats.org/drawingml/2006/main" anchorCtr="1"/>
          <a:lstStyle xmlns:a="http://schemas.openxmlformats.org/drawingml/2006/main"/>
          <a:p xmlns:a="http://schemas.openxmlformats.org/drawingml/2006/main">
            <a:pPr>
              <a:defRPr sz="900">
                <a:solidFill>
                  <a:srgbClr val="414447"/>
                </a:solidFill>
                <a:latin typeface="Chalkboard"/>
                <a:ea typeface="Chalkboard"/>
                <a:cs typeface="Chalkboard"/>
              </a:defRPr>
            </a:pPr>
          </a:p>
        </c:txPr>
        <c:crossAx val="48672768"/>
        <c:majorUnit val="0.2"/>
      </c:valAx>
      <c:spPr>
        <ns0:solidFill xmlns:ns0="http://schemas.openxmlformats.org/drawingml/2006/main">
          <ns0:srgbClr val="FCFBF8"/>
        </ns0:solidFill>
        <a:ln xmlns:a="http://schemas.openxmlformats.org/drawingml/2006/main" w="0">
          <a:noFill/>
          <a:prstDash val="solid"/>
        </a:ln>
      </c:spPr>
    </c:plotArea>
    <c:plotVisOnly val="1"/>
  </c:chart>
  <c:spPr>
    <ns0:solidFill xmlns:ns0="http://schemas.openxmlformats.org/drawingml/2006/main">
      <ns0:srgbClr val="FCFBF8"/>
    </ns0: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Cross-entropy loss</c:v>
          </c:tx>
          <c:spPr>
            <a:solidFill xmlns:a="http://schemas.openxmlformats.org/drawingml/2006/main">
              <a:srgbClr val="A45E56"/>
            </a:solidFill>
            <a:ln xmlns:a="http://schemas.openxmlformats.org/drawingml/2006/main" w="0">
              <a:noFill/>
              <a:prstDash val="solid"/>
            </a:ln>
          </c:spPr>
          <c:dPt>
            <c:idx val="0"/>
            <c:invertIfNegative val="0"/>
            <c:spPr>
              <a:solidFill xmlns:a="http://schemas.openxmlformats.org/drawingml/2006/main">
                <a:srgbClr val="A45E56"/>
              </a:solidFill>
              <a:ln xmlns:a="http://schemas.openxmlformats.org/drawingml/2006/main" w="0">
                <a:noFill/>
                <a:prstDash val="solid"/>
              </a:ln>
            </c:spPr>
          </c:dPt>
          <c:dPt>
            <c:idx val="1"/>
            <c:invertIfNegative val="0"/>
            <c:spPr>
              <a:solidFill xmlns:a="http://schemas.openxmlformats.org/drawingml/2006/main">
                <a:srgbClr val="277A95"/>
              </a:solidFill>
              <a:ln xmlns:a="http://schemas.openxmlformats.org/drawingml/2006/main" w="0">
                <a:noFill/>
                <a:prstDash val="solid"/>
              </a:ln>
            </c:spPr>
          </c:dPt>
          <c:cat>
            <c:strRef>
              <c:f>'Chart Data'!$A$2:$A$3</c:f>
              <c:strCache>
                <c:ptCount val="2"/>
                <c:pt idx="0">
                  <c:v>Before</c:v>
                </c:pt>
                <c:pt idx="1">
                  <c:v>After</c:v>
                </c:pt>
              </c:strCache>
            </c:strRef>
          </c:cat>
          <c:val>
            <c:numRef>
              <c:f>'Chart Data'!$B$2:$B$3</c:f>
              <c:numCache>
                <c:formatCode>0.0000</c:formatCode>
                <c:ptCount val="2"/>
                <c:pt idx="0">
                  <c:v>0.4740769842</c:v>
                </c:pt>
                <c:pt idx="1">
                  <c:v>0.4290054505</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272729"/>
                  </a:solidFill>
                  <a:latin typeface="Chalkboard"/>
                  <a:ea typeface="Chalkboard"/>
                  <a:cs typeface="Chalkboard"/>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2C8"/>
            </a:solidFill>
            <a:prstDash val="solid"/>
          </a:ln>
        </c:spPr>
        <c:txPr>
          <a:bodyPr xmlns:a="http://schemas.openxmlformats.org/drawingml/2006/main" anchorCtr="1"/>
          <a:lstStyle xmlns:a="http://schemas.openxmlformats.org/drawingml/2006/main"/>
          <a:p xmlns:a="http://schemas.openxmlformats.org/drawingml/2006/main">
            <a:pPr>
              <a:defRPr sz="975">
                <a:solidFill>
                  <a:srgbClr val="414447"/>
                </a:solidFill>
                <a:latin typeface="Chalkboard"/>
                <a:ea typeface="Chalkboard"/>
                <a:cs typeface="Chalkboard"/>
              </a:defRPr>
            </a:pPr>
          </a:p>
        </c:txPr>
        <c:crossAx val="48672768"/>
      </c:catAx>
      <c:valAx>
        <c:axId val="48672768"/>
        <c:scaling>
          <c:orientation val="minMax"/>
          <c:max val="0.6"/>
          <c:min val="0"/>
        </c:scaling>
        <c:delete val="0"/>
        <c:axPos val="l"/>
        <c:title>
          <c:tx>
            <c:rich>
              <a:bodyPr xmlns:a="http://schemas.openxmlformats.org/drawingml/2006/main"/>
              <a:lstStyle xmlns:a="http://schemas.openxmlformats.org/drawingml/2006/main"/>
              <a:p xmlns:a="http://schemas.openxmlformats.org/drawingml/2006/main">
                <a:r>
                  <a:rPr sz="1050" b="1">
                    <a:solidFill>
                      <a:srgbClr val="272729"/>
                    </a:solidFill>
                    <a:latin typeface="Chalkboard"/>
                    <a:ea typeface="Chalkboard"/>
                    <a:cs typeface="Chalkboard"/>
                  </a:rPr>
                  <a:t>Loss L</a:t>
                </a:r>
              </a:p>
            </c:rich>
          </c:tx>
          <c:overlay val="0"/>
          <c:txPr>
            <a:bodyPr xmlns:a="http://schemas.openxmlformats.org/drawingml/2006/main" anchorCtr="1"/>
            <a:lstStyle xmlns:a="http://schemas.openxmlformats.org/drawingml/2006/main"/>
            <a:p xmlns:a="http://schemas.openxmlformats.org/drawingml/2006/main">
              <a:pPr>
                <a:defRPr sz="1050" b="1">
                  <a:solidFill>
                    <a:srgbClr val="272729"/>
                  </a:solidFill>
                  <a:latin typeface="Chalkboard"/>
                  <a:ea typeface="Chalkboard"/>
                  <a:cs typeface="Chalkboard"/>
                </a:defRPr>
              </a:pPr>
            </a:p>
          </c:txPr>
        </c:title>
        <c:numFmt formatCode="0.0"/>
        <c:majorTickMark val="none"/>
        <c:minorTickMark val="none"/>
        <c:spPr>
          <a:ln xmlns:a="http://schemas.openxmlformats.org/drawingml/2006/main" w="9525">
            <a:solidFill>
              <a:srgbClr val="858078"/>
            </a:solidFill>
            <a:prstDash val="solid"/>
          </a:ln>
        </c:spPr>
        <c:txPr>
          <a:bodyPr xmlns:a="http://schemas.openxmlformats.org/drawingml/2006/main" anchorCtr="1"/>
          <a:lstStyle xmlns:a="http://schemas.openxmlformats.org/drawingml/2006/main"/>
          <a:p xmlns:a="http://schemas.openxmlformats.org/drawingml/2006/main">
            <a:pPr>
              <a:defRPr sz="900">
                <a:solidFill>
                  <a:srgbClr val="414447"/>
                </a:solidFill>
                <a:latin typeface="Chalkboard"/>
                <a:ea typeface="Chalkboard"/>
                <a:cs typeface="Chalkboard"/>
              </a:defRPr>
            </a:pPr>
          </a:p>
        </c:txPr>
        <c:crossAx val="48650112"/>
        <c:crossBetween val="between"/>
        <c:majorUnit val="0.1"/>
      </c:valAx>
      <c:spPr>
        <ns0:solidFill xmlns:ns0="http://schemas.openxmlformats.org/drawingml/2006/main">
          <ns0:srgbClr val="FCFBF8"/>
        </ns0:solidFill>
        <a:ln xmlns:a="http://schemas.openxmlformats.org/drawingml/2006/main" w="0">
          <a:noFill/>
          <a:prstDash val="solid"/>
        </a:ln>
      </c:spPr>
    </c:plotArea>
    <c:plotVisOnly val="1"/>
  </c:chart>
  <c:spPr>
    <ns0:solidFill xmlns:ns0="http://schemas.openxmlformats.org/drawingml/2006/main">
      <ns0:srgbClr val="FCFBF8"/>
    </ns0:solidFill>
    <a:ln xmlns:a="http://schemas.openxmlformats.org/drawingml/2006/main" w="0">
      <a:no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L = w²</c:v>
          </c:tx>
          <c:spPr>
            <a:ln xmlns:a="http://schemas.openxmlformats.org/drawingml/2006/main" w="20955">
              <a:solidFill>
                <a:srgbClr val="277A95"/>
              </a:solidFill>
              <a:prstDash val="solid"/>
            </a:ln>
          </c:spPr>
          <c:marker>
            <c:symbol val="none"/>
          </c:marker>
          <c:xVal>
            <c:numRef>
              <c:f>'Chart Data'!$A$2:$A$62</c:f>
              <c:numCache>
                <c:formatCode>General</c:formatCode>
                <c:ptCount val="61"/>
                <c:pt idx="0">
                  <c:v>-1.4</c:v>
                </c:pt>
                <c:pt idx="1">
                  <c:v>-1.35333333</c:v>
                </c:pt>
                <c:pt idx="2">
                  <c:v>-1.30666667</c:v>
                </c:pt>
                <c:pt idx="3">
                  <c:v>-1.26</c:v>
                </c:pt>
                <c:pt idx="4">
                  <c:v>-1.21333333</c:v>
                </c:pt>
                <c:pt idx="5">
                  <c:v>-1.16666667</c:v>
                </c:pt>
                <c:pt idx="6">
                  <c:v>-1.12</c:v>
                </c:pt>
                <c:pt idx="7">
                  <c:v>-1.07333333</c:v>
                </c:pt>
                <c:pt idx="8">
                  <c:v>-1.02666667</c:v>
                </c:pt>
                <c:pt idx="9">
                  <c:v>-0.98</c:v>
                </c:pt>
                <c:pt idx="10">
                  <c:v>-0.93333333</c:v>
                </c:pt>
                <c:pt idx="11">
                  <c:v>-0.88666667</c:v>
                </c:pt>
                <c:pt idx="12">
                  <c:v>-0.84</c:v>
                </c:pt>
                <c:pt idx="13">
                  <c:v>-0.79333333</c:v>
                </c:pt>
                <c:pt idx="14">
                  <c:v>-0.74666667</c:v>
                </c:pt>
                <c:pt idx="15">
                  <c:v>-0.7</c:v>
                </c:pt>
                <c:pt idx="16">
                  <c:v>-0.65333333</c:v>
                </c:pt>
                <c:pt idx="17">
                  <c:v>-0.60666667</c:v>
                </c:pt>
                <c:pt idx="18">
                  <c:v>-0.56</c:v>
                </c:pt>
                <c:pt idx="19">
                  <c:v>-0.51333333</c:v>
                </c:pt>
                <c:pt idx="20">
                  <c:v>-0.46666667</c:v>
                </c:pt>
                <c:pt idx="21">
                  <c:v>-0.42</c:v>
                </c:pt>
                <c:pt idx="22">
                  <c:v>-0.37333333</c:v>
                </c:pt>
                <c:pt idx="23">
                  <c:v>-0.32666667</c:v>
                </c:pt>
                <c:pt idx="24">
                  <c:v>-0.28</c:v>
                </c:pt>
                <c:pt idx="25">
                  <c:v>-0.23333333</c:v>
                </c:pt>
                <c:pt idx="26">
                  <c:v>-0.18666667</c:v>
                </c:pt>
                <c:pt idx="27">
                  <c:v>-0.14</c:v>
                </c:pt>
                <c:pt idx="28">
                  <c:v>-0.09333333</c:v>
                </c:pt>
                <c:pt idx="29">
                  <c:v>-0.04666667</c:v>
                </c:pt>
                <c:pt idx="30">
                  <c:v>0</c:v>
                </c:pt>
                <c:pt idx="31">
                  <c:v>0.04666667</c:v>
                </c:pt>
                <c:pt idx="32">
                  <c:v>0.09333333</c:v>
                </c:pt>
                <c:pt idx="33">
                  <c:v>0.14</c:v>
                </c:pt>
                <c:pt idx="34">
                  <c:v>0.18666667</c:v>
                </c:pt>
                <c:pt idx="35">
                  <c:v>0.23333333</c:v>
                </c:pt>
                <c:pt idx="36">
                  <c:v>0.28</c:v>
                </c:pt>
                <c:pt idx="37">
                  <c:v>0.32666667</c:v>
                </c:pt>
                <c:pt idx="38">
                  <c:v>0.37333333</c:v>
                </c:pt>
                <c:pt idx="39">
                  <c:v>0.42</c:v>
                </c:pt>
                <c:pt idx="40">
                  <c:v>0.46666667</c:v>
                </c:pt>
                <c:pt idx="41">
                  <c:v>0.51333333</c:v>
                </c:pt>
                <c:pt idx="42">
                  <c:v>0.56</c:v>
                </c:pt>
                <c:pt idx="43">
                  <c:v>0.60666667</c:v>
                </c:pt>
                <c:pt idx="44">
                  <c:v>0.65333333</c:v>
                </c:pt>
                <c:pt idx="45">
                  <c:v>0.7</c:v>
                </c:pt>
                <c:pt idx="46">
                  <c:v>0.74666667</c:v>
                </c:pt>
                <c:pt idx="47">
                  <c:v>0.79333333</c:v>
                </c:pt>
                <c:pt idx="48">
                  <c:v>0.84</c:v>
                </c:pt>
                <c:pt idx="49">
                  <c:v>0.88666667</c:v>
                </c:pt>
                <c:pt idx="50">
                  <c:v>0.93333333</c:v>
                </c:pt>
                <c:pt idx="51">
                  <c:v>0.98</c:v>
                </c:pt>
                <c:pt idx="52">
                  <c:v>1.02666667</c:v>
                </c:pt>
                <c:pt idx="53">
                  <c:v>1.07333333</c:v>
                </c:pt>
                <c:pt idx="54">
                  <c:v>1.12</c:v>
                </c:pt>
                <c:pt idx="55">
                  <c:v>1.16666667</c:v>
                </c:pt>
                <c:pt idx="56">
                  <c:v>1.21333333</c:v>
                </c:pt>
                <c:pt idx="57">
                  <c:v>1.26</c:v>
                </c:pt>
                <c:pt idx="58">
                  <c:v>1.30666667</c:v>
                </c:pt>
                <c:pt idx="59">
                  <c:v>1.35333333</c:v>
                </c:pt>
                <c:pt idx="60">
                  <c:v>1.4</c:v>
                </c:pt>
              </c:numCache>
            </c:numRef>
          </c:xVal>
          <c:yVal>
            <c:numRef>
              <c:f>'Chart Data'!$B$2:$B$62</c:f>
              <c:numCache>
                <c:formatCode>0.0</c:formatCode>
                <c:ptCount val="61"/>
                <c:pt idx="0">
                  <c:v>1.96</c:v>
                </c:pt>
                <c:pt idx="1">
                  <c:v>1.8315111</c:v>
                </c:pt>
                <c:pt idx="2">
                  <c:v>1.70737779</c:v>
                </c:pt>
                <c:pt idx="3">
                  <c:v>1.5876</c:v>
                </c:pt>
                <c:pt idx="4">
                  <c:v>1.47217777</c:v>
                </c:pt>
                <c:pt idx="5">
                  <c:v>1.36111112</c:v>
                </c:pt>
                <c:pt idx="6">
                  <c:v>1.2544</c:v>
                </c:pt>
                <c:pt idx="7">
                  <c:v>1.15204444</c:v>
                </c:pt>
                <c:pt idx="8">
                  <c:v>1.05404445</c:v>
                </c:pt>
                <c:pt idx="9">
                  <c:v>0.9604</c:v>
                </c:pt>
                <c:pt idx="10">
                  <c:v>0.8711111</c:v>
                </c:pt>
                <c:pt idx="11">
                  <c:v>0.78617778</c:v>
                </c:pt>
                <c:pt idx="12">
                  <c:v>0.7056</c:v>
                </c:pt>
                <c:pt idx="13">
                  <c:v>0.62937777</c:v>
                </c:pt>
                <c:pt idx="14">
                  <c:v>0.55751112</c:v>
                </c:pt>
                <c:pt idx="15">
                  <c:v>0.49</c:v>
                </c:pt>
                <c:pt idx="16">
                  <c:v>0.42684444</c:v>
                </c:pt>
                <c:pt idx="17">
                  <c:v>0.36804445</c:v>
                </c:pt>
                <c:pt idx="18">
                  <c:v>0.3136</c:v>
                </c:pt>
                <c:pt idx="19">
                  <c:v>0.26351111</c:v>
                </c:pt>
                <c:pt idx="20">
                  <c:v>0.21777778</c:v>
                </c:pt>
                <c:pt idx="21">
                  <c:v>0.1764</c:v>
                </c:pt>
                <c:pt idx="22">
                  <c:v>0.13937778</c:v>
                </c:pt>
                <c:pt idx="23">
                  <c:v>0.10671111</c:v>
                </c:pt>
                <c:pt idx="24">
                  <c:v>0.0784</c:v>
                </c:pt>
                <c:pt idx="25">
                  <c:v>0.05444444</c:v>
                </c:pt>
                <c:pt idx="26">
                  <c:v>0.03484445</c:v>
                </c:pt>
                <c:pt idx="27">
                  <c:v>0.0196</c:v>
                </c:pt>
                <c:pt idx="28">
                  <c:v>0.00871111</c:v>
                </c:pt>
                <c:pt idx="29">
                  <c:v>0.00217778</c:v>
                </c:pt>
                <c:pt idx="30">
                  <c:v>0</c:v>
                </c:pt>
                <c:pt idx="31">
                  <c:v>0.00217778</c:v>
                </c:pt>
                <c:pt idx="32">
                  <c:v>0.00871111</c:v>
                </c:pt>
                <c:pt idx="33">
                  <c:v>0.0196</c:v>
                </c:pt>
                <c:pt idx="34">
                  <c:v>0.03484445</c:v>
                </c:pt>
                <c:pt idx="35">
                  <c:v>0.05444444</c:v>
                </c:pt>
                <c:pt idx="36">
                  <c:v>0.0784</c:v>
                </c:pt>
                <c:pt idx="37">
                  <c:v>0.10671111</c:v>
                </c:pt>
                <c:pt idx="38">
                  <c:v>0.13937778</c:v>
                </c:pt>
                <c:pt idx="39">
                  <c:v>0.1764</c:v>
                </c:pt>
                <c:pt idx="40">
                  <c:v>0.21777778</c:v>
                </c:pt>
                <c:pt idx="41">
                  <c:v>0.26351111</c:v>
                </c:pt>
                <c:pt idx="42">
                  <c:v>0.3136</c:v>
                </c:pt>
                <c:pt idx="43">
                  <c:v>0.36804445</c:v>
                </c:pt>
                <c:pt idx="44">
                  <c:v>0.42684444</c:v>
                </c:pt>
                <c:pt idx="45">
                  <c:v>0.49</c:v>
                </c:pt>
                <c:pt idx="46">
                  <c:v>0.55751112</c:v>
                </c:pt>
                <c:pt idx="47">
                  <c:v>0.62937777</c:v>
                </c:pt>
                <c:pt idx="48">
                  <c:v>0.7056</c:v>
                </c:pt>
                <c:pt idx="49">
                  <c:v>0.78617778</c:v>
                </c:pt>
                <c:pt idx="50">
                  <c:v>0.8711111</c:v>
                </c:pt>
                <c:pt idx="51">
                  <c:v>0.9604</c:v>
                </c:pt>
                <c:pt idx="52">
                  <c:v>1.05404445</c:v>
                </c:pt>
                <c:pt idx="53">
                  <c:v>1.15204444</c:v>
                </c:pt>
                <c:pt idx="54">
                  <c:v>1.2544</c:v>
                </c:pt>
                <c:pt idx="55">
                  <c:v>1.36111112</c:v>
                </c:pt>
                <c:pt idx="56">
                  <c:v>1.47217777</c:v>
                </c:pt>
                <c:pt idx="57">
                  <c:v>1.5876</c:v>
                </c:pt>
                <c:pt idx="58">
                  <c:v>1.70737779</c:v>
                </c:pt>
                <c:pt idx="59">
                  <c:v>1.8315111</c:v>
                </c:pt>
                <c:pt idx="60">
                  <c:v>1.96</c:v>
                </c:pt>
              </c:numCache>
            </c:numRef>
          </c:yVal>
        </c:ser>
        <c:ser>
          <c:idx val="1"/>
          <c:order val="1"/>
          <c:tx>
            <c:v>One update</c:v>
          </c:tx>
          <c:spPr>
            <a:solidFill xmlns:a="http://schemas.openxmlformats.org/drawingml/2006/main">
              <a:srgbClr val="277A95"/>
            </a:solidFill>
            <a:ln xmlns:a="http://schemas.openxmlformats.org/drawingml/2006/main" w="14288">
              <a:solidFill>
                <a:srgbClr val="277A95"/>
              </a:solidFill>
              <a:prstDash val="solid"/>
            </a:ln>
          </c:spPr>
          <c:marker>
            <c:symbol val="circle"/>
            <c:size val="7"/>
            <c:spPr>
              <a:solidFill xmlns:a="http://schemas.openxmlformats.org/drawingml/2006/main">
                <a:srgbClr val="277A95"/>
              </a:solidFill>
            </c:spPr>
          </c:marker>
          <c:xVal>
            <c:numRef>
              <c:f>'Chart Data'!$C$2:$C$3</c:f>
              <c:numCache>
                <c:formatCode>General</c:formatCode>
                <c:ptCount val="2"/>
                <c:pt idx="0">
                  <c:v>1</c:v>
                </c:pt>
                <c:pt idx="1">
                  <c:v>0.8</c:v>
                </c:pt>
              </c:numCache>
            </c:numRef>
          </c:xVal>
          <c:yVal>
            <c:numRef>
              <c:f>'Chart Data'!$D$2:$D$3</c:f>
              <c:numCache>
                <c:formatCode>0.0</c:formatCode>
                <c:ptCount val="2"/>
                <c:pt idx="0">
                  <c:v>1</c:v>
                </c:pt>
                <c:pt idx="1">
                  <c:v>0.64</c:v>
                </c:pt>
              </c:numCache>
            </c:numRef>
          </c:yVal>
        </c:ser>
        <c:dLbls>
          <c:txPr>
            <a:bodyPr xmlns:a="http://schemas.openxmlformats.org/drawingml/2006/main" anchorCtr="1"/>
            <a:lstStyle xmlns:a="http://schemas.openxmlformats.org/drawingml/2006/main"/>
            <a:p xmlns:a="http://schemas.openxmlformats.org/drawingml/2006/main">
              <a:pPr>
                <a:defRPr>
                  <a:latin typeface="Chalkboard"/>
                  <a:ea typeface="Chalkboard"/>
                  <a:cs typeface="Chalkboard"/>
                </a:defRPr>
              </a:pPr>
            </a:p>
          </c:txPr>
          <c:showLegendKey val="0"/>
          <c:showVal val="0"/>
          <c:showCatName val="0"/>
          <c:showSerName val="0"/>
          <c:showPercent val="0"/>
          <c:showBubbleSize val="0"/>
          <c:showLeaderLines val="0"/>
        </c:dLbls>
        <c:axId val="48650112"/>
        <c:axId val="48672768"/>
      </c:scatterChart>
      <c:valAx>
        <c:axId val="48672768"/>
        <c:scaling>
          <c:orientation val="minMax"/>
          <c:max val="2.2"/>
          <c:min val="0"/>
        </c:scaling>
        <c:delete val="0"/>
        <c:axPos val="l"/>
        <c:title>
          <c:tx>
            <c:rich>
              <a:bodyPr xmlns:a="http://schemas.openxmlformats.org/drawingml/2006/main"/>
              <a:lstStyle xmlns:a="http://schemas.openxmlformats.org/drawingml/2006/main"/>
              <a:p xmlns:a="http://schemas.openxmlformats.org/drawingml/2006/main">
                <a:r>
                  <a:rPr sz="1050" b="1">
                    <a:solidFill>
                      <a:srgbClr val="272729"/>
                    </a:solidFill>
                    <a:latin typeface="Chalkboard"/>
                    <a:ea typeface="Chalkboard"/>
                    <a:cs typeface="Chalkboard"/>
                  </a:rPr>
                  <a:t>L</a:t>
                </a:r>
              </a:p>
            </c:rich>
          </c:tx>
          <c:overlay val="0"/>
          <c:txPr>
            <a:bodyPr xmlns:a="http://schemas.openxmlformats.org/drawingml/2006/main" anchorCtr="1"/>
            <a:lstStyle xmlns:a="http://schemas.openxmlformats.org/drawingml/2006/main"/>
            <a:p xmlns:a="http://schemas.openxmlformats.org/drawingml/2006/main">
              <a:pPr>
                <a:defRPr sz="1050" b="1">
                  <a:solidFill>
                    <a:srgbClr val="272729"/>
                  </a:solidFill>
                  <a:latin typeface="Chalkboard"/>
                  <a:ea typeface="Chalkboard"/>
                  <a:cs typeface="Chalkboard"/>
                </a:defRPr>
              </a:pPr>
            </a:p>
          </c:txPr>
        </c:title>
        <c:numFmt formatCode="0.0"/>
        <c:majorTickMark val="none"/>
        <c:minorTickMark val="none"/>
        <c:spPr>
          <a:ln xmlns:a="http://schemas.openxmlformats.org/drawingml/2006/main" w="9525">
            <a:solidFill>
              <a:srgbClr val="858078"/>
            </a:solidFill>
            <a:prstDash val="solid"/>
          </a:ln>
        </c:spPr>
        <c:txPr>
          <a:bodyPr xmlns:a="http://schemas.openxmlformats.org/drawingml/2006/main" anchorCtr="1"/>
          <a:lstStyle xmlns:a="http://schemas.openxmlformats.org/drawingml/2006/main"/>
          <a:p xmlns:a="http://schemas.openxmlformats.org/drawingml/2006/main">
            <a:pPr>
              <a:defRPr sz="900">
                <a:solidFill>
                  <a:srgbClr val="414447"/>
                </a:solidFill>
                <a:latin typeface="Chalkboard"/>
                <a:ea typeface="Chalkboard"/>
                <a:cs typeface="Chalkboard"/>
              </a:defRPr>
            </a:pPr>
          </a:p>
        </c:txPr>
        <c:crossAx val="48650112"/>
        <c:majorUnit val="1"/>
      </c:valAx>
      <c:valAx>
        <c:axId val="48650112"/>
        <c:scaling>
          <c:orientation val="minMax"/>
          <c:max val="1.5"/>
          <c:min val="-1.5"/>
        </c:scaling>
        <c:delete val="0"/>
        <c:axPos val="b"/>
        <c:title>
          <c:tx>
            <c:rich>
              <a:bodyPr xmlns:a="http://schemas.openxmlformats.org/drawingml/2006/main"/>
              <a:lstStyle xmlns:a="http://schemas.openxmlformats.org/drawingml/2006/main"/>
              <a:p xmlns:a="http://schemas.openxmlformats.org/drawingml/2006/main">
                <a:r>
                  <a:rPr sz="1050" b="1">
                    <a:solidFill>
                      <a:srgbClr val="272729"/>
                    </a:solidFill>
                    <a:latin typeface="Chalkboard"/>
                    <a:ea typeface="Chalkboard"/>
                    <a:cs typeface="Chalkboard"/>
                  </a:rPr>
                  <a:t>w</a:t>
                </a:r>
              </a:p>
            </c:rich>
          </c:tx>
          <c:overlay val="0"/>
          <c:txPr>
            <a:bodyPr xmlns:a="http://schemas.openxmlformats.org/drawingml/2006/main" anchorCtr="1"/>
            <a:lstStyle xmlns:a="http://schemas.openxmlformats.org/drawingml/2006/main"/>
            <a:p xmlns:a="http://schemas.openxmlformats.org/drawingml/2006/main">
              <a:pPr>
                <a:defRPr sz="1050" b="1">
                  <a:solidFill>
                    <a:srgbClr val="272729"/>
                  </a:solidFill>
                  <a:latin typeface="Chalkboard"/>
                  <a:ea typeface="Chalkboard"/>
                  <a:cs typeface="Chalkboard"/>
                </a:defRPr>
              </a:pPr>
            </a:p>
          </c:txPr>
        </c:title>
        <c:numFmt formatCode="0.0"/>
        <c:majorTickMark val="none"/>
        <c:minorTickMark val="none"/>
        <c:spPr>
          <a:ln xmlns:a="http://schemas.openxmlformats.org/drawingml/2006/main" w="9525">
            <a:solidFill>
              <a:srgbClr val="858078"/>
            </a:solidFill>
            <a:prstDash val="solid"/>
          </a:ln>
        </c:spPr>
        <c:txPr>
          <a:bodyPr xmlns:a="http://schemas.openxmlformats.org/drawingml/2006/main" anchorCtr="1"/>
          <a:lstStyle xmlns:a="http://schemas.openxmlformats.org/drawingml/2006/main"/>
          <a:p xmlns:a="http://schemas.openxmlformats.org/drawingml/2006/main">
            <a:pPr>
              <a:defRPr sz="900">
                <a:solidFill>
                  <a:srgbClr val="414447"/>
                </a:solidFill>
                <a:latin typeface="Chalkboard"/>
                <a:ea typeface="Chalkboard"/>
                <a:cs typeface="Chalkboard"/>
              </a:defRPr>
            </a:pPr>
          </a:p>
        </c:txPr>
        <c:crossAx val="48672768"/>
        <c:majorUnit val="1"/>
      </c:valAx>
      <c:spPr>
        <ns0:solidFill xmlns:ns0="http://schemas.openxmlformats.org/drawingml/2006/main">
          <ns0:srgbClr val="FCFBF8"/>
        </ns0:solidFill>
        <a:ln xmlns:a="http://schemas.openxmlformats.org/drawingml/2006/main" w="0">
          <a:noFill/>
          <a:prstDash val="solid"/>
        </a:ln>
      </c:spPr>
    </c:plotArea>
    <c:plotVisOnly val="1"/>
  </c:chart>
  <c:spPr>
    <ns0:solidFill xmlns:ns0="http://schemas.openxmlformats.org/drawingml/2006/main">
      <ns0:srgbClr val="FCFBF8"/>
    </ns0:solidFill>
    <a:ln xmlns:a="http://schemas.openxmlformats.org/drawingml/2006/main" w="0">
      <a:no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L = w²</c:v>
          </c:tx>
          <c:spPr>
            <a:ln xmlns:a="http://schemas.openxmlformats.org/drawingml/2006/main" w="20955">
              <a:solidFill>
                <a:srgbClr val="277A95"/>
              </a:solidFill>
              <a:prstDash val="solid"/>
            </a:ln>
          </c:spPr>
          <c:marker>
            <c:symbol val="none"/>
          </c:marker>
          <c:xVal>
            <c:numRef>
              <c:f>'Chart Data'!$A$2:$A$62</c:f>
              <c:numCache>
                <c:formatCode>General</c:formatCode>
                <c:ptCount val="61"/>
                <c:pt idx="0">
                  <c:v>-1.4</c:v>
                </c:pt>
                <c:pt idx="1">
                  <c:v>-1.35333333</c:v>
                </c:pt>
                <c:pt idx="2">
                  <c:v>-1.30666667</c:v>
                </c:pt>
                <c:pt idx="3">
                  <c:v>-1.26</c:v>
                </c:pt>
                <c:pt idx="4">
                  <c:v>-1.21333333</c:v>
                </c:pt>
                <c:pt idx="5">
                  <c:v>-1.16666667</c:v>
                </c:pt>
                <c:pt idx="6">
                  <c:v>-1.12</c:v>
                </c:pt>
                <c:pt idx="7">
                  <c:v>-1.07333333</c:v>
                </c:pt>
                <c:pt idx="8">
                  <c:v>-1.02666667</c:v>
                </c:pt>
                <c:pt idx="9">
                  <c:v>-0.98</c:v>
                </c:pt>
                <c:pt idx="10">
                  <c:v>-0.93333333</c:v>
                </c:pt>
                <c:pt idx="11">
                  <c:v>-0.88666667</c:v>
                </c:pt>
                <c:pt idx="12">
                  <c:v>-0.84</c:v>
                </c:pt>
                <c:pt idx="13">
                  <c:v>-0.79333333</c:v>
                </c:pt>
                <c:pt idx="14">
                  <c:v>-0.74666667</c:v>
                </c:pt>
                <c:pt idx="15">
                  <c:v>-0.7</c:v>
                </c:pt>
                <c:pt idx="16">
                  <c:v>-0.65333333</c:v>
                </c:pt>
                <c:pt idx="17">
                  <c:v>-0.60666667</c:v>
                </c:pt>
                <c:pt idx="18">
                  <c:v>-0.56</c:v>
                </c:pt>
                <c:pt idx="19">
                  <c:v>-0.51333333</c:v>
                </c:pt>
                <c:pt idx="20">
                  <c:v>-0.46666667</c:v>
                </c:pt>
                <c:pt idx="21">
                  <c:v>-0.42</c:v>
                </c:pt>
                <c:pt idx="22">
                  <c:v>-0.37333333</c:v>
                </c:pt>
                <c:pt idx="23">
                  <c:v>-0.32666667</c:v>
                </c:pt>
                <c:pt idx="24">
                  <c:v>-0.28</c:v>
                </c:pt>
                <c:pt idx="25">
                  <c:v>-0.23333333</c:v>
                </c:pt>
                <c:pt idx="26">
                  <c:v>-0.18666667</c:v>
                </c:pt>
                <c:pt idx="27">
                  <c:v>-0.14</c:v>
                </c:pt>
                <c:pt idx="28">
                  <c:v>-0.09333333</c:v>
                </c:pt>
                <c:pt idx="29">
                  <c:v>-0.04666667</c:v>
                </c:pt>
                <c:pt idx="30">
                  <c:v>0</c:v>
                </c:pt>
                <c:pt idx="31">
                  <c:v>0.04666667</c:v>
                </c:pt>
                <c:pt idx="32">
                  <c:v>0.09333333</c:v>
                </c:pt>
                <c:pt idx="33">
                  <c:v>0.14</c:v>
                </c:pt>
                <c:pt idx="34">
                  <c:v>0.18666667</c:v>
                </c:pt>
                <c:pt idx="35">
                  <c:v>0.23333333</c:v>
                </c:pt>
                <c:pt idx="36">
                  <c:v>0.28</c:v>
                </c:pt>
                <c:pt idx="37">
                  <c:v>0.32666667</c:v>
                </c:pt>
                <c:pt idx="38">
                  <c:v>0.37333333</c:v>
                </c:pt>
                <c:pt idx="39">
                  <c:v>0.42</c:v>
                </c:pt>
                <c:pt idx="40">
                  <c:v>0.46666667</c:v>
                </c:pt>
                <c:pt idx="41">
                  <c:v>0.51333333</c:v>
                </c:pt>
                <c:pt idx="42">
                  <c:v>0.56</c:v>
                </c:pt>
                <c:pt idx="43">
                  <c:v>0.60666667</c:v>
                </c:pt>
                <c:pt idx="44">
                  <c:v>0.65333333</c:v>
                </c:pt>
                <c:pt idx="45">
                  <c:v>0.7</c:v>
                </c:pt>
                <c:pt idx="46">
                  <c:v>0.74666667</c:v>
                </c:pt>
                <c:pt idx="47">
                  <c:v>0.79333333</c:v>
                </c:pt>
                <c:pt idx="48">
                  <c:v>0.84</c:v>
                </c:pt>
                <c:pt idx="49">
                  <c:v>0.88666667</c:v>
                </c:pt>
                <c:pt idx="50">
                  <c:v>0.93333333</c:v>
                </c:pt>
                <c:pt idx="51">
                  <c:v>0.98</c:v>
                </c:pt>
                <c:pt idx="52">
                  <c:v>1.02666667</c:v>
                </c:pt>
                <c:pt idx="53">
                  <c:v>1.07333333</c:v>
                </c:pt>
                <c:pt idx="54">
                  <c:v>1.12</c:v>
                </c:pt>
                <c:pt idx="55">
                  <c:v>1.16666667</c:v>
                </c:pt>
                <c:pt idx="56">
                  <c:v>1.21333333</c:v>
                </c:pt>
                <c:pt idx="57">
                  <c:v>1.26</c:v>
                </c:pt>
                <c:pt idx="58">
                  <c:v>1.30666667</c:v>
                </c:pt>
                <c:pt idx="59">
                  <c:v>1.35333333</c:v>
                </c:pt>
                <c:pt idx="60">
                  <c:v>1.4</c:v>
                </c:pt>
              </c:numCache>
            </c:numRef>
          </c:xVal>
          <c:yVal>
            <c:numRef>
              <c:f>'Chart Data'!$B$2:$B$62</c:f>
              <c:numCache>
                <c:formatCode>0.0</c:formatCode>
                <c:ptCount val="61"/>
                <c:pt idx="0">
                  <c:v>1.96</c:v>
                </c:pt>
                <c:pt idx="1">
                  <c:v>1.8315111</c:v>
                </c:pt>
                <c:pt idx="2">
                  <c:v>1.70737779</c:v>
                </c:pt>
                <c:pt idx="3">
                  <c:v>1.5876</c:v>
                </c:pt>
                <c:pt idx="4">
                  <c:v>1.47217777</c:v>
                </c:pt>
                <c:pt idx="5">
                  <c:v>1.36111112</c:v>
                </c:pt>
                <c:pt idx="6">
                  <c:v>1.2544</c:v>
                </c:pt>
                <c:pt idx="7">
                  <c:v>1.15204444</c:v>
                </c:pt>
                <c:pt idx="8">
                  <c:v>1.05404445</c:v>
                </c:pt>
                <c:pt idx="9">
                  <c:v>0.9604</c:v>
                </c:pt>
                <c:pt idx="10">
                  <c:v>0.8711111</c:v>
                </c:pt>
                <c:pt idx="11">
                  <c:v>0.78617778</c:v>
                </c:pt>
                <c:pt idx="12">
                  <c:v>0.7056</c:v>
                </c:pt>
                <c:pt idx="13">
                  <c:v>0.62937777</c:v>
                </c:pt>
                <c:pt idx="14">
                  <c:v>0.55751112</c:v>
                </c:pt>
                <c:pt idx="15">
                  <c:v>0.49</c:v>
                </c:pt>
                <c:pt idx="16">
                  <c:v>0.42684444</c:v>
                </c:pt>
                <c:pt idx="17">
                  <c:v>0.36804445</c:v>
                </c:pt>
                <c:pt idx="18">
                  <c:v>0.3136</c:v>
                </c:pt>
                <c:pt idx="19">
                  <c:v>0.26351111</c:v>
                </c:pt>
                <c:pt idx="20">
                  <c:v>0.21777778</c:v>
                </c:pt>
                <c:pt idx="21">
                  <c:v>0.1764</c:v>
                </c:pt>
                <c:pt idx="22">
                  <c:v>0.13937778</c:v>
                </c:pt>
                <c:pt idx="23">
                  <c:v>0.10671111</c:v>
                </c:pt>
                <c:pt idx="24">
                  <c:v>0.0784</c:v>
                </c:pt>
                <c:pt idx="25">
                  <c:v>0.05444444</c:v>
                </c:pt>
                <c:pt idx="26">
                  <c:v>0.03484445</c:v>
                </c:pt>
                <c:pt idx="27">
                  <c:v>0.0196</c:v>
                </c:pt>
                <c:pt idx="28">
                  <c:v>0.00871111</c:v>
                </c:pt>
                <c:pt idx="29">
                  <c:v>0.00217778</c:v>
                </c:pt>
                <c:pt idx="30">
                  <c:v>0</c:v>
                </c:pt>
                <c:pt idx="31">
                  <c:v>0.00217778</c:v>
                </c:pt>
                <c:pt idx="32">
                  <c:v>0.00871111</c:v>
                </c:pt>
                <c:pt idx="33">
                  <c:v>0.0196</c:v>
                </c:pt>
                <c:pt idx="34">
                  <c:v>0.03484445</c:v>
                </c:pt>
                <c:pt idx="35">
                  <c:v>0.05444444</c:v>
                </c:pt>
                <c:pt idx="36">
                  <c:v>0.0784</c:v>
                </c:pt>
                <c:pt idx="37">
                  <c:v>0.10671111</c:v>
                </c:pt>
                <c:pt idx="38">
                  <c:v>0.13937778</c:v>
                </c:pt>
                <c:pt idx="39">
                  <c:v>0.1764</c:v>
                </c:pt>
                <c:pt idx="40">
                  <c:v>0.21777778</c:v>
                </c:pt>
                <c:pt idx="41">
                  <c:v>0.26351111</c:v>
                </c:pt>
                <c:pt idx="42">
                  <c:v>0.3136</c:v>
                </c:pt>
                <c:pt idx="43">
                  <c:v>0.36804445</c:v>
                </c:pt>
                <c:pt idx="44">
                  <c:v>0.42684444</c:v>
                </c:pt>
                <c:pt idx="45">
                  <c:v>0.49</c:v>
                </c:pt>
                <c:pt idx="46">
                  <c:v>0.55751112</c:v>
                </c:pt>
                <c:pt idx="47">
                  <c:v>0.62937777</c:v>
                </c:pt>
                <c:pt idx="48">
                  <c:v>0.7056</c:v>
                </c:pt>
                <c:pt idx="49">
                  <c:v>0.78617778</c:v>
                </c:pt>
                <c:pt idx="50">
                  <c:v>0.8711111</c:v>
                </c:pt>
                <c:pt idx="51">
                  <c:v>0.9604</c:v>
                </c:pt>
                <c:pt idx="52">
                  <c:v>1.05404445</c:v>
                </c:pt>
                <c:pt idx="53">
                  <c:v>1.15204444</c:v>
                </c:pt>
                <c:pt idx="54">
                  <c:v>1.2544</c:v>
                </c:pt>
                <c:pt idx="55">
                  <c:v>1.36111112</c:v>
                </c:pt>
                <c:pt idx="56">
                  <c:v>1.47217777</c:v>
                </c:pt>
                <c:pt idx="57">
                  <c:v>1.5876</c:v>
                </c:pt>
                <c:pt idx="58">
                  <c:v>1.70737779</c:v>
                </c:pt>
                <c:pt idx="59">
                  <c:v>1.8315111</c:v>
                </c:pt>
                <c:pt idx="60">
                  <c:v>1.96</c:v>
                </c:pt>
              </c:numCache>
            </c:numRef>
          </c:yVal>
        </c:ser>
        <c:ser>
          <c:idx val="1"/>
          <c:order val="1"/>
          <c:tx>
            <c:v>One update</c:v>
          </c:tx>
          <c:spPr>
            <a:solidFill xmlns:a="http://schemas.openxmlformats.org/drawingml/2006/main">
              <a:srgbClr val="277A95"/>
            </a:solidFill>
            <a:ln xmlns:a="http://schemas.openxmlformats.org/drawingml/2006/main" w="14288">
              <a:solidFill>
                <a:srgbClr val="277A95"/>
              </a:solidFill>
              <a:prstDash val="solid"/>
            </a:ln>
          </c:spPr>
          <c:marker>
            <c:symbol val="circle"/>
            <c:size val="7"/>
            <c:spPr>
              <a:solidFill xmlns:a="http://schemas.openxmlformats.org/drawingml/2006/main">
                <a:srgbClr val="277A95"/>
              </a:solidFill>
            </c:spPr>
          </c:marker>
          <c:xVal>
            <c:numRef>
              <c:f>'Chart Data'!$C$2:$C$3</c:f>
              <c:numCache>
                <c:formatCode>General</c:formatCode>
                <c:ptCount val="2"/>
                <c:pt idx="0">
                  <c:v>1</c:v>
                </c:pt>
                <c:pt idx="1">
                  <c:v>0</c:v>
                </c:pt>
              </c:numCache>
            </c:numRef>
          </c:xVal>
          <c:yVal>
            <c:numRef>
              <c:f>'Chart Data'!$D$2:$D$3</c:f>
              <c:numCache>
                <c:formatCode>0.0</c:formatCode>
                <c:ptCount val="2"/>
                <c:pt idx="0">
                  <c:v>1</c:v>
                </c:pt>
                <c:pt idx="1">
                  <c:v>0</c:v>
                </c:pt>
              </c:numCache>
            </c:numRef>
          </c:yVal>
        </c:ser>
        <c:dLbls>
          <c:txPr>
            <a:bodyPr xmlns:a="http://schemas.openxmlformats.org/drawingml/2006/main" anchorCtr="1"/>
            <a:lstStyle xmlns:a="http://schemas.openxmlformats.org/drawingml/2006/main"/>
            <a:p xmlns:a="http://schemas.openxmlformats.org/drawingml/2006/main">
              <a:pPr>
                <a:defRPr>
                  <a:latin typeface="Chalkboard"/>
                  <a:ea typeface="Chalkboard"/>
                  <a:cs typeface="Chalkboard"/>
                </a:defRPr>
              </a:pPr>
            </a:p>
          </c:txPr>
          <c:showLegendKey val="0"/>
          <c:showVal val="0"/>
          <c:showCatName val="0"/>
          <c:showSerName val="0"/>
          <c:showPercent val="0"/>
          <c:showBubbleSize val="0"/>
          <c:showLeaderLines val="0"/>
        </c:dLbls>
        <c:axId val="48650112"/>
        <c:axId val="48672768"/>
      </c:scatterChart>
      <c:valAx>
        <c:axId val="48672768"/>
        <c:scaling>
          <c:orientation val="minMax"/>
          <c:max val="2.2"/>
          <c:min val="0"/>
        </c:scaling>
        <c:delete val="0"/>
        <c:axPos val="l"/>
        <c:title>
          <c:tx>
            <c:rich>
              <a:bodyPr xmlns:a="http://schemas.openxmlformats.org/drawingml/2006/main"/>
              <a:lstStyle xmlns:a="http://schemas.openxmlformats.org/drawingml/2006/main"/>
              <a:p xmlns:a="http://schemas.openxmlformats.org/drawingml/2006/main">
                <a:r>
                  <a:rPr sz="1050" b="1">
                    <a:solidFill>
                      <a:srgbClr val="272729"/>
                    </a:solidFill>
                    <a:latin typeface="Chalkboard"/>
                    <a:ea typeface="Chalkboard"/>
                    <a:cs typeface="Chalkboard"/>
                  </a:rPr>
                  <a:t>L</a:t>
                </a:r>
              </a:p>
            </c:rich>
          </c:tx>
          <c:overlay val="0"/>
          <c:txPr>
            <a:bodyPr xmlns:a="http://schemas.openxmlformats.org/drawingml/2006/main" anchorCtr="1"/>
            <a:lstStyle xmlns:a="http://schemas.openxmlformats.org/drawingml/2006/main"/>
            <a:p xmlns:a="http://schemas.openxmlformats.org/drawingml/2006/main">
              <a:pPr>
                <a:defRPr sz="1050" b="1">
                  <a:solidFill>
                    <a:srgbClr val="272729"/>
                  </a:solidFill>
                  <a:latin typeface="Chalkboard"/>
                  <a:ea typeface="Chalkboard"/>
                  <a:cs typeface="Chalkboard"/>
                </a:defRPr>
              </a:pPr>
            </a:p>
          </c:txPr>
        </c:title>
        <c:numFmt formatCode="0.0"/>
        <c:majorTickMark val="none"/>
        <c:minorTickMark val="none"/>
        <c:spPr>
          <a:ln xmlns:a="http://schemas.openxmlformats.org/drawingml/2006/main" w="9525">
            <a:solidFill>
              <a:srgbClr val="858078"/>
            </a:solidFill>
            <a:prstDash val="solid"/>
          </a:ln>
        </c:spPr>
        <c:txPr>
          <a:bodyPr xmlns:a="http://schemas.openxmlformats.org/drawingml/2006/main" anchorCtr="1"/>
          <a:lstStyle xmlns:a="http://schemas.openxmlformats.org/drawingml/2006/main"/>
          <a:p xmlns:a="http://schemas.openxmlformats.org/drawingml/2006/main">
            <a:pPr>
              <a:defRPr sz="900">
                <a:solidFill>
                  <a:srgbClr val="414447"/>
                </a:solidFill>
                <a:latin typeface="Chalkboard"/>
                <a:ea typeface="Chalkboard"/>
                <a:cs typeface="Chalkboard"/>
              </a:defRPr>
            </a:pPr>
          </a:p>
        </c:txPr>
        <c:crossAx val="48650112"/>
        <c:majorUnit val="1"/>
      </c:valAx>
      <c:valAx>
        <c:axId val="48650112"/>
        <c:scaling>
          <c:orientation val="minMax"/>
          <c:max val="1.5"/>
          <c:min val="-1.5"/>
        </c:scaling>
        <c:delete val="0"/>
        <c:axPos val="b"/>
        <c:title>
          <c:tx>
            <c:rich>
              <a:bodyPr xmlns:a="http://schemas.openxmlformats.org/drawingml/2006/main"/>
              <a:lstStyle xmlns:a="http://schemas.openxmlformats.org/drawingml/2006/main"/>
              <a:p xmlns:a="http://schemas.openxmlformats.org/drawingml/2006/main">
                <a:r>
                  <a:rPr sz="1050" b="1">
                    <a:solidFill>
                      <a:srgbClr val="272729"/>
                    </a:solidFill>
                    <a:latin typeface="Chalkboard"/>
                    <a:ea typeface="Chalkboard"/>
                    <a:cs typeface="Chalkboard"/>
                  </a:rPr>
                  <a:t>w</a:t>
                </a:r>
              </a:p>
            </c:rich>
          </c:tx>
          <c:overlay val="0"/>
          <c:txPr>
            <a:bodyPr xmlns:a="http://schemas.openxmlformats.org/drawingml/2006/main" anchorCtr="1"/>
            <a:lstStyle xmlns:a="http://schemas.openxmlformats.org/drawingml/2006/main"/>
            <a:p xmlns:a="http://schemas.openxmlformats.org/drawingml/2006/main">
              <a:pPr>
                <a:defRPr sz="1050" b="1">
                  <a:solidFill>
                    <a:srgbClr val="272729"/>
                  </a:solidFill>
                  <a:latin typeface="Chalkboard"/>
                  <a:ea typeface="Chalkboard"/>
                  <a:cs typeface="Chalkboard"/>
                </a:defRPr>
              </a:pPr>
            </a:p>
          </c:txPr>
        </c:title>
        <c:numFmt formatCode="0.0"/>
        <c:majorTickMark val="none"/>
        <c:minorTickMark val="none"/>
        <c:spPr>
          <a:ln xmlns:a="http://schemas.openxmlformats.org/drawingml/2006/main" w="9525">
            <a:solidFill>
              <a:srgbClr val="858078"/>
            </a:solidFill>
            <a:prstDash val="solid"/>
          </a:ln>
        </c:spPr>
        <c:txPr>
          <a:bodyPr xmlns:a="http://schemas.openxmlformats.org/drawingml/2006/main" anchorCtr="1"/>
          <a:lstStyle xmlns:a="http://schemas.openxmlformats.org/drawingml/2006/main"/>
          <a:p xmlns:a="http://schemas.openxmlformats.org/drawingml/2006/main">
            <a:pPr>
              <a:defRPr sz="900">
                <a:solidFill>
                  <a:srgbClr val="414447"/>
                </a:solidFill>
                <a:latin typeface="Chalkboard"/>
                <a:ea typeface="Chalkboard"/>
                <a:cs typeface="Chalkboard"/>
              </a:defRPr>
            </a:pPr>
          </a:p>
        </c:txPr>
        <c:crossAx val="48672768"/>
        <c:majorUnit val="1"/>
      </c:valAx>
      <c:spPr>
        <ns0:solidFill xmlns:ns0="http://schemas.openxmlformats.org/drawingml/2006/main">
          <ns0:srgbClr val="FCFBF8"/>
        </ns0:solidFill>
        <a:ln xmlns:a="http://schemas.openxmlformats.org/drawingml/2006/main" w="0">
          <a:noFill/>
          <a:prstDash val="solid"/>
        </a:ln>
      </c:spPr>
    </c:plotArea>
    <c:plotVisOnly val="1"/>
  </c:chart>
  <c:spPr>
    <ns0:solidFill xmlns:ns0="http://schemas.openxmlformats.org/drawingml/2006/main">
      <ns0:srgbClr val="FCFBF8"/>
    </ns0:solidFill>
    <a:ln xmlns:a="http://schemas.openxmlformats.org/drawingml/2006/main" w="0">
      <a:noFill/>
      <a:prstDash val="solid"/>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Marker"/>
        <c:ser>
          <c:idx val="0"/>
          <c:order val="0"/>
          <c:tx>
            <c:v>L = w²</c:v>
          </c:tx>
          <c:spPr>
            <a:ln xmlns:a="http://schemas.openxmlformats.org/drawingml/2006/main" w="20955">
              <a:solidFill>
                <a:srgbClr val="277A95"/>
              </a:solidFill>
              <a:prstDash val="solid"/>
            </a:ln>
          </c:spPr>
          <c:marker>
            <c:symbol val="none"/>
          </c:marker>
          <c:xVal>
            <c:numRef>
              <c:f>'Chart Data'!$A$2:$A$62</c:f>
              <c:numCache>
                <c:formatCode>General</c:formatCode>
                <c:ptCount val="61"/>
                <c:pt idx="0">
                  <c:v>-1.4</c:v>
                </c:pt>
                <c:pt idx="1">
                  <c:v>-1.35333333</c:v>
                </c:pt>
                <c:pt idx="2">
                  <c:v>-1.30666667</c:v>
                </c:pt>
                <c:pt idx="3">
                  <c:v>-1.26</c:v>
                </c:pt>
                <c:pt idx="4">
                  <c:v>-1.21333333</c:v>
                </c:pt>
                <c:pt idx="5">
                  <c:v>-1.16666667</c:v>
                </c:pt>
                <c:pt idx="6">
                  <c:v>-1.12</c:v>
                </c:pt>
                <c:pt idx="7">
                  <c:v>-1.07333333</c:v>
                </c:pt>
                <c:pt idx="8">
                  <c:v>-1.02666667</c:v>
                </c:pt>
                <c:pt idx="9">
                  <c:v>-0.98</c:v>
                </c:pt>
                <c:pt idx="10">
                  <c:v>-0.93333333</c:v>
                </c:pt>
                <c:pt idx="11">
                  <c:v>-0.88666667</c:v>
                </c:pt>
                <c:pt idx="12">
                  <c:v>-0.84</c:v>
                </c:pt>
                <c:pt idx="13">
                  <c:v>-0.79333333</c:v>
                </c:pt>
                <c:pt idx="14">
                  <c:v>-0.74666667</c:v>
                </c:pt>
                <c:pt idx="15">
                  <c:v>-0.7</c:v>
                </c:pt>
                <c:pt idx="16">
                  <c:v>-0.65333333</c:v>
                </c:pt>
                <c:pt idx="17">
                  <c:v>-0.60666667</c:v>
                </c:pt>
                <c:pt idx="18">
                  <c:v>-0.56</c:v>
                </c:pt>
                <c:pt idx="19">
                  <c:v>-0.51333333</c:v>
                </c:pt>
                <c:pt idx="20">
                  <c:v>-0.46666667</c:v>
                </c:pt>
                <c:pt idx="21">
                  <c:v>-0.42</c:v>
                </c:pt>
                <c:pt idx="22">
                  <c:v>-0.37333333</c:v>
                </c:pt>
                <c:pt idx="23">
                  <c:v>-0.32666667</c:v>
                </c:pt>
                <c:pt idx="24">
                  <c:v>-0.28</c:v>
                </c:pt>
                <c:pt idx="25">
                  <c:v>-0.23333333</c:v>
                </c:pt>
                <c:pt idx="26">
                  <c:v>-0.18666667</c:v>
                </c:pt>
                <c:pt idx="27">
                  <c:v>-0.14</c:v>
                </c:pt>
                <c:pt idx="28">
                  <c:v>-0.09333333</c:v>
                </c:pt>
                <c:pt idx="29">
                  <c:v>-0.04666667</c:v>
                </c:pt>
                <c:pt idx="30">
                  <c:v>0</c:v>
                </c:pt>
                <c:pt idx="31">
                  <c:v>0.04666667</c:v>
                </c:pt>
                <c:pt idx="32">
                  <c:v>0.09333333</c:v>
                </c:pt>
                <c:pt idx="33">
                  <c:v>0.14</c:v>
                </c:pt>
                <c:pt idx="34">
                  <c:v>0.18666667</c:v>
                </c:pt>
                <c:pt idx="35">
                  <c:v>0.23333333</c:v>
                </c:pt>
                <c:pt idx="36">
                  <c:v>0.28</c:v>
                </c:pt>
                <c:pt idx="37">
                  <c:v>0.32666667</c:v>
                </c:pt>
                <c:pt idx="38">
                  <c:v>0.37333333</c:v>
                </c:pt>
                <c:pt idx="39">
                  <c:v>0.42</c:v>
                </c:pt>
                <c:pt idx="40">
                  <c:v>0.46666667</c:v>
                </c:pt>
                <c:pt idx="41">
                  <c:v>0.51333333</c:v>
                </c:pt>
                <c:pt idx="42">
                  <c:v>0.56</c:v>
                </c:pt>
                <c:pt idx="43">
                  <c:v>0.60666667</c:v>
                </c:pt>
                <c:pt idx="44">
                  <c:v>0.65333333</c:v>
                </c:pt>
                <c:pt idx="45">
                  <c:v>0.7</c:v>
                </c:pt>
                <c:pt idx="46">
                  <c:v>0.74666667</c:v>
                </c:pt>
                <c:pt idx="47">
                  <c:v>0.79333333</c:v>
                </c:pt>
                <c:pt idx="48">
                  <c:v>0.84</c:v>
                </c:pt>
                <c:pt idx="49">
                  <c:v>0.88666667</c:v>
                </c:pt>
                <c:pt idx="50">
                  <c:v>0.93333333</c:v>
                </c:pt>
                <c:pt idx="51">
                  <c:v>0.98</c:v>
                </c:pt>
                <c:pt idx="52">
                  <c:v>1.02666667</c:v>
                </c:pt>
                <c:pt idx="53">
                  <c:v>1.07333333</c:v>
                </c:pt>
                <c:pt idx="54">
                  <c:v>1.12</c:v>
                </c:pt>
                <c:pt idx="55">
                  <c:v>1.16666667</c:v>
                </c:pt>
                <c:pt idx="56">
                  <c:v>1.21333333</c:v>
                </c:pt>
                <c:pt idx="57">
                  <c:v>1.26</c:v>
                </c:pt>
                <c:pt idx="58">
                  <c:v>1.30666667</c:v>
                </c:pt>
                <c:pt idx="59">
                  <c:v>1.35333333</c:v>
                </c:pt>
                <c:pt idx="60">
                  <c:v>1.4</c:v>
                </c:pt>
              </c:numCache>
            </c:numRef>
          </c:xVal>
          <c:yVal>
            <c:numRef>
              <c:f>'Chart Data'!$B$2:$B$62</c:f>
              <c:numCache>
                <c:formatCode>0.0</c:formatCode>
                <c:ptCount val="61"/>
                <c:pt idx="0">
                  <c:v>1.96</c:v>
                </c:pt>
                <c:pt idx="1">
                  <c:v>1.8315111</c:v>
                </c:pt>
                <c:pt idx="2">
                  <c:v>1.70737779</c:v>
                </c:pt>
                <c:pt idx="3">
                  <c:v>1.5876</c:v>
                </c:pt>
                <c:pt idx="4">
                  <c:v>1.47217777</c:v>
                </c:pt>
                <c:pt idx="5">
                  <c:v>1.36111112</c:v>
                </c:pt>
                <c:pt idx="6">
                  <c:v>1.2544</c:v>
                </c:pt>
                <c:pt idx="7">
                  <c:v>1.15204444</c:v>
                </c:pt>
                <c:pt idx="8">
                  <c:v>1.05404445</c:v>
                </c:pt>
                <c:pt idx="9">
                  <c:v>0.9604</c:v>
                </c:pt>
                <c:pt idx="10">
                  <c:v>0.8711111</c:v>
                </c:pt>
                <c:pt idx="11">
                  <c:v>0.78617778</c:v>
                </c:pt>
                <c:pt idx="12">
                  <c:v>0.7056</c:v>
                </c:pt>
                <c:pt idx="13">
                  <c:v>0.62937777</c:v>
                </c:pt>
                <c:pt idx="14">
                  <c:v>0.55751112</c:v>
                </c:pt>
                <c:pt idx="15">
                  <c:v>0.49</c:v>
                </c:pt>
                <c:pt idx="16">
                  <c:v>0.42684444</c:v>
                </c:pt>
                <c:pt idx="17">
                  <c:v>0.36804445</c:v>
                </c:pt>
                <c:pt idx="18">
                  <c:v>0.3136</c:v>
                </c:pt>
                <c:pt idx="19">
                  <c:v>0.26351111</c:v>
                </c:pt>
                <c:pt idx="20">
                  <c:v>0.21777778</c:v>
                </c:pt>
                <c:pt idx="21">
                  <c:v>0.1764</c:v>
                </c:pt>
                <c:pt idx="22">
                  <c:v>0.13937778</c:v>
                </c:pt>
                <c:pt idx="23">
                  <c:v>0.10671111</c:v>
                </c:pt>
                <c:pt idx="24">
                  <c:v>0.0784</c:v>
                </c:pt>
                <c:pt idx="25">
                  <c:v>0.05444444</c:v>
                </c:pt>
                <c:pt idx="26">
                  <c:v>0.03484445</c:v>
                </c:pt>
                <c:pt idx="27">
                  <c:v>0.0196</c:v>
                </c:pt>
                <c:pt idx="28">
                  <c:v>0.00871111</c:v>
                </c:pt>
                <c:pt idx="29">
                  <c:v>0.00217778</c:v>
                </c:pt>
                <c:pt idx="30">
                  <c:v>0</c:v>
                </c:pt>
                <c:pt idx="31">
                  <c:v>0.00217778</c:v>
                </c:pt>
                <c:pt idx="32">
                  <c:v>0.00871111</c:v>
                </c:pt>
                <c:pt idx="33">
                  <c:v>0.0196</c:v>
                </c:pt>
                <c:pt idx="34">
                  <c:v>0.03484445</c:v>
                </c:pt>
                <c:pt idx="35">
                  <c:v>0.05444444</c:v>
                </c:pt>
                <c:pt idx="36">
                  <c:v>0.0784</c:v>
                </c:pt>
                <c:pt idx="37">
                  <c:v>0.10671111</c:v>
                </c:pt>
                <c:pt idx="38">
                  <c:v>0.13937778</c:v>
                </c:pt>
                <c:pt idx="39">
                  <c:v>0.1764</c:v>
                </c:pt>
                <c:pt idx="40">
                  <c:v>0.21777778</c:v>
                </c:pt>
                <c:pt idx="41">
                  <c:v>0.26351111</c:v>
                </c:pt>
                <c:pt idx="42">
                  <c:v>0.3136</c:v>
                </c:pt>
                <c:pt idx="43">
                  <c:v>0.36804445</c:v>
                </c:pt>
                <c:pt idx="44">
                  <c:v>0.42684444</c:v>
                </c:pt>
                <c:pt idx="45">
                  <c:v>0.49</c:v>
                </c:pt>
                <c:pt idx="46">
                  <c:v>0.55751112</c:v>
                </c:pt>
                <c:pt idx="47">
                  <c:v>0.62937777</c:v>
                </c:pt>
                <c:pt idx="48">
                  <c:v>0.7056</c:v>
                </c:pt>
                <c:pt idx="49">
                  <c:v>0.78617778</c:v>
                </c:pt>
                <c:pt idx="50">
                  <c:v>0.8711111</c:v>
                </c:pt>
                <c:pt idx="51">
                  <c:v>0.9604</c:v>
                </c:pt>
                <c:pt idx="52">
                  <c:v>1.05404445</c:v>
                </c:pt>
                <c:pt idx="53">
                  <c:v>1.15204444</c:v>
                </c:pt>
                <c:pt idx="54">
                  <c:v>1.2544</c:v>
                </c:pt>
                <c:pt idx="55">
                  <c:v>1.36111112</c:v>
                </c:pt>
                <c:pt idx="56">
                  <c:v>1.47217777</c:v>
                </c:pt>
                <c:pt idx="57">
                  <c:v>1.5876</c:v>
                </c:pt>
                <c:pt idx="58">
                  <c:v>1.70737779</c:v>
                </c:pt>
                <c:pt idx="59">
                  <c:v>1.8315111</c:v>
                </c:pt>
                <c:pt idx="60">
                  <c:v>1.96</c:v>
                </c:pt>
              </c:numCache>
            </c:numRef>
          </c:yVal>
        </c:ser>
        <c:ser>
          <c:idx val="1"/>
          <c:order val="1"/>
          <c:tx>
            <c:v>One update</c:v>
          </c:tx>
          <c:spPr>
            <a:solidFill xmlns:a="http://schemas.openxmlformats.org/drawingml/2006/main">
              <a:srgbClr val="A45E56"/>
            </a:solidFill>
            <a:ln xmlns:a="http://schemas.openxmlformats.org/drawingml/2006/main" w="14288">
              <a:solidFill>
                <a:srgbClr val="A45E56"/>
              </a:solidFill>
              <a:prstDash val="solid"/>
            </a:ln>
          </c:spPr>
          <c:marker>
            <c:symbol val="circle"/>
            <c:size val="7"/>
            <c:spPr>
              <a:solidFill xmlns:a="http://schemas.openxmlformats.org/drawingml/2006/main">
                <a:srgbClr val="A45E56"/>
              </a:solidFill>
            </c:spPr>
          </c:marker>
          <c:xVal>
            <c:numRef>
              <c:f>'Chart Data'!$C$2:$C$3</c:f>
              <c:numCache>
                <c:formatCode>General</c:formatCode>
                <c:ptCount val="2"/>
                <c:pt idx="0">
                  <c:v>1</c:v>
                </c:pt>
                <c:pt idx="1">
                  <c:v>-1.2</c:v>
                </c:pt>
              </c:numCache>
            </c:numRef>
          </c:xVal>
          <c:yVal>
            <c:numRef>
              <c:f>'Chart Data'!$D$2:$D$3</c:f>
              <c:numCache>
                <c:formatCode>0.0</c:formatCode>
                <c:ptCount val="2"/>
                <c:pt idx="0">
                  <c:v>1</c:v>
                </c:pt>
                <c:pt idx="1">
                  <c:v>1.44</c:v>
                </c:pt>
              </c:numCache>
            </c:numRef>
          </c:yVal>
        </c:ser>
        <c:dLbls>
          <c:txPr>
            <a:bodyPr xmlns:a="http://schemas.openxmlformats.org/drawingml/2006/main" anchorCtr="1"/>
            <a:lstStyle xmlns:a="http://schemas.openxmlformats.org/drawingml/2006/main"/>
            <a:p xmlns:a="http://schemas.openxmlformats.org/drawingml/2006/main">
              <a:pPr>
                <a:defRPr>
                  <a:latin typeface="Chalkboard"/>
                  <a:ea typeface="Chalkboard"/>
                  <a:cs typeface="Chalkboard"/>
                </a:defRPr>
              </a:pPr>
            </a:p>
          </c:txPr>
          <c:showLegendKey val="0"/>
          <c:showVal val="0"/>
          <c:showCatName val="0"/>
          <c:showSerName val="0"/>
          <c:showPercent val="0"/>
          <c:showBubbleSize val="0"/>
          <c:showLeaderLines val="0"/>
        </c:dLbls>
        <c:axId val="48650112"/>
        <c:axId val="48672768"/>
      </c:scatterChart>
      <c:valAx>
        <c:axId val="48672768"/>
        <c:scaling>
          <c:orientation val="minMax"/>
          <c:max val="2.2"/>
          <c:min val="0"/>
        </c:scaling>
        <c:delete val="0"/>
        <c:axPos val="l"/>
        <c:title>
          <c:tx>
            <c:rich>
              <a:bodyPr xmlns:a="http://schemas.openxmlformats.org/drawingml/2006/main"/>
              <a:lstStyle xmlns:a="http://schemas.openxmlformats.org/drawingml/2006/main"/>
              <a:p xmlns:a="http://schemas.openxmlformats.org/drawingml/2006/main">
                <a:r>
                  <a:rPr sz="1050" b="1">
                    <a:solidFill>
                      <a:srgbClr val="272729"/>
                    </a:solidFill>
                    <a:latin typeface="Chalkboard"/>
                    <a:ea typeface="Chalkboard"/>
                    <a:cs typeface="Chalkboard"/>
                  </a:rPr>
                  <a:t>L</a:t>
                </a:r>
              </a:p>
            </c:rich>
          </c:tx>
          <c:overlay val="0"/>
          <c:txPr>
            <a:bodyPr xmlns:a="http://schemas.openxmlformats.org/drawingml/2006/main" anchorCtr="1"/>
            <a:lstStyle xmlns:a="http://schemas.openxmlformats.org/drawingml/2006/main"/>
            <a:p xmlns:a="http://schemas.openxmlformats.org/drawingml/2006/main">
              <a:pPr>
                <a:defRPr sz="1050" b="1">
                  <a:solidFill>
                    <a:srgbClr val="272729"/>
                  </a:solidFill>
                  <a:latin typeface="Chalkboard"/>
                  <a:ea typeface="Chalkboard"/>
                  <a:cs typeface="Chalkboard"/>
                </a:defRPr>
              </a:pPr>
            </a:p>
          </c:txPr>
        </c:title>
        <c:numFmt formatCode="0.0"/>
        <c:majorTickMark val="none"/>
        <c:minorTickMark val="none"/>
        <c:spPr>
          <a:ln xmlns:a="http://schemas.openxmlformats.org/drawingml/2006/main" w="9525">
            <a:solidFill>
              <a:srgbClr val="858078"/>
            </a:solidFill>
            <a:prstDash val="solid"/>
          </a:ln>
        </c:spPr>
        <c:txPr>
          <a:bodyPr xmlns:a="http://schemas.openxmlformats.org/drawingml/2006/main" anchorCtr="1"/>
          <a:lstStyle xmlns:a="http://schemas.openxmlformats.org/drawingml/2006/main"/>
          <a:p xmlns:a="http://schemas.openxmlformats.org/drawingml/2006/main">
            <a:pPr>
              <a:defRPr sz="900">
                <a:solidFill>
                  <a:srgbClr val="414447"/>
                </a:solidFill>
                <a:latin typeface="Chalkboard"/>
                <a:ea typeface="Chalkboard"/>
                <a:cs typeface="Chalkboard"/>
              </a:defRPr>
            </a:pPr>
          </a:p>
        </c:txPr>
        <c:crossAx val="48650112"/>
        <c:majorUnit val="1"/>
      </c:valAx>
      <c:valAx>
        <c:axId val="48650112"/>
        <c:scaling>
          <c:orientation val="minMax"/>
          <c:max val="1.5"/>
          <c:min val="-1.5"/>
        </c:scaling>
        <c:delete val="0"/>
        <c:axPos val="b"/>
        <c:title>
          <c:tx>
            <c:rich>
              <a:bodyPr xmlns:a="http://schemas.openxmlformats.org/drawingml/2006/main"/>
              <a:lstStyle xmlns:a="http://schemas.openxmlformats.org/drawingml/2006/main"/>
              <a:p xmlns:a="http://schemas.openxmlformats.org/drawingml/2006/main">
                <a:r>
                  <a:rPr sz="1050" b="1">
                    <a:solidFill>
                      <a:srgbClr val="272729"/>
                    </a:solidFill>
                    <a:latin typeface="Chalkboard"/>
                    <a:ea typeface="Chalkboard"/>
                    <a:cs typeface="Chalkboard"/>
                  </a:rPr>
                  <a:t>w</a:t>
                </a:r>
              </a:p>
            </c:rich>
          </c:tx>
          <c:overlay val="0"/>
          <c:txPr>
            <a:bodyPr xmlns:a="http://schemas.openxmlformats.org/drawingml/2006/main" anchorCtr="1"/>
            <a:lstStyle xmlns:a="http://schemas.openxmlformats.org/drawingml/2006/main"/>
            <a:p xmlns:a="http://schemas.openxmlformats.org/drawingml/2006/main">
              <a:pPr>
                <a:defRPr sz="1050" b="1">
                  <a:solidFill>
                    <a:srgbClr val="272729"/>
                  </a:solidFill>
                  <a:latin typeface="Chalkboard"/>
                  <a:ea typeface="Chalkboard"/>
                  <a:cs typeface="Chalkboard"/>
                </a:defRPr>
              </a:pPr>
            </a:p>
          </c:txPr>
        </c:title>
        <c:numFmt formatCode="0.0"/>
        <c:majorTickMark val="none"/>
        <c:minorTickMark val="none"/>
        <c:spPr>
          <a:ln xmlns:a="http://schemas.openxmlformats.org/drawingml/2006/main" w="9525">
            <a:solidFill>
              <a:srgbClr val="858078"/>
            </a:solidFill>
            <a:prstDash val="solid"/>
          </a:ln>
        </c:spPr>
        <c:txPr>
          <a:bodyPr xmlns:a="http://schemas.openxmlformats.org/drawingml/2006/main" anchorCtr="1"/>
          <a:lstStyle xmlns:a="http://schemas.openxmlformats.org/drawingml/2006/main"/>
          <a:p xmlns:a="http://schemas.openxmlformats.org/drawingml/2006/main">
            <a:pPr>
              <a:defRPr sz="900">
                <a:solidFill>
                  <a:srgbClr val="414447"/>
                </a:solidFill>
                <a:latin typeface="Chalkboard"/>
                <a:ea typeface="Chalkboard"/>
                <a:cs typeface="Chalkboard"/>
              </a:defRPr>
            </a:pPr>
          </a:p>
        </c:txPr>
        <c:crossAx val="48672768"/>
        <c:majorUnit val="1"/>
      </c:valAx>
      <c:spPr>
        <ns0:solidFill xmlns:ns0="http://schemas.openxmlformats.org/drawingml/2006/main">
          <ns0:srgbClr val="FCFBF8"/>
        </ns0:solidFill>
        <a:ln xmlns:a="http://schemas.openxmlformats.org/drawingml/2006/main" w="0">
          <a:noFill/>
          <a:prstDash val="solid"/>
        </a:ln>
      </c:spPr>
    </c:plotArea>
    <c:plotVisOnly val="1"/>
  </c:chart>
  <c:spPr>
    <ns0:solidFill xmlns:ns0="http://schemas.openxmlformats.org/drawingml/2006/main">
      <ns0:srgbClr val="FCFBF8"/>
    </ns0: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DC38B75-E6B0-4558-AE1A-440AAAB36C64}"/>
              </a:ext>
            </a:extLst>
          </p:cNvPr>
          <p:cNvSpPr>
            <a:spLocks xmlns:a="http://schemas.openxmlformats.org/drawingml/2006/main" noGrp="1"/>
          </p:cNvSpPr>
          <p:nvPr/>
        </p:nvSpPr>
        <p:spPr>
          <a:xfrm xmlns:a="http://schemas.openxmlformats.org/drawingml/2006/main">
            <a:off x="609600" y="4191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1FE7C062-114D-42A6-853B-528C09FFBD0F}"/>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buNone/>
              <a:defRPr sz="1125" b="0">
                <a:solidFill>
                  <a:srgbClr val="616069"/>
                </a:solidFill>
                <a:latin typeface="Arial"/>
                <a:ea typeface="Arial"/>
                <a:cs typeface="Arial"/>
              </a:defRPr>
            </a:pPr>
            <a:r>
              <a:rPr sz="1125" b="0">
                <a:solidFill>
                  <a:srgbClr val="616069"/>
                </a:solidFill>
                <a:latin typeface="Arial"/>
                <a:ea typeface="Arial"/>
                <a:cs typeface="Arial"/>
              </a:rPr>
              <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393b89da6b44864"/>
          <a:stretch xmlns:a="http://schemas.openxmlformats.org/drawingml/2006/main"/>
        </p:blipFill>
        <p:spPr>
          <a:xfrm xmlns:a="http://schemas.openxmlformats.org/drawingml/2006/main">
            <a:off x="6267450" y="666750"/>
            <a:ext cx="5476875" cy="5476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02311A5-4BF1-42DA-8C57-8604EE4AD878}"/>
              </a:ext>
            </a:extLst>
          </p:cNvPr>
          <p:cNvSpPr>
            <a:spLocks xmlns:a="http://schemas.openxmlformats.org/drawingml/2006/main" noGrp="1"/>
          </p:cNvSpPr>
          <p:nvPr/>
        </p:nvSpPr>
        <p:spPr>
          <a:xfrm xmlns:a="http://schemas.openxmlformats.org/drawingml/2006/main">
            <a:off x="638175" y="695325"/>
            <a:ext cx="5238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00" b="1">
                <a:solidFill>
                  <a:srgbClr val="277A95"/>
                </a:solidFill>
                <a:latin typeface="Arial"/>
                <a:ea typeface="Arial"/>
                <a:cs typeface="Arial"/>
              </a:defRPr>
            </a:pPr>
            <a:r>
              <a:rPr sz="1200" b="1">
                <a:solidFill>
                  <a:srgbClr val="277A95"/>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745E9097-655E-46BB-A57D-7BD2F4E4292A}"/>
              </a:ext>
            </a:extLst>
          </p:cNvPr>
          <p:cNvSpPr>
            <a:spLocks xmlns:a="http://schemas.openxmlformats.org/drawingml/2006/main" noGrp="1"/>
          </p:cNvSpPr>
          <p:nvPr/>
        </p:nvSpPr>
        <p:spPr>
          <a:xfrm xmlns:a="http://schemas.openxmlformats.org/drawingml/2006/main">
            <a:off x="685800" y="1866900"/>
            <a:ext cx="4953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2000"/>
              </a:lnSpc>
              <a:buNone/>
              <a:defRPr sz="3825" b="1">
                <a:solidFill>
                  <a:srgbClr val="272729"/>
                </a:solidFill>
                <a:latin typeface="Chalkboard"/>
                <a:ea typeface="Chalkboard"/>
                <a:cs typeface="Chalkboard"/>
              </a:defRPr>
            </a:pPr>
            <a:r>
              <a:rPr sz="3825" b="1">
                <a:solidFill>
                  <a:srgbClr val="272729"/>
                </a:solidFill>
                <a:latin typeface="Chalkboard"/>
                <a:ea typeface="Chalkboard"/>
                <a:cs typeface="Chalkboard"/>
              </a:rPr>
              <a:t>Gradient Descent</a:t>
            </a:r>
          </a:p>
          <a:p xmlns:a="http://schemas.openxmlformats.org/drawingml/2006/main">
            <a:pPr algn="l">
              <a:lnSpc>
                <a:spcPct val="92000"/>
              </a:lnSpc>
              <a:buNone/>
              <a:defRPr sz="3825" b="1">
                <a:solidFill>
                  <a:srgbClr val="272729"/>
                </a:solidFill>
                <a:latin typeface="Chalkboard"/>
                <a:ea typeface="Chalkboard"/>
                <a:cs typeface="Chalkboard"/>
              </a:defRPr>
            </a:pPr>
            <a:r>
              <a:rPr sz="3825" b="1">
                <a:solidFill>
                  <a:srgbClr val="272729"/>
                </a:solidFill>
                <a:latin typeface="Chalkboard"/>
                <a:ea typeface="Chalkboard"/>
                <a:cs typeface="Chalkboard"/>
              </a:rPr>
              <a:t>&amp; Backpropagation</a:t>
            </a:r>
          </a:p>
        </p:txBody>
      </p:sp>
      <p:sp>
        <p:nvSpPr>
          <p:cNvPr id="6" name="">
            <a:extLst xmlns:a="http://schemas.openxmlformats.org/drawingml/2006/main">
              <a:ext uri="{FF2B5EF4-FFF2-40B4-BE49-F238E27FC236}">
                <a16:creationId xmlns:a16="http://schemas.microsoft.com/office/drawing/2014/main" id="{1E903F5E-136F-476D-A6A3-CD7D89C9D69E}"/>
              </a:ext>
            </a:extLst>
          </p:cNvPr>
          <p:cNvSpPr>
            <a:spLocks xmlns:a="http://schemas.openxmlformats.org/drawingml/2006/main" noGrp="1"/>
          </p:cNvSpPr>
          <p:nvPr/>
        </p:nvSpPr>
        <p:spPr>
          <a:xfrm xmlns:a="http://schemas.openxmlformats.org/drawingml/2006/main">
            <a:off x="695325" y="3810000"/>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800" b="0">
                <a:solidFill>
                  <a:srgbClr val="272729"/>
                </a:solidFill>
                <a:latin typeface="Arial"/>
                <a:ea typeface="Arial"/>
                <a:cs typeface="Arial"/>
              </a:defRPr>
            </a:pPr>
            <a:r>
              <a:rPr sz="1800" b="0">
                <a:solidFill>
                  <a:srgbClr val="272729"/>
                </a:solidFill>
                <a:latin typeface="Arial"/>
                <a:ea typeface="Arial"/>
                <a:cs typeface="Arial"/>
              </a:rPr>
              <a:t>How neural networks learn from error</a:t>
            </a:r>
          </a:p>
        </p:txBody>
      </p:sp>
      <p:sp>
        <p:nvSpPr>
          <p:cNvPr id="7" name="">
            <a:extLst xmlns:a="http://schemas.openxmlformats.org/drawingml/2006/main">
              <a:ext uri="{FF2B5EF4-FFF2-40B4-BE49-F238E27FC236}">
                <a16:creationId xmlns:a16="http://schemas.microsoft.com/office/drawing/2014/main" id="{4BD0B1E4-9E77-4A1C-9B45-F339E3E79F7B}"/>
              </a:ext>
            </a:extLst>
          </p:cNvPr>
          <p:cNvSpPr>
            <a:spLocks xmlns:a="http://schemas.openxmlformats.org/drawingml/2006/main" noGrp="1"/>
          </p:cNvSpPr>
          <p:nvPr/>
        </p:nvSpPr>
        <p:spPr>
          <a:xfrm xmlns:a="http://schemas.openxmlformats.org/drawingml/2006/main">
            <a:off x="628650" y="5857875"/>
            <a:ext cx="1090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00" b="0">
                <a:solidFill>
                  <a:srgbClr val="616069"/>
                </a:solidFill>
                <a:latin typeface="Arial"/>
                <a:ea typeface="Arial"/>
                <a:cs typeface="Arial"/>
              </a:defRPr>
            </a:pPr>
            <a:r>
              <a:rPr sz="1500" b="0">
                <a:solidFill>
                  <a:srgbClr val="616069"/>
                </a:solidFill>
                <a:latin typeface="Arial"/>
                <a:ea typeface="Arial"/>
                <a:cs typeface="Arial"/>
              </a:rPr>
              <a:t/>
            </a:r>
          </a:p>
        </p:txBody>
      </p:sp>
      <p:sp>
        <p:nvSpPr>
          <p:cNvPr id="10" name="cover-surface">
            <a:extLst xmlns:a="http://schemas.openxmlformats.org/drawingml/2006/main">
              <a:ext uri="{FF2B5EF4-FFF2-40B4-BE49-F238E27FC236}">
                <a16:creationId xmlns:a16="http://schemas.microsoft.com/office/drawing/2014/main" id="{13A9E6A0-F7D7-4DF4-BF57-BAD96A265280}"/>
              </a:ext>
            </a:extLst>
          </p:cNvPr>
          <p:cNvSpPr>
            <a:spLocks xmlns:a="http://schemas.openxmlformats.org/drawingml/2006/main" noGrp="1"/>
          </p:cNvSpPr>
          <p:nvPr/>
        </p:nvSpPr>
        <p:spPr>
          <a:xfrm xmlns:a="http://schemas.openxmlformats.org/drawingml/2006/main">
            <a:off x="209550" y="209550"/>
            <a:ext cx="11772900" cy="6438900"/>
          </a:xfrm>
          <a:prstGeom xmlns:a="http://schemas.openxmlformats.org/drawingml/2006/main" prst="roundRect">
            <a:avLst>
              <a:gd name="adj" fmla="val 2959"/>
            </a:avLst>
          </a:prstGeom>
          <a:noFill xmlns:a="http://schemas.openxmlformats.org/drawingml/2006/main"/>
          <a:ln xmlns:a="http://schemas.openxmlformats.org/drawingml/2006/main" w="9525">
            <a:solidFill>
              <a:srgbClr val="D8D2C8"/>
            </a:solidFill>
            <a:prstDash val="solid"/>
          </a:ln>
        </p:spPr>
      </p:sp>
      <p:sp>
        <p:nvSpPr>
          <p:cNvPr id="11" name="">
            <a:extLst xmlns:a="http://schemas.openxmlformats.org/drawingml/2006/main">
              <a:ext uri="{FF2B5EF4-FFF2-40B4-BE49-F238E27FC236}">
                <a16:creationId xmlns:a16="http://schemas.microsoft.com/office/drawing/2014/main" id="{19F603C4-57FE-422E-888B-CDADF8A88104}"/>
              </a:ext>
            </a:extLst>
          </p:cNvPr>
          <p:cNvSpPr>
            <a:spLocks xmlns:a="http://schemas.openxmlformats.org/drawingml/2006/main" noGrp="1"/>
          </p:cNvSpPr>
          <p:nvPr/>
        </p:nvSpPr>
        <p:spPr>
          <a:xfrm xmlns:a="http://schemas.openxmlformats.org/drawingml/2006/main">
            <a:off x="695325" y="3590925"/>
            <a:ext cx="3905250" cy="0"/>
          </a:xfrm>
          <a:prstGeom xmlns:a="http://schemas.openxmlformats.org/drawingml/2006/main" prst="line">
            <a:avLst/>
          </a:prstGeom>
          <a:noFill xmlns:a="http://schemas.openxmlformats.org/drawingml/2006/main"/>
          <a:ln xmlns:a="http://schemas.openxmlformats.org/drawingml/2006/main" w="11906">
            <a:solidFill>
              <a:srgbClr val="8E6F51"/>
            </a:solidFill>
            <a:prstDash val="solid"/>
          </a:ln>
        </p:spPr>
      </p:sp>
    </p:spTree>
    <p:extLst>
      <p:ext uri="{BB962C8B-B14F-4D97-AF65-F5344CB8AC3E}">
        <p14:creationId xmlns:p14="http://schemas.microsoft.com/office/powerpoint/2010/main" val="1561827468"/>
      </p:ext>
    </p:extLst>
  </p:cSld>
</p:sld>
</file>

<file path=ppt/slides/slide2.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4" name="">
            <a:extLst xmlns:a="http://schemas.openxmlformats.org/drawingml/2006/main">
              <a:ext uri="{FF2B5EF4-FFF2-40B4-BE49-F238E27FC236}">
                <a16:creationId xmlns:a16="http://schemas.microsoft.com/office/drawing/2014/main" id="{17EEE075-EC9E-4872-8D8E-D8F03B5B36C9}"/>
              </a:ext>
            </a:extLst>
          </p:cNvPr>
          <p:cNvSpPr>
            <a:spLocks xmlns:a="http://schemas.openxmlformats.org/drawingml/2006/main" noGrp="1"/>
          </p:cNvSpPr>
          <p:nvPr/>
        </p:nvSpPr>
        <p:spPr>
          <a:xfrm xmlns:a="http://schemas.openxmlformats.org/drawingml/2006/main">
            <a:off x="1017770" y="2508107"/>
            <a:ext cx="958711" cy="961190"/>
          </a:xfrm>
          <a:custGeom xmlns:a="http://schemas.openxmlformats.org/drawingml/2006/main">
            <a:pathLst>
              <a:path w="1011973" h="1011779">
                <a:moveTo>
                  <a:pt x="1011973" y="500129"/>
                </a:moveTo>
                <a:lnTo>
                  <a:pt x="1010946" y="550197"/>
                </a:lnTo>
                <a:lnTo>
                  <a:pt x="1002212" y="599507"/>
                </a:lnTo>
                <a:lnTo>
                  <a:pt x="988107" y="647405"/>
                </a:lnTo>
                <a:lnTo>
                  <a:pt x="970726" y="694031"/>
                </a:lnTo>
                <a:lnTo>
                  <a:pt x="950329" y="739443"/>
                </a:lnTo>
                <a:lnTo>
                  <a:pt x="925514" y="782709"/>
                </a:lnTo>
                <a:lnTo>
                  <a:pt x="894862" y="822047"/>
                </a:lnTo>
                <a:lnTo>
                  <a:pt x="858560" y="856085"/>
                </a:lnTo>
                <a:lnTo>
                  <a:pt x="818595" y="885166"/>
                </a:lnTo>
                <a:lnTo>
                  <a:pt x="777395" y="911383"/>
                </a:lnTo>
                <a:lnTo>
                  <a:pt x="736136" y="937037"/>
                </a:lnTo>
                <a:lnTo>
                  <a:pt x="694166" y="962600"/>
                </a:lnTo>
                <a:lnTo>
                  <a:pt x="649956" y="985882"/>
                </a:lnTo>
                <a:lnTo>
                  <a:pt x="602672" y="1003201"/>
                </a:lnTo>
                <a:lnTo>
                  <a:pt x="552997" y="1011779"/>
                </a:lnTo>
                <a:lnTo>
                  <a:pt x="502604" y="1011517"/>
                </a:lnTo>
                <a:lnTo>
                  <a:pt x="452900" y="1004788"/>
                </a:lnTo>
                <a:lnTo>
                  <a:pt x="404276" y="994460"/>
                </a:lnTo>
                <a:lnTo>
                  <a:pt x="356496" y="981783"/>
                </a:lnTo>
                <a:lnTo>
                  <a:pt x="309712" y="965813"/>
                </a:lnTo>
                <a:lnTo>
                  <a:pt x="264973" y="944706"/>
                </a:lnTo>
                <a:lnTo>
                  <a:pt x="223616" y="917665"/>
                </a:lnTo>
                <a:lnTo>
                  <a:pt x="186048" y="885854"/>
                </a:lnTo>
                <a:lnTo>
                  <a:pt x="151192" y="851542"/>
                </a:lnTo>
                <a:lnTo>
                  <a:pt x="117337" y="816310"/>
                </a:lnTo>
                <a:lnTo>
                  <a:pt x="83892" y="779904"/>
                </a:lnTo>
                <a:lnTo>
                  <a:pt x="52554" y="740687"/>
                </a:lnTo>
                <a:lnTo>
                  <a:pt x="26727" y="697244"/>
                </a:lnTo>
                <a:lnTo>
                  <a:pt x="9433" y="649731"/>
                </a:lnTo>
                <a:lnTo>
                  <a:pt x="1258" y="599853"/>
                </a:lnTo>
                <a:lnTo>
                  <a:pt x="0" y="549632"/>
                </a:lnTo>
                <a:lnTo>
                  <a:pt x="2323" y="500129"/>
                </a:lnTo>
                <a:lnTo>
                  <a:pt x="6158" y="451234"/>
                </a:lnTo>
                <a:lnTo>
                  <a:pt x="11962" y="402535"/>
                </a:lnTo>
                <a:lnTo>
                  <a:pt x="21933" y="354319"/>
                </a:lnTo>
                <a:lnTo>
                  <a:pt x="37931" y="307655"/>
                </a:lnTo>
                <a:lnTo>
                  <a:pt x="59897" y="263497"/>
                </a:lnTo>
                <a:lnTo>
                  <a:pt x="86021" y="221777"/>
                </a:lnTo>
                <a:lnTo>
                  <a:pt x="114392" y="181532"/>
                </a:lnTo>
                <a:lnTo>
                  <a:pt x="144630" y="142155"/>
                </a:lnTo>
                <a:lnTo>
                  <a:pt x="178080" y="104696"/>
                </a:lnTo>
                <a:lnTo>
                  <a:pt x="216464" y="71890"/>
                </a:lnTo>
                <a:lnTo>
                  <a:pt x="260191" y="46605"/>
                </a:lnTo>
                <a:lnTo>
                  <a:pt x="307790" y="29805"/>
                </a:lnTo>
                <a:lnTo>
                  <a:pt x="356870" y="19707"/>
                </a:lnTo>
                <a:lnTo>
                  <a:pt x="405699" y="12951"/>
                </a:lnTo>
                <a:lnTo>
                  <a:pt x="454034" y="6990"/>
                </a:lnTo>
                <a:lnTo>
                  <a:pt x="502604" y="1867"/>
                </a:lnTo>
                <a:lnTo>
                  <a:pt x="551863" y="0"/>
                </a:lnTo>
                <a:lnTo>
                  <a:pt x="601249" y="4210"/>
                </a:lnTo>
                <a:lnTo>
                  <a:pt x="649582" y="15608"/>
                </a:lnTo>
                <a:lnTo>
                  <a:pt x="696088" y="33018"/>
                </a:lnTo>
                <a:lnTo>
                  <a:pt x="740919" y="54274"/>
                </a:lnTo>
                <a:lnTo>
                  <a:pt x="784547" y="78172"/>
                </a:lnTo>
                <a:lnTo>
                  <a:pt x="826564" y="105384"/>
                </a:lnTo>
                <a:lnTo>
                  <a:pt x="865123" y="137611"/>
                </a:lnTo>
                <a:lnTo>
                  <a:pt x="897807" y="175795"/>
                </a:lnTo>
                <a:lnTo>
                  <a:pt x="923385" y="218973"/>
                </a:lnTo>
                <a:lnTo>
                  <a:pt x="942985" y="264741"/>
                </a:lnTo>
                <a:lnTo>
                  <a:pt x="959522" y="310868"/>
                </a:lnTo>
                <a:lnTo>
                  <a:pt x="975608" y="356645"/>
                </a:lnTo>
                <a:lnTo>
                  <a:pt x="991508" y="402880"/>
                </a:lnTo>
                <a:lnTo>
                  <a:pt x="1004788" y="450669"/>
                </a:lnTo>
                <a:lnTo>
                  <a:pt x="1011973" y="500129"/>
                </a:lnTo>
                <a:close/>
              </a:path>
            </a:pathLst>
          </a:custGeom>
          <a:solidFill xmlns:a="http://schemas.openxmlformats.org/drawingml/2006/main">
            <a:srgbClr val="F8F6F2"/>
          </a:solidFill>
          <a:ln xmlns:a="http://schemas.openxmlformats.org/drawingml/2006/main" w="19050">
            <a:solidFill>
              <a:srgbClr val="287B95"/>
            </a:solidFill>
          </a:ln>
        </p:spPr>
      </p:sp>
      <p:sp>
        <p:nvSpPr>
          <p:cNvPr id="5" name="">
            <a:extLst xmlns:a="http://schemas.openxmlformats.org/drawingml/2006/main">
              <a:ext uri="{FF2B5EF4-FFF2-40B4-BE49-F238E27FC236}">
                <a16:creationId xmlns:a16="http://schemas.microsoft.com/office/drawing/2014/main" id="{25457CF9-8EBA-484F-A976-4C0A0C732166}"/>
              </a:ext>
            </a:extLst>
          </p:cNvPr>
          <p:cNvSpPr>
            <a:spLocks xmlns:a="http://schemas.openxmlformats.org/drawingml/2006/main" noGrp="1"/>
          </p:cNvSpPr>
          <p:nvPr/>
        </p:nvSpPr>
        <p:spPr>
          <a:xfrm xmlns:a="http://schemas.openxmlformats.org/drawingml/2006/main">
            <a:off x="1060784" y="2693670"/>
            <a:ext cx="866274" cy="579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209" b="0">
                <a:solidFill>
                  <a:srgbClr val="287B95"/>
                </a:solidFill>
                <a:latin typeface="Chalkboard"/>
                <a:ea typeface="Chalkboard"/>
                <a:cs typeface="Chalkboard"/>
              </a:defRPr>
            </a:pPr>
            <a:r>
              <a:rPr sz="2209" b="0">
                <a:solidFill>
                  <a:srgbClr val="287B95"/>
                </a:solidFill>
                <a:latin typeface="Chalkboard"/>
                <a:ea typeface="Chalkboard"/>
                <a:cs typeface="Chalkboard"/>
              </a:rPr>
              <a:t>x</a:t>
            </a:r>
          </a:p>
        </p:txBody>
      </p:sp>
      <p:sp>
        <p:nvSpPr>
          <p:cNvPr id="6" name="">
            <a:extLst xmlns:a="http://schemas.openxmlformats.org/drawingml/2006/main">
              <a:ext uri="{FF2B5EF4-FFF2-40B4-BE49-F238E27FC236}">
                <a16:creationId xmlns:a16="http://schemas.microsoft.com/office/drawing/2014/main" id="{FB2786BD-7442-49B3-A4B1-B3A28EDE05E6}"/>
              </a:ext>
            </a:extLst>
          </p:cNvPr>
          <p:cNvSpPr>
            <a:spLocks xmlns:a="http://schemas.openxmlformats.org/drawingml/2006/main" noGrp="1"/>
          </p:cNvSpPr>
          <p:nvPr/>
        </p:nvSpPr>
        <p:spPr>
          <a:xfrm xmlns:a="http://schemas.openxmlformats.org/drawingml/2006/main">
            <a:off x="2035342" y="2975092"/>
            <a:ext cx="1786689" cy="15151"/>
          </a:xfrm>
          <a:custGeom xmlns:a="http://schemas.openxmlformats.org/drawingml/2006/main">
            <a:pathLst>
              <a:path w="1885950" h="15948">
                <a:moveTo>
                  <a:pt x="0" y="8566"/>
                </a:moveTo>
                <a:lnTo>
                  <a:pt x="148596" y="0"/>
                </a:lnTo>
                <a:lnTo>
                  <a:pt x="308878" y="3119"/>
                </a:lnTo>
                <a:lnTo>
                  <a:pt x="471718" y="8797"/>
                </a:lnTo>
                <a:lnTo>
                  <a:pt x="629620" y="9536"/>
                </a:lnTo>
                <a:lnTo>
                  <a:pt x="777927" y="681"/>
                </a:lnTo>
                <a:lnTo>
                  <a:pt x="939393" y="4984"/>
                </a:lnTo>
                <a:lnTo>
                  <a:pt x="1095184" y="3613"/>
                </a:lnTo>
                <a:lnTo>
                  <a:pt x="1264272" y="15538"/>
                </a:lnTo>
                <a:lnTo>
                  <a:pt x="1421782" y="15886"/>
                </a:lnTo>
                <a:lnTo>
                  <a:pt x="1579007" y="15948"/>
                </a:lnTo>
                <a:lnTo>
                  <a:pt x="1720637" y="415"/>
                </a:lnTo>
                <a:lnTo>
                  <a:pt x="1885950" y="8566"/>
                </a:lnTo>
              </a:path>
            </a:pathLst>
          </a:custGeom>
          <a:noFill xmlns:a="http://schemas.openxmlformats.org/drawingml/2006/main"/>
          <a:ln xmlns:a="http://schemas.openxmlformats.org/drawingml/2006/main" w="19050">
            <a:solidFill>
              <a:srgbClr val="287B95"/>
            </a:solidFill>
          </a:ln>
        </p:spPr>
      </p:sp>
      <p:sp>
        <p:nvSpPr>
          <p:cNvPr id="7" name="">
            <a:extLst xmlns:a="http://schemas.openxmlformats.org/drawingml/2006/main">
              <a:ext uri="{FF2B5EF4-FFF2-40B4-BE49-F238E27FC236}">
                <a16:creationId xmlns:a16="http://schemas.microsoft.com/office/drawing/2014/main" id="{61EE14F3-1EE6-458F-BEA3-EDB8C39B73B4}"/>
              </a:ext>
            </a:extLst>
          </p:cNvPr>
          <p:cNvSpPr>
            <a:spLocks xmlns:a="http://schemas.openxmlformats.org/drawingml/2006/main" noGrp="1"/>
          </p:cNvSpPr>
          <p:nvPr/>
        </p:nvSpPr>
        <p:spPr>
          <a:xfrm xmlns:a="http://schemas.openxmlformats.org/drawingml/2006/main">
            <a:off x="3732653" y="2939935"/>
            <a:ext cx="89379" cy="86590"/>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287B95"/>
            </a:solidFill>
          </a:ln>
        </p:spPr>
      </p:sp>
      <p:sp>
        <p:nvSpPr>
          <p:cNvPr id="8" name="">
            <a:extLst xmlns:a="http://schemas.openxmlformats.org/drawingml/2006/main">
              <a:ext uri="{FF2B5EF4-FFF2-40B4-BE49-F238E27FC236}">
                <a16:creationId xmlns:a16="http://schemas.microsoft.com/office/drawing/2014/main" id="{0EA83748-EE54-4D71-838E-41D3CFC4D564}"/>
              </a:ext>
            </a:extLst>
          </p:cNvPr>
          <p:cNvSpPr>
            <a:spLocks xmlns:a="http://schemas.openxmlformats.org/drawingml/2006/main" noGrp="1"/>
          </p:cNvSpPr>
          <p:nvPr/>
        </p:nvSpPr>
        <p:spPr>
          <a:xfrm xmlns:a="http://schemas.openxmlformats.org/drawingml/2006/main">
            <a:off x="3887301" y="2508107"/>
            <a:ext cx="958711" cy="961190"/>
          </a:xfrm>
          <a:custGeom xmlns:a="http://schemas.openxmlformats.org/drawingml/2006/main">
            <a:pathLst>
              <a:path w="1011973" h="1011779">
                <a:moveTo>
                  <a:pt x="1011973" y="500129"/>
                </a:moveTo>
                <a:lnTo>
                  <a:pt x="1010946" y="550197"/>
                </a:lnTo>
                <a:lnTo>
                  <a:pt x="1002212" y="599507"/>
                </a:lnTo>
                <a:lnTo>
                  <a:pt x="988107" y="647405"/>
                </a:lnTo>
                <a:lnTo>
                  <a:pt x="970726" y="694031"/>
                </a:lnTo>
                <a:lnTo>
                  <a:pt x="950329" y="739443"/>
                </a:lnTo>
                <a:lnTo>
                  <a:pt x="925514" y="782709"/>
                </a:lnTo>
                <a:lnTo>
                  <a:pt x="894862" y="822047"/>
                </a:lnTo>
                <a:lnTo>
                  <a:pt x="858560" y="856085"/>
                </a:lnTo>
                <a:lnTo>
                  <a:pt x="818595" y="885166"/>
                </a:lnTo>
                <a:lnTo>
                  <a:pt x="777395" y="911383"/>
                </a:lnTo>
                <a:lnTo>
                  <a:pt x="736136" y="937037"/>
                </a:lnTo>
                <a:lnTo>
                  <a:pt x="694166" y="962600"/>
                </a:lnTo>
                <a:lnTo>
                  <a:pt x="649956" y="985882"/>
                </a:lnTo>
                <a:lnTo>
                  <a:pt x="602672" y="1003201"/>
                </a:lnTo>
                <a:lnTo>
                  <a:pt x="552997" y="1011779"/>
                </a:lnTo>
                <a:lnTo>
                  <a:pt x="502604" y="1011517"/>
                </a:lnTo>
                <a:lnTo>
                  <a:pt x="452900" y="1004788"/>
                </a:lnTo>
                <a:lnTo>
                  <a:pt x="404276" y="994460"/>
                </a:lnTo>
                <a:lnTo>
                  <a:pt x="356496" y="981783"/>
                </a:lnTo>
                <a:lnTo>
                  <a:pt x="309712" y="965813"/>
                </a:lnTo>
                <a:lnTo>
                  <a:pt x="264973" y="944706"/>
                </a:lnTo>
                <a:lnTo>
                  <a:pt x="223616" y="917665"/>
                </a:lnTo>
                <a:lnTo>
                  <a:pt x="186048" y="885854"/>
                </a:lnTo>
                <a:lnTo>
                  <a:pt x="151192" y="851542"/>
                </a:lnTo>
                <a:lnTo>
                  <a:pt x="117337" y="816310"/>
                </a:lnTo>
                <a:lnTo>
                  <a:pt x="83892" y="779904"/>
                </a:lnTo>
                <a:lnTo>
                  <a:pt x="52554" y="740687"/>
                </a:lnTo>
                <a:lnTo>
                  <a:pt x="26727" y="697244"/>
                </a:lnTo>
                <a:lnTo>
                  <a:pt x="9433" y="649731"/>
                </a:lnTo>
                <a:lnTo>
                  <a:pt x="1258" y="599853"/>
                </a:lnTo>
                <a:lnTo>
                  <a:pt x="0" y="549632"/>
                </a:lnTo>
                <a:lnTo>
                  <a:pt x="2323" y="500129"/>
                </a:lnTo>
                <a:lnTo>
                  <a:pt x="6158" y="451234"/>
                </a:lnTo>
                <a:lnTo>
                  <a:pt x="11962" y="402535"/>
                </a:lnTo>
                <a:lnTo>
                  <a:pt x="21933" y="354319"/>
                </a:lnTo>
                <a:lnTo>
                  <a:pt x="37931" y="307655"/>
                </a:lnTo>
                <a:lnTo>
                  <a:pt x="59897" y="263497"/>
                </a:lnTo>
                <a:lnTo>
                  <a:pt x="86021" y="221777"/>
                </a:lnTo>
                <a:lnTo>
                  <a:pt x="114392" y="181532"/>
                </a:lnTo>
                <a:lnTo>
                  <a:pt x="144630" y="142155"/>
                </a:lnTo>
                <a:lnTo>
                  <a:pt x="178080" y="104696"/>
                </a:lnTo>
                <a:lnTo>
                  <a:pt x="216464" y="71890"/>
                </a:lnTo>
                <a:lnTo>
                  <a:pt x="260191" y="46605"/>
                </a:lnTo>
                <a:lnTo>
                  <a:pt x="307790" y="29805"/>
                </a:lnTo>
                <a:lnTo>
                  <a:pt x="356870" y="19707"/>
                </a:lnTo>
                <a:lnTo>
                  <a:pt x="405699" y="12951"/>
                </a:lnTo>
                <a:lnTo>
                  <a:pt x="454034" y="6990"/>
                </a:lnTo>
                <a:lnTo>
                  <a:pt x="502604" y="1867"/>
                </a:lnTo>
                <a:lnTo>
                  <a:pt x="551863" y="0"/>
                </a:lnTo>
                <a:lnTo>
                  <a:pt x="601249" y="4210"/>
                </a:lnTo>
                <a:lnTo>
                  <a:pt x="649582" y="15608"/>
                </a:lnTo>
                <a:lnTo>
                  <a:pt x="696088" y="33018"/>
                </a:lnTo>
                <a:lnTo>
                  <a:pt x="740919" y="54274"/>
                </a:lnTo>
                <a:lnTo>
                  <a:pt x="784547" y="78172"/>
                </a:lnTo>
                <a:lnTo>
                  <a:pt x="826564" y="105384"/>
                </a:lnTo>
                <a:lnTo>
                  <a:pt x="865123" y="137611"/>
                </a:lnTo>
                <a:lnTo>
                  <a:pt x="897807" y="175795"/>
                </a:lnTo>
                <a:lnTo>
                  <a:pt x="923385" y="218973"/>
                </a:lnTo>
                <a:lnTo>
                  <a:pt x="942985" y="264741"/>
                </a:lnTo>
                <a:lnTo>
                  <a:pt x="959522" y="310868"/>
                </a:lnTo>
                <a:lnTo>
                  <a:pt x="975608" y="356645"/>
                </a:lnTo>
                <a:lnTo>
                  <a:pt x="991508" y="402880"/>
                </a:lnTo>
                <a:lnTo>
                  <a:pt x="1004788" y="450669"/>
                </a:lnTo>
                <a:lnTo>
                  <a:pt x="1011973" y="500129"/>
                </a:lnTo>
                <a:close/>
              </a:path>
            </a:pathLst>
          </a:custGeom>
          <a:solidFill xmlns:a="http://schemas.openxmlformats.org/drawingml/2006/main">
            <a:srgbClr val="F8F6F2"/>
          </a:solidFill>
          <a:ln xmlns:a="http://schemas.openxmlformats.org/drawingml/2006/main" w="19050">
            <a:solidFill>
              <a:srgbClr val="287B95"/>
            </a:solidFill>
          </a:ln>
        </p:spPr>
      </p:sp>
      <p:sp>
        <p:nvSpPr>
          <p:cNvPr id="9" name="">
            <a:extLst xmlns:a="http://schemas.openxmlformats.org/drawingml/2006/main">
              <a:ext uri="{FF2B5EF4-FFF2-40B4-BE49-F238E27FC236}">
                <a16:creationId xmlns:a16="http://schemas.microsoft.com/office/drawing/2014/main" id="{7900D940-8693-4DD6-B946-5E2B0A6D4C6F}"/>
              </a:ext>
            </a:extLst>
          </p:cNvPr>
          <p:cNvSpPr>
            <a:spLocks xmlns:a="http://schemas.openxmlformats.org/drawingml/2006/main" noGrp="1"/>
          </p:cNvSpPr>
          <p:nvPr/>
        </p:nvSpPr>
        <p:spPr>
          <a:xfrm xmlns:a="http://schemas.openxmlformats.org/drawingml/2006/main">
            <a:off x="3930316" y="2693670"/>
            <a:ext cx="866274" cy="579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209" b="0">
                <a:solidFill>
                  <a:srgbClr val="287B95"/>
                </a:solidFill>
                <a:latin typeface="Chalkboard"/>
                <a:ea typeface="Chalkboard"/>
                <a:cs typeface="Chalkboard"/>
              </a:defRPr>
            </a:pPr>
            <a:r>
              <a:rPr sz="2209" b="0">
                <a:solidFill>
                  <a:srgbClr val="287B95"/>
                </a:solidFill>
                <a:latin typeface="Chalkboard"/>
                <a:ea typeface="Chalkboard"/>
                <a:cs typeface="Chalkboard"/>
              </a:rPr>
              <a:t>h</a:t>
            </a:r>
          </a:p>
        </p:txBody>
      </p:sp>
      <p:sp>
        <p:nvSpPr>
          <p:cNvPr id="10" name="">
            <a:extLst xmlns:a="http://schemas.openxmlformats.org/drawingml/2006/main">
              <a:ext uri="{FF2B5EF4-FFF2-40B4-BE49-F238E27FC236}">
                <a16:creationId xmlns:a16="http://schemas.microsoft.com/office/drawing/2014/main" id="{1F2B7DDE-F525-47CB-99EE-CA887B09CB58}"/>
              </a:ext>
            </a:extLst>
          </p:cNvPr>
          <p:cNvSpPr>
            <a:spLocks xmlns:a="http://schemas.openxmlformats.org/drawingml/2006/main" noGrp="1"/>
          </p:cNvSpPr>
          <p:nvPr/>
        </p:nvSpPr>
        <p:spPr>
          <a:xfrm xmlns:a="http://schemas.openxmlformats.org/drawingml/2006/main">
            <a:off x="4904874" y="2975421"/>
            <a:ext cx="1786689" cy="14258"/>
          </a:xfrm>
          <a:custGeom xmlns:a="http://schemas.openxmlformats.org/drawingml/2006/main">
            <a:pathLst>
              <a:path w="1885950" h="15008">
                <a:moveTo>
                  <a:pt x="0" y="8220"/>
                </a:moveTo>
                <a:lnTo>
                  <a:pt x="155664" y="6721"/>
                </a:lnTo>
                <a:lnTo>
                  <a:pt x="306702" y="597"/>
                </a:lnTo>
                <a:lnTo>
                  <a:pt x="473629" y="10362"/>
                </a:lnTo>
                <a:lnTo>
                  <a:pt x="628868" y="8438"/>
                </a:lnTo>
                <a:lnTo>
                  <a:pt x="792600" y="15008"/>
                </a:lnTo>
                <a:lnTo>
                  <a:pt x="943730" y="8975"/>
                </a:lnTo>
                <a:lnTo>
                  <a:pt x="1097768" y="5851"/>
                </a:lnTo>
                <a:lnTo>
                  <a:pt x="1249080" y="0"/>
                </a:lnTo>
                <a:lnTo>
                  <a:pt x="1408317" y="2075"/>
                </a:lnTo>
                <a:lnTo>
                  <a:pt x="1573714" y="10309"/>
                </a:lnTo>
                <a:lnTo>
                  <a:pt x="1724987" y="4420"/>
                </a:lnTo>
                <a:lnTo>
                  <a:pt x="1885950" y="8220"/>
                </a:lnTo>
              </a:path>
            </a:pathLst>
          </a:custGeom>
          <a:noFill xmlns:a="http://schemas.openxmlformats.org/drawingml/2006/main"/>
          <a:ln xmlns:a="http://schemas.openxmlformats.org/drawingml/2006/main" w="19050">
            <a:solidFill>
              <a:srgbClr val="287B95"/>
            </a:solidFill>
          </a:ln>
        </p:spPr>
      </p:sp>
      <p:sp>
        <p:nvSpPr>
          <p:cNvPr id="11" name="">
            <a:extLst xmlns:a="http://schemas.openxmlformats.org/drawingml/2006/main">
              <a:ext uri="{FF2B5EF4-FFF2-40B4-BE49-F238E27FC236}">
                <a16:creationId xmlns:a16="http://schemas.microsoft.com/office/drawing/2014/main" id="{5F3BA15B-0B00-43BD-BF31-441D1C62AA81}"/>
              </a:ext>
            </a:extLst>
          </p:cNvPr>
          <p:cNvSpPr>
            <a:spLocks xmlns:a="http://schemas.openxmlformats.org/drawingml/2006/main" noGrp="1"/>
          </p:cNvSpPr>
          <p:nvPr/>
        </p:nvSpPr>
        <p:spPr>
          <a:xfrm xmlns:a="http://schemas.openxmlformats.org/drawingml/2006/main">
            <a:off x="6602185" y="2939935"/>
            <a:ext cx="89379" cy="86590"/>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287B95"/>
            </a:solidFill>
          </a:ln>
        </p:spPr>
      </p:sp>
      <p:sp>
        <p:nvSpPr>
          <p:cNvPr id="12" name="">
            <a:extLst xmlns:a="http://schemas.openxmlformats.org/drawingml/2006/main">
              <a:ext uri="{FF2B5EF4-FFF2-40B4-BE49-F238E27FC236}">
                <a16:creationId xmlns:a16="http://schemas.microsoft.com/office/drawing/2014/main" id="{88947B65-3660-4EFE-AD82-DE5231F6F56F}"/>
              </a:ext>
            </a:extLst>
          </p:cNvPr>
          <p:cNvSpPr>
            <a:spLocks xmlns:a="http://schemas.openxmlformats.org/drawingml/2006/main" noGrp="1"/>
          </p:cNvSpPr>
          <p:nvPr/>
        </p:nvSpPr>
        <p:spPr>
          <a:xfrm xmlns:a="http://schemas.openxmlformats.org/drawingml/2006/main">
            <a:off x="6756833" y="2508107"/>
            <a:ext cx="958711" cy="961190"/>
          </a:xfrm>
          <a:custGeom xmlns:a="http://schemas.openxmlformats.org/drawingml/2006/main">
            <a:pathLst>
              <a:path w="1011973" h="1011779">
                <a:moveTo>
                  <a:pt x="1011973" y="500129"/>
                </a:moveTo>
                <a:lnTo>
                  <a:pt x="1010946" y="550197"/>
                </a:lnTo>
                <a:lnTo>
                  <a:pt x="1002212" y="599507"/>
                </a:lnTo>
                <a:lnTo>
                  <a:pt x="988107" y="647405"/>
                </a:lnTo>
                <a:lnTo>
                  <a:pt x="970726" y="694031"/>
                </a:lnTo>
                <a:lnTo>
                  <a:pt x="950329" y="739443"/>
                </a:lnTo>
                <a:lnTo>
                  <a:pt x="925514" y="782709"/>
                </a:lnTo>
                <a:lnTo>
                  <a:pt x="894862" y="822047"/>
                </a:lnTo>
                <a:lnTo>
                  <a:pt x="858560" y="856085"/>
                </a:lnTo>
                <a:lnTo>
                  <a:pt x="818595" y="885166"/>
                </a:lnTo>
                <a:lnTo>
                  <a:pt x="777395" y="911383"/>
                </a:lnTo>
                <a:lnTo>
                  <a:pt x="736136" y="937037"/>
                </a:lnTo>
                <a:lnTo>
                  <a:pt x="694166" y="962600"/>
                </a:lnTo>
                <a:lnTo>
                  <a:pt x="649956" y="985882"/>
                </a:lnTo>
                <a:lnTo>
                  <a:pt x="602672" y="1003201"/>
                </a:lnTo>
                <a:lnTo>
                  <a:pt x="552997" y="1011779"/>
                </a:lnTo>
                <a:lnTo>
                  <a:pt x="502604" y="1011517"/>
                </a:lnTo>
                <a:lnTo>
                  <a:pt x="452900" y="1004788"/>
                </a:lnTo>
                <a:lnTo>
                  <a:pt x="404276" y="994460"/>
                </a:lnTo>
                <a:lnTo>
                  <a:pt x="356496" y="981783"/>
                </a:lnTo>
                <a:lnTo>
                  <a:pt x="309712" y="965813"/>
                </a:lnTo>
                <a:lnTo>
                  <a:pt x="264973" y="944706"/>
                </a:lnTo>
                <a:lnTo>
                  <a:pt x="223616" y="917665"/>
                </a:lnTo>
                <a:lnTo>
                  <a:pt x="186048" y="885854"/>
                </a:lnTo>
                <a:lnTo>
                  <a:pt x="151192" y="851542"/>
                </a:lnTo>
                <a:lnTo>
                  <a:pt x="117337" y="816310"/>
                </a:lnTo>
                <a:lnTo>
                  <a:pt x="83892" y="779904"/>
                </a:lnTo>
                <a:lnTo>
                  <a:pt x="52554" y="740687"/>
                </a:lnTo>
                <a:lnTo>
                  <a:pt x="26727" y="697244"/>
                </a:lnTo>
                <a:lnTo>
                  <a:pt x="9433" y="649731"/>
                </a:lnTo>
                <a:lnTo>
                  <a:pt x="1258" y="599853"/>
                </a:lnTo>
                <a:lnTo>
                  <a:pt x="0" y="549632"/>
                </a:lnTo>
                <a:lnTo>
                  <a:pt x="2323" y="500129"/>
                </a:lnTo>
                <a:lnTo>
                  <a:pt x="6158" y="451234"/>
                </a:lnTo>
                <a:lnTo>
                  <a:pt x="11962" y="402535"/>
                </a:lnTo>
                <a:lnTo>
                  <a:pt x="21933" y="354319"/>
                </a:lnTo>
                <a:lnTo>
                  <a:pt x="37931" y="307655"/>
                </a:lnTo>
                <a:lnTo>
                  <a:pt x="59897" y="263497"/>
                </a:lnTo>
                <a:lnTo>
                  <a:pt x="86021" y="221777"/>
                </a:lnTo>
                <a:lnTo>
                  <a:pt x="114392" y="181532"/>
                </a:lnTo>
                <a:lnTo>
                  <a:pt x="144630" y="142155"/>
                </a:lnTo>
                <a:lnTo>
                  <a:pt x="178080" y="104696"/>
                </a:lnTo>
                <a:lnTo>
                  <a:pt x="216464" y="71890"/>
                </a:lnTo>
                <a:lnTo>
                  <a:pt x="260191" y="46605"/>
                </a:lnTo>
                <a:lnTo>
                  <a:pt x="307790" y="29805"/>
                </a:lnTo>
                <a:lnTo>
                  <a:pt x="356870" y="19707"/>
                </a:lnTo>
                <a:lnTo>
                  <a:pt x="405699" y="12951"/>
                </a:lnTo>
                <a:lnTo>
                  <a:pt x="454034" y="6990"/>
                </a:lnTo>
                <a:lnTo>
                  <a:pt x="502604" y="1867"/>
                </a:lnTo>
                <a:lnTo>
                  <a:pt x="551863" y="0"/>
                </a:lnTo>
                <a:lnTo>
                  <a:pt x="601249" y="4210"/>
                </a:lnTo>
                <a:lnTo>
                  <a:pt x="649582" y="15608"/>
                </a:lnTo>
                <a:lnTo>
                  <a:pt x="696088" y="33018"/>
                </a:lnTo>
                <a:lnTo>
                  <a:pt x="740919" y="54274"/>
                </a:lnTo>
                <a:lnTo>
                  <a:pt x="784547" y="78172"/>
                </a:lnTo>
                <a:lnTo>
                  <a:pt x="826564" y="105384"/>
                </a:lnTo>
                <a:lnTo>
                  <a:pt x="865123" y="137611"/>
                </a:lnTo>
                <a:lnTo>
                  <a:pt x="897807" y="175795"/>
                </a:lnTo>
                <a:lnTo>
                  <a:pt x="923385" y="218973"/>
                </a:lnTo>
                <a:lnTo>
                  <a:pt x="942985" y="264741"/>
                </a:lnTo>
                <a:lnTo>
                  <a:pt x="959522" y="310868"/>
                </a:lnTo>
                <a:lnTo>
                  <a:pt x="975608" y="356645"/>
                </a:lnTo>
                <a:lnTo>
                  <a:pt x="991508" y="402880"/>
                </a:lnTo>
                <a:lnTo>
                  <a:pt x="1004788" y="450669"/>
                </a:lnTo>
                <a:lnTo>
                  <a:pt x="1011973" y="500129"/>
                </a:lnTo>
                <a:close/>
              </a:path>
            </a:pathLst>
          </a:custGeom>
          <a:solidFill xmlns:a="http://schemas.openxmlformats.org/drawingml/2006/main">
            <a:srgbClr val="F8F6F2"/>
          </a:solidFill>
          <a:ln xmlns:a="http://schemas.openxmlformats.org/drawingml/2006/main" w="19050">
            <a:solidFill>
              <a:srgbClr val="287B95"/>
            </a:solidFill>
          </a:ln>
        </p:spPr>
      </p:sp>
      <p:sp>
        <p:nvSpPr>
          <p:cNvPr id="13" name="">
            <a:extLst xmlns:a="http://schemas.openxmlformats.org/drawingml/2006/main">
              <a:ext uri="{FF2B5EF4-FFF2-40B4-BE49-F238E27FC236}">
                <a16:creationId xmlns:a16="http://schemas.microsoft.com/office/drawing/2014/main" id="{90B789D3-B914-42E1-B94C-4AF856228B8E}"/>
              </a:ext>
            </a:extLst>
          </p:cNvPr>
          <p:cNvSpPr>
            <a:spLocks xmlns:a="http://schemas.openxmlformats.org/drawingml/2006/main" noGrp="1"/>
          </p:cNvSpPr>
          <p:nvPr/>
        </p:nvSpPr>
        <p:spPr>
          <a:xfrm xmlns:a="http://schemas.openxmlformats.org/drawingml/2006/main">
            <a:off x="6799847" y="2693670"/>
            <a:ext cx="866274" cy="579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209" b="0">
                <a:solidFill>
                  <a:srgbClr val="287B95"/>
                </a:solidFill>
                <a:latin typeface="Chalkboard"/>
                <a:ea typeface="Chalkboard"/>
                <a:cs typeface="Chalkboard"/>
              </a:defRPr>
            </a:pPr>
            <a:r>
              <a:rPr sz="2209" b="0">
                <a:solidFill>
                  <a:srgbClr val="287B95"/>
                </a:solidFill>
                <a:latin typeface="Chalkboard"/>
                <a:ea typeface="Chalkboard"/>
                <a:cs typeface="Chalkboard"/>
              </a:rPr>
              <a:t>ŷ</a:t>
            </a:r>
          </a:p>
        </p:txBody>
      </p:sp>
      <p:sp>
        <p:nvSpPr>
          <p:cNvPr id="14" name="">
            <a:extLst xmlns:a="http://schemas.openxmlformats.org/drawingml/2006/main">
              <a:ext uri="{FF2B5EF4-FFF2-40B4-BE49-F238E27FC236}">
                <a16:creationId xmlns:a16="http://schemas.microsoft.com/office/drawing/2014/main" id="{08472B61-4C8D-416B-88E4-6BCE864D0913}"/>
              </a:ext>
            </a:extLst>
          </p:cNvPr>
          <p:cNvSpPr>
            <a:spLocks xmlns:a="http://schemas.openxmlformats.org/drawingml/2006/main" noGrp="1"/>
          </p:cNvSpPr>
          <p:nvPr/>
        </p:nvSpPr>
        <p:spPr>
          <a:xfrm xmlns:a="http://schemas.openxmlformats.org/drawingml/2006/main">
            <a:off x="7774405" y="2980336"/>
            <a:ext cx="1786689" cy="10320"/>
          </a:xfrm>
          <a:custGeom xmlns:a="http://schemas.openxmlformats.org/drawingml/2006/main">
            <a:pathLst>
              <a:path w="1885950" h="10863">
                <a:moveTo>
                  <a:pt x="0" y="3046"/>
                </a:moveTo>
                <a:lnTo>
                  <a:pt x="160281" y="6165"/>
                </a:lnTo>
                <a:lnTo>
                  <a:pt x="318277" y="6998"/>
                </a:lnTo>
                <a:lnTo>
                  <a:pt x="476114" y="7672"/>
                </a:lnTo>
                <a:lnTo>
                  <a:pt x="633205" y="7600"/>
                </a:lnTo>
                <a:lnTo>
                  <a:pt x="782767" y="0"/>
                </a:lnTo>
                <a:lnTo>
                  <a:pt x="946990" y="7061"/>
                </a:lnTo>
                <a:lnTo>
                  <a:pt x="1101029" y="3937"/>
                </a:lnTo>
                <a:lnTo>
                  <a:pt x="1265117" y="10863"/>
                </a:lnTo>
                <a:lnTo>
                  <a:pt x="1419350" y="7933"/>
                </a:lnTo>
                <a:lnTo>
                  <a:pt x="1577168" y="8589"/>
                </a:lnTo>
                <a:lnTo>
                  <a:pt x="1725964" y="222"/>
                </a:lnTo>
                <a:lnTo>
                  <a:pt x="1885950" y="3046"/>
                </a:lnTo>
              </a:path>
            </a:pathLst>
          </a:custGeom>
          <a:noFill xmlns:a="http://schemas.openxmlformats.org/drawingml/2006/main"/>
          <a:ln xmlns:a="http://schemas.openxmlformats.org/drawingml/2006/main" w="19050">
            <a:solidFill>
              <a:srgbClr val="287B95"/>
            </a:solidFill>
          </a:ln>
        </p:spPr>
      </p:sp>
      <p:sp>
        <p:nvSpPr>
          <p:cNvPr id="15" name="">
            <a:extLst xmlns:a="http://schemas.openxmlformats.org/drawingml/2006/main">
              <a:ext uri="{FF2B5EF4-FFF2-40B4-BE49-F238E27FC236}">
                <a16:creationId xmlns:a16="http://schemas.microsoft.com/office/drawing/2014/main" id="{41EA79B5-AA9A-486D-95BB-B2E1F16F084A}"/>
              </a:ext>
            </a:extLst>
          </p:cNvPr>
          <p:cNvSpPr>
            <a:spLocks xmlns:a="http://schemas.openxmlformats.org/drawingml/2006/main" noGrp="1"/>
          </p:cNvSpPr>
          <p:nvPr/>
        </p:nvSpPr>
        <p:spPr>
          <a:xfrm xmlns:a="http://schemas.openxmlformats.org/drawingml/2006/main">
            <a:off x="9471716" y="2939935"/>
            <a:ext cx="89379" cy="86590"/>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287B95"/>
            </a:solidFill>
          </a:ln>
        </p:spPr>
      </p:sp>
      <p:sp>
        <p:nvSpPr>
          <p:cNvPr id="16" name="">
            <a:extLst xmlns:a="http://schemas.openxmlformats.org/drawingml/2006/main">
              <a:ext uri="{FF2B5EF4-FFF2-40B4-BE49-F238E27FC236}">
                <a16:creationId xmlns:a16="http://schemas.microsoft.com/office/drawing/2014/main" id="{ED21396A-2403-4E16-A816-993FBD1F4DA9}"/>
              </a:ext>
            </a:extLst>
          </p:cNvPr>
          <p:cNvSpPr>
            <a:spLocks xmlns:a="http://schemas.openxmlformats.org/drawingml/2006/main" noGrp="1"/>
          </p:cNvSpPr>
          <p:nvPr/>
        </p:nvSpPr>
        <p:spPr>
          <a:xfrm xmlns:a="http://schemas.openxmlformats.org/drawingml/2006/main">
            <a:off x="9626365" y="2508107"/>
            <a:ext cx="958711" cy="961190"/>
          </a:xfrm>
          <a:custGeom xmlns:a="http://schemas.openxmlformats.org/drawingml/2006/main">
            <a:pathLst>
              <a:path w="1011973" h="1011779">
                <a:moveTo>
                  <a:pt x="1011973" y="500129"/>
                </a:moveTo>
                <a:lnTo>
                  <a:pt x="1010946" y="550197"/>
                </a:lnTo>
                <a:lnTo>
                  <a:pt x="1002212" y="599507"/>
                </a:lnTo>
                <a:lnTo>
                  <a:pt x="988107" y="647405"/>
                </a:lnTo>
                <a:lnTo>
                  <a:pt x="970726" y="694031"/>
                </a:lnTo>
                <a:lnTo>
                  <a:pt x="950329" y="739443"/>
                </a:lnTo>
                <a:lnTo>
                  <a:pt x="925514" y="782709"/>
                </a:lnTo>
                <a:lnTo>
                  <a:pt x="894862" y="822047"/>
                </a:lnTo>
                <a:lnTo>
                  <a:pt x="858560" y="856085"/>
                </a:lnTo>
                <a:lnTo>
                  <a:pt x="818595" y="885166"/>
                </a:lnTo>
                <a:lnTo>
                  <a:pt x="777395" y="911383"/>
                </a:lnTo>
                <a:lnTo>
                  <a:pt x="736136" y="937037"/>
                </a:lnTo>
                <a:lnTo>
                  <a:pt x="694166" y="962600"/>
                </a:lnTo>
                <a:lnTo>
                  <a:pt x="649956" y="985882"/>
                </a:lnTo>
                <a:lnTo>
                  <a:pt x="602672" y="1003201"/>
                </a:lnTo>
                <a:lnTo>
                  <a:pt x="552997" y="1011779"/>
                </a:lnTo>
                <a:lnTo>
                  <a:pt x="502604" y="1011517"/>
                </a:lnTo>
                <a:lnTo>
                  <a:pt x="452900" y="1004788"/>
                </a:lnTo>
                <a:lnTo>
                  <a:pt x="404276" y="994460"/>
                </a:lnTo>
                <a:lnTo>
                  <a:pt x="356496" y="981783"/>
                </a:lnTo>
                <a:lnTo>
                  <a:pt x="309712" y="965813"/>
                </a:lnTo>
                <a:lnTo>
                  <a:pt x="264973" y="944706"/>
                </a:lnTo>
                <a:lnTo>
                  <a:pt x="223616" y="917665"/>
                </a:lnTo>
                <a:lnTo>
                  <a:pt x="186048" y="885854"/>
                </a:lnTo>
                <a:lnTo>
                  <a:pt x="151192" y="851542"/>
                </a:lnTo>
                <a:lnTo>
                  <a:pt x="117337" y="816310"/>
                </a:lnTo>
                <a:lnTo>
                  <a:pt x="83892" y="779904"/>
                </a:lnTo>
                <a:lnTo>
                  <a:pt x="52554" y="740687"/>
                </a:lnTo>
                <a:lnTo>
                  <a:pt x="26727" y="697244"/>
                </a:lnTo>
                <a:lnTo>
                  <a:pt x="9433" y="649731"/>
                </a:lnTo>
                <a:lnTo>
                  <a:pt x="1258" y="599853"/>
                </a:lnTo>
                <a:lnTo>
                  <a:pt x="0" y="549632"/>
                </a:lnTo>
                <a:lnTo>
                  <a:pt x="2323" y="500129"/>
                </a:lnTo>
                <a:lnTo>
                  <a:pt x="6158" y="451234"/>
                </a:lnTo>
                <a:lnTo>
                  <a:pt x="11962" y="402535"/>
                </a:lnTo>
                <a:lnTo>
                  <a:pt x="21933" y="354319"/>
                </a:lnTo>
                <a:lnTo>
                  <a:pt x="37931" y="307655"/>
                </a:lnTo>
                <a:lnTo>
                  <a:pt x="59897" y="263497"/>
                </a:lnTo>
                <a:lnTo>
                  <a:pt x="86021" y="221777"/>
                </a:lnTo>
                <a:lnTo>
                  <a:pt x="114392" y="181532"/>
                </a:lnTo>
                <a:lnTo>
                  <a:pt x="144630" y="142155"/>
                </a:lnTo>
                <a:lnTo>
                  <a:pt x="178080" y="104696"/>
                </a:lnTo>
                <a:lnTo>
                  <a:pt x="216464" y="71890"/>
                </a:lnTo>
                <a:lnTo>
                  <a:pt x="260191" y="46605"/>
                </a:lnTo>
                <a:lnTo>
                  <a:pt x="307790" y="29805"/>
                </a:lnTo>
                <a:lnTo>
                  <a:pt x="356870" y="19707"/>
                </a:lnTo>
                <a:lnTo>
                  <a:pt x="405699" y="12951"/>
                </a:lnTo>
                <a:lnTo>
                  <a:pt x="454034" y="6990"/>
                </a:lnTo>
                <a:lnTo>
                  <a:pt x="502604" y="1867"/>
                </a:lnTo>
                <a:lnTo>
                  <a:pt x="551863" y="0"/>
                </a:lnTo>
                <a:lnTo>
                  <a:pt x="601249" y="4210"/>
                </a:lnTo>
                <a:lnTo>
                  <a:pt x="649582" y="15608"/>
                </a:lnTo>
                <a:lnTo>
                  <a:pt x="696088" y="33018"/>
                </a:lnTo>
                <a:lnTo>
                  <a:pt x="740919" y="54274"/>
                </a:lnTo>
                <a:lnTo>
                  <a:pt x="784547" y="78172"/>
                </a:lnTo>
                <a:lnTo>
                  <a:pt x="826564" y="105384"/>
                </a:lnTo>
                <a:lnTo>
                  <a:pt x="865123" y="137611"/>
                </a:lnTo>
                <a:lnTo>
                  <a:pt x="897807" y="175795"/>
                </a:lnTo>
                <a:lnTo>
                  <a:pt x="923385" y="218973"/>
                </a:lnTo>
                <a:lnTo>
                  <a:pt x="942985" y="264741"/>
                </a:lnTo>
                <a:lnTo>
                  <a:pt x="959522" y="310868"/>
                </a:lnTo>
                <a:lnTo>
                  <a:pt x="975608" y="356645"/>
                </a:lnTo>
                <a:lnTo>
                  <a:pt x="991508" y="402880"/>
                </a:lnTo>
                <a:lnTo>
                  <a:pt x="1004788" y="450669"/>
                </a:lnTo>
                <a:lnTo>
                  <a:pt x="1011973" y="500129"/>
                </a:lnTo>
                <a:close/>
              </a:path>
            </a:pathLst>
          </a:custGeom>
          <a:solidFill xmlns:a="http://schemas.openxmlformats.org/drawingml/2006/main">
            <a:srgbClr val="F8F6F2"/>
          </a:solidFill>
          <a:ln xmlns:a="http://schemas.openxmlformats.org/drawingml/2006/main" w="19050">
            <a:solidFill>
              <a:srgbClr val="A45F57"/>
            </a:solidFill>
          </a:ln>
        </p:spPr>
      </p:sp>
      <p:sp>
        <p:nvSpPr>
          <p:cNvPr id="17" name="">
            <a:extLst xmlns:a="http://schemas.openxmlformats.org/drawingml/2006/main">
              <a:ext uri="{FF2B5EF4-FFF2-40B4-BE49-F238E27FC236}">
                <a16:creationId xmlns:a16="http://schemas.microsoft.com/office/drawing/2014/main" id="{90250DE5-A77E-43AF-B5D0-5F7DF0A573BE}"/>
              </a:ext>
            </a:extLst>
          </p:cNvPr>
          <p:cNvSpPr>
            <a:spLocks xmlns:a="http://schemas.openxmlformats.org/drawingml/2006/main" noGrp="1"/>
          </p:cNvSpPr>
          <p:nvPr/>
        </p:nvSpPr>
        <p:spPr>
          <a:xfrm xmlns:a="http://schemas.openxmlformats.org/drawingml/2006/main">
            <a:off x="9669379" y="2693670"/>
            <a:ext cx="866274" cy="579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209" b="0">
                <a:solidFill>
                  <a:srgbClr val="A45F57"/>
                </a:solidFill>
                <a:latin typeface="Chalkboard"/>
                <a:ea typeface="Chalkboard"/>
                <a:cs typeface="Chalkboard"/>
              </a:defRPr>
            </a:pPr>
            <a:r>
              <a:rPr sz="2209" b="0">
                <a:solidFill>
                  <a:srgbClr val="A45F57"/>
                </a:solidFill>
                <a:latin typeface="Chalkboard"/>
                <a:ea typeface="Chalkboard"/>
                <a:cs typeface="Chalkboard"/>
              </a:rPr>
              <a:t>L</a:t>
            </a:r>
          </a:p>
        </p:txBody>
      </p:sp>
      <p:sp>
        <p:nvSpPr>
          <p:cNvPr id="18" name="">
            <a:extLst xmlns:a="http://schemas.openxmlformats.org/drawingml/2006/main">
              <a:ext uri="{FF2B5EF4-FFF2-40B4-BE49-F238E27FC236}">
                <a16:creationId xmlns:a16="http://schemas.microsoft.com/office/drawing/2014/main" id="{F008F8C6-D788-4EB8-841F-334B1BC88A5A}"/>
              </a:ext>
            </a:extLst>
          </p:cNvPr>
          <p:cNvSpPr>
            <a:spLocks xmlns:a="http://schemas.openxmlformats.org/drawingml/2006/main" noGrp="1"/>
          </p:cNvSpPr>
          <p:nvPr/>
        </p:nvSpPr>
        <p:spPr>
          <a:xfrm xmlns:a="http://schemas.openxmlformats.org/drawingml/2006/main">
            <a:off x="7458576" y="4054671"/>
            <a:ext cx="2418347" cy="12934"/>
          </a:xfrm>
          <a:custGeom xmlns:a="http://schemas.openxmlformats.org/drawingml/2006/main">
            <a:pathLst>
              <a:path w="2552700" h="13615">
                <a:moveTo>
                  <a:pt x="2552700" y="5642"/>
                </a:moveTo>
                <a:lnTo>
                  <a:pt x="2335360" y="1027"/>
                </a:lnTo>
                <a:lnTo>
                  <a:pt x="2128893" y="7285"/>
                </a:lnTo>
                <a:lnTo>
                  <a:pt x="1913274" y="4391"/>
                </a:lnTo>
                <a:lnTo>
                  <a:pt x="1705812" y="9654"/>
                </a:lnTo>
                <a:lnTo>
                  <a:pt x="1489954" y="6522"/>
                </a:lnTo>
                <a:lnTo>
                  <a:pt x="1277700" y="6992"/>
                </a:lnTo>
                <a:lnTo>
                  <a:pt x="1057983" y="0"/>
                </a:lnTo>
                <a:lnTo>
                  <a:pt x="852800" y="7542"/>
                </a:lnTo>
                <a:lnTo>
                  <a:pt x="632686" y="153"/>
                </a:lnTo>
                <a:lnTo>
                  <a:pt x="433423" y="13615"/>
                </a:lnTo>
                <a:lnTo>
                  <a:pt x="211143" y="4060"/>
                </a:lnTo>
                <a:lnTo>
                  <a:pt x="0" y="5642"/>
                </a:lnTo>
              </a:path>
            </a:pathLst>
          </a:custGeom>
          <a:noFill xmlns:a="http://schemas.openxmlformats.org/drawingml/2006/main"/>
          <a:ln xmlns:a="http://schemas.openxmlformats.org/drawingml/2006/main" w="28575">
            <a:solidFill>
              <a:srgbClr val="A45F57"/>
            </a:solidFill>
          </a:ln>
        </p:spPr>
      </p:sp>
      <p:sp>
        <p:nvSpPr>
          <p:cNvPr id="19" name="">
            <a:extLst xmlns:a="http://schemas.openxmlformats.org/drawingml/2006/main">
              <a:ext uri="{FF2B5EF4-FFF2-40B4-BE49-F238E27FC236}">
                <a16:creationId xmlns:a16="http://schemas.microsoft.com/office/drawing/2014/main" id="{08424544-891A-41BC-880F-9C35D657835D}"/>
              </a:ext>
            </a:extLst>
          </p:cNvPr>
          <p:cNvSpPr>
            <a:spLocks xmlns:a="http://schemas.openxmlformats.org/drawingml/2006/main" noGrp="1"/>
          </p:cNvSpPr>
          <p:nvPr/>
        </p:nvSpPr>
        <p:spPr>
          <a:xfrm xmlns:a="http://schemas.openxmlformats.org/drawingml/2006/main">
            <a:off x="7458576" y="4016736"/>
            <a:ext cx="89379" cy="86590"/>
          </a:xfrm>
          <a:custGeom xmlns:a="http://schemas.openxmlformats.org/drawingml/2006/main">
            <a:pathLst>
              <a:path w="94344" h="91147">
                <a:moveTo>
                  <a:pt x="94344" y="0"/>
                </a:moveTo>
                <a:lnTo>
                  <a:pt x="0" y="45574"/>
                </a:lnTo>
                <a:lnTo>
                  <a:pt x="94344" y="91147"/>
                </a:lnTo>
              </a:path>
            </a:pathLst>
          </a:custGeom>
          <a:noFill xmlns:a="http://schemas.openxmlformats.org/drawingml/2006/main"/>
          <a:ln xmlns:a="http://schemas.openxmlformats.org/drawingml/2006/main" w="28575">
            <a:solidFill>
              <a:srgbClr val="A45F57"/>
            </a:solidFill>
          </a:ln>
        </p:spPr>
      </p:sp>
      <p:sp>
        <p:nvSpPr>
          <p:cNvPr id="20" name="">
            <a:extLst xmlns:a="http://schemas.openxmlformats.org/drawingml/2006/main">
              <a:ext uri="{FF2B5EF4-FFF2-40B4-BE49-F238E27FC236}">
                <a16:creationId xmlns:a16="http://schemas.microsoft.com/office/drawing/2014/main" id="{3205AC34-1D2B-4681-A703-5E6CA06DF60D}"/>
              </a:ext>
            </a:extLst>
          </p:cNvPr>
          <p:cNvSpPr>
            <a:spLocks xmlns:a="http://schemas.openxmlformats.org/drawingml/2006/main" noGrp="1"/>
          </p:cNvSpPr>
          <p:nvPr/>
        </p:nvSpPr>
        <p:spPr>
          <a:xfrm xmlns:a="http://schemas.openxmlformats.org/drawingml/2006/main">
            <a:off x="4589045" y="4052298"/>
            <a:ext cx="2418347" cy="14583"/>
          </a:xfrm>
          <a:custGeom xmlns:a="http://schemas.openxmlformats.org/drawingml/2006/main">
            <a:pathLst>
              <a:path w="2552700" h="15351">
                <a:moveTo>
                  <a:pt x="2552700" y="8140"/>
                </a:moveTo>
                <a:lnTo>
                  <a:pt x="2342056" y="10220"/>
                </a:lnTo>
                <a:lnTo>
                  <a:pt x="2125814" y="6703"/>
                </a:lnTo>
                <a:lnTo>
                  <a:pt x="1917728" y="11343"/>
                </a:lnTo>
                <a:lnTo>
                  <a:pt x="1703193" y="9532"/>
                </a:lnTo>
                <a:lnTo>
                  <a:pt x="1494516" y="13581"/>
                </a:lnTo>
                <a:lnTo>
                  <a:pt x="1276544" y="8334"/>
                </a:lnTo>
                <a:lnTo>
                  <a:pt x="1055485" y="0"/>
                </a:lnTo>
                <a:lnTo>
                  <a:pt x="850101" y="7340"/>
                </a:lnTo>
                <a:lnTo>
                  <a:pt x="632610" y="2574"/>
                </a:lnTo>
                <a:lnTo>
                  <a:pt x="432662" y="15351"/>
                </a:lnTo>
                <a:lnTo>
                  <a:pt x="219334" y="14748"/>
                </a:lnTo>
                <a:lnTo>
                  <a:pt x="0" y="8140"/>
                </a:lnTo>
              </a:path>
            </a:pathLst>
          </a:custGeom>
          <a:noFill xmlns:a="http://schemas.openxmlformats.org/drawingml/2006/main"/>
          <a:ln xmlns:a="http://schemas.openxmlformats.org/drawingml/2006/main" w="28575">
            <a:solidFill>
              <a:srgbClr val="A45F57"/>
            </a:solidFill>
          </a:ln>
        </p:spPr>
      </p:sp>
      <p:sp>
        <p:nvSpPr>
          <p:cNvPr id="21" name="">
            <a:extLst xmlns:a="http://schemas.openxmlformats.org/drawingml/2006/main">
              <a:ext uri="{FF2B5EF4-FFF2-40B4-BE49-F238E27FC236}">
                <a16:creationId xmlns:a16="http://schemas.microsoft.com/office/drawing/2014/main" id="{52C82D64-C02E-4EF7-AC98-6B81ED8E53F6}"/>
              </a:ext>
            </a:extLst>
          </p:cNvPr>
          <p:cNvSpPr>
            <a:spLocks xmlns:a="http://schemas.openxmlformats.org/drawingml/2006/main" noGrp="1"/>
          </p:cNvSpPr>
          <p:nvPr/>
        </p:nvSpPr>
        <p:spPr>
          <a:xfrm xmlns:a="http://schemas.openxmlformats.org/drawingml/2006/main">
            <a:off x="4589045" y="4016736"/>
            <a:ext cx="89379" cy="86590"/>
          </a:xfrm>
          <a:custGeom xmlns:a="http://schemas.openxmlformats.org/drawingml/2006/main">
            <a:pathLst>
              <a:path w="94344" h="91147">
                <a:moveTo>
                  <a:pt x="94344" y="0"/>
                </a:moveTo>
                <a:lnTo>
                  <a:pt x="0" y="45574"/>
                </a:lnTo>
                <a:lnTo>
                  <a:pt x="94344" y="91147"/>
                </a:lnTo>
              </a:path>
            </a:pathLst>
          </a:custGeom>
          <a:noFill xmlns:a="http://schemas.openxmlformats.org/drawingml/2006/main"/>
          <a:ln xmlns:a="http://schemas.openxmlformats.org/drawingml/2006/main" w="28575">
            <a:solidFill>
              <a:srgbClr val="A45F57"/>
            </a:solidFill>
          </a:ln>
        </p:spPr>
      </p:sp>
      <p:sp>
        <p:nvSpPr>
          <p:cNvPr id="22" name="">
            <a:extLst xmlns:a="http://schemas.openxmlformats.org/drawingml/2006/main">
              <a:ext uri="{FF2B5EF4-FFF2-40B4-BE49-F238E27FC236}">
                <a16:creationId xmlns:a16="http://schemas.microsoft.com/office/drawing/2014/main" id="{3E7A9016-1908-405B-B8C7-598798C21447}"/>
              </a:ext>
            </a:extLst>
          </p:cNvPr>
          <p:cNvSpPr>
            <a:spLocks xmlns:a="http://schemas.openxmlformats.org/drawingml/2006/main" noGrp="1"/>
          </p:cNvSpPr>
          <p:nvPr/>
        </p:nvSpPr>
        <p:spPr>
          <a:xfrm xmlns:a="http://schemas.openxmlformats.org/drawingml/2006/main">
            <a:off x="1719513" y="4054979"/>
            <a:ext cx="2418347" cy="13107"/>
          </a:xfrm>
          <a:custGeom xmlns:a="http://schemas.openxmlformats.org/drawingml/2006/main">
            <a:pathLst>
              <a:path w="2552700" h="13797">
                <a:moveTo>
                  <a:pt x="2552700" y="5318"/>
                </a:moveTo>
                <a:lnTo>
                  <a:pt x="2345561" y="10904"/>
                </a:lnTo>
                <a:lnTo>
                  <a:pt x="2133531" y="11598"/>
                </a:lnTo>
                <a:lnTo>
                  <a:pt x="1909207" y="0"/>
                </a:lnTo>
                <a:lnTo>
                  <a:pt x="1705791" y="9309"/>
                </a:lnTo>
                <a:lnTo>
                  <a:pt x="1495016" y="11259"/>
                </a:lnTo>
                <a:lnTo>
                  <a:pt x="1276671" y="5638"/>
                </a:lnTo>
                <a:lnTo>
                  <a:pt x="1067270" y="8962"/>
                </a:lnTo>
                <a:lnTo>
                  <a:pt x="846883" y="1301"/>
                </a:lnTo>
                <a:lnTo>
                  <a:pt x="646654" y="13797"/>
                </a:lnTo>
                <a:lnTo>
                  <a:pt x="423259" y="3126"/>
                </a:lnTo>
                <a:lnTo>
                  <a:pt x="207871" y="464"/>
                </a:lnTo>
                <a:lnTo>
                  <a:pt x="0" y="5318"/>
                </a:lnTo>
              </a:path>
            </a:pathLst>
          </a:custGeom>
          <a:noFill xmlns:a="http://schemas.openxmlformats.org/drawingml/2006/main"/>
          <a:ln xmlns:a="http://schemas.openxmlformats.org/drawingml/2006/main" w="28575">
            <a:solidFill>
              <a:srgbClr val="A45F57"/>
            </a:solidFill>
          </a:ln>
        </p:spPr>
      </p:sp>
      <p:sp>
        <p:nvSpPr>
          <p:cNvPr id="23" name="">
            <a:extLst xmlns:a="http://schemas.openxmlformats.org/drawingml/2006/main">
              <a:ext uri="{FF2B5EF4-FFF2-40B4-BE49-F238E27FC236}">
                <a16:creationId xmlns:a16="http://schemas.microsoft.com/office/drawing/2014/main" id="{6AC2082B-ACB5-4CBE-8618-01CE5FCA64A7}"/>
              </a:ext>
            </a:extLst>
          </p:cNvPr>
          <p:cNvSpPr>
            <a:spLocks xmlns:a="http://schemas.openxmlformats.org/drawingml/2006/main" noGrp="1"/>
          </p:cNvSpPr>
          <p:nvPr/>
        </p:nvSpPr>
        <p:spPr>
          <a:xfrm xmlns:a="http://schemas.openxmlformats.org/drawingml/2006/main">
            <a:off x="1719513" y="4016736"/>
            <a:ext cx="89379" cy="86590"/>
          </a:xfrm>
          <a:custGeom xmlns:a="http://schemas.openxmlformats.org/drawingml/2006/main">
            <a:pathLst>
              <a:path w="94344" h="91147">
                <a:moveTo>
                  <a:pt x="94344" y="0"/>
                </a:moveTo>
                <a:lnTo>
                  <a:pt x="0" y="45574"/>
                </a:lnTo>
                <a:lnTo>
                  <a:pt x="94344" y="91147"/>
                </a:lnTo>
              </a:path>
            </a:pathLst>
          </a:custGeom>
          <a:noFill xmlns:a="http://schemas.openxmlformats.org/drawingml/2006/main"/>
          <a:ln xmlns:a="http://schemas.openxmlformats.org/drawingml/2006/main" w="28575">
            <a:solidFill>
              <a:srgbClr val="A45F57"/>
            </a:solidFill>
          </a:ln>
        </p:spPr>
      </p:sp>
      <p:sp>
        <p:nvSpPr>
          <p:cNvPr id="24" name="">
            <a:extLst xmlns:a="http://schemas.openxmlformats.org/drawingml/2006/main">
              <a:ext uri="{FF2B5EF4-FFF2-40B4-BE49-F238E27FC236}">
                <a16:creationId xmlns:a16="http://schemas.microsoft.com/office/drawing/2014/main" id="{BC62147A-0D9C-4B3B-8772-486CAD6493CE}"/>
              </a:ext>
            </a:extLst>
          </p:cNvPr>
          <p:cNvSpPr>
            <a:spLocks xmlns:a="http://schemas.openxmlformats.org/drawingml/2006/main" noGrp="1"/>
          </p:cNvSpPr>
          <p:nvPr/>
        </p:nvSpPr>
        <p:spPr>
          <a:xfrm xmlns:a="http://schemas.openxmlformats.org/drawingml/2006/main">
            <a:off x="591553" y="1951672"/>
            <a:ext cx="1804737" cy="370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781" b="1">
                <a:solidFill>
                  <a:srgbClr val="272729"/>
                </a:solidFill>
                <a:latin typeface="Arial"/>
                <a:ea typeface="Arial"/>
                <a:cs typeface="Arial"/>
              </a:defRPr>
            </a:pPr>
            <a:r>
              <a:rPr sz="1781" b="1">
                <a:solidFill>
                  <a:srgbClr val="272729"/>
                </a:solidFill>
                <a:latin typeface="Arial"/>
                <a:ea typeface="Arial"/>
                <a:cs typeface="Arial"/>
              </a:rPr>
              <a:t>Input</a:t>
            </a:r>
          </a:p>
        </p:txBody>
      </p:sp>
      <p:sp>
        <p:nvSpPr>
          <p:cNvPr id="25" name="">
            <a:extLst xmlns:a="http://schemas.openxmlformats.org/drawingml/2006/main">
              <a:ext uri="{FF2B5EF4-FFF2-40B4-BE49-F238E27FC236}">
                <a16:creationId xmlns:a16="http://schemas.microsoft.com/office/drawing/2014/main" id="{29AA1544-B460-400F-B51F-132408DE7D42}"/>
              </a:ext>
            </a:extLst>
          </p:cNvPr>
          <p:cNvSpPr>
            <a:spLocks xmlns:a="http://schemas.openxmlformats.org/drawingml/2006/main" noGrp="1"/>
          </p:cNvSpPr>
          <p:nvPr/>
        </p:nvSpPr>
        <p:spPr>
          <a:xfrm xmlns:a="http://schemas.openxmlformats.org/drawingml/2006/main">
            <a:off x="3461084" y="1951672"/>
            <a:ext cx="1804737" cy="370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781" b="1">
                <a:solidFill>
                  <a:srgbClr val="272729"/>
                </a:solidFill>
                <a:latin typeface="Arial"/>
                <a:ea typeface="Arial"/>
                <a:cs typeface="Arial"/>
              </a:defRPr>
            </a:pPr>
            <a:r>
              <a:rPr sz="1781" b="1">
                <a:solidFill>
                  <a:srgbClr val="272729"/>
                </a:solidFill>
                <a:latin typeface="Arial"/>
                <a:ea typeface="Arial"/>
                <a:cs typeface="Arial"/>
              </a:rPr>
              <a:t>Hidden layer</a:t>
            </a:r>
          </a:p>
        </p:txBody>
      </p:sp>
      <p:sp>
        <p:nvSpPr>
          <p:cNvPr id="26" name="">
            <a:extLst xmlns:a="http://schemas.openxmlformats.org/drawingml/2006/main">
              <a:ext uri="{FF2B5EF4-FFF2-40B4-BE49-F238E27FC236}">
                <a16:creationId xmlns:a16="http://schemas.microsoft.com/office/drawing/2014/main" id="{A33FF64C-D152-4762-B61F-CC5C097F1D51}"/>
              </a:ext>
            </a:extLst>
          </p:cNvPr>
          <p:cNvSpPr>
            <a:spLocks xmlns:a="http://schemas.openxmlformats.org/drawingml/2006/main" noGrp="1"/>
          </p:cNvSpPr>
          <p:nvPr/>
        </p:nvSpPr>
        <p:spPr>
          <a:xfrm xmlns:a="http://schemas.openxmlformats.org/drawingml/2006/main">
            <a:off x="6330616" y="1951672"/>
            <a:ext cx="1804737" cy="370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781" b="1">
                <a:solidFill>
                  <a:srgbClr val="272729"/>
                </a:solidFill>
                <a:latin typeface="Arial"/>
                <a:ea typeface="Arial"/>
                <a:cs typeface="Arial"/>
              </a:defRPr>
            </a:pPr>
            <a:r>
              <a:rPr sz="1781" b="1">
                <a:solidFill>
                  <a:srgbClr val="272729"/>
                </a:solidFill>
                <a:latin typeface="Arial"/>
                <a:ea typeface="Arial"/>
                <a:cs typeface="Arial"/>
              </a:rPr>
              <a:t>Prediction</a:t>
            </a:r>
          </a:p>
        </p:txBody>
      </p:sp>
      <p:sp>
        <p:nvSpPr>
          <p:cNvPr id="27" name="">
            <a:extLst xmlns:a="http://schemas.openxmlformats.org/drawingml/2006/main">
              <a:ext uri="{FF2B5EF4-FFF2-40B4-BE49-F238E27FC236}">
                <a16:creationId xmlns:a16="http://schemas.microsoft.com/office/drawing/2014/main" id="{1BD38A79-919D-44FB-9122-148FEC84DE99}"/>
              </a:ext>
            </a:extLst>
          </p:cNvPr>
          <p:cNvSpPr>
            <a:spLocks xmlns:a="http://schemas.openxmlformats.org/drawingml/2006/main" noGrp="1"/>
          </p:cNvSpPr>
          <p:nvPr/>
        </p:nvSpPr>
        <p:spPr>
          <a:xfrm xmlns:a="http://schemas.openxmlformats.org/drawingml/2006/main">
            <a:off x="9200147" y="1951672"/>
            <a:ext cx="1804737" cy="370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781" b="1">
                <a:solidFill>
                  <a:srgbClr val="272729"/>
                </a:solidFill>
                <a:latin typeface="Arial"/>
                <a:ea typeface="Arial"/>
                <a:cs typeface="Arial"/>
              </a:defRPr>
            </a:pPr>
            <a:r>
              <a:rPr sz="1781" b="1">
                <a:solidFill>
                  <a:srgbClr val="272729"/>
                </a:solidFill>
                <a:latin typeface="Arial"/>
                <a:ea typeface="Arial"/>
                <a:cs typeface="Arial"/>
              </a:rPr>
              <a:t>Loss</a:t>
            </a:r>
          </a:p>
        </p:txBody>
      </p:sp>
      <p:sp>
        <p:nvSpPr>
          <p:cNvPr id="28" name="">
            <a:extLst xmlns:a="http://schemas.openxmlformats.org/drawingml/2006/main">
              <a:ext uri="{FF2B5EF4-FFF2-40B4-BE49-F238E27FC236}">
                <a16:creationId xmlns:a16="http://schemas.microsoft.com/office/drawing/2014/main" id="{7AAEC1A1-D43E-4D00-8624-6AB57C96C471}"/>
              </a:ext>
            </a:extLst>
          </p:cNvPr>
          <p:cNvSpPr>
            <a:spLocks xmlns:a="http://schemas.openxmlformats.org/drawingml/2006/main" noGrp="1"/>
          </p:cNvSpPr>
          <p:nvPr/>
        </p:nvSpPr>
        <p:spPr>
          <a:xfrm xmlns:a="http://schemas.openxmlformats.org/drawingml/2006/main">
            <a:off x="753979" y="4729639"/>
            <a:ext cx="4926932" cy="4433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209" b="0">
                <a:solidFill>
                  <a:srgbClr val="287B95"/>
                </a:solidFill>
                <a:latin typeface="Chalkboard"/>
                <a:ea typeface="Chalkboard"/>
                <a:cs typeface="Chalkboard"/>
              </a:defRPr>
            </a:pPr>
            <a:r>
              <a:rPr sz="2209" b="0">
                <a:solidFill>
                  <a:srgbClr val="287B95"/>
                </a:solidFill>
                <a:latin typeface="Chalkboard"/>
                <a:ea typeface="Chalkboard"/>
                <a:cs typeface="Chalkboard"/>
              </a:rPr>
              <a:t>Forward: activations</a:t>
            </a:r>
          </a:p>
        </p:txBody>
      </p:sp>
      <p:sp>
        <p:nvSpPr>
          <p:cNvPr id="29" name="">
            <a:extLst xmlns:a="http://schemas.openxmlformats.org/drawingml/2006/main">
              <a:ext uri="{FF2B5EF4-FFF2-40B4-BE49-F238E27FC236}">
                <a16:creationId xmlns:a16="http://schemas.microsoft.com/office/drawing/2014/main" id="{A3499133-2FEF-4B16-AB5D-FC5388AA19DB}"/>
              </a:ext>
            </a:extLst>
          </p:cNvPr>
          <p:cNvSpPr>
            <a:spLocks xmlns:a="http://schemas.openxmlformats.org/drawingml/2006/main" noGrp="1"/>
          </p:cNvSpPr>
          <p:nvPr/>
        </p:nvSpPr>
        <p:spPr>
          <a:xfrm xmlns:a="http://schemas.openxmlformats.org/drawingml/2006/main">
            <a:off x="6583279" y="4729639"/>
            <a:ext cx="4466724" cy="4433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209" b="0">
                <a:solidFill>
                  <a:srgbClr val="A45F57"/>
                </a:solidFill>
                <a:latin typeface="Chalkboard"/>
                <a:ea typeface="Chalkboard"/>
                <a:cs typeface="Chalkboard"/>
              </a:defRPr>
            </a:pPr>
            <a:r>
              <a:rPr sz="2209" b="0">
                <a:solidFill>
                  <a:srgbClr val="A45F57"/>
                </a:solidFill>
                <a:latin typeface="Chalkboard"/>
                <a:ea typeface="Chalkboard"/>
                <a:cs typeface="Chalkboard"/>
              </a:rPr>
              <a:t>Backward: gradients</a:t>
            </a:r>
          </a:p>
        </p:txBody>
      </p:sp>
      <p:sp>
        <p:nvSpPr>
          <p:cNvPr id="9200" name="matched-title">
            <a:extLst xmlns:a="http://schemas.openxmlformats.org/drawingml/2006/main">
              <a:ext uri="{FF2B5EF4-FFF2-40B4-BE49-F238E27FC236}">
                <a16:creationId xmlns:a16="http://schemas.microsoft.com/office/drawing/2014/main" id="{3FD18F67-B30E-4374-AB28-BC66F5DD579D}"/>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Two directions through the network</a:t>
            </a:r>
          </a:p>
        </p:txBody>
      </p:sp>
      <p:sp>
        <p:nvSpPr>
          <p:cNvPr id="9201" name="matched-subtitle">
            <a:extLst xmlns:a="http://schemas.openxmlformats.org/drawingml/2006/main">
              <a:ext uri="{FF2B5EF4-FFF2-40B4-BE49-F238E27FC236}">
                <a16:creationId xmlns:a16="http://schemas.microsoft.com/office/drawing/2014/main" id="{57C23667-364A-470C-99D4-A3BA2A630694}"/>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A forward pass predicts. A backward pass computes gradients.</a:t>
            </a:r>
          </a:p>
        </p:txBody>
      </p:sp>
      <p:sp>
        <p:nvSpPr>
          <p:cNvPr id="9202" name="matched-footer">
            <a:extLst xmlns:a="http://schemas.openxmlformats.org/drawingml/2006/main">
              <a:ext uri="{FF2B5EF4-FFF2-40B4-BE49-F238E27FC236}">
                <a16:creationId xmlns:a16="http://schemas.microsoft.com/office/drawing/2014/main" id="{5A8D74D2-AF0E-4163-B5FA-3F8CF0B0FCB2}"/>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Gradient descent then updates the parameters: w_new = w_old − η · ∂L/∂w.</a:t>
            </a:r>
          </a:p>
        </p:txBody>
      </p:sp>
      <p:sp>
        <p:nvSpPr>
          <p:cNvPr id="9203" name="matched-page">
            <a:extLst xmlns:a="http://schemas.openxmlformats.org/drawingml/2006/main">
              <a:ext uri="{FF2B5EF4-FFF2-40B4-BE49-F238E27FC236}">
                <a16:creationId xmlns:a16="http://schemas.microsoft.com/office/drawing/2014/main" id="{1F6719B8-A447-4E4F-80BE-E59751D925BE}"/>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04</a:t>
            </a:r>
          </a:p>
        </p:txBody>
      </p:sp>
    </p:spTree>
    <p:extLst>
      <p:ext uri="{BB962C8B-B14F-4D97-AF65-F5344CB8AC3E}">
        <p14:creationId xmlns:p14="http://schemas.microsoft.com/office/powerpoint/2010/main" val="521038627"/>
      </p:ext>
    </p:extLst>
  </p:cSld>
</p:sld>
</file>

<file path=ppt/slides/slide3.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5" name="">
            <a:extLst xmlns:a="http://schemas.openxmlformats.org/drawingml/2006/main">
              <a:ext uri="{FF2B5EF4-FFF2-40B4-BE49-F238E27FC236}">
                <a16:creationId xmlns:a16="http://schemas.microsoft.com/office/drawing/2014/main" id="{9E82B180-4289-4029-A1DF-93257C820279}"/>
              </a:ext>
            </a:extLst>
          </p:cNvPr>
          <p:cNvSpPr>
            <a:spLocks xmlns:a="http://schemas.openxmlformats.org/drawingml/2006/main" noGrp="1"/>
          </p:cNvSpPr>
          <p:nvPr/>
        </p:nvSpPr>
        <p:spPr>
          <a:xfrm xmlns:a="http://schemas.openxmlformats.org/drawingml/2006/main">
            <a:off x="8315826" y="2186940"/>
            <a:ext cx="2797342" cy="389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066" b="0">
                <a:solidFill>
                  <a:srgbClr val="287B95"/>
                </a:solidFill>
                <a:latin typeface="Chalkboard"/>
                <a:ea typeface="Chalkboard"/>
                <a:cs typeface="Chalkboard"/>
              </a:defRPr>
            </a:pPr>
            <a:r>
              <a:rPr sz="2066" b="0">
                <a:solidFill>
                  <a:srgbClr val="287B95"/>
                </a:solidFill>
                <a:latin typeface="Chalkboard"/>
                <a:ea typeface="Chalkboard"/>
                <a:cs typeface="Chalkboard"/>
              </a:rPr>
              <a:t>Left of zero</a:t>
            </a:r>
          </a:p>
        </p:txBody>
      </p:sp>
      <p:sp>
        <p:nvSpPr>
          <p:cNvPr id="6" name="">
            <a:extLst xmlns:a="http://schemas.openxmlformats.org/drawingml/2006/main">
              <a:ext uri="{FF2B5EF4-FFF2-40B4-BE49-F238E27FC236}">
                <a16:creationId xmlns:a16="http://schemas.microsoft.com/office/drawing/2014/main" id="{F5F02EF6-EF13-48D9-899D-EEFF82DF5578}"/>
              </a:ext>
            </a:extLst>
          </p:cNvPr>
          <p:cNvSpPr>
            <a:spLocks xmlns:a="http://schemas.openxmlformats.org/drawingml/2006/main" noGrp="1"/>
          </p:cNvSpPr>
          <p:nvPr/>
        </p:nvSpPr>
        <p:spPr>
          <a:xfrm xmlns:a="http://schemas.openxmlformats.org/drawingml/2006/main">
            <a:off x="8315826" y="2684621"/>
            <a:ext cx="2797342"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138" b="0">
                <a:solidFill>
                  <a:srgbClr val="272729"/>
                </a:solidFill>
                <a:latin typeface="Chalkboard"/>
                <a:ea typeface="Chalkboard"/>
                <a:cs typeface="Chalkboard"/>
              </a:defRPr>
            </a:pPr>
            <a:r>
              <a:rPr sz="2138" b="0">
                <a:solidFill>
                  <a:srgbClr val="272729"/>
                </a:solidFill>
                <a:latin typeface="Chalkboard"/>
                <a:ea typeface="Chalkboard"/>
                <a:cs typeface="Chalkboard"/>
              </a:rPr>
              <a:t>∂L/∂w &lt; 0</a:t>
            </a:r>
          </a:p>
        </p:txBody>
      </p:sp>
      <p:sp>
        <p:nvSpPr>
          <p:cNvPr id="7" name="">
            <a:extLst xmlns:a="http://schemas.openxmlformats.org/drawingml/2006/main">
              <a:ext uri="{FF2B5EF4-FFF2-40B4-BE49-F238E27FC236}">
                <a16:creationId xmlns:a16="http://schemas.microsoft.com/office/drawing/2014/main" id="{AB001148-9164-4B9D-ACC9-E2FEA29F8318}"/>
              </a:ext>
            </a:extLst>
          </p:cNvPr>
          <p:cNvSpPr>
            <a:spLocks xmlns:a="http://schemas.openxmlformats.org/drawingml/2006/main" noGrp="1"/>
          </p:cNvSpPr>
          <p:nvPr/>
        </p:nvSpPr>
        <p:spPr>
          <a:xfrm xmlns:a="http://schemas.openxmlformats.org/drawingml/2006/main">
            <a:off x="8315826" y="3173254"/>
            <a:ext cx="2797342" cy="4162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924" b="0">
                <a:solidFill>
                  <a:srgbClr val="287B95"/>
                </a:solidFill>
                <a:latin typeface="Chalkboard"/>
                <a:ea typeface="Chalkboard"/>
                <a:cs typeface="Chalkboard"/>
              </a:defRPr>
            </a:pPr>
            <a:r>
              <a:rPr sz="1924" b="0">
                <a:solidFill>
                  <a:srgbClr val="287B95"/>
                </a:solidFill>
                <a:latin typeface="Chalkboard"/>
                <a:ea typeface="Chalkboard"/>
                <a:cs typeface="Chalkboard"/>
              </a:rPr>
              <a:t>Increase w</a:t>
            </a:r>
          </a:p>
        </p:txBody>
      </p:sp>
      <p:sp>
        <p:nvSpPr>
          <p:cNvPr id="8" name="">
            <a:extLst xmlns:a="http://schemas.openxmlformats.org/drawingml/2006/main">
              <a:ext uri="{FF2B5EF4-FFF2-40B4-BE49-F238E27FC236}">
                <a16:creationId xmlns:a16="http://schemas.microsoft.com/office/drawing/2014/main" id="{8B71403B-E1BF-4989-BEE7-B629C539511A}"/>
              </a:ext>
            </a:extLst>
          </p:cNvPr>
          <p:cNvSpPr>
            <a:spLocks xmlns:a="http://schemas.openxmlformats.org/drawingml/2006/main" noGrp="1"/>
          </p:cNvSpPr>
          <p:nvPr/>
        </p:nvSpPr>
        <p:spPr>
          <a:xfrm xmlns:a="http://schemas.openxmlformats.org/drawingml/2006/main">
            <a:off x="8315826" y="3951446"/>
            <a:ext cx="2797342" cy="389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066" b="0">
                <a:solidFill>
                  <a:srgbClr val="A45F57"/>
                </a:solidFill>
                <a:latin typeface="Chalkboard"/>
                <a:ea typeface="Chalkboard"/>
                <a:cs typeface="Chalkboard"/>
              </a:defRPr>
            </a:pPr>
            <a:r>
              <a:rPr sz="2066" b="0">
                <a:solidFill>
                  <a:srgbClr val="A45F57"/>
                </a:solidFill>
                <a:latin typeface="Chalkboard"/>
                <a:ea typeface="Chalkboard"/>
                <a:cs typeface="Chalkboard"/>
              </a:rPr>
              <a:t>Right of zero</a:t>
            </a:r>
          </a:p>
        </p:txBody>
      </p:sp>
      <p:sp>
        <p:nvSpPr>
          <p:cNvPr id="9" name="">
            <a:extLst xmlns:a="http://schemas.openxmlformats.org/drawingml/2006/main">
              <a:ext uri="{FF2B5EF4-FFF2-40B4-BE49-F238E27FC236}">
                <a16:creationId xmlns:a16="http://schemas.microsoft.com/office/drawing/2014/main" id="{06155C3F-C76B-461C-BED7-AD90B91F4D02}"/>
              </a:ext>
            </a:extLst>
          </p:cNvPr>
          <p:cNvSpPr>
            <a:spLocks xmlns:a="http://schemas.openxmlformats.org/drawingml/2006/main" noGrp="1"/>
          </p:cNvSpPr>
          <p:nvPr/>
        </p:nvSpPr>
        <p:spPr>
          <a:xfrm xmlns:a="http://schemas.openxmlformats.org/drawingml/2006/main">
            <a:off x="8315826" y="4431030"/>
            <a:ext cx="2797342"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138" b="0">
                <a:solidFill>
                  <a:srgbClr val="272729"/>
                </a:solidFill>
                <a:latin typeface="Chalkboard"/>
                <a:ea typeface="Chalkboard"/>
                <a:cs typeface="Chalkboard"/>
              </a:defRPr>
            </a:pPr>
            <a:r>
              <a:rPr sz="2138" b="0">
                <a:solidFill>
                  <a:srgbClr val="272729"/>
                </a:solidFill>
                <a:latin typeface="Chalkboard"/>
                <a:ea typeface="Chalkboard"/>
                <a:cs typeface="Chalkboard"/>
              </a:rPr>
              <a:t>∂L/∂w &gt; 0</a:t>
            </a:r>
          </a:p>
        </p:txBody>
      </p:sp>
      <p:sp>
        <p:nvSpPr>
          <p:cNvPr id="10" name="">
            <a:extLst xmlns:a="http://schemas.openxmlformats.org/drawingml/2006/main">
              <a:ext uri="{FF2B5EF4-FFF2-40B4-BE49-F238E27FC236}">
                <a16:creationId xmlns:a16="http://schemas.microsoft.com/office/drawing/2014/main" id="{74FFD09A-1911-435B-B501-8833557C7712}"/>
              </a:ext>
            </a:extLst>
          </p:cNvPr>
          <p:cNvSpPr>
            <a:spLocks xmlns:a="http://schemas.openxmlformats.org/drawingml/2006/main" noGrp="1"/>
          </p:cNvSpPr>
          <p:nvPr/>
        </p:nvSpPr>
        <p:spPr>
          <a:xfrm xmlns:a="http://schemas.openxmlformats.org/drawingml/2006/main">
            <a:off x="8315826" y="4910614"/>
            <a:ext cx="2797342" cy="4162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924" b="0">
                <a:solidFill>
                  <a:srgbClr val="A45F57"/>
                </a:solidFill>
                <a:latin typeface="Chalkboard"/>
                <a:ea typeface="Chalkboard"/>
                <a:cs typeface="Chalkboard"/>
              </a:defRPr>
            </a:pPr>
            <a:r>
              <a:rPr sz="1924" b="0">
                <a:solidFill>
                  <a:srgbClr val="A45F57"/>
                </a:solidFill>
                <a:latin typeface="Chalkboard"/>
                <a:ea typeface="Chalkboard"/>
                <a:cs typeface="Chalkboard"/>
              </a:rPr>
              <a:t>Decrease w</a:t>
            </a:r>
          </a:p>
        </p:txBody>
      </p:sp>
      <p:graphicFrame>
        <p:nvGraphicFramePr>
          <p:cNvPr id="29" name="Chart"/>
          <p:cNvGraphicFramePr/>
          <p:nvPr/>
        </p:nvGraphicFramePr>
        <p:xfrm>
          <a:off xmlns:a="http://schemas.openxmlformats.org/drawingml/2006/main" x="763003" y="1879282"/>
          <a:ext xmlns:a="http://schemas.openxmlformats.org/drawingml/2006/main" cx="6767763" cy="3574256"/>
        </p:xfrm>
        <a:graphic xmlns:a="http://schemas.openxmlformats.org/drawingml/2006/main">
          <a:graphicData uri="http://schemas.openxmlformats.org/drawingml/2006/chart">
            <c:chart xmlns:r="http://schemas.openxmlformats.org/officeDocument/2006/relationships" xmlns:c="http://schemas.openxmlformats.org/drawingml/2006/chart" r:id="R0b68277be233418c"/>
          </a:graphicData>
        </a:graphic>
      </p:graphicFrame>
      <p:sp>
        <p:nvSpPr>
          <p:cNvPr id="9200" name="matched-title">
            <a:extLst xmlns:a="http://schemas.openxmlformats.org/drawingml/2006/main">
              <a:ext uri="{FF2B5EF4-FFF2-40B4-BE49-F238E27FC236}">
                <a16:creationId xmlns:a16="http://schemas.microsoft.com/office/drawing/2014/main" id="{E653B0B6-9DD9-45D2-B0CD-2722DD065331}"/>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Gradient descent moves downhill</a:t>
            </a:r>
          </a:p>
        </p:txBody>
      </p:sp>
      <p:sp>
        <p:nvSpPr>
          <p:cNvPr id="9201" name="matched-subtitle">
            <a:extLst xmlns:a="http://schemas.openxmlformats.org/drawingml/2006/main">
              <a:ext uri="{FF2B5EF4-FFF2-40B4-BE49-F238E27FC236}">
                <a16:creationId xmlns:a16="http://schemas.microsoft.com/office/drawing/2014/main" id="{37639BBD-5BD0-4653-B263-39904FB6FB97}"/>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For L(w) = w², both sides point toward the minimum at w = 0.</a:t>
            </a:r>
          </a:p>
        </p:txBody>
      </p:sp>
      <p:sp>
        <p:nvSpPr>
          <p:cNvPr id="9202" name="matched-footer">
            <a:extLst xmlns:a="http://schemas.openxmlformats.org/drawingml/2006/main">
              <a:ext uri="{FF2B5EF4-FFF2-40B4-BE49-F238E27FC236}">
                <a16:creationId xmlns:a16="http://schemas.microsoft.com/office/drawing/2014/main" id="{06E4E71A-EF12-43B7-AECE-AD33808A63D2}"/>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Subtract the gradient. A sufficiently small step lowers the loss locally.</a:t>
            </a:r>
          </a:p>
        </p:txBody>
      </p:sp>
      <p:sp>
        <p:nvSpPr>
          <p:cNvPr id="9203" name="matched-page">
            <a:extLst xmlns:a="http://schemas.openxmlformats.org/drawingml/2006/main">
              <a:ext uri="{FF2B5EF4-FFF2-40B4-BE49-F238E27FC236}">
                <a16:creationId xmlns:a16="http://schemas.microsoft.com/office/drawing/2014/main" id="{FE848A2E-B30B-4073-9E32-2A09D1F3FAD8}"/>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06</a:t>
            </a:r>
          </a:p>
        </p:txBody>
      </p:sp>
    </p:spTree>
    <p:extLst>
      <p:ext uri="{BB962C8B-B14F-4D97-AF65-F5344CB8AC3E}">
        <p14:creationId xmlns:p14="http://schemas.microsoft.com/office/powerpoint/2010/main" val="1494115637"/>
      </p:ext>
    </p:extLst>
  </p:cSld>
</p:sld>
</file>

<file path=ppt/slides/slide4.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4" name="">
            <a:extLst xmlns:a="http://schemas.openxmlformats.org/drawingml/2006/main">
              <a:ext uri="{FF2B5EF4-FFF2-40B4-BE49-F238E27FC236}">
                <a16:creationId xmlns:a16="http://schemas.microsoft.com/office/drawing/2014/main" id="{599CEDD4-AAFA-472C-A102-F91A13CFB8A5}"/>
              </a:ext>
            </a:extLst>
          </p:cNvPr>
          <p:cNvSpPr>
            <a:spLocks xmlns:a="http://schemas.openxmlformats.org/drawingml/2006/main" noGrp="1"/>
          </p:cNvSpPr>
          <p:nvPr/>
        </p:nvSpPr>
        <p:spPr>
          <a:xfrm xmlns:a="http://schemas.openxmlformats.org/drawingml/2006/main">
            <a:off x="1017770" y="2689082"/>
            <a:ext cx="958711" cy="961190"/>
          </a:xfrm>
          <a:custGeom xmlns:a="http://schemas.openxmlformats.org/drawingml/2006/main">
            <a:pathLst>
              <a:path w="1011973" h="1011779">
                <a:moveTo>
                  <a:pt x="1011973" y="500129"/>
                </a:moveTo>
                <a:lnTo>
                  <a:pt x="1010946" y="550197"/>
                </a:lnTo>
                <a:lnTo>
                  <a:pt x="1002212" y="599507"/>
                </a:lnTo>
                <a:lnTo>
                  <a:pt x="988107" y="647405"/>
                </a:lnTo>
                <a:lnTo>
                  <a:pt x="970726" y="694031"/>
                </a:lnTo>
                <a:lnTo>
                  <a:pt x="950329" y="739443"/>
                </a:lnTo>
                <a:lnTo>
                  <a:pt x="925514" y="782709"/>
                </a:lnTo>
                <a:lnTo>
                  <a:pt x="894862" y="822047"/>
                </a:lnTo>
                <a:lnTo>
                  <a:pt x="858560" y="856085"/>
                </a:lnTo>
                <a:lnTo>
                  <a:pt x="818595" y="885166"/>
                </a:lnTo>
                <a:lnTo>
                  <a:pt x="777395" y="911383"/>
                </a:lnTo>
                <a:lnTo>
                  <a:pt x="736136" y="937037"/>
                </a:lnTo>
                <a:lnTo>
                  <a:pt x="694166" y="962600"/>
                </a:lnTo>
                <a:lnTo>
                  <a:pt x="649956" y="985882"/>
                </a:lnTo>
                <a:lnTo>
                  <a:pt x="602672" y="1003201"/>
                </a:lnTo>
                <a:lnTo>
                  <a:pt x="552997" y="1011779"/>
                </a:lnTo>
                <a:lnTo>
                  <a:pt x="502604" y="1011517"/>
                </a:lnTo>
                <a:lnTo>
                  <a:pt x="452900" y="1004788"/>
                </a:lnTo>
                <a:lnTo>
                  <a:pt x="404276" y="994460"/>
                </a:lnTo>
                <a:lnTo>
                  <a:pt x="356496" y="981783"/>
                </a:lnTo>
                <a:lnTo>
                  <a:pt x="309712" y="965813"/>
                </a:lnTo>
                <a:lnTo>
                  <a:pt x="264973" y="944706"/>
                </a:lnTo>
                <a:lnTo>
                  <a:pt x="223616" y="917665"/>
                </a:lnTo>
                <a:lnTo>
                  <a:pt x="186048" y="885854"/>
                </a:lnTo>
                <a:lnTo>
                  <a:pt x="151192" y="851542"/>
                </a:lnTo>
                <a:lnTo>
                  <a:pt x="117337" y="816310"/>
                </a:lnTo>
                <a:lnTo>
                  <a:pt x="83892" y="779904"/>
                </a:lnTo>
                <a:lnTo>
                  <a:pt x="52554" y="740687"/>
                </a:lnTo>
                <a:lnTo>
                  <a:pt x="26727" y="697244"/>
                </a:lnTo>
                <a:lnTo>
                  <a:pt x="9433" y="649731"/>
                </a:lnTo>
                <a:lnTo>
                  <a:pt x="1258" y="599853"/>
                </a:lnTo>
                <a:lnTo>
                  <a:pt x="0" y="549632"/>
                </a:lnTo>
                <a:lnTo>
                  <a:pt x="2323" y="500129"/>
                </a:lnTo>
                <a:lnTo>
                  <a:pt x="6158" y="451234"/>
                </a:lnTo>
                <a:lnTo>
                  <a:pt x="11962" y="402535"/>
                </a:lnTo>
                <a:lnTo>
                  <a:pt x="21933" y="354319"/>
                </a:lnTo>
                <a:lnTo>
                  <a:pt x="37931" y="307655"/>
                </a:lnTo>
                <a:lnTo>
                  <a:pt x="59897" y="263497"/>
                </a:lnTo>
                <a:lnTo>
                  <a:pt x="86021" y="221777"/>
                </a:lnTo>
                <a:lnTo>
                  <a:pt x="114392" y="181532"/>
                </a:lnTo>
                <a:lnTo>
                  <a:pt x="144630" y="142155"/>
                </a:lnTo>
                <a:lnTo>
                  <a:pt x="178080" y="104696"/>
                </a:lnTo>
                <a:lnTo>
                  <a:pt x="216464" y="71890"/>
                </a:lnTo>
                <a:lnTo>
                  <a:pt x="260191" y="46605"/>
                </a:lnTo>
                <a:lnTo>
                  <a:pt x="307790" y="29805"/>
                </a:lnTo>
                <a:lnTo>
                  <a:pt x="356870" y="19707"/>
                </a:lnTo>
                <a:lnTo>
                  <a:pt x="405699" y="12951"/>
                </a:lnTo>
                <a:lnTo>
                  <a:pt x="454034" y="6990"/>
                </a:lnTo>
                <a:lnTo>
                  <a:pt x="502604" y="1867"/>
                </a:lnTo>
                <a:lnTo>
                  <a:pt x="551863" y="0"/>
                </a:lnTo>
                <a:lnTo>
                  <a:pt x="601249" y="4210"/>
                </a:lnTo>
                <a:lnTo>
                  <a:pt x="649582" y="15608"/>
                </a:lnTo>
                <a:lnTo>
                  <a:pt x="696088" y="33018"/>
                </a:lnTo>
                <a:lnTo>
                  <a:pt x="740919" y="54274"/>
                </a:lnTo>
                <a:lnTo>
                  <a:pt x="784547" y="78172"/>
                </a:lnTo>
                <a:lnTo>
                  <a:pt x="826564" y="105384"/>
                </a:lnTo>
                <a:lnTo>
                  <a:pt x="865123" y="137611"/>
                </a:lnTo>
                <a:lnTo>
                  <a:pt x="897807" y="175795"/>
                </a:lnTo>
                <a:lnTo>
                  <a:pt x="923385" y="218973"/>
                </a:lnTo>
                <a:lnTo>
                  <a:pt x="942985" y="264741"/>
                </a:lnTo>
                <a:lnTo>
                  <a:pt x="959522" y="310868"/>
                </a:lnTo>
                <a:lnTo>
                  <a:pt x="975608" y="356645"/>
                </a:lnTo>
                <a:lnTo>
                  <a:pt x="991508" y="402880"/>
                </a:lnTo>
                <a:lnTo>
                  <a:pt x="1004788" y="450669"/>
                </a:lnTo>
                <a:lnTo>
                  <a:pt x="1011973" y="500129"/>
                </a:lnTo>
                <a:close/>
              </a:path>
            </a:pathLst>
          </a:custGeom>
          <a:solidFill xmlns:a="http://schemas.openxmlformats.org/drawingml/2006/main">
            <a:srgbClr val="F8F6F2"/>
          </a:solidFill>
          <a:ln xmlns:a="http://schemas.openxmlformats.org/drawingml/2006/main" w="19050">
            <a:solidFill>
              <a:srgbClr val="287B95"/>
            </a:solidFill>
          </a:ln>
        </p:spPr>
      </p:sp>
      <p:sp>
        <p:nvSpPr>
          <p:cNvPr id="5" name="">
            <a:extLst xmlns:a="http://schemas.openxmlformats.org/drawingml/2006/main">
              <a:ext uri="{FF2B5EF4-FFF2-40B4-BE49-F238E27FC236}">
                <a16:creationId xmlns:a16="http://schemas.microsoft.com/office/drawing/2014/main" id="{19129646-831B-45DE-B103-7C81342CAEBA}"/>
              </a:ext>
            </a:extLst>
          </p:cNvPr>
          <p:cNvSpPr>
            <a:spLocks xmlns:a="http://schemas.openxmlformats.org/drawingml/2006/main" noGrp="1"/>
          </p:cNvSpPr>
          <p:nvPr/>
        </p:nvSpPr>
        <p:spPr>
          <a:xfrm xmlns:a="http://schemas.openxmlformats.org/drawingml/2006/main">
            <a:off x="1060784" y="2874645"/>
            <a:ext cx="866274" cy="579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209" b="0">
                <a:solidFill>
                  <a:srgbClr val="287B95"/>
                </a:solidFill>
                <a:latin typeface="Chalkboard"/>
                <a:ea typeface="Chalkboard"/>
                <a:cs typeface="Chalkboard"/>
              </a:defRPr>
            </a:pPr>
            <a:r>
              <a:rPr sz="2209" b="0">
                <a:solidFill>
                  <a:srgbClr val="287B95"/>
                </a:solidFill>
                <a:latin typeface="Chalkboard"/>
                <a:ea typeface="Chalkboard"/>
                <a:cs typeface="Chalkboard"/>
              </a:rPr>
              <a:t>1</a:t>
            </a:r>
          </a:p>
        </p:txBody>
      </p:sp>
      <p:sp>
        <p:nvSpPr>
          <p:cNvPr id="6" name="">
            <a:extLst xmlns:a="http://schemas.openxmlformats.org/drawingml/2006/main">
              <a:ext uri="{FF2B5EF4-FFF2-40B4-BE49-F238E27FC236}">
                <a16:creationId xmlns:a16="http://schemas.microsoft.com/office/drawing/2014/main" id="{012A69FD-A652-454D-9C63-AA1B2EE5D833}"/>
              </a:ext>
            </a:extLst>
          </p:cNvPr>
          <p:cNvSpPr>
            <a:spLocks xmlns:a="http://schemas.openxmlformats.org/drawingml/2006/main" noGrp="1"/>
          </p:cNvSpPr>
          <p:nvPr/>
        </p:nvSpPr>
        <p:spPr>
          <a:xfrm xmlns:a="http://schemas.openxmlformats.org/drawingml/2006/main">
            <a:off x="2035342" y="3156433"/>
            <a:ext cx="1786689" cy="15092"/>
          </a:xfrm>
          <a:custGeom xmlns:a="http://schemas.openxmlformats.org/drawingml/2006/main">
            <a:pathLst>
              <a:path w="1885950" h="15886">
                <a:moveTo>
                  <a:pt x="0" y="8181"/>
                </a:moveTo>
                <a:lnTo>
                  <a:pt x="157313" y="8332"/>
                </a:lnTo>
                <a:lnTo>
                  <a:pt x="310286" y="4142"/>
                </a:lnTo>
                <a:lnTo>
                  <a:pt x="472258" y="8951"/>
                </a:lnTo>
                <a:lnTo>
                  <a:pt x="628071" y="7601"/>
                </a:lnTo>
                <a:lnTo>
                  <a:pt x="786382" y="8751"/>
                </a:lnTo>
                <a:lnTo>
                  <a:pt x="935340" y="546"/>
                </a:lnTo>
                <a:lnTo>
                  <a:pt x="1091957" y="0"/>
                </a:lnTo>
                <a:lnTo>
                  <a:pt x="1265005" y="15886"/>
                </a:lnTo>
                <a:lnTo>
                  <a:pt x="1421288" y="15007"/>
                </a:lnTo>
                <a:lnTo>
                  <a:pt x="1577265" y="13821"/>
                </a:lnTo>
                <a:lnTo>
                  <a:pt x="1724091" y="3484"/>
                </a:lnTo>
                <a:lnTo>
                  <a:pt x="1885950" y="8181"/>
                </a:lnTo>
              </a:path>
            </a:pathLst>
          </a:custGeom>
          <a:noFill xmlns:a="http://schemas.openxmlformats.org/drawingml/2006/main"/>
          <a:ln xmlns:a="http://schemas.openxmlformats.org/drawingml/2006/main" w="19050">
            <a:solidFill>
              <a:srgbClr val="287B95"/>
            </a:solidFill>
          </a:ln>
        </p:spPr>
      </p:sp>
      <p:sp>
        <p:nvSpPr>
          <p:cNvPr id="7" name="">
            <a:extLst xmlns:a="http://schemas.openxmlformats.org/drawingml/2006/main">
              <a:ext uri="{FF2B5EF4-FFF2-40B4-BE49-F238E27FC236}">
                <a16:creationId xmlns:a16="http://schemas.microsoft.com/office/drawing/2014/main" id="{2ED655B2-4213-4CB6-A969-5147782C9C3E}"/>
              </a:ext>
            </a:extLst>
          </p:cNvPr>
          <p:cNvSpPr>
            <a:spLocks xmlns:a="http://schemas.openxmlformats.org/drawingml/2006/main" noGrp="1"/>
          </p:cNvSpPr>
          <p:nvPr/>
        </p:nvSpPr>
        <p:spPr>
          <a:xfrm xmlns:a="http://schemas.openxmlformats.org/drawingml/2006/main">
            <a:off x="3732653" y="3120910"/>
            <a:ext cx="89379" cy="86590"/>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287B95"/>
            </a:solidFill>
          </a:ln>
        </p:spPr>
      </p:sp>
      <p:sp>
        <p:nvSpPr>
          <p:cNvPr id="8" name="">
            <a:extLst xmlns:a="http://schemas.openxmlformats.org/drawingml/2006/main">
              <a:ext uri="{FF2B5EF4-FFF2-40B4-BE49-F238E27FC236}">
                <a16:creationId xmlns:a16="http://schemas.microsoft.com/office/drawing/2014/main" id="{23640319-1F95-4701-8007-520A508679C7}"/>
              </a:ext>
            </a:extLst>
          </p:cNvPr>
          <p:cNvSpPr>
            <a:spLocks xmlns:a="http://schemas.openxmlformats.org/drawingml/2006/main" noGrp="1"/>
          </p:cNvSpPr>
          <p:nvPr/>
        </p:nvSpPr>
        <p:spPr>
          <a:xfrm xmlns:a="http://schemas.openxmlformats.org/drawingml/2006/main">
            <a:off x="3887301" y="2689082"/>
            <a:ext cx="958711" cy="961190"/>
          </a:xfrm>
          <a:custGeom xmlns:a="http://schemas.openxmlformats.org/drawingml/2006/main">
            <a:pathLst>
              <a:path w="1011973" h="1011779">
                <a:moveTo>
                  <a:pt x="1011973" y="500129"/>
                </a:moveTo>
                <a:lnTo>
                  <a:pt x="1010946" y="550197"/>
                </a:lnTo>
                <a:lnTo>
                  <a:pt x="1002212" y="599507"/>
                </a:lnTo>
                <a:lnTo>
                  <a:pt x="988107" y="647405"/>
                </a:lnTo>
                <a:lnTo>
                  <a:pt x="970726" y="694031"/>
                </a:lnTo>
                <a:lnTo>
                  <a:pt x="950329" y="739443"/>
                </a:lnTo>
                <a:lnTo>
                  <a:pt x="925514" y="782709"/>
                </a:lnTo>
                <a:lnTo>
                  <a:pt x="894862" y="822047"/>
                </a:lnTo>
                <a:lnTo>
                  <a:pt x="858560" y="856085"/>
                </a:lnTo>
                <a:lnTo>
                  <a:pt x="818595" y="885166"/>
                </a:lnTo>
                <a:lnTo>
                  <a:pt x="777395" y="911383"/>
                </a:lnTo>
                <a:lnTo>
                  <a:pt x="736136" y="937037"/>
                </a:lnTo>
                <a:lnTo>
                  <a:pt x="694166" y="962600"/>
                </a:lnTo>
                <a:lnTo>
                  <a:pt x="649956" y="985882"/>
                </a:lnTo>
                <a:lnTo>
                  <a:pt x="602672" y="1003201"/>
                </a:lnTo>
                <a:lnTo>
                  <a:pt x="552997" y="1011779"/>
                </a:lnTo>
                <a:lnTo>
                  <a:pt x="502604" y="1011517"/>
                </a:lnTo>
                <a:lnTo>
                  <a:pt x="452900" y="1004788"/>
                </a:lnTo>
                <a:lnTo>
                  <a:pt x="404276" y="994460"/>
                </a:lnTo>
                <a:lnTo>
                  <a:pt x="356496" y="981783"/>
                </a:lnTo>
                <a:lnTo>
                  <a:pt x="309712" y="965813"/>
                </a:lnTo>
                <a:lnTo>
                  <a:pt x="264973" y="944706"/>
                </a:lnTo>
                <a:lnTo>
                  <a:pt x="223616" y="917665"/>
                </a:lnTo>
                <a:lnTo>
                  <a:pt x="186048" y="885854"/>
                </a:lnTo>
                <a:lnTo>
                  <a:pt x="151192" y="851542"/>
                </a:lnTo>
                <a:lnTo>
                  <a:pt x="117337" y="816310"/>
                </a:lnTo>
                <a:lnTo>
                  <a:pt x="83892" y="779904"/>
                </a:lnTo>
                <a:lnTo>
                  <a:pt x="52554" y="740687"/>
                </a:lnTo>
                <a:lnTo>
                  <a:pt x="26727" y="697244"/>
                </a:lnTo>
                <a:lnTo>
                  <a:pt x="9433" y="649731"/>
                </a:lnTo>
                <a:lnTo>
                  <a:pt x="1258" y="599853"/>
                </a:lnTo>
                <a:lnTo>
                  <a:pt x="0" y="549632"/>
                </a:lnTo>
                <a:lnTo>
                  <a:pt x="2323" y="500129"/>
                </a:lnTo>
                <a:lnTo>
                  <a:pt x="6158" y="451234"/>
                </a:lnTo>
                <a:lnTo>
                  <a:pt x="11962" y="402535"/>
                </a:lnTo>
                <a:lnTo>
                  <a:pt x="21933" y="354319"/>
                </a:lnTo>
                <a:lnTo>
                  <a:pt x="37931" y="307655"/>
                </a:lnTo>
                <a:lnTo>
                  <a:pt x="59897" y="263497"/>
                </a:lnTo>
                <a:lnTo>
                  <a:pt x="86021" y="221777"/>
                </a:lnTo>
                <a:lnTo>
                  <a:pt x="114392" y="181532"/>
                </a:lnTo>
                <a:lnTo>
                  <a:pt x="144630" y="142155"/>
                </a:lnTo>
                <a:lnTo>
                  <a:pt x="178080" y="104696"/>
                </a:lnTo>
                <a:lnTo>
                  <a:pt x="216464" y="71890"/>
                </a:lnTo>
                <a:lnTo>
                  <a:pt x="260191" y="46605"/>
                </a:lnTo>
                <a:lnTo>
                  <a:pt x="307790" y="29805"/>
                </a:lnTo>
                <a:lnTo>
                  <a:pt x="356870" y="19707"/>
                </a:lnTo>
                <a:lnTo>
                  <a:pt x="405699" y="12951"/>
                </a:lnTo>
                <a:lnTo>
                  <a:pt x="454034" y="6990"/>
                </a:lnTo>
                <a:lnTo>
                  <a:pt x="502604" y="1867"/>
                </a:lnTo>
                <a:lnTo>
                  <a:pt x="551863" y="0"/>
                </a:lnTo>
                <a:lnTo>
                  <a:pt x="601249" y="4210"/>
                </a:lnTo>
                <a:lnTo>
                  <a:pt x="649582" y="15608"/>
                </a:lnTo>
                <a:lnTo>
                  <a:pt x="696088" y="33018"/>
                </a:lnTo>
                <a:lnTo>
                  <a:pt x="740919" y="54274"/>
                </a:lnTo>
                <a:lnTo>
                  <a:pt x="784547" y="78172"/>
                </a:lnTo>
                <a:lnTo>
                  <a:pt x="826564" y="105384"/>
                </a:lnTo>
                <a:lnTo>
                  <a:pt x="865123" y="137611"/>
                </a:lnTo>
                <a:lnTo>
                  <a:pt x="897807" y="175795"/>
                </a:lnTo>
                <a:lnTo>
                  <a:pt x="923385" y="218973"/>
                </a:lnTo>
                <a:lnTo>
                  <a:pt x="942985" y="264741"/>
                </a:lnTo>
                <a:lnTo>
                  <a:pt x="959522" y="310868"/>
                </a:lnTo>
                <a:lnTo>
                  <a:pt x="975608" y="356645"/>
                </a:lnTo>
                <a:lnTo>
                  <a:pt x="991508" y="402880"/>
                </a:lnTo>
                <a:lnTo>
                  <a:pt x="1004788" y="450669"/>
                </a:lnTo>
                <a:lnTo>
                  <a:pt x="1011973" y="500129"/>
                </a:lnTo>
                <a:close/>
              </a:path>
            </a:pathLst>
          </a:custGeom>
          <a:solidFill xmlns:a="http://schemas.openxmlformats.org/drawingml/2006/main">
            <a:srgbClr val="F8F6F2"/>
          </a:solidFill>
          <a:ln xmlns:a="http://schemas.openxmlformats.org/drawingml/2006/main" w="19050">
            <a:solidFill>
              <a:srgbClr val="287B95"/>
            </a:solidFill>
          </a:ln>
        </p:spPr>
      </p:sp>
      <p:sp>
        <p:nvSpPr>
          <p:cNvPr id="9" name="">
            <a:extLst xmlns:a="http://schemas.openxmlformats.org/drawingml/2006/main">
              <a:ext uri="{FF2B5EF4-FFF2-40B4-BE49-F238E27FC236}">
                <a16:creationId xmlns:a16="http://schemas.microsoft.com/office/drawing/2014/main" id="{1F54017C-5E59-48A7-B614-B5379ECD2EB8}"/>
              </a:ext>
            </a:extLst>
          </p:cNvPr>
          <p:cNvSpPr>
            <a:spLocks xmlns:a="http://schemas.openxmlformats.org/drawingml/2006/main" noGrp="1"/>
          </p:cNvSpPr>
          <p:nvPr/>
        </p:nvSpPr>
        <p:spPr>
          <a:xfrm xmlns:a="http://schemas.openxmlformats.org/drawingml/2006/main">
            <a:off x="3930316" y="2874645"/>
            <a:ext cx="866274" cy="579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209" b="0">
                <a:solidFill>
                  <a:srgbClr val="287B95"/>
                </a:solidFill>
                <a:latin typeface="Chalkboard"/>
                <a:ea typeface="Chalkboard"/>
                <a:cs typeface="Chalkboard"/>
              </a:defRPr>
            </a:pPr>
            <a:r>
              <a:rPr sz="2209" b="0">
                <a:solidFill>
                  <a:srgbClr val="287B95"/>
                </a:solidFill>
                <a:latin typeface="Chalkboard"/>
                <a:ea typeface="Chalkboard"/>
                <a:cs typeface="Chalkboard"/>
              </a:rPr>
              <a:t>0.5</a:t>
            </a:r>
          </a:p>
        </p:txBody>
      </p:sp>
      <p:sp>
        <p:nvSpPr>
          <p:cNvPr id="10" name="">
            <a:extLst xmlns:a="http://schemas.openxmlformats.org/drawingml/2006/main">
              <a:ext uri="{FF2B5EF4-FFF2-40B4-BE49-F238E27FC236}">
                <a16:creationId xmlns:a16="http://schemas.microsoft.com/office/drawing/2014/main" id="{55B1DC90-5457-4DAC-B048-1FA74D656341}"/>
              </a:ext>
            </a:extLst>
          </p:cNvPr>
          <p:cNvSpPr>
            <a:spLocks xmlns:a="http://schemas.openxmlformats.org/drawingml/2006/main" noGrp="1"/>
          </p:cNvSpPr>
          <p:nvPr/>
        </p:nvSpPr>
        <p:spPr>
          <a:xfrm xmlns:a="http://schemas.openxmlformats.org/drawingml/2006/main">
            <a:off x="4904874" y="3157598"/>
            <a:ext cx="1786689" cy="13243"/>
          </a:xfrm>
          <a:custGeom xmlns:a="http://schemas.openxmlformats.org/drawingml/2006/main">
            <a:pathLst>
              <a:path w="1885950" h="13940">
                <a:moveTo>
                  <a:pt x="0" y="6955"/>
                </a:moveTo>
                <a:lnTo>
                  <a:pt x="154658" y="4451"/>
                </a:lnTo>
                <a:lnTo>
                  <a:pt x="319317" y="11947"/>
                </a:lnTo>
                <a:lnTo>
                  <a:pt x="466337" y="1805"/>
                </a:lnTo>
                <a:lnTo>
                  <a:pt x="635635" y="13940"/>
                </a:lnTo>
                <a:lnTo>
                  <a:pt x="792536" y="13678"/>
                </a:lnTo>
                <a:lnTo>
                  <a:pt x="947189" y="11169"/>
                </a:lnTo>
                <a:lnTo>
                  <a:pt x="1097693" y="4510"/>
                </a:lnTo>
                <a:lnTo>
                  <a:pt x="1262574" y="12229"/>
                </a:lnTo>
                <a:lnTo>
                  <a:pt x="1415981" y="8473"/>
                </a:lnTo>
                <a:lnTo>
                  <a:pt x="1573383" y="8713"/>
                </a:lnTo>
                <a:lnTo>
                  <a:pt x="1721833" y="0"/>
                </a:lnTo>
                <a:lnTo>
                  <a:pt x="1885950" y="6955"/>
                </a:lnTo>
              </a:path>
            </a:pathLst>
          </a:custGeom>
          <a:noFill xmlns:a="http://schemas.openxmlformats.org/drawingml/2006/main"/>
          <a:ln xmlns:a="http://schemas.openxmlformats.org/drawingml/2006/main" w="19050">
            <a:solidFill>
              <a:srgbClr val="287B95"/>
            </a:solidFill>
          </a:ln>
        </p:spPr>
      </p:sp>
      <p:sp>
        <p:nvSpPr>
          <p:cNvPr id="11" name="">
            <a:extLst xmlns:a="http://schemas.openxmlformats.org/drawingml/2006/main">
              <a:ext uri="{FF2B5EF4-FFF2-40B4-BE49-F238E27FC236}">
                <a16:creationId xmlns:a16="http://schemas.microsoft.com/office/drawing/2014/main" id="{A5F87E6A-38AD-430F-9BCE-498C0B35D7AD}"/>
              </a:ext>
            </a:extLst>
          </p:cNvPr>
          <p:cNvSpPr>
            <a:spLocks xmlns:a="http://schemas.openxmlformats.org/drawingml/2006/main" noGrp="1"/>
          </p:cNvSpPr>
          <p:nvPr/>
        </p:nvSpPr>
        <p:spPr>
          <a:xfrm xmlns:a="http://schemas.openxmlformats.org/drawingml/2006/main">
            <a:off x="6602185" y="3120910"/>
            <a:ext cx="89379" cy="86590"/>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287B95"/>
            </a:solidFill>
          </a:ln>
        </p:spPr>
      </p:sp>
      <p:sp>
        <p:nvSpPr>
          <p:cNvPr id="12" name="">
            <a:extLst xmlns:a="http://schemas.openxmlformats.org/drawingml/2006/main">
              <a:ext uri="{FF2B5EF4-FFF2-40B4-BE49-F238E27FC236}">
                <a16:creationId xmlns:a16="http://schemas.microsoft.com/office/drawing/2014/main" id="{1A79D3D8-BAEC-46FB-A0BA-847D60AEF83A}"/>
              </a:ext>
            </a:extLst>
          </p:cNvPr>
          <p:cNvSpPr>
            <a:spLocks xmlns:a="http://schemas.openxmlformats.org/drawingml/2006/main" noGrp="1"/>
          </p:cNvSpPr>
          <p:nvPr/>
        </p:nvSpPr>
        <p:spPr>
          <a:xfrm xmlns:a="http://schemas.openxmlformats.org/drawingml/2006/main">
            <a:off x="6756833" y="2689082"/>
            <a:ext cx="958711" cy="961190"/>
          </a:xfrm>
          <a:custGeom xmlns:a="http://schemas.openxmlformats.org/drawingml/2006/main">
            <a:pathLst>
              <a:path w="1011973" h="1011779">
                <a:moveTo>
                  <a:pt x="1011973" y="500129"/>
                </a:moveTo>
                <a:lnTo>
                  <a:pt x="1010946" y="550197"/>
                </a:lnTo>
                <a:lnTo>
                  <a:pt x="1002212" y="599507"/>
                </a:lnTo>
                <a:lnTo>
                  <a:pt x="988107" y="647405"/>
                </a:lnTo>
                <a:lnTo>
                  <a:pt x="970726" y="694031"/>
                </a:lnTo>
                <a:lnTo>
                  <a:pt x="950329" y="739443"/>
                </a:lnTo>
                <a:lnTo>
                  <a:pt x="925514" y="782709"/>
                </a:lnTo>
                <a:lnTo>
                  <a:pt x="894862" y="822047"/>
                </a:lnTo>
                <a:lnTo>
                  <a:pt x="858560" y="856085"/>
                </a:lnTo>
                <a:lnTo>
                  <a:pt x="818595" y="885166"/>
                </a:lnTo>
                <a:lnTo>
                  <a:pt x="777395" y="911383"/>
                </a:lnTo>
                <a:lnTo>
                  <a:pt x="736136" y="937037"/>
                </a:lnTo>
                <a:lnTo>
                  <a:pt x="694166" y="962600"/>
                </a:lnTo>
                <a:lnTo>
                  <a:pt x="649956" y="985882"/>
                </a:lnTo>
                <a:lnTo>
                  <a:pt x="602672" y="1003201"/>
                </a:lnTo>
                <a:lnTo>
                  <a:pt x="552997" y="1011779"/>
                </a:lnTo>
                <a:lnTo>
                  <a:pt x="502604" y="1011517"/>
                </a:lnTo>
                <a:lnTo>
                  <a:pt x="452900" y="1004788"/>
                </a:lnTo>
                <a:lnTo>
                  <a:pt x="404276" y="994460"/>
                </a:lnTo>
                <a:lnTo>
                  <a:pt x="356496" y="981783"/>
                </a:lnTo>
                <a:lnTo>
                  <a:pt x="309712" y="965813"/>
                </a:lnTo>
                <a:lnTo>
                  <a:pt x="264973" y="944706"/>
                </a:lnTo>
                <a:lnTo>
                  <a:pt x="223616" y="917665"/>
                </a:lnTo>
                <a:lnTo>
                  <a:pt x="186048" y="885854"/>
                </a:lnTo>
                <a:lnTo>
                  <a:pt x="151192" y="851542"/>
                </a:lnTo>
                <a:lnTo>
                  <a:pt x="117337" y="816310"/>
                </a:lnTo>
                <a:lnTo>
                  <a:pt x="83892" y="779904"/>
                </a:lnTo>
                <a:lnTo>
                  <a:pt x="52554" y="740687"/>
                </a:lnTo>
                <a:lnTo>
                  <a:pt x="26727" y="697244"/>
                </a:lnTo>
                <a:lnTo>
                  <a:pt x="9433" y="649731"/>
                </a:lnTo>
                <a:lnTo>
                  <a:pt x="1258" y="599853"/>
                </a:lnTo>
                <a:lnTo>
                  <a:pt x="0" y="549632"/>
                </a:lnTo>
                <a:lnTo>
                  <a:pt x="2323" y="500129"/>
                </a:lnTo>
                <a:lnTo>
                  <a:pt x="6158" y="451234"/>
                </a:lnTo>
                <a:lnTo>
                  <a:pt x="11962" y="402535"/>
                </a:lnTo>
                <a:lnTo>
                  <a:pt x="21933" y="354319"/>
                </a:lnTo>
                <a:lnTo>
                  <a:pt x="37931" y="307655"/>
                </a:lnTo>
                <a:lnTo>
                  <a:pt x="59897" y="263497"/>
                </a:lnTo>
                <a:lnTo>
                  <a:pt x="86021" y="221777"/>
                </a:lnTo>
                <a:lnTo>
                  <a:pt x="114392" y="181532"/>
                </a:lnTo>
                <a:lnTo>
                  <a:pt x="144630" y="142155"/>
                </a:lnTo>
                <a:lnTo>
                  <a:pt x="178080" y="104696"/>
                </a:lnTo>
                <a:lnTo>
                  <a:pt x="216464" y="71890"/>
                </a:lnTo>
                <a:lnTo>
                  <a:pt x="260191" y="46605"/>
                </a:lnTo>
                <a:lnTo>
                  <a:pt x="307790" y="29805"/>
                </a:lnTo>
                <a:lnTo>
                  <a:pt x="356870" y="19707"/>
                </a:lnTo>
                <a:lnTo>
                  <a:pt x="405699" y="12951"/>
                </a:lnTo>
                <a:lnTo>
                  <a:pt x="454034" y="6990"/>
                </a:lnTo>
                <a:lnTo>
                  <a:pt x="502604" y="1867"/>
                </a:lnTo>
                <a:lnTo>
                  <a:pt x="551863" y="0"/>
                </a:lnTo>
                <a:lnTo>
                  <a:pt x="601249" y="4210"/>
                </a:lnTo>
                <a:lnTo>
                  <a:pt x="649582" y="15608"/>
                </a:lnTo>
                <a:lnTo>
                  <a:pt x="696088" y="33018"/>
                </a:lnTo>
                <a:lnTo>
                  <a:pt x="740919" y="54274"/>
                </a:lnTo>
                <a:lnTo>
                  <a:pt x="784547" y="78172"/>
                </a:lnTo>
                <a:lnTo>
                  <a:pt x="826564" y="105384"/>
                </a:lnTo>
                <a:lnTo>
                  <a:pt x="865123" y="137611"/>
                </a:lnTo>
                <a:lnTo>
                  <a:pt x="897807" y="175795"/>
                </a:lnTo>
                <a:lnTo>
                  <a:pt x="923385" y="218973"/>
                </a:lnTo>
                <a:lnTo>
                  <a:pt x="942985" y="264741"/>
                </a:lnTo>
                <a:lnTo>
                  <a:pt x="959522" y="310868"/>
                </a:lnTo>
                <a:lnTo>
                  <a:pt x="975608" y="356645"/>
                </a:lnTo>
                <a:lnTo>
                  <a:pt x="991508" y="402880"/>
                </a:lnTo>
                <a:lnTo>
                  <a:pt x="1004788" y="450669"/>
                </a:lnTo>
                <a:lnTo>
                  <a:pt x="1011973" y="500129"/>
                </a:lnTo>
                <a:close/>
              </a:path>
            </a:pathLst>
          </a:custGeom>
          <a:solidFill xmlns:a="http://schemas.openxmlformats.org/drawingml/2006/main">
            <a:srgbClr val="F8F6F2"/>
          </a:solidFill>
          <a:ln xmlns:a="http://schemas.openxmlformats.org/drawingml/2006/main" w="19050">
            <a:solidFill>
              <a:srgbClr val="287B95"/>
            </a:solidFill>
          </a:ln>
        </p:spPr>
      </p:sp>
      <p:sp>
        <p:nvSpPr>
          <p:cNvPr id="13" name="">
            <a:extLst xmlns:a="http://schemas.openxmlformats.org/drawingml/2006/main">
              <a:ext uri="{FF2B5EF4-FFF2-40B4-BE49-F238E27FC236}">
                <a16:creationId xmlns:a16="http://schemas.microsoft.com/office/drawing/2014/main" id="{3A75C468-AA1B-4791-BDAE-78AC8E5D46FF}"/>
              </a:ext>
            </a:extLst>
          </p:cNvPr>
          <p:cNvSpPr>
            <a:spLocks xmlns:a="http://schemas.openxmlformats.org/drawingml/2006/main" noGrp="1"/>
          </p:cNvSpPr>
          <p:nvPr/>
        </p:nvSpPr>
        <p:spPr>
          <a:xfrm xmlns:a="http://schemas.openxmlformats.org/drawingml/2006/main">
            <a:off x="6799847" y="2874645"/>
            <a:ext cx="866274" cy="579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none">
            <a:noAutofit/>
          </a:bodyPr>
          <a:lstStyle xmlns:a="http://schemas.openxmlformats.org/drawingml/2006/main"/>
          <a:p xmlns:a="http://schemas.openxmlformats.org/drawingml/2006/main">
            <a:pPr algn="ctr">
              <a:buNone/>
              <a:defRPr sz="2000" b="0">
                <a:solidFill>
                  <a:srgbClr val="287B95"/>
                </a:solidFill>
                <a:latin typeface="Chalkboard"/>
                <a:ea typeface="Chalkboard"/>
                <a:cs typeface="Chalkboard"/>
              </a:defRPr>
            </a:pPr>
            <a:r>
              <a:rPr sz="2000" b="0">
                <a:solidFill>
                  <a:srgbClr val="287B95"/>
                </a:solidFill>
                <a:latin typeface="Chalkboard"/>
                <a:ea typeface="Chalkboard"/>
                <a:cs typeface="Chalkboard"/>
              </a:rPr>
              <a:t>0.6225</a:t>
            </a:r>
          </a:p>
        </p:txBody>
      </p:sp>
      <p:sp>
        <p:nvSpPr>
          <p:cNvPr id="14" name="">
            <a:extLst xmlns:a="http://schemas.openxmlformats.org/drawingml/2006/main">
              <a:ext uri="{FF2B5EF4-FFF2-40B4-BE49-F238E27FC236}">
                <a16:creationId xmlns:a16="http://schemas.microsoft.com/office/drawing/2014/main" id="{72786B10-3849-42A1-A44C-332D5A14AC3C}"/>
              </a:ext>
            </a:extLst>
          </p:cNvPr>
          <p:cNvSpPr>
            <a:spLocks xmlns:a="http://schemas.openxmlformats.org/drawingml/2006/main" noGrp="1"/>
          </p:cNvSpPr>
          <p:nvPr/>
        </p:nvSpPr>
        <p:spPr>
          <a:xfrm xmlns:a="http://schemas.openxmlformats.org/drawingml/2006/main">
            <a:off x="7774405" y="3158078"/>
            <a:ext cx="1786689" cy="13856"/>
          </a:xfrm>
          <a:custGeom xmlns:a="http://schemas.openxmlformats.org/drawingml/2006/main">
            <a:pathLst>
              <a:path w="1885950" h="14585">
                <a:moveTo>
                  <a:pt x="0" y="6449"/>
                </a:moveTo>
                <a:lnTo>
                  <a:pt x="165298" y="14585"/>
                </a:lnTo>
                <a:lnTo>
                  <a:pt x="318832" y="10956"/>
                </a:lnTo>
                <a:lnTo>
                  <a:pt x="479377" y="14338"/>
                </a:lnTo>
                <a:lnTo>
                  <a:pt x="626886" y="4685"/>
                </a:lnTo>
                <a:lnTo>
                  <a:pt x="785773" y="6410"/>
                </a:lnTo>
                <a:lnTo>
                  <a:pt x="936526" y="0"/>
                </a:lnTo>
                <a:lnTo>
                  <a:pt x="1104978" y="11290"/>
                </a:lnTo>
                <a:lnTo>
                  <a:pt x="1261777" y="10926"/>
                </a:lnTo>
                <a:lnTo>
                  <a:pt x="1412196" y="4182"/>
                </a:lnTo>
                <a:lnTo>
                  <a:pt x="1572499" y="7323"/>
                </a:lnTo>
                <a:lnTo>
                  <a:pt x="1731495" y="9156"/>
                </a:lnTo>
                <a:lnTo>
                  <a:pt x="1885950" y="6449"/>
                </a:lnTo>
              </a:path>
            </a:pathLst>
          </a:custGeom>
          <a:noFill xmlns:a="http://schemas.openxmlformats.org/drawingml/2006/main"/>
          <a:ln xmlns:a="http://schemas.openxmlformats.org/drawingml/2006/main" w="19050">
            <a:solidFill>
              <a:srgbClr val="287B95"/>
            </a:solidFill>
          </a:ln>
        </p:spPr>
      </p:sp>
      <p:sp>
        <p:nvSpPr>
          <p:cNvPr id="15" name="">
            <a:extLst xmlns:a="http://schemas.openxmlformats.org/drawingml/2006/main">
              <a:ext uri="{FF2B5EF4-FFF2-40B4-BE49-F238E27FC236}">
                <a16:creationId xmlns:a16="http://schemas.microsoft.com/office/drawing/2014/main" id="{8F106B52-8516-4F1A-B115-40E4C56326E7}"/>
              </a:ext>
            </a:extLst>
          </p:cNvPr>
          <p:cNvSpPr>
            <a:spLocks xmlns:a="http://schemas.openxmlformats.org/drawingml/2006/main" noGrp="1"/>
          </p:cNvSpPr>
          <p:nvPr/>
        </p:nvSpPr>
        <p:spPr>
          <a:xfrm xmlns:a="http://schemas.openxmlformats.org/drawingml/2006/main">
            <a:off x="9471716" y="3120910"/>
            <a:ext cx="89379" cy="86590"/>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287B95"/>
            </a:solidFill>
          </a:ln>
        </p:spPr>
      </p:sp>
      <p:sp>
        <p:nvSpPr>
          <p:cNvPr id="16" name="">
            <a:extLst xmlns:a="http://schemas.openxmlformats.org/drawingml/2006/main">
              <a:ext uri="{FF2B5EF4-FFF2-40B4-BE49-F238E27FC236}">
                <a16:creationId xmlns:a16="http://schemas.microsoft.com/office/drawing/2014/main" id="{F6DA2C23-7FBB-429D-B1B0-81453CA9ACDD}"/>
              </a:ext>
            </a:extLst>
          </p:cNvPr>
          <p:cNvSpPr>
            <a:spLocks xmlns:a="http://schemas.openxmlformats.org/drawingml/2006/main" noGrp="1"/>
          </p:cNvSpPr>
          <p:nvPr/>
        </p:nvSpPr>
        <p:spPr>
          <a:xfrm xmlns:a="http://schemas.openxmlformats.org/drawingml/2006/main">
            <a:off x="9626365" y="2689082"/>
            <a:ext cx="958711" cy="961190"/>
          </a:xfrm>
          <a:custGeom xmlns:a="http://schemas.openxmlformats.org/drawingml/2006/main">
            <a:pathLst>
              <a:path w="1011973" h="1011779">
                <a:moveTo>
                  <a:pt x="1011973" y="500129"/>
                </a:moveTo>
                <a:lnTo>
                  <a:pt x="1010946" y="550197"/>
                </a:lnTo>
                <a:lnTo>
                  <a:pt x="1002212" y="599507"/>
                </a:lnTo>
                <a:lnTo>
                  <a:pt x="988107" y="647405"/>
                </a:lnTo>
                <a:lnTo>
                  <a:pt x="970726" y="694031"/>
                </a:lnTo>
                <a:lnTo>
                  <a:pt x="950329" y="739443"/>
                </a:lnTo>
                <a:lnTo>
                  <a:pt x="925514" y="782709"/>
                </a:lnTo>
                <a:lnTo>
                  <a:pt x="894862" y="822047"/>
                </a:lnTo>
                <a:lnTo>
                  <a:pt x="858560" y="856085"/>
                </a:lnTo>
                <a:lnTo>
                  <a:pt x="818595" y="885166"/>
                </a:lnTo>
                <a:lnTo>
                  <a:pt x="777395" y="911383"/>
                </a:lnTo>
                <a:lnTo>
                  <a:pt x="736136" y="937037"/>
                </a:lnTo>
                <a:lnTo>
                  <a:pt x="694166" y="962600"/>
                </a:lnTo>
                <a:lnTo>
                  <a:pt x="649956" y="985882"/>
                </a:lnTo>
                <a:lnTo>
                  <a:pt x="602672" y="1003201"/>
                </a:lnTo>
                <a:lnTo>
                  <a:pt x="552997" y="1011779"/>
                </a:lnTo>
                <a:lnTo>
                  <a:pt x="502604" y="1011517"/>
                </a:lnTo>
                <a:lnTo>
                  <a:pt x="452900" y="1004788"/>
                </a:lnTo>
                <a:lnTo>
                  <a:pt x="404276" y="994460"/>
                </a:lnTo>
                <a:lnTo>
                  <a:pt x="356496" y="981783"/>
                </a:lnTo>
                <a:lnTo>
                  <a:pt x="309712" y="965813"/>
                </a:lnTo>
                <a:lnTo>
                  <a:pt x="264973" y="944706"/>
                </a:lnTo>
                <a:lnTo>
                  <a:pt x="223616" y="917665"/>
                </a:lnTo>
                <a:lnTo>
                  <a:pt x="186048" y="885854"/>
                </a:lnTo>
                <a:lnTo>
                  <a:pt x="151192" y="851542"/>
                </a:lnTo>
                <a:lnTo>
                  <a:pt x="117337" y="816310"/>
                </a:lnTo>
                <a:lnTo>
                  <a:pt x="83892" y="779904"/>
                </a:lnTo>
                <a:lnTo>
                  <a:pt x="52554" y="740687"/>
                </a:lnTo>
                <a:lnTo>
                  <a:pt x="26727" y="697244"/>
                </a:lnTo>
                <a:lnTo>
                  <a:pt x="9433" y="649731"/>
                </a:lnTo>
                <a:lnTo>
                  <a:pt x="1258" y="599853"/>
                </a:lnTo>
                <a:lnTo>
                  <a:pt x="0" y="549632"/>
                </a:lnTo>
                <a:lnTo>
                  <a:pt x="2323" y="500129"/>
                </a:lnTo>
                <a:lnTo>
                  <a:pt x="6158" y="451234"/>
                </a:lnTo>
                <a:lnTo>
                  <a:pt x="11962" y="402535"/>
                </a:lnTo>
                <a:lnTo>
                  <a:pt x="21933" y="354319"/>
                </a:lnTo>
                <a:lnTo>
                  <a:pt x="37931" y="307655"/>
                </a:lnTo>
                <a:lnTo>
                  <a:pt x="59897" y="263497"/>
                </a:lnTo>
                <a:lnTo>
                  <a:pt x="86021" y="221777"/>
                </a:lnTo>
                <a:lnTo>
                  <a:pt x="114392" y="181532"/>
                </a:lnTo>
                <a:lnTo>
                  <a:pt x="144630" y="142155"/>
                </a:lnTo>
                <a:lnTo>
                  <a:pt x="178080" y="104696"/>
                </a:lnTo>
                <a:lnTo>
                  <a:pt x="216464" y="71890"/>
                </a:lnTo>
                <a:lnTo>
                  <a:pt x="260191" y="46605"/>
                </a:lnTo>
                <a:lnTo>
                  <a:pt x="307790" y="29805"/>
                </a:lnTo>
                <a:lnTo>
                  <a:pt x="356870" y="19707"/>
                </a:lnTo>
                <a:lnTo>
                  <a:pt x="405699" y="12951"/>
                </a:lnTo>
                <a:lnTo>
                  <a:pt x="454034" y="6990"/>
                </a:lnTo>
                <a:lnTo>
                  <a:pt x="502604" y="1867"/>
                </a:lnTo>
                <a:lnTo>
                  <a:pt x="551863" y="0"/>
                </a:lnTo>
                <a:lnTo>
                  <a:pt x="601249" y="4210"/>
                </a:lnTo>
                <a:lnTo>
                  <a:pt x="649582" y="15608"/>
                </a:lnTo>
                <a:lnTo>
                  <a:pt x="696088" y="33018"/>
                </a:lnTo>
                <a:lnTo>
                  <a:pt x="740919" y="54274"/>
                </a:lnTo>
                <a:lnTo>
                  <a:pt x="784547" y="78172"/>
                </a:lnTo>
                <a:lnTo>
                  <a:pt x="826564" y="105384"/>
                </a:lnTo>
                <a:lnTo>
                  <a:pt x="865123" y="137611"/>
                </a:lnTo>
                <a:lnTo>
                  <a:pt x="897807" y="175795"/>
                </a:lnTo>
                <a:lnTo>
                  <a:pt x="923385" y="218973"/>
                </a:lnTo>
                <a:lnTo>
                  <a:pt x="942985" y="264741"/>
                </a:lnTo>
                <a:lnTo>
                  <a:pt x="959522" y="310868"/>
                </a:lnTo>
                <a:lnTo>
                  <a:pt x="975608" y="356645"/>
                </a:lnTo>
                <a:lnTo>
                  <a:pt x="991508" y="402880"/>
                </a:lnTo>
                <a:lnTo>
                  <a:pt x="1004788" y="450669"/>
                </a:lnTo>
                <a:lnTo>
                  <a:pt x="1011973" y="500129"/>
                </a:lnTo>
                <a:close/>
              </a:path>
            </a:pathLst>
          </a:custGeom>
          <a:solidFill xmlns:a="http://schemas.openxmlformats.org/drawingml/2006/main">
            <a:srgbClr val="F8F6F2"/>
          </a:solidFill>
          <a:ln xmlns:a="http://schemas.openxmlformats.org/drawingml/2006/main" w="19050">
            <a:solidFill>
              <a:srgbClr val="A45F57"/>
            </a:solidFill>
          </a:ln>
        </p:spPr>
      </p:sp>
      <p:sp>
        <p:nvSpPr>
          <p:cNvPr id="17" name="">
            <a:extLst xmlns:a="http://schemas.openxmlformats.org/drawingml/2006/main">
              <a:ext uri="{FF2B5EF4-FFF2-40B4-BE49-F238E27FC236}">
                <a16:creationId xmlns:a16="http://schemas.microsoft.com/office/drawing/2014/main" id="{4A2E6250-AAED-406F-B685-955B5E5B5ABB}"/>
              </a:ext>
            </a:extLst>
          </p:cNvPr>
          <p:cNvSpPr>
            <a:spLocks xmlns:a="http://schemas.openxmlformats.org/drawingml/2006/main" noGrp="1"/>
          </p:cNvSpPr>
          <p:nvPr/>
        </p:nvSpPr>
        <p:spPr>
          <a:xfrm xmlns:a="http://schemas.openxmlformats.org/drawingml/2006/main">
            <a:off x="9669379" y="2874645"/>
            <a:ext cx="866274" cy="579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wrap="none">
            <a:noAutofit/>
          </a:bodyPr>
          <a:lstStyle xmlns:a="http://schemas.openxmlformats.org/drawingml/2006/main"/>
          <a:p xmlns:a="http://schemas.openxmlformats.org/drawingml/2006/main">
            <a:pPr algn="ctr">
              <a:buNone/>
              <a:defRPr sz="2000" b="0">
                <a:solidFill>
                  <a:srgbClr val="A45F57"/>
                </a:solidFill>
                <a:latin typeface="Chalkboard"/>
                <a:ea typeface="Chalkboard"/>
                <a:cs typeface="Chalkboard"/>
              </a:defRPr>
            </a:pPr>
            <a:r>
              <a:rPr sz="2000" b="0">
                <a:solidFill>
                  <a:srgbClr val="A45F57"/>
                </a:solidFill>
                <a:latin typeface="Chalkboard"/>
                <a:ea typeface="Chalkboard"/>
                <a:cs typeface="Chalkboard"/>
              </a:rPr>
              <a:t>0.4741</a:t>
            </a:r>
          </a:p>
        </p:txBody>
      </p:sp>
      <p:sp>
        <p:nvSpPr>
          <p:cNvPr id="18" name="">
            <a:extLst xmlns:a="http://schemas.openxmlformats.org/drawingml/2006/main">
              <a:ext uri="{FF2B5EF4-FFF2-40B4-BE49-F238E27FC236}">
                <a16:creationId xmlns:a16="http://schemas.microsoft.com/office/drawing/2014/main" id="{3C3F7094-341F-493D-8508-E848C3C1D6B2}"/>
              </a:ext>
            </a:extLst>
          </p:cNvPr>
          <p:cNvSpPr>
            <a:spLocks xmlns:a="http://schemas.openxmlformats.org/drawingml/2006/main" noGrp="1"/>
          </p:cNvSpPr>
          <p:nvPr/>
        </p:nvSpPr>
        <p:spPr>
          <a:xfrm xmlns:a="http://schemas.openxmlformats.org/drawingml/2006/main">
            <a:off x="591553" y="2132648"/>
            <a:ext cx="1849855"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852" b="0">
                <a:solidFill>
                  <a:srgbClr val="272729"/>
                </a:solidFill>
                <a:latin typeface="Chalkboard"/>
                <a:ea typeface="Chalkboard"/>
                <a:cs typeface="Chalkboard"/>
              </a:defRPr>
            </a:pPr>
            <a:r>
              <a:rPr sz="1852" b="0">
                <a:solidFill>
                  <a:srgbClr val="272729"/>
                </a:solidFill>
                <a:latin typeface="Chalkboard"/>
                <a:ea typeface="Chalkboard"/>
                <a:cs typeface="Chalkboard"/>
              </a:rPr>
              <a:t>Input x</a:t>
            </a:r>
          </a:p>
        </p:txBody>
      </p:sp>
      <p:sp>
        <p:nvSpPr>
          <p:cNvPr id="19" name="">
            <a:extLst xmlns:a="http://schemas.openxmlformats.org/drawingml/2006/main">
              <a:ext uri="{FF2B5EF4-FFF2-40B4-BE49-F238E27FC236}">
                <a16:creationId xmlns:a16="http://schemas.microsoft.com/office/drawing/2014/main" id="{CB061533-FA79-40BD-8579-6EDB238A3263}"/>
              </a:ext>
            </a:extLst>
          </p:cNvPr>
          <p:cNvSpPr>
            <a:spLocks xmlns:a="http://schemas.openxmlformats.org/drawingml/2006/main" noGrp="1"/>
          </p:cNvSpPr>
          <p:nvPr/>
        </p:nvSpPr>
        <p:spPr>
          <a:xfrm xmlns:a="http://schemas.openxmlformats.org/drawingml/2006/main">
            <a:off x="3461084" y="2132648"/>
            <a:ext cx="1849855"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852" b="0">
                <a:solidFill>
                  <a:srgbClr val="272729"/>
                </a:solidFill>
                <a:latin typeface="Chalkboard"/>
                <a:ea typeface="Chalkboard"/>
                <a:cs typeface="Chalkboard"/>
              </a:defRPr>
            </a:pPr>
            <a:r>
              <a:rPr sz="1852" b="0">
                <a:solidFill>
                  <a:srgbClr val="272729"/>
                </a:solidFill>
                <a:latin typeface="Chalkboard"/>
                <a:ea typeface="Chalkboard"/>
                <a:cs typeface="Chalkboard"/>
              </a:rPr>
              <a:t>ReLU hidden h</a:t>
            </a:r>
          </a:p>
        </p:txBody>
      </p:sp>
      <p:sp>
        <p:nvSpPr>
          <p:cNvPr id="20" name="">
            <a:extLst xmlns:a="http://schemas.openxmlformats.org/drawingml/2006/main">
              <a:ext uri="{FF2B5EF4-FFF2-40B4-BE49-F238E27FC236}">
                <a16:creationId xmlns:a16="http://schemas.microsoft.com/office/drawing/2014/main" id="{4419B116-5CF3-4797-AC4F-B4F90031F4D9}"/>
              </a:ext>
            </a:extLst>
          </p:cNvPr>
          <p:cNvSpPr>
            <a:spLocks xmlns:a="http://schemas.openxmlformats.org/drawingml/2006/main" noGrp="1"/>
          </p:cNvSpPr>
          <p:nvPr/>
        </p:nvSpPr>
        <p:spPr>
          <a:xfrm xmlns:a="http://schemas.openxmlformats.org/drawingml/2006/main">
            <a:off x="6330616" y="2132648"/>
            <a:ext cx="1849855"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852" b="0">
                <a:solidFill>
                  <a:srgbClr val="272729"/>
                </a:solidFill>
                <a:latin typeface="Chalkboard"/>
                <a:ea typeface="Chalkboard"/>
                <a:cs typeface="Chalkboard"/>
              </a:defRPr>
            </a:pPr>
            <a:r>
              <a:rPr sz="1852" b="0">
                <a:solidFill>
                  <a:srgbClr val="272729"/>
                </a:solidFill>
                <a:latin typeface="Chalkboard"/>
                <a:ea typeface="Chalkboard"/>
                <a:cs typeface="Chalkboard"/>
              </a:rPr>
              <a:t>Sigmoid ŷ</a:t>
            </a:r>
          </a:p>
        </p:txBody>
      </p:sp>
      <p:sp>
        <p:nvSpPr>
          <p:cNvPr id="21" name="">
            <a:extLst xmlns:a="http://schemas.openxmlformats.org/drawingml/2006/main">
              <a:ext uri="{FF2B5EF4-FFF2-40B4-BE49-F238E27FC236}">
                <a16:creationId xmlns:a16="http://schemas.microsoft.com/office/drawing/2014/main" id="{CB56AE76-781D-4DD4-96B1-08E80E6736A4}"/>
              </a:ext>
            </a:extLst>
          </p:cNvPr>
          <p:cNvSpPr>
            <a:spLocks xmlns:a="http://schemas.openxmlformats.org/drawingml/2006/main" noGrp="1"/>
          </p:cNvSpPr>
          <p:nvPr/>
        </p:nvSpPr>
        <p:spPr>
          <a:xfrm xmlns:a="http://schemas.openxmlformats.org/drawingml/2006/main">
            <a:off x="9200147" y="2132648"/>
            <a:ext cx="1849855"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852" b="0">
                <a:solidFill>
                  <a:srgbClr val="272729"/>
                </a:solidFill>
                <a:latin typeface="Chalkboard"/>
                <a:ea typeface="Chalkboard"/>
                <a:cs typeface="Chalkboard"/>
              </a:defRPr>
            </a:pPr>
            <a:r>
              <a:rPr sz="1852" b="0">
                <a:solidFill>
                  <a:srgbClr val="272729"/>
                </a:solidFill>
                <a:latin typeface="Chalkboard"/>
                <a:ea typeface="Chalkboard"/>
                <a:cs typeface="Chalkboard"/>
              </a:rPr>
              <a:t>Loss L</a:t>
            </a:r>
          </a:p>
        </p:txBody>
      </p:sp>
      <p:sp>
        <p:nvSpPr>
          <p:cNvPr id="22" name="">
            <a:extLst xmlns:a="http://schemas.openxmlformats.org/drawingml/2006/main">
              <a:ext uri="{FF2B5EF4-FFF2-40B4-BE49-F238E27FC236}">
                <a16:creationId xmlns:a16="http://schemas.microsoft.com/office/drawing/2014/main" id="{646F85F0-FDB7-4ADB-9D0B-0C5E77EE6096}"/>
              </a:ext>
            </a:extLst>
          </p:cNvPr>
          <p:cNvSpPr>
            <a:spLocks xmlns:a="http://schemas.openxmlformats.org/drawingml/2006/main" noGrp="1"/>
          </p:cNvSpPr>
          <p:nvPr/>
        </p:nvSpPr>
        <p:spPr>
          <a:xfrm xmlns:a="http://schemas.openxmlformats.org/drawingml/2006/main">
            <a:off x="2215816" y="2666524"/>
            <a:ext cx="1398671" cy="370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39" b="0">
                <a:solidFill>
                  <a:srgbClr val="272729"/>
                </a:solidFill>
                <a:latin typeface="Chalkboard"/>
                <a:ea typeface="Chalkboard"/>
                <a:cs typeface="Chalkboard"/>
              </a:defRPr>
            </a:pPr>
            <a:r>
              <a:rPr sz="1639" b="0">
                <a:solidFill>
                  <a:srgbClr val="272729"/>
                </a:solidFill>
                <a:latin typeface="Chalkboard"/>
                <a:ea typeface="Chalkboard"/>
                <a:cs typeface="Chalkboard"/>
              </a:rPr>
              <a:t>w₁ = 0.5</a:t>
            </a:r>
          </a:p>
        </p:txBody>
      </p:sp>
      <p:sp>
        <p:nvSpPr>
          <p:cNvPr id="23" name="">
            <a:extLst xmlns:a="http://schemas.openxmlformats.org/drawingml/2006/main">
              <a:ext uri="{FF2B5EF4-FFF2-40B4-BE49-F238E27FC236}">
                <a16:creationId xmlns:a16="http://schemas.microsoft.com/office/drawing/2014/main" id="{929B0811-DE39-4907-881C-41823D70FF3E}"/>
              </a:ext>
            </a:extLst>
          </p:cNvPr>
          <p:cNvSpPr>
            <a:spLocks xmlns:a="http://schemas.openxmlformats.org/drawingml/2006/main" noGrp="1"/>
          </p:cNvSpPr>
          <p:nvPr/>
        </p:nvSpPr>
        <p:spPr>
          <a:xfrm xmlns:a="http://schemas.openxmlformats.org/drawingml/2006/main">
            <a:off x="5130466" y="2666524"/>
            <a:ext cx="1398671" cy="370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39" b="0">
                <a:solidFill>
                  <a:srgbClr val="272729"/>
                </a:solidFill>
                <a:latin typeface="Chalkboard"/>
                <a:ea typeface="Chalkboard"/>
                <a:cs typeface="Chalkboard"/>
              </a:defRPr>
            </a:pPr>
            <a:r>
              <a:rPr sz="1639" b="0">
                <a:solidFill>
                  <a:srgbClr val="272729"/>
                </a:solidFill>
                <a:latin typeface="Chalkboard"/>
                <a:ea typeface="Chalkboard"/>
                <a:cs typeface="Chalkboard"/>
              </a:rPr>
              <a:t>w₂ = 1</a:t>
            </a:r>
          </a:p>
        </p:txBody>
      </p:sp>
      <p:sp>
        <p:nvSpPr>
          <p:cNvPr id="24" name="">
            <a:extLst xmlns:a="http://schemas.openxmlformats.org/drawingml/2006/main">
              <a:ext uri="{FF2B5EF4-FFF2-40B4-BE49-F238E27FC236}">
                <a16:creationId xmlns:a16="http://schemas.microsoft.com/office/drawing/2014/main" id="{B624E27E-3C80-4160-9FAD-140DC561CC20}"/>
              </a:ext>
            </a:extLst>
          </p:cNvPr>
          <p:cNvSpPr>
            <a:spLocks xmlns:a="http://schemas.openxmlformats.org/drawingml/2006/main" noGrp="1"/>
          </p:cNvSpPr>
          <p:nvPr/>
        </p:nvSpPr>
        <p:spPr>
          <a:xfrm xmlns:a="http://schemas.openxmlformats.org/drawingml/2006/main">
            <a:off x="3470108" y="4141470"/>
            <a:ext cx="1804737" cy="389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781" b="0">
                <a:solidFill>
                  <a:srgbClr val="616069"/>
                </a:solidFill>
                <a:latin typeface="Chalkboard"/>
                <a:ea typeface="Chalkboard"/>
                <a:cs typeface="Chalkboard"/>
              </a:defRPr>
            </a:pPr>
            <a:r>
              <a:rPr sz="1781" b="0">
                <a:solidFill>
                  <a:srgbClr val="616069"/>
                </a:solidFill>
                <a:latin typeface="Chalkboard"/>
                <a:ea typeface="Chalkboard"/>
                <a:cs typeface="Chalkboard"/>
              </a:rPr>
              <a:t>b₁ = 0</a:t>
            </a:r>
          </a:p>
        </p:txBody>
      </p:sp>
      <p:sp>
        <p:nvSpPr>
          <p:cNvPr id="25" name="">
            <a:extLst xmlns:a="http://schemas.openxmlformats.org/drawingml/2006/main">
              <a:ext uri="{FF2B5EF4-FFF2-40B4-BE49-F238E27FC236}">
                <a16:creationId xmlns:a16="http://schemas.microsoft.com/office/drawing/2014/main" id="{1C2C93A5-4E94-4B55-B1CC-051F1DFBC70C}"/>
              </a:ext>
            </a:extLst>
          </p:cNvPr>
          <p:cNvSpPr>
            <a:spLocks xmlns:a="http://schemas.openxmlformats.org/drawingml/2006/main" noGrp="1"/>
          </p:cNvSpPr>
          <p:nvPr/>
        </p:nvSpPr>
        <p:spPr>
          <a:xfrm xmlns:a="http://schemas.openxmlformats.org/drawingml/2006/main">
            <a:off x="6312568" y="4141470"/>
            <a:ext cx="1804737" cy="389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781" b="0">
                <a:solidFill>
                  <a:srgbClr val="616069"/>
                </a:solidFill>
                <a:latin typeface="Chalkboard"/>
                <a:ea typeface="Chalkboard"/>
                <a:cs typeface="Chalkboard"/>
              </a:defRPr>
            </a:pPr>
            <a:r>
              <a:rPr sz="1781" b="0">
                <a:solidFill>
                  <a:srgbClr val="616069"/>
                </a:solidFill>
                <a:latin typeface="Chalkboard"/>
                <a:ea typeface="Chalkboard"/>
                <a:cs typeface="Chalkboard"/>
              </a:rPr>
              <a:t>b₂ = 0</a:t>
            </a:r>
          </a:p>
        </p:txBody>
      </p:sp>
      <p:sp>
        <p:nvSpPr>
          <p:cNvPr id="26" name="">
            <a:extLst xmlns:a="http://schemas.openxmlformats.org/drawingml/2006/main">
              <a:ext uri="{FF2B5EF4-FFF2-40B4-BE49-F238E27FC236}">
                <a16:creationId xmlns:a16="http://schemas.microsoft.com/office/drawing/2014/main" id="{C1F93F26-B976-49F8-80C2-24A4D5572F6E}"/>
              </a:ext>
            </a:extLst>
          </p:cNvPr>
          <p:cNvSpPr>
            <a:spLocks xmlns:a="http://schemas.openxmlformats.org/drawingml/2006/main" noGrp="1"/>
          </p:cNvSpPr>
          <p:nvPr/>
        </p:nvSpPr>
        <p:spPr>
          <a:xfrm xmlns:a="http://schemas.openxmlformats.org/drawingml/2006/main">
            <a:off x="772026" y="5028248"/>
            <a:ext cx="5062287" cy="4976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066" b="0">
                <a:solidFill>
                  <a:srgbClr val="287B95"/>
                </a:solidFill>
                <a:latin typeface="Chalkboard"/>
                <a:ea typeface="Chalkboard"/>
                <a:cs typeface="Chalkboard"/>
              </a:defRPr>
            </a:pPr>
            <a:r>
              <a:rPr sz="2066" b="0">
                <a:solidFill>
                  <a:srgbClr val="287B95"/>
                </a:solidFill>
                <a:latin typeface="Chalkboard"/>
                <a:ea typeface="Chalkboard"/>
                <a:cs typeface="Chalkboard"/>
              </a:rPr>
              <a:t>h = ReLU(w₁x + b₁)</a:t>
            </a:r>
          </a:p>
        </p:txBody>
      </p:sp>
      <p:sp>
        <p:nvSpPr>
          <p:cNvPr id="27" name="">
            <a:extLst xmlns:a="http://schemas.openxmlformats.org/drawingml/2006/main">
              <a:ext uri="{FF2B5EF4-FFF2-40B4-BE49-F238E27FC236}">
                <a16:creationId xmlns:a16="http://schemas.microsoft.com/office/drawing/2014/main" id="{BC3529C2-C989-4FFF-8AEF-181C8175FA8B}"/>
              </a:ext>
            </a:extLst>
          </p:cNvPr>
          <p:cNvSpPr>
            <a:spLocks xmlns:a="http://schemas.openxmlformats.org/drawingml/2006/main" noGrp="1"/>
          </p:cNvSpPr>
          <p:nvPr/>
        </p:nvSpPr>
        <p:spPr>
          <a:xfrm xmlns:a="http://schemas.openxmlformats.org/drawingml/2006/main">
            <a:off x="6619374" y="5028248"/>
            <a:ext cx="4538913" cy="4976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066" b="0">
                <a:solidFill>
                  <a:srgbClr val="A45F57"/>
                </a:solidFill>
                <a:latin typeface="Chalkboard"/>
                <a:ea typeface="Chalkboard"/>
                <a:cs typeface="Chalkboard"/>
              </a:defRPr>
            </a:pPr>
            <a:r>
              <a:rPr sz="2066" b="0">
                <a:solidFill>
                  <a:srgbClr val="A45F57"/>
                </a:solidFill>
                <a:latin typeface="Chalkboard"/>
                <a:ea typeface="Chalkboard"/>
                <a:cs typeface="Chalkboard"/>
              </a:rPr>
              <a:t>ŷ = σ(w₂h + b₂)</a:t>
            </a:r>
          </a:p>
        </p:txBody>
      </p:sp>
      <p:sp>
        <p:nvSpPr>
          <p:cNvPr id="9200" name="matched-title">
            <a:extLst xmlns:a="http://schemas.openxmlformats.org/drawingml/2006/main">
              <a:ext uri="{FF2B5EF4-FFF2-40B4-BE49-F238E27FC236}">
                <a16:creationId xmlns:a16="http://schemas.microsoft.com/office/drawing/2014/main" id="{F8B871F9-931A-40F6-BA08-D21D7B2F9826}"/>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One email, one forward pass</a:t>
            </a:r>
          </a:p>
        </p:txBody>
      </p:sp>
      <p:sp>
        <p:nvSpPr>
          <p:cNvPr id="9201" name="matched-subtitle">
            <a:extLst xmlns:a="http://schemas.openxmlformats.org/drawingml/2006/main">
              <a:ext uri="{FF2B5EF4-FFF2-40B4-BE49-F238E27FC236}">
                <a16:creationId xmlns:a16="http://schemas.microsoft.com/office/drawing/2014/main" id="{59CFB210-7A90-4C4A-A156-9ECCDC62FEC6}"/>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A tiny network makes every calculation visible. The true label is y = 1 (spam).</a:t>
            </a:r>
          </a:p>
        </p:txBody>
      </p:sp>
      <p:sp>
        <p:nvSpPr>
          <p:cNvPr id="9202" name="matched-footer">
            <a:extLst xmlns:a="http://schemas.openxmlformats.org/drawingml/2006/main">
              <a:ext uri="{FF2B5EF4-FFF2-40B4-BE49-F238E27FC236}">
                <a16:creationId xmlns:a16="http://schemas.microsoft.com/office/drawing/2014/main" id="{A176C441-2862-428F-AEC8-5B476C74EB5A}"/>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Illustrative values. Both weighted sums are 0.5 before the update.</a:t>
            </a:r>
          </a:p>
        </p:txBody>
      </p:sp>
      <p:sp>
        <p:nvSpPr>
          <p:cNvPr id="9203" name="matched-page">
            <a:extLst xmlns:a="http://schemas.openxmlformats.org/drawingml/2006/main">
              <a:ext uri="{FF2B5EF4-FFF2-40B4-BE49-F238E27FC236}">
                <a16:creationId xmlns:a16="http://schemas.microsoft.com/office/drawing/2014/main" id="{57223602-EE75-426A-815E-AD35A699AAE5}"/>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07</a:t>
            </a:r>
          </a:p>
        </p:txBody>
      </p:sp>
    </p:spTree>
    <p:extLst>
      <p:ext uri="{BB962C8B-B14F-4D97-AF65-F5344CB8AC3E}">
        <p14:creationId xmlns:p14="http://schemas.microsoft.com/office/powerpoint/2010/main" val="128045699"/>
      </p:ext>
    </p:extLst>
  </p:cSld>
</p:sld>
</file>

<file path=ppt/slides/slide5.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5" name="">
            <a:extLst xmlns:a="http://schemas.openxmlformats.org/drawingml/2006/main">
              <a:ext uri="{FF2B5EF4-FFF2-40B4-BE49-F238E27FC236}">
                <a16:creationId xmlns:a16="http://schemas.microsoft.com/office/drawing/2014/main" id="{917562F9-AD9E-41A6-AFA4-EE51ACF0C3EE}"/>
              </a:ext>
            </a:extLst>
          </p:cNvPr>
          <p:cNvSpPr>
            <a:spLocks xmlns:a="http://schemas.openxmlformats.org/drawingml/2006/main" noGrp="1"/>
          </p:cNvSpPr>
          <p:nvPr/>
        </p:nvSpPr>
        <p:spPr>
          <a:xfrm xmlns:a="http://schemas.openxmlformats.org/drawingml/2006/main">
            <a:off x="7981950" y="2458402"/>
            <a:ext cx="3140242" cy="389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066" b="0">
                <a:solidFill>
                  <a:srgbClr val="A45F57"/>
                </a:solidFill>
                <a:latin typeface="Chalkboard"/>
                <a:ea typeface="Chalkboard"/>
                <a:cs typeface="Chalkboard"/>
              </a:defRPr>
            </a:pPr>
            <a:r>
              <a:rPr sz="2066" b="0">
                <a:solidFill>
                  <a:srgbClr val="A45F57"/>
                </a:solidFill>
                <a:latin typeface="Chalkboard"/>
                <a:ea typeface="Chalkboard"/>
                <a:cs typeface="Chalkboard"/>
              </a:rPr>
              <a:t>Our example</a:t>
            </a:r>
          </a:p>
        </p:txBody>
      </p:sp>
      <p:sp>
        <p:nvSpPr>
          <p:cNvPr id="6" name="">
            <a:extLst xmlns:a="http://schemas.openxmlformats.org/drawingml/2006/main">
              <a:ext uri="{FF2B5EF4-FFF2-40B4-BE49-F238E27FC236}">
                <a16:creationId xmlns:a16="http://schemas.microsoft.com/office/drawing/2014/main" id="{8E5F8155-4BBE-4E3E-85BF-D0D52860DDCF}"/>
              </a:ext>
            </a:extLst>
          </p:cNvPr>
          <p:cNvSpPr>
            <a:spLocks xmlns:a="http://schemas.openxmlformats.org/drawingml/2006/main" noGrp="1"/>
          </p:cNvSpPr>
          <p:nvPr/>
        </p:nvSpPr>
        <p:spPr>
          <a:xfrm xmlns:a="http://schemas.openxmlformats.org/drawingml/2006/main">
            <a:off x="7981950" y="3001328"/>
            <a:ext cx="3140242" cy="5338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494" b="0">
                <a:solidFill>
                  <a:srgbClr val="272729"/>
                </a:solidFill>
                <a:latin typeface="Chalkboard"/>
                <a:ea typeface="Chalkboard"/>
                <a:cs typeface="Chalkboard"/>
              </a:defRPr>
            </a:pPr>
            <a:r>
              <a:rPr sz="2494" b="0">
                <a:solidFill>
                  <a:srgbClr val="272729"/>
                </a:solidFill>
                <a:latin typeface="Chalkboard"/>
                <a:ea typeface="Chalkboard"/>
                <a:cs typeface="Chalkboard"/>
              </a:rPr>
              <a:t>ŷ = 0.6225</a:t>
            </a:r>
          </a:p>
        </p:txBody>
      </p:sp>
      <p:sp>
        <p:nvSpPr>
          <p:cNvPr id="7" name="">
            <a:extLst xmlns:a="http://schemas.openxmlformats.org/drawingml/2006/main">
              <a:ext uri="{FF2B5EF4-FFF2-40B4-BE49-F238E27FC236}">
                <a16:creationId xmlns:a16="http://schemas.microsoft.com/office/drawing/2014/main" id="{2B2C8F2C-7BE3-4814-BC5B-A5E966E68CBF}"/>
              </a:ext>
            </a:extLst>
          </p:cNvPr>
          <p:cNvSpPr>
            <a:spLocks xmlns:a="http://schemas.openxmlformats.org/drawingml/2006/main" noGrp="1"/>
          </p:cNvSpPr>
          <p:nvPr/>
        </p:nvSpPr>
        <p:spPr>
          <a:xfrm xmlns:a="http://schemas.openxmlformats.org/drawingml/2006/main">
            <a:off x="7981950" y="3634740"/>
            <a:ext cx="3140242" cy="5338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494" b="0">
                <a:solidFill>
                  <a:srgbClr val="A45F57"/>
                </a:solidFill>
                <a:latin typeface="Chalkboard"/>
                <a:ea typeface="Chalkboard"/>
                <a:cs typeface="Chalkboard"/>
              </a:defRPr>
            </a:pPr>
            <a:r>
              <a:rPr sz="2494" b="0">
                <a:solidFill>
                  <a:srgbClr val="A45F57"/>
                </a:solidFill>
                <a:latin typeface="Chalkboard"/>
                <a:ea typeface="Chalkboard"/>
                <a:cs typeface="Chalkboard"/>
              </a:rPr>
              <a:t>L = 0.4741</a:t>
            </a:r>
          </a:p>
        </p:txBody>
      </p:sp>
      <p:sp>
        <p:nvSpPr>
          <p:cNvPr id="8" name="">
            <a:extLst xmlns:a="http://schemas.openxmlformats.org/drawingml/2006/main">
              <a:ext uri="{FF2B5EF4-FFF2-40B4-BE49-F238E27FC236}">
                <a16:creationId xmlns:a16="http://schemas.microsoft.com/office/drawing/2014/main" id="{742E86E1-C100-466B-928C-404BADF4D540}"/>
              </a:ext>
            </a:extLst>
          </p:cNvPr>
          <p:cNvSpPr>
            <a:spLocks xmlns:a="http://schemas.openxmlformats.org/drawingml/2006/main" noGrp="1"/>
          </p:cNvSpPr>
          <p:nvPr/>
        </p:nvSpPr>
        <p:spPr>
          <a:xfrm xmlns:a="http://schemas.openxmlformats.org/drawingml/2006/main">
            <a:off x="7981950" y="4521518"/>
            <a:ext cx="3140242"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280" b="0">
                <a:solidFill>
                  <a:srgbClr val="287B95"/>
                </a:solidFill>
                <a:latin typeface="Chalkboard"/>
                <a:ea typeface="Chalkboard"/>
                <a:cs typeface="Chalkboard"/>
              </a:defRPr>
            </a:pPr>
            <a:r>
              <a:rPr sz="2280" b="0">
                <a:solidFill>
                  <a:srgbClr val="287B95"/>
                </a:solidFill>
                <a:latin typeface="Chalkboard"/>
                <a:ea typeface="Chalkboard"/>
                <a:cs typeface="Chalkboard"/>
              </a:rPr>
              <a:t>L = −log(ŷ)</a:t>
            </a:r>
          </a:p>
        </p:txBody>
      </p:sp>
      <p:graphicFrame>
        <p:nvGraphicFramePr>
          <p:cNvPr id="25" name="Chart"/>
          <p:cNvGraphicFramePr/>
          <p:nvPr/>
        </p:nvGraphicFramePr>
        <p:xfrm>
          <a:off xmlns:a="http://schemas.openxmlformats.org/drawingml/2006/main" x="763003" y="1897380"/>
          <a:ext xmlns:a="http://schemas.openxmlformats.org/drawingml/2006/main" cx="6460958" cy="3601402"/>
        </p:xfrm>
        <a:graphic xmlns:a="http://schemas.openxmlformats.org/drawingml/2006/main">
          <a:graphicData uri="http://schemas.openxmlformats.org/drawingml/2006/chart">
            <c:chart xmlns:r="http://schemas.openxmlformats.org/officeDocument/2006/relationships" xmlns:c="http://schemas.openxmlformats.org/drawingml/2006/chart" r:id="R71ea8b1b77544772"/>
          </a:graphicData>
        </a:graphic>
      </p:graphicFrame>
      <p:sp>
        <p:nvSpPr>
          <p:cNvPr id="9200" name="matched-title">
            <a:extLst xmlns:a="http://schemas.openxmlformats.org/drawingml/2006/main">
              <a:ext uri="{FF2B5EF4-FFF2-40B4-BE49-F238E27FC236}">
                <a16:creationId xmlns:a16="http://schemas.microsoft.com/office/drawing/2014/main" id="{8E090D16-0831-4C89-B6A3-CBA72B8E682F}"/>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The loss measures the prediction error</a:t>
            </a:r>
          </a:p>
        </p:txBody>
      </p:sp>
      <p:sp>
        <p:nvSpPr>
          <p:cNvPr id="9201" name="matched-subtitle">
            <a:extLst xmlns:a="http://schemas.openxmlformats.org/drawingml/2006/main">
              <a:ext uri="{FF2B5EF4-FFF2-40B4-BE49-F238E27FC236}">
                <a16:creationId xmlns:a16="http://schemas.microsoft.com/office/drawing/2014/main" id="{9F665040-0BD4-429F-AACD-F37E07670E0B}"/>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For a spam email (y = 1), higher predicted probability means lower loss.</a:t>
            </a:r>
          </a:p>
        </p:txBody>
      </p:sp>
      <p:sp>
        <p:nvSpPr>
          <p:cNvPr id="9202" name="matched-footer">
            <a:extLst xmlns:a="http://schemas.openxmlformats.org/drawingml/2006/main">
              <a:ext uri="{FF2B5EF4-FFF2-40B4-BE49-F238E27FC236}">
                <a16:creationId xmlns:a16="http://schemas.microsoft.com/office/drawing/2014/main" id="{338E5C46-8B98-4187-B155-61B35C711729}"/>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Binary cross-entropy: L = −[y log(ŷ) + (1−y) log(1−ŷ)].</a:t>
            </a:r>
          </a:p>
        </p:txBody>
      </p:sp>
      <p:sp>
        <p:nvSpPr>
          <p:cNvPr id="9203" name="matched-page">
            <a:extLst xmlns:a="http://schemas.openxmlformats.org/drawingml/2006/main">
              <a:ext uri="{FF2B5EF4-FFF2-40B4-BE49-F238E27FC236}">
                <a16:creationId xmlns:a16="http://schemas.microsoft.com/office/drawing/2014/main" id="{74FF20DB-03DE-4D2B-B12C-6C20BBBC9C74}"/>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08</a:t>
            </a:r>
          </a:p>
        </p:txBody>
      </p:sp>
    </p:spTree>
    <p:extLst>
      <p:ext uri="{BB962C8B-B14F-4D97-AF65-F5344CB8AC3E}">
        <p14:creationId xmlns:p14="http://schemas.microsoft.com/office/powerpoint/2010/main" val="1732571763"/>
      </p:ext>
    </p:extLst>
  </p:cSld>
</p:sld>
</file>

<file path=ppt/slides/slide6.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4" name="">
            <a:extLst xmlns:a="http://schemas.openxmlformats.org/drawingml/2006/main">
              <a:ext uri="{FF2B5EF4-FFF2-40B4-BE49-F238E27FC236}">
                <a16:creationId xmlns:a16="http://schemas.microsoft.com/office/drawing/2014/main" id="{703B3479-5BE2-402B-A350-52D6F61C272E}"/>
              </a:ext>
            </a:extLst>
          </p:cNvPr>
          <p:cNvSpPr>
            <a:spLocks xmlns:a="http://schemas.openxmlformats.org/drawingml/2006/main" noGrp="1"/>
          </p:cNvSpPr>
          <p:nvPr/>
        </p:nvSpPr>
        <p:spPr>
          <a:xfrm xmlns:a="http://schemas.openxmlformats.org/drawingml/2006/main">
            <a:off x="1125895" y="2598258"/>
            <a:ext cx="886356" cy="888647"/>
          </a:xfrm>
          <a:custGeom xmlns:a="http://schemas.openxmlformats.org/drawingml/2006/main">
            <a:pathLst>
              <a:path w="935598" h="935418">
                <a:moveTo>
                  <a:pt x="935598" y="462384"/>
                </a:moveTo>
                <a:lnTo>
                  <a:pt x="934648" y="508672"/>
                </a:lnTo>
                <a:lnTo>
                  <a:pt x="926573" y="554262"/>
                </a:lnTo>
                <a:lnTo>
                  <a:pt x="913533" y="598544"/>
                </a:lnTo>
                <a:lnTo>
                  <a:pt x="897463" y="641652"/>
                </a:lnTo>
                <a:lnTo>
                  <a:pt x="878606" y="683636"/>
                </a:lnTo>
                <a:lnTo>
                  <a:pt x="855664" y="723636"/>
                </a:lnTo>
                <a:lnTo>
                  <a:pt x="827325" y="760006"/>
                </a:lnTo>
                <a:lnTo>
                  <a:pt x="793763" y="791475"/>
                </a:lnTo>
                <a:lnTo>
                  <a:pt x="756815" y="818361"/>
                </a:lnTo>
                <a:lnTo>
                  <a:pt x="718724" y="842599"/>
                </a:lnTo>
                <a:lnTo>
                  <a:pt x="680579" y="866317"/>
                </a:lnTo>
                <a:lnTo>
                  <a:pt x="641776" y="889951"/>
                </a:lnTo>
                <a:lnTo>
                  <a:pt x="600903" y="911476"/>
                </a:lnTo>
                <a:lnTo>
                  <a:pt x="557187" y="927488"/>
                </a:lnTo>
                <a:lnTo>
                  <a:pt x="511262" y="935418"/>
                </a:lnTo>
                <a:lnTo>
                  <a:pt x="464672" y="935176"/>
                </a:lnTo>
                <a:lnTo>
                  <a:pt x="418719" y="928955"/>
                </a:lnTo>
                <a:lnTo>
                  <a:pt x="373765" y="919406"/>
                </a:lnTo>
                <a:lnTo>
                  <a:pt x="329591" y="907686"/>
                </a:lnTo>
                <a:lnTo>
                  <a:pt x="286338" y="892921"/>
                </a:lnTo>
                <a:lnTo>
                  <a:pt x="244975" y="873407"/>
                </a:lnTo>
                <a:lnTo>
                  <a:pt x="206739" y="848407"/>
                </a:lnTo>
                <a:lnTo>
                  <a:pt x="172007" y="818997"/>
                </a:lnTo>
                <a:lnTo>
                  <a:pt x="139782" y="787274"/>
                </a:lnTo>
                <a:lnTo>
                  <a:pt x="108482" y="754702"/>
                </a:lnTo>
                <a:lnTo>
                  <a:pt x="77561" y="721043"/>
                </a:lnTo>
                <a:lnTo>
                  <a:pt x="48587" y="684786"/>
                </a:lnTo>
                <a:lnTo>
                  <a:pt x="24710" y="644622"/>
                </a:lnTo>
                <a:lnTo>
                  <a:pt x="8721" y="600695"/>
                </a:lnTo>
                <a:lnTo>
                  <a:pt x="1163" y="554581"/>
                </a:lnTo>
                <a:lnTo>
                  <a:pt x="0" y="508150"/>
                </a:lnTo>
                <a:lnTo>
                  <a:pt x="2148" y="462384"/>
                </a:lnTo>
                <a:lnTo>
                  <a:pt x="5693" y="417178"/>
                </a:lnTo>
                <a:lnTo>
                  <a:pt x="11059" y="372155"/>
                </a:lnTo>
                <a:lnTo>
                  <a:pt x="20277" y="327578"/>
                </a:lnTo>
                <a:lnTo>
                  <a:pt x="35068" y="284436"/>
                </a:lnTo>
                <a:lnTo>
                  <a:pt x="55377" y="243611"/>
                </a:lnTo>
                <a:lnTo>
                  <a:pt x="79529" y="205039"/>
                </a:lnTo>
                <a:lnTo>
                  <a:pt x="105759" y="167831"/>
                </a:lnTo>
                <a:lnTo>
                  <a:pt x="133714" y="131426"/>
                </a:lnTo>
                <a:lnTo>
                  <a:pt x="164640" y="96794"/>
                </a:lnTo>
                <a:lnTo>
                  <a:pt x="200127" y="66464"/>
                </a:lnTo>
                <a:lnTo>
                  <a:pt x="240554" y="43088"/>
                </a:lnTo>
                <a:lnTo>
                  <a:pt x="284560" y="27556"/>
                </a:lnTo>
                <a:lnTo>
                  <a:pt x="329936" y="18220"/>
                </a:lnTo>
                <a:lnTo>
                  <a:pt x="375080" y="11974"/>
                </a:lnTo>
                <a:lnTo>
                  <a:pt x="419768" y="6463"/>
                </a:lnTo>
                <a:lnTo>
                  <a:pt x="464672" y="1726"/>
                </a:lnTo>
                <a:lnTo>
                  <a:pt x="510213" y="0"/>
                </a:lnTo>
                <a:lnTo>
                  <a:pt x="555872" y="3892"/>
                </a:lnTo>
                <a:lnTo>
                  <a:pt x="600557" y="14430"/>
                </a:lnTo>
                <a:lnTo>
                  <a:pt x="643553" y="30526"/>
                </a:lnTo>
                <a:lnTo>
                  <a:pt x="685001" y="50178"/>
                </a:lnTo>
                <a:lnTo>
                  <a:pt x="725336" y="72272"/>
                </a:lnTo>
                <a:lnTo>
                  <a:pt x="764181" y="97431"/>
                </a:lnTo>
                <a:lnTo>
                  <a:pt x="799830" y="127225"/>
                </a:lnTo>
                <a:lnTo>
                  <a:pt x="830048" y="162527"/>
                </a:lnTo>
                <a:lnTo>
                  <a:pt x="853696" y="202446"/>
                </a:lnTo>
                <a:lnTo>
                  <a:pt x="871817" y="244760"/>
                </a:lnTo>
                <a:lnTo>
                  <a:pt x="887105" y="287406"/>
                </a:lnTo>
                <a:lnTo>
                  <a:pt x="901977" y="329729"/>
                </a:lnTo>
                <a:lnTo>
                  <a:pt x="916677" y="372474"/>
                </a:lnTo>
                <a:lnTo>
                  <a:pt x="928955" y="416656"/>
                </a:lnTo>
                <a:lnTo>
                  <a:pt x="935598" y="462384"/>
                </a:lnTo>
                <a:close/>
              </a:path>
            </a:pathLst>
          </a:custGeom>
          <a:solidFill xmlns:a="http://schemas.openxmlformats.org/drawingml/2006/main">
            <a:srgbClr val="F8F6F2"/>
          </a:solidFill>
          <a:ln xmlns:a="http://schemas.openxmlformats.org/drawingml/2006/main" w="19050">
            <a:solidFill>
              <a:srgbClr val="287B95"/>
            </a:solidFill>
          </a:ln>
        </p:spPr>
      </p:sp>
      <p:sp>
        <p:nvSpPr>
          <p:cNvPr id="5" name="">
            <a:extLst xmlns:a="http://schemas.openxmlformats.org/drawingml/2006/main">
              <a:ext uri="{FF2B5EF4-FFF2-40B4-BE49-F238E27FC236}">
                <a16:creationId xmlns:a16="http://schemas.microsoft.com/office/drawing/2014/main" id="{D35E41EA-40E9-466D-AFCC-BF5F9B8AC14F}"/>
              </a:ext>
            </a:extLst>
          </p:cNvPr>
          <p:cNvSpPr>
            <a:spLocks xmlns:a="http://schemas.openxmlformats.org/drawingml/2006/main" noGrp="1"/>
          </p:cNvSpPr>
          <p:nvPr/>
        </p:nvSpPr>
        <p:spPr>
          <a:xfrm xmlns:a="http://schemas.openxmlformats.org/drawingml/2006/main">
            <a:off x="1169068" y="2747962"/>
            <a:ext cx="794084" cy="579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209" b="0">
                <a:solidFill>
                  <a:srgbClr val="287B95"/>
                </a:solidFill>
                <a:latin typeface="Chalkboard"/>
                <a:ea typeface="Chalkboard"/>
                <a:cs typeface="Chalkboard"/>
              </a:defRPr>
            </a:pPr>
            <a:r>
              <a:rPr sz="2209" b="0">
                <a:solidFill>
                  <a:srgbClr val="287B95"/>
                </a:solidFill>
                <a:latin typeface="Chalkboard"/>
                <a:ea typeface="Chalkboard"/>
                <a:cs typeface="Chalkboard"/>
              </a:rPr>
              <a:t>w₂</a:t>
            </a:r>
          </a:p>
        </p:txBody>
      </p:sp>
      <p:sp>
        <p:nvSpPr>
          <p:cNvPr id="6" name="">
            <a:extLst xmlns:a="http://schemas.openxmlformats.org/drawingml/2006/main">
              <a:ext uri="{FF2B5EF4-FFF2-40B4-BE49-F238E27FC236}">
                <a16:creationId xmlns:a16="http://schemas.microsoft.com/office/drawing/2014/main" id="{D1CBCE47-94E1-4E6C-B804-DD8866322DF6}"/>
              </a:ext>
            </a:extLst>
          </p:cNvPr>
          <p:cNvSpPr>
            <a:spLocks xmlns:a="http://schemas.openxmlformats.org/drawingml/2006/main" noGrp="1"/>
          </p:cNvSpPr>
          <p:nvPr/>
        </p:nvSpPr>
        <p:spPr>
          <a:xfrm xmlns:a="http://schemas.openxmlformats.org/drawingml/2006/main">
            <a:off x="2062413" y="3031319"/>
            <a:ext cx="1931068" cy="14219"/>
          </a:xfrm>
          <a:custGeom xmlns:a="http://schemas.openxmlformats.org/drawingml/2006/main">
            <a:pathLst>
              <a:path w="2038350" h="14967">
                <a:moveTo>
                  <a:pt x="0" y="6530"/>
                </a:moveTo>
                <a:lnTo>
                  <a:pt x="170266" y="6934"/>
                </a:lnTo>
                <a:lnTo>
                  <a:pt x="335495" y="2300"/>
                </a:lnTo>
                <a:lnTo>
                  <a:pt x="518025" y="14967"/>
                </a:lnTo>
                <a:lnTo>
                  <a:pt x="679433" y="6512"/>
                </a:lnTo>
                <a:lnTo>
                  <a:pt x="847279" y="4496"/>
                </a:lnTo>
                <a:lnTo>
                  <a:pt x="1014457" y="1812"/>
                </a:lnTo>
                <a:lnTo>
                  <a:pt x="1195343" y="12835"/>
                </a:lnTo>
                <a:lnTo>
                  <a:pt x="1362553" y="10183"/>
                </a:lnTo>
                <a:lnTo>
                  <a:pt x="1529680" y="7448"/>
                </a:lnTo>
                <a:lnTo>
                  <a:pt x="1692095" y="0"/>
                </a:lnTo>
                <a:lnTo>
                  <a:pt x="1867263" y="5305"/>
                </a:lnTo>
                <a:lnTo>
                  <a:pt x="2038350" y="6530"/>
                </a:lnTo>
              </a:path>
            </a:pathLst>
          </a:custGeom>
          <a:noFill xmlns:a="http://schemas.openxmlformats.org/drawingml/2006/main"/>
          <a:ln xmlns:a="http://schemas.openxmlformats.org/drawingml/2006/main" w="19050">
            <a:solidFill>
              <a:srgbClr val="287B95"/>
            </a:solidFill>
          </a:ln>
        </p:spPr>
      </p:sp>
      <p:sp>
        <p:nvSpPr>
          <p:cNvPr id="7" name="">
            <a:extLst xmlns:a="http://schemas.openxmlformats.org/drawingml/2006/main">
              <a:ext uri="{FF2B5EF4-FFF2-40B4-BE49-F238E27FC236}">
                <a16:creationId xmlns:a16="http://schemas.microsoft.com/office/drawing/2014/main" id="{06DDFFED-2D53-49B7-987C-BDFB70D05963}"/>
              </a:ext>
            </a:extLst>
          </p:cNvPr>
          <p:cNvSpPr>
            <a:spLocks xmlns:a="http://schemas.openxmlformats.org/drawingml/2006/main" noGrp="1"/>
          </p:cNvSpPr>
          <p:nvPr/>
        </p:nvSpPr>
        <p:spPr>
          <a:xfrm xmlns:a="http://schemas.openxmlformats.org/drawingml/2006/main">
            <a:off x="3904103" y="2994227"/>
            <a:ext cx="89379" cy="86590"/>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287B95"/>
            </a:solidFill>
          </a:ln>
        </p:spPr>
      </p:sp>
      <p:sp>
        <p:nvSpPr>
          <p:cNvPr id="8" name="">
            <a:extLst xmlns:a="http://schemas.openxmlformats.org/drawingml/2006/main">
              <a:ext uri="{FF2B5EF4-FFF2-40B4-BE49-F238E27FC236}">
                <a16:creationId xmlns:a16="http://schemas.microsoft.com/office/drawing/2014/main" id="{C9F12B06-15AF-42ED-92A8-0B8E640910EF}"/>
              </a:ext>
            </a:extLst>
          </p:cNvPr>
          <p:cNvSpPr>
            <a:spLocks xmlns:a="http://schemas.openxmlformats.org/drawingml/2006/main" noGrp="1"/>
          </p:cNvSpPr>
          <p:nvPr/>
        </p:nvSpPr>
        <p:spPr>
          <a:xfrm xmlns:a="http://schemas.openxmlformats.org/drawingml/2006/main">
            <a:off x="1791703" y="3890075"/>
            <a:ext cx="2472489" cy="15210"/>
          </a:xfrm>
          <a:custGeom xmlns:a="http://schemas.openxmlformats.org/drawingml/2006/main">
            <a:pathLst>
              <a:path w="2609850" h="16011">
                <a:moveTo>
                  <a:pt x="2609850" y="7451"/>
                </a:moveTo>
                <a:lnTo>
                  <a:pt x="2399254" y="14342"/>
                </a:lnTo>
                <a:lnTo>
                  <a:pt x="2169213" y="1788"/>
                </a:lnTo>
                <a:lnTo>
                  <a:pt x="1949937" y="0"/>
                </a:lnTo>
                <a:lnTo>
                  <a:pt x="1746152" y="13703"/>
                </a:lnTo>
                <a:lnTo>
                  <a:pt x="1520148" y="5186"/>
                </a:lnTo>
                <a:lnTo>
                  <a:pt x="1306226" y="8751"/>
                </a:lnTo>
                <a:lnTo>
                  <a:pt x="1087593" y="7606"/>
                </a:lnTo>
                <a:lnTo>
                  <a:pt x="878511" y="16011"/>
                </a:lnTo>
                <a:lnTo>
                  <a:pt x="654029" y="9017"/>
                </a:lnTo>
                <a:lnTo>
                  <a:pt x="428633" y="1108"/>
                </a:lnTo>
                <a:lnTo>
                  <a:pt x="213656" y="3619"/>
                </a:lnTo>
                <a:lnTo>
                  <a:pt x="0" y="7451"/>
                </a:lnTo>
              </a:path>
            </a:pathLst>
          </a:custGeom>
          <a:noFill xmlns:a="http://schemas.openxmlformats.org/drawingml/2006/main"/>
          <a:ln xmlns:a="http://schemas.openxmlformats.org/drawingml/2006/main" w="25718">
            <a:solidFill>
              <a:srgbClr val="A45F57"/>
            </a:solidFill>
          </a:ln>
        </p:spPr>
      </p:sp>
      <p:sp>
        <p:nvSpPr>
          <p:cNvPr id="9" name="">
            <a:extLst xmlns:a="http://schemas.openxmlformats.org/drawingml/2006/main">
              <a:ext uri="{FF2B5EF4-FFF2-40B4-BE49-F238E27FC236}">
                <a16:creationId xmlns:a16="http://schemas.microsoft.com/office/drawing/2014/main" id="{7523554F-55D2-48B8-B87C-DBF090F4F6B3}"/>
              </a:ext>
            </a:extLst>
          </p:cNvPr>
          <p:cNvSpPr>
            <a:spLocks xmlns:a="http://schemas.openxmlformats.org/drawingml/2006/main" noGrp="1"/>
          </p:cNvSpPr>
          <p:nvPr/>
        </p:nvSpPr>
        <p:spPr>
          <a:xfrm xmlns:a="http://schemas.openxmlformats.org/drawingml/2006/main">
            <a:off x="1791703" y="3853858"/>
            <a:ext cx="89379" cy="86590"/>
          </a:xfrm>
          <a:custGeom xmlns:a="http://schemas.openxmlformats.org/drawingml/2006/main">
            <a:pathLst>
              <a:path w="94344" h="91147">
                <a:moveTo>
                  <a:pt x="94344" y="0"/>
                </a:moveTo>
                <a:lnTo>
                  <a:pt x="0" y="45574"/>
                </a:lnTo>
                <a:lnTo>
                  <a:pt x="94344" y="91147"/>
                </a:lnTo>
              </a:path>
            </a:pathLst>
          </a:custGeom>
          <a:noFill xmlns:a="http://schemas.openxmlformats.org/drawingml/2006/main"/>
          <a:ln xmlns:a="http://schemas.openxmlformats.org/drawingml/2006/main" w="25718">
            <a:solidFill>
              <a:srgbClr val="A45F57"/>
            </a:solidFill>
          </a:ln>
        </p:spPr>
      </p:sp>
      <p:sp>
        <p:nvSpPr>
          <p:cNvPr id="10" name="">
            <a:extLst xmlns:a="http://schemas.openxmlformats.org/drawingml/2006/main">
              <a:ext uri="{FF2B5EF4-FFF2-40B4-BE49-F238E27FC236}">
                <a16:creationId xmlns:a16="http://schemas.microsoft.com/office/drawing/2014/main" id="{99F8F667-939B-41C5-A496-B1994D754E04}"/>
              </a:ext>
            </a:extLst>
          </p:cNvPr>
          <p:cNvSpPr>
            <a:spLocks xmlns:a="http://schemas.openxmlformats.org/drawingml/2006/main" noGrp="1"/>
          </p:cNvSpPr>
          <p:nvPr/>
        </p:nvSpPr>
        <p:spPr>
          <a:xfrm xmlns:a="http://schemas.openxmlformats.org/drawingml/2006/main">
            <a:off x="4049569" y="2598258"/>
            <a:ext cx="886356" cy="888647"/>
          </a:xfrm>
          <a:custGeom xmlns:a="http://schemas.openxmlformats.org/drawingml/2006/main">
            <a:pathLst>
              <a:path w="935598" h="935418">
                <a:moveTo>
                  <a:pt x="935598" y="462384"/>
                </a:moveTo>
                <a:lnTo>
                  <a:pt x="934648" y="508672"/>
                </a:lnTo>
                <a:lnTo>
                  <a:pt x="926573" y="554262"/>
                </a:lnTo>
                <a:lnTo>
                  <a:pt x="913533" y="598544"/>
                </a:lnTo>
                <a:lnTo>
                  <a:pt x="897463" y="641652"/>
                </a:lnTo>
                <a:lnTo>
                  <a:pt x="878606" y="683636"/>
                </a:lnTo>
                <a:lnTo>
                  <a:pt x="855664" y="723636"/>
                </a:lnTo>
                <a:lnTo>
                  <a:pt x="827325" y="760006"/>
                </a:lnTo>
                <a:lnTo>
                  <a:pt x="793763" y="791475"/>
                </a:lnTo>
                <a:lnTo>
                  <a:pt x="756815" y="818361"/>
                </a:lnTo>
                <a:lnTo>
                  <a:pt x="718724" y="842599"/>
                </a:lnTo>
                <a:lnTo>
                  <a:pt x="680579" y="866317"/>
                </a:lnTo>
                <a:lnTo>
                  <a:pt x="641776" y="889951"/>
                </a:lnTo>
                <a:lnTo>
                  <a:pt x="600903" y="911476"/>
                </a:lnTo>
                <a:lnTo>
                  <a:pt x="557187" y="927488"/>
                </a:lnTo>
                <a:lnTo>
                  <a:pt x="511262" y="935418"/>
                </a:lnTo>
                <a:lnTo>
                  <a:pt x="464672" y="935176"/>
                </a:lnTo>
                <a:lnTo>
                  <a:pt x="418719" y="928955"/>
                </a:lnTo>
                <a:lnTo>
                  <a:pt x="373765" y="919406"/>
                </a:lnTo>
                <a:lnTo>
                  <a:pt x="329591" y="907686"/>
                </a:lnTo>
                <a:lnTo>
                  <a:pt x="286338" y="892921"/>
                </a:lnTo>
                <a:lnTo>
                  <a:pt x="244975" y="873407"/>
                </a:lnTo>
                <a:lnTo>
                  <a:pt x="206739" y="848407"/>
                </a:lnTo>
                <a:lnTo>
                  <a:pt x="172007" y="818997"/>
                </a:lnTo>
                <a:lnTo>
                  <a:pt x="139782" y="787274"/>
                </a:lnTo>
                <a:lnTo>
                  <a:pt x="108482" y="754702"/>
                </a:lnTo>
                <a:lnTo>
                  <a:pt x="77561" y="721043"/>
                </a:lnTo>
                <a:lnTo>
                  <a:pt x="48587" y="684786"/>
                </a:lnTo>
                <a:lnTo>
                  <a:pt x="24710" y="644622"/>
                </a:lnTo>
                <a:lnTo>
                  <a:pt x="8721" y="600695"/>
                </a:lnTo>
                <a:lnTo>
                  <a:pt x="1163" y="554581"/>
                </a:lnTo>
                <a:lnTo>
                  <a:pt x="0" y="508150"/>
                </a:lnTo>
                <a:lnTo>
                  <a:pt x="2148" y="462384"/>
                </a:lnTo>
                <a:lnTo>
                  <a:pt x="5693" y="417178"/>
                </a:lnTo>
                <a:lnTo>
                  <a:pt x="11059" y="372155"/>
                </a:lnTo>
                <a:lnTo>
                  <a:pt x="20277" y="327578"/>
                </a:lnTo>
                <a:lnTo>
                  <a:pt x="35068" y="284436"/>
                </a:lnTo>
                <a:lnTo>
                  <a:pt x="55377" y="243611"/>
                </a:lnTo>
                <a:lnTo>
                  <a:pt x="79529" y="205039"/>
                </a:lnTo>
                <a:lnTo>
                  <a:pt x="105759" y="167831"/>
                </a:lnTo>
                <a:lnTo>
                  <a:pt x="133714" y="131426"/>
                </a:lnTo>
                <a:lnTo>
                  <a:pt x="164640" y="96794"/>
                </a:lnTo>
                <a:lnTo>
                  <a:pt x="200127" y="66464"/>
                </a:lnTo>
                <a:lnTo>
                  <a:pt x="240554" y="43088"/>
                </a:lnTo>
                <a:lnTo>
                  <a:pt x="284560" y="27556"/>
                </a:lnTo>
                <a:lnTo>
                  <a:pt x="329936" y="18220"/>
                </a:lnTo>
                <a:lnTo>
                  <a:pt x="375080" y="11974"/>
                </a:lnTo>
                <a:lnTo>
                  <a:pt x="419768" y="6463"/>
                </a:lnTo>
                <a:lnTo>
                  <a:pt x="464672" y="1726"/>
                </a:lnTo>
                <a:lnTo>
                  <a:pt x="510213" y="0"/>
                </a:lnTo>
                <a:lnTo>
                  <a:pt x="555872" y="3892"/>
                </a:lnTo>
                <a:lnTo>
                  <a:pt x="600557" y="14430"/>
                </a:lnTo>
                <a:lnTo>
                  <a:pt x="643553" y="30526"/>
                </a:lnTo>
                <a:lnTo>
                  <a:pt x="685001" y="50178"/>
                </a:lnTo>
                <a:lnTo>
                  <a:pt x="725336" y="72272"/>
                </a:lnTo>
                <a:lnTo>
                  <a:pt x="764181" y="97431"/>
                </a:lnTo>
                <a:lnTo>
                  <a:pt x="799830" y="127225"/>
                </a:lnTo>
                <a:lnTo>
                  <a:pt x="830048" y="162527"/>
                </a:lnTo>
                <a:lnTo>
                  <a:pt x="853696" y="202446"/>
                </a:lnTo>
                <a:lnTo>
                  <a:pt x="871817" y="244760"/>
                </a:lnTo>
                <a:lnTo>
                  <a:pt x="887105" y="287406"/>
                </a:lnTo>
                <a:lnTo>
                  <a:pt x="901977" y="329729"/>
                </a:lnTo>
                <a:lnTo>
                  <a:pt x="916677" y="372474"/>
                </a:lnTo>
                <a:lnTo>
                  <a:pt x="928955" y="416656"/>
                </a:lnTo>
                <a:lnTo>
                  <a:pt x="935598" y="462384"/>
                </a:lnTo>
                <a:close/>
              </a:path>
            </a:pathLst>
          </a:custGeom>
          <a:solidFill xmlns:a="http://schemas.openxmlformats.org/drawingml/2006/main">
            <a:srgbClr val="F8F6F2"/>
          </a:solidFill>
          <a:ln xmlns:a="http://schemas.openxmlformats.org/drawingml/2006/main" w="19050">
            <a:solidFill>
              <a:srgbClr val="287B95"/>
            </a:solidFill>
          </a:ln>
        </p:spPr>
      </p:sp>
      <p:sp>
        <p:nvSpPr>
          <p:cNvPr id="11" name="">
            <a:extLst xmlns:a="http://schemas.openxmlformats.org/drawingml/2006/main">
              <a:ext uri="{FF2B5EF4-FFF2-40B4-BE49-F238E27FC236}">
                <a16:creationId xmlns:a16="http://schemas.microsoft.com/office/drawing/2014/main" id="{CA37AB82-0E4D-48AD-AA14-7338788684A7}"/>
              </a:ext>
            </a:extLst>
          </p:cNvPr>
          <p:cNvSpPr>
            <a:spLocks xmlns:a="http://schemas.openxmlformats.org/drawingml/2006/main" noGrp="1"/>
          </p:cNvSpPr>
          <p:nvPr/>
        </p:nvSpPr>
        <p:spPr>
          <a:xfrm xmlns:a="http://schemas.openxmlformats.org/drawingml/2006/main">
            <a:off x="4092742" y="2747962"/>
            <a:ext cx="794084" cy="579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209" b="0">
                <a:solidFill>
                  <a:srgbClr val="287B95"/>
                </a:solidFill>
                <a:latin typeface="Chalkboard"/>
                <a:ea typeface="Chalkboard"/>
                <a:cs typeface="Chalkboard"/>
              </a:defRPr>
            </a:pPr>
            <a:r>
              <a:rPr sz="2209" b="0">
                <a:solidFill>
                  <a:srgbClr val="287B95"/>
                </a:solidFill>
                <a:latin typeface="Chalkboard"/>
                <a:ea typeface="Chalkboard"/>
                <a:cs typeface="Chalkboard"/>
              </a:rPr>
              <a:t>z₂</a:t>
            </a:r>
          </a:p>
        </p:txBody>
      </p:sp>
      <p:sp>
        <p:nvSpPr>
          <p:cNvPr id="12" name="">
            <a:extLst xmlns:a="http://schemas.openxmlformats.org/drawingml/2006/main">
              <a:ext uri="{FF2B5EF4-FFF2-40B4-BE49-F238E27FC236}">
                <a16:creationId xmlns:a16="http://schemas.microsoft.com/office/drawing/2014/main" id="{0AB2BF19-78A5-4757-8BA2-AC041AA0BC12}"/>
              </a:ext>
            </a:extLst>
          </p:cNvPr>
          <p:cNvSpPr>
            <a:spLocks xmlns:a="http://schemas.openxmlformats.org/drawingml/2006/main" noGrp="1"/>
          </p:cNvSpPr>
          <p:nvPr/>
        </p:nvSpPr>
        <p:spPr>
          <a:xfrm xmlns:a="http://schemas.openxmlformats.org/drawingml/2006/main">
            <a:off x="4986087" y="3030701"/>
            <a:ext cx="1931068" cy="13733"/>
          </a:xfrm>
          <a:custGeom xmlns:a="http://schemas.openxmlformats.org/drawingml/2006/main">
            <a:pathLst>
              <a:path w="2038350" h="14456">
                <a:moveTo>
                  <a:pt x="0" y="7181"/>
                </a:moveTo>
                <a:lnTo>
                  <a:pt x="176817" y="14136"/>
                </a:lnTo>
                <a:lnTo>
                  <a:pt x="333570" y="1025"/>
                </a:lnTo>
                <a:lnTo>
                  <a:pt x="509104" y="6697"/>
                </a:lnTo>
                <a:lnTo>
                  <a:pt x="675390" y="3121"/>
                </a:lnTo>
                <a:lnTo>
                  <a:pt x="846938" y="4807"/>
                </a:lnTo>
                <a:lnTo>
                  <a:pt x="1011994" y="0"/>
                </a:lnTo>
                <a:lnTo>
                  <a:pt x="1185194" y="3337"/>
                </a:lnTo>
                <a:lnTo>
                  <a:pt x="1358936" y="7217"/>
                </a:lnTo>
                <a:lnTo>
                  <a:pt x="1536038" y="14456"/>
                </a:lnTo>
                <a:lnTo>
                  <a:pt x="1701858" y="10414"/>
                </a:lnTo>
                <a:lnTo>
                  <a:pt x="1871004" y="9697"/>
                </a:lnTo>
                <a:lnTo>
                  <a:pt x="2038350" y="7181"/>
                </a:lnTo>
              </a:path>
            </a:pathLst>
          </a:custGeom>
          <a:noFill xmlns:a="http://schemas.openxmlformats.org/drawingml/2006/main"/>
          <a:ln xmlns:a="http://schemas.openxmlformats.org/drawingml/2006/main" w="19050">
            <a:solidFill>
              <a:srgbClr val="287B95"/>
            </a:solidFill>
          </a:ln>
        </p:spPr>
      </p:sp>
      <p:sp>
        <p:nvSpPr>
          <p:cNvPr id="13" name="">
            <a:extLst xmlns:a="http://schemas.openxmlformats.org/drawingml/2006/main">
              <a:ext uri="{FF2B5EF4-FFF2-40B4-BE49-F238E27FC236}">
                <a16:creationId xmlns:a16="http://schemas.microsoft.com/office/drawing/2014/main" id="{45C8A00D-2461-4754-8B4B-782CAC63235A}"/>
              </a:ext>
            </a:extLst>
          </p:cNvPr>
          <p:cNvSpPr>
            <a:spLocks xmlns:a="http://schemas.openxmlformats.org/drawingml/2006/main" noGrp="1"/>
          </p:cNvSpPr>
          <p:nvPr/>
        </p:nvSpPr>
        <p:spPr>
          <a:xfrm xmlns:a="http://schemas.openxmlformats.org/drawingml/2006/main">
            <a:off x="6827777" y="2994227"/>
            <a:ext cx="89379" cy="86590"/>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287B95"/>
            </a:solidFill>
          </a:ln>
        </p:spPr>
      </p:sp>
      <p:sp>
        <p:nvSpPr>
          <p:cNvPr id="14" name="">
            <a:extLst xmlns:a="http://schemas.openxmlformats.org/drawingml/2006/main">
              <a:ext uri="{FF2B5EF4-FFF2-40B4-BE49-F238E27FC236}">
                <a16:creationId xmlns:a16="http://schemas.microsoft.com/office/drawing/2014/main" id="{4FED4B1A-7742-47F9-9C27-C26F463528A9}"/>
              </a:ext>
            </a:extLst>
          </p:cNvPr>
          <p:cNvSpPr>
            <a:spLocks xmlns:a="http://schemas.openxmlformats.org/drawingml/2006/main" noGrp="1"/>
          </p:cNvSpPr>
          <p:nvPr/>
        </p:nvSpPr>
        <p:spPr>
          <a:xfrm xmlns:a="http://schemas.openxmlformats.org/drawingml/2006/main">
            <a:off x="4715376" y="3889388"/>
            <a:ext cx="2472489" cy="14834"/>
          </a:xfrm>
          <a:custGeom xmlns:a="http://schemas.openxmlformats.org/drawingml/2006/main">
            <a:pathLst>
              <a:path w="2609850" h="15615">
                <a:moveTo>
                  <a:pt x="2609850" y="8174"/>
                </a:moveTo>
                <a:lnTo>
                  <a:pt x="2384917" y="728"/>
                </a:lnTo>
                <a:lnTo>
                  <a:pt x="2166701" y="0"/>
                </a:lnTo>
                <a:lnTo>
                  <a:pt x="1951100" y="1886"/>
                </a:lnTo>
                <a:lnTo>
                  <a:pt x="1735152" y="3426"/>
                </a:lnTo>
                <a:lnTo>
                  <a:pt x="1522204" y="7965"/>
                </a:lnTo>
                <a:lnTo>
                  <a:pt x="1312367" y="15615"/>
                </a:lnTo>
                <a:lnTo>
                  <a:pt x="1089114" y="9850"/>
                </a:lnTo>
                <a:lnTo>
                  <a:pt x="874100" y="12324"/>
                </a:lnTo>
                <a:lnTo>
                  <a:pt x="656493" y="12204"/>
                </a:lnTo>
                <a:lnTo>
                  <a:pt x="441905" y="15104"/>
                </a:lnTo>
                <a:lnTo>
                  <a:pt x="211296" y="1982"/>
                </a:lnTo>
                <a:lnTo>
                  <a:pt x="0" y="8174"/>
                </a:lnTo>
              </a:path>
            </a:pathLst>
          </a:custGeom>
          <a:noFill xmlns:a="http://schemas.openxmlformats.org/drawingml/2006/main"/>
          <a:ln xmlns:a="http://schemas.openxmlformats.org/drawingml/2006/main" w="25718">
            <a:solidFill>
              <a:srgbClr val="A45F57"/>
            </a:solidFill>
          </a:ln>
        </p:spPr>
      </p:sp>
      <p:sp>
        <p:nvSpPr>
          <p:cNvPr id="15" name="">
            <a:extLst xmlns:a="http://schemas.openxmlformats.org/drawingml/2006/main">
              <a:ext uri="{FF2B5EF4-FFF2-40B4-BE49-F238E27FC236}">
                <a16:creationId xmlns:a16="http://schemas.microsoft.com/office/drawing/2014/main" id="{7D69F340-D8EA-4096-932E-CD21AF7D2315}"/>
              </a:ext>
            </a:extLst>
          </p:cNvPr>
          <p:cNvSpPr>
            <a:spLocks xmlns:a="http://schemas.openxmlformats.org/drawingml/2006/main" noGrp="1"/>
          </p:cNvSpPr>
          <p:nvPr/>
        </p:nvSpPr>
        <p:spPr>
          <a:xfrm xmlns:a="http://schemas.openxmlformats.org/drawingml/2006/main">
            <a:off x="4715376" y="3853858"/>
            <a:ext cx="89379" cy="86590"/>
          </a:xfrm>
          <a:custGeom xmlns:a="http://schemas.openxmlformats.org/drawingml/2006/main">
            <a:pathLst>
              <a:path w="94344" h="91147">
                <a:moveTo>
                  <a:pt x="94344" y="0"/>
                </a:moveTo>
                <a:lnTo>
                  <a:pt x="0" y="45574"/>
                </a:lnTo>
                <a:lnTo>
                  <a:pt x="94344" y="91147"/>
                </a:lnTo>
              </a:path>
            </a:pathLst>
          </a:custGeom>
          <a:noFill xmlns:a="http://schemas.openxmlformats.org/drawingml/2006/main"/>
          <a:ln xmlns:a="http://schemas.openxmlformats.org/drawingml/2006/main" w="25718">
            <a:solidFill>
              <a:srgbClr val="A45F57"/>
            </a:solidFill>
          </a:ln>
        </p:spPr>
      </p:sp>
      <p:sp>
        <p:nvSpPr>
          <p:cNvPr id="16" name="">
            <a:extLst xmlns:a="http://schemas.openxmlformats.org/drawingml/2006/main">
              <a:ext uri="{FF2B5EF4-FFF2-40B4-BE49-F238E27FC236}">
                <a16:creationId xmlns:a16="http://schemas.microsoft.com/office/drawing/2014/main" id="{9E39B230-8B0D-46DD-AED4-BAAB005B1572}"/>
              </a:ext>
            </a:extLst>
          </p:cNvPr>
          <p:cNvSpPr>
            <a:spLocks xmlns:a="http://schemas.openxmlformats.org/drawingml/2006/main" noGrp="1"/>
          </p:cNvSpPr>
          <p:nvPr/>
        </p:nvSpPr>
        <p:spPr>
          <a:xfrm xmlns:a="http://schemas.openxmlformats.org/drawingml/2006/main">
            <a:off x="6973242" y="2598258"/>
            <a:ext cx="886356" cy="888647"/>
          </a:xfrm>
          <a:custGeom xmlns:a="http://schemas.openxmlformats.org/drawingml/2006/main">
            <a:pathLst>
              <a:path w="935598" h="935418">
                <a:moveTo>
                  <a:pt x="935598" y="462384"/>
                </a:moveTo>
                <a:lnTo>
                  <a:pt x="934648" y="508672"/>
                </a:lnTo>
                <a:lnTo>
                  <a:pt x="926573" y="554262"/>
                </a:lnTo>
                <a:lnTo>
                  <a:pt x="913533" y="598544"/>
                </a:lnTo>
                <a:lnTo>
                  <a:pt x="897463" y="641652"/>
                </a:lnTo>
                <a:lnTo>
                  <a:pt x="878606" y="683636"/>
                </a:lnTo>
                <a:lnTo>
                  <a:pt x="855664" y="723636"/>
                </a:lnTo>
                <a:lnTo>
                  <a:pt x="827325" y="760006"/>
                </a:lnTo>
                <a:lnTo>
                  <a:pt x="793763" y="791475"/>
                </a:lnTo>
                <a:lnTo>
                  <a:pt x="756815" y="818361"/>
                </a:lnTo>
                <a:lnTo>
                  <a:pt x="718724" y="842599"/>
                </a:lnTo>
                <a:lnTo>
                  <a:pt x="680579" y="866317"/>
                </a:lnTo>
                <a:lnTo>
                  <a:pt x="641776" y="889951"/>
                </a:lnTo>
                <a:lnTo>
                  <a:pt x="600903" y="911476"/>
                </a:lnTo>
                <a:lnTo>
                  <a:pt x="557187" y="927488"/>
                </a:lnTo>
                <a:lnTo>
                  <a:pt x="511262" y="935418"/>
                </a:lnTo>
                <a:lnTo>
                  <a:pt x="464672" y="935176"/>
                </a:lnTo>
                <a:lnTo>
                  <a:pt x="418719" y="928955"/>
                </a:lnTo>
                <a:lnTo>
                  <a:pt x="373765" y="919406"/>
                </a:lnTo>
                <a:lnTo>
                  <a:pt x="329591" y="907686"/>
                </a:lnTo>
                <a:lnTo>
                  <a:pt x="286338" y="892921"/>
                </a:lnTo>
                <a:lnTo>
                  <a:pt x="244975" y="873407"/>
                </a:lnTo>
                <a:lnTo>
                  <a:pt x="206739" y="848407"/>
                </a:lnTo>
                <a:lnTo>
                  <a:pt x="172007" y="818997"/>
                </a:lnTo>
                <a:lnTo>
                  <a:pt x="139782" y="787274"/>
                </a:lnTo>
                <a:lnTo>
                  <a:pt x="108482" y="754702"/>
                </a:lnTo>
                <a:lnTo>
                  <a:pt x="77561" y="721043"/>
                </a:lnTo>
                <a:lnTo>
                  <a:pt x="48587" y="684786"/>
                </a:lnTo>
                <a:lnTo>
                  <a:pt x="24710" y="644622"/>
                </a:lnTo>
                <a:lnTo>
                  <a:pt x="8721" y="600695"/>
                </a:lnTo>
                <a:lnTo>
                  <a:pt x="1163" y="554581"/>
                </a:lnTo>
                <a:lnTo>
                  <a:pt x="0" y="508150"/>
                </a:lnTo>
                <a:lnTo>
                  <a:pt x="2148" y="462384"/>
                </a:lnTo>
                <a:lnTo>
                  <a:pt x="5693" y="417178"/>
                </a:lnTo>
                <a:lnTo>
                  <a:pt x="11059" y="372155"/>
                </a:lnTo>
                <a:lnTo>
                  <a:pt x="20277" y="327578"/>
                </a:lnTo>
                <a:lnTo>
                  <a:pt x="35068" y="284436"/>
                </a:lnTo>
                <a:lnTo>
                  <a:pt x="55377" y="243611"/>
                </a:lnTo>
                <a:lnTo>
                  <a:pt x="79529" y="205039"/>
                </a:lnTo>
                <a:lnTo>
                  <a:pt x="105759" y="167831"/>
                </a:lnTo>
                <a:lnTo>
                  <a:pt x="133714" y="131426"/>
                </a:lnTo>
                <a:lnTo>
                  <a:pt x="164640" y="96794"/>
                </a:lnTo>
                <a:lnTo>
                  <a:pt x="200127" y="66464"/>
                </a:lnTo>
                <a:lnTo>
                  <a:pt x="240554" y="43088"/>
                </a:lnTo>
                <a:lnTo>
                  <a:pt x="284560" y="27556"/>
                </a:lnTo>
                <a:lnTo>
                  <a:pt x="329936" y="18220"/>
                </a:lnTo>
                <a:lnTo>
                  <a:pt x="375080" y="11974"/>
                </a:lnTo>
                <a:lnTo>
                  <a:pt x="419768" y="6463"/>
                </a:lnTo>
                <a:lnTo>
                  <a:pt x="464672" y="1726"/>
                </a:lnTo>
                <a:lnTo>
                  <a:pt x="510213" y="0"/>
                </a:lnTo>
                <a:lnTo>
                  <a:pt x="555872" y="3892"/>
                </a:lnTo>
                <a:lnTo>
                  <a:pt x="600557" y="14430"/>
                </a:lnTo>
                <a:lnTo>
                  <a:pt x="643553" y="30526"/>
                </a:lnTo>
                <a:lnTo>
                  <a:pt x="685001" y="50178"/>
                </a:lnTo>
                <a:lnTo>
                  <a:pt x="725336" y="72272"/>
                </a:lnTo>
                <a:lnTo>
                  <a:pt x="764181" y="97431"/>
                </a:lnTo>
                <a:lnTo>
                  <a:pt x="799830" y="127225"/>
                </a:lnTo>
                <a:lnTo>
                  <a:pt x="830048" y="162527"/>
                </a:lnTo>
                <a:lnTo>
                  <a:pt x="853696" y="202446"/>
                </a:lnTo>
                <a:lnTo>
                  <a:pt x="871817" y="244760"/>
                </a:lnTo>
                <a:lnTo>
                  <a:pt x="887105" y="287406"/>
                </a:lnTo>
                <a:lnTo>
                  <a:pt x="901977" y="329729"/>
                </a:lnTo>
                <a:lnTo>
                  <a:pt x="916677" y="372474"/>
                </a:lnTo>
                <a:lnTo>
                  <a:pt x="928955" y="416656"/>
                </a:lnTo>
                <a:lnTo>
                  <a:pt x="935598" y="462384"/>
                </a:lnTo>
                <a:close/>
              </a:path>
            </a:pathLst>
          </a:custGeom>
          <a:solidFill xmlns:a="http://schemas.openxmlformats.org/drawingml/2006/main">
            <a:srgbClr val="F8F6F2"/>
          </a:solidFill>
          <a:ln xmlns:a="http://schemas.openxmlformats.org/drawingml/2006/main" w="19050">
            <a:solidFill>
              <a:srgbClr val="287B95"/>
            </a:solidFill>
          </a:ln>
        </p:spPr>
      </p:sp>
      <p:sp>
        <p:nvSpPr>
          <p:cNvPr id="17" name="">
            <a:extLst xmlns:a="http://schemas.openxmlformats.org/drawingml/2006/main">
              <a:ext uri="{FF2B5EF4-FFF2-40B4-BE49-F238E27FC236}">
                <a16:creationId xmlns:a16="http://schemas.microsoft.com/office/drawing/2014/main" id="{97C8433C-B00D-4F16-92ED-91387F5762DD}"/>
              </a:ext>
            </a:extLst>
          </p:cNvPr>
          <p:cNvSpPr>
            <a:spLocks xmlns:a="http://schemas.openxmlformats.org/drawingml/2006/main" noGrp="1"/>
          </p:cNvSpPr>
          <p:nvPr/>
        </p:nvSpPr>
        <p:spPr>
          <a:xfrm xmlns:a="http://schemas.openxmlformats.org/drawingml/2006/main">
            <a:off x="7016416" y="2747962"/>
            <a:ext cx="794084" cy="579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209" b="0">
                <a:solidFill>
                  <a:srgbClr val="287B95"/>
                </a:solidFill>
                <a:latin typeface="Chalkboard"/>
                <a:ea typeface="Chalkboard"/>
                <a:cs typeface="Chalkboard"/>
              </a:defRPr>
            </a:pPr>
            <a:r>
              <a:rPr sz="2209" b="0">
                <a:solidFill>
                  <a:srgbClr val="287B95"/>
                </a:solidFill>
                <a:latin typeface="Chalkboard"/>
                <a:ea typeface="Chalkboard"/>
                <a:cs typeface="Chalkboard"/>
              </a:rPr>
              <a:t>ŷ</a:t>
            </a:r>
          </a:p>
        </p:txBody>
      </p:sp>
      <p:sp>
        <p:nvSpPr>
          <p:cNvPr id="18" name="">
            <a:extLst xmlns:a="http://schemas.openxmlformats.org/drawingml/2006/main">
              <a:ext uri="{FF2B5EF4-FFF2-40B4-BE49-F238E27FC236}">
                <a16:creationId xmlns:a16="http://schemas.microsoft.com/office/drawing/2014/main" id="{C6402C81-B310-43AA-919B-3A645B88CB38}"/>
              </a:ext>
            </a:extLst>
          </p:cNvPr>
          <p:cNvSpPr>
            <a:spLocks xmlns:a="http://schemas.openxmlformats.org/drawingml/2006/main" noGrp="1"/>
          </p:cNvSpPr>
          <p:nvPr/>
        </p:nvSpPr>
        <p:spPr>
          <a:xfrm xmlns:a="http://schemas.openxmlformats.org/drawingml/2006/main">
            <a:off x="7909761" y="3032171"/>
            <a:ext cx="1876926" cy="12894"/>
          </a:xfrm>
          <a:custGeom xmlns:a="http://schemas.openxmlformats.org/drawingml/2006/main">
            <a:pathLst>
              <a:path w="1981200" h="13573">
                <a:moveTo>
                  <a:pt x="0" y="5633"/>
                </a:moveTo>
                <a:lnTo>
                  <a:pt x="173040" y="13573"/>
                </a:lnTo>
                <a:lnTo>
                  <a:pt x="325319" y="752"/>
                </a:lnTo>
                <a:lnTo>
                  <a:pt x="490363" y="695"/>
                </a:lnTo>
                <a:lnTo>
                  <a:pt x="663238" y="8471"/>
                </a:lnTo>
                <a:lnTo>
                  <a:pt x="826361" y="6494"/>
                </a:lnTo>
                <a:lnTo>
                  <a:pt x="996600" y="11632"/>
                </a:lnTo>
                <a:lnTo>
                  <a:pt x="1163590" y="13522"/>
                </a:lnTo>
                <a:lnTo>
                  <a:pt x="1326105" y="10938"/>
                </a:lnTo>
                <a:lnTo>
                  <a:pt x="1480267" y="0"/>
                </a:lnTo>
                <a:lnTo>
                  <a:pt x="1658260" y="12893"/>
                </a:lnTo>
                <a:lnTo>
                  <a:pt x="1814190" y="3722"/>
                </a:lnTo>
                <a:lnTo>
                  <a:pt x="1981200" y="5633"/>
                </a:lnTo>
              </a:path>
            </a:pathLst>
          </a:custGeom>
          <a:noFill xmlns:a="http://schemas.openxmlformats.org/drawingml/2006/main"/>
          <a:ln xmlns:a="http://schemas.openxmlformats.org/drawingml/2006/main" w="19050">
            <a:solidFill>
              <a:srgbClr val="287B95"/>
            </a:solidFill>
          </a:ln>
        </p:spPr>
      </p:sp>
      <p:sp>
        <p:nvSpPr>
          <p:cNvPr id="19" name="">
            <a:extLst xmlns:a="http://schemas.openxmlformats.org/drawingml/2006/main">
              <a:ext uri="{FF2B5EF4-FFF2-40B4-BE49-F238E27FC236}">
                <a16:creationId xmlns:a16="http://schemas.microsoft.com/office/drawing/2014/main" id="{CD515C65-CCA9-4A72-B5B1-FE6653C9985C}"/>
              </a:ext>
            </a:extLst>
          </p:cNvPr>
          <p:cNvSpPr>
            <a:spLocks xmlns:a="http://schemas.openxmlformats.org/drawingml/2006/main" noGrp="1"/>
          </p:cNvSpPr>
          <p:nvPr/>
        </p:nvSpPr>
        <p:spPr>
          <a:xfrm xmlns:a="http://schemas.openxmlformats.org/drawingml/2006/main">
            <a:off x="9697308" y="2994227"/>
            <a:ext cx="89379" cy="86590"/>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287B95"/>
            </a:solidFill>
          </a:ln>
        </p:spPr>
      </p:sp>
      <p:sp>
        <p:nvSpPr>
          <p:cNvPr id="20" name="">
            <a:extLst xmlns:a="http://schemas.openxmlformats.org/drawingml/2006/main">
              <a:ext uri="{FF2B5EF4-FFF2-40B4-BE49-F238E27FC236}">
                <a16:creationId xmlns:a16="http://schemas.microsoft.com/office/drawing/2014/main" id="{B5380587-4B35-4C6D-B8CA-9F6425EB3DEE}"/>
              </a:ext>
            </a:extLst>
          </p:cNvPr>
          <p:cNvSpPr>
            <a:spLocks xmlns:a="http://schemas.openxmlformats.org/drawingml/2006/main" noGrp="1"/>
          </p:cNvSpPr>
          <p:nvPr/>
        </p:nvSpPr>
        <p:spPr>
          <a:xfrm xmlns:a="http://schemas.openxmlformats.org/drawingml/2006/main">
            <a:off x="7639050" y="3889087"/>
            <a:ext cx="2418347" cy="15485"/>
          </a:xfrm>
          <a:custGeom xmlns:a="http://schemas.openxmlformats.org/drawingml/2006/main">
            <a:pathLst>
              <a:path w="2552700" h="16300">
                <a:moveTo>
                  <a:pt x="2552700" y="8491"/>
                </a:moveTo>
                <a:lnTo>
                  <a:pt x="2331484" y="0"/>
                </a:lnTo>
                <a:lnTo>
                  <a:pt x="2128547" y="9788"/>
                </a:lnTo>
                <a:lnTo>
                  <a:pt x="1922334" y="16300"/>
                </a:lnTo>
                <a:lnTo>
                  <a:pt x="1703668" y="10359"/>
                </a:lnTo>
                <a:lnTo>
                  <a:pt x="1484220" y="3636"/>
                </a:lnTo>
                <a:lnTo>
                  <a:pt x="1280541" y="12682"/>
                </a:lnTo>
                <a:lnTo>
                  <a:pt x="1066172" y="11038"/>
                </a:lnTo>
                <a:lnTo>
                  <a:pt x="849053" y="6645"/>
                </a:lnTo>
                <a:lnTo>
                  <a:pt x="634708" y="5024"/>
                </a:lnTo>
                <a:lnTo>
                  <a:pt x="426355" y="9396"/>
                </a:lnTo>
                <a:lnTo>
                  <a:pt x="209873" y="5639"/>
                </a:lnTo>
                <a:lnTo>
                  <a:pt x="0" y="8491"/>
                </a:lnTo>
              </a:path>
            </a:pathLst>
          </a:custGeom>
          <a:noFill xmlns:a="http://schemas.openxmlformats.org/drawingml/2006/main"/>
          <a:ln xmlns:a="http://schemas.openxmlformats.org/drawingml/2006/main" w="25718">
            <a:solidFill>
              <a:srgbClr val="A45F57"/>
            </a:solidFill>
          </a:ln>
        </p:spPr>
      </p:sp>
      <p:sp>
        <p:nvSpPr>
          <p:cNvPr id="21" name="">
            <a:extLst xmlns:a="http://schemas.openxmlformats.org/drawingml/2006/main">
              <a:ext uri="{FF2B5EF4-FFF2-40B4-BE49-F238E27FC236}">
                <a16:creationId xmlns:a16="http://schemas.microsoft.com/office/drawing/2014/main" id="{FEE3CBE5-CEC7-4969-8539-10DC2B59A57E}"/>
              </a:ext>
            </a:extLst>
          </p:cNvPr>
          <p:cNvSpPr>
            <a:spLocks xmlns:a="http://schemas.openxmlformats.org/drawingml/2006/main" noGrp="1"/>
          </p:cNvSpPr>
          <p:nvPr/>
        </p:nvSpPr>
        <p:spPr>
          <a:xfrm xmlns:a="http://schemas.openxmlformats.org/drawingml/2006/main">
            <a:off x="7639050" y="3853858"/>
            <a:ext cx="89379" cy="86590"/>
          </a:xfrm>
          <a:custGeom xmlns:a="http://schemas.openxmlformats.org/drawingml/2006/main">
            <a:pathLst>
              <a:path w="94344" h="91147">
                <a:moveTo>
                  <a:pt x="94344" y="0"/>
                </a:moveTo>
                <a:lnTo>
                  <a:pt x="0" y="45574"/>
                </a:lnTo>
                <a:lnTo>
                  <a:pt x="94344" y="91147"/>
                </a:lnTo>
              </a:path>
            </a:pathLst>
          </a:custGeom>
          <a:noFill xmlns:a="http://schemas.openxmlformats.org/drawingml/2006/main"/>
          <a:ln xmlns:a="http://schemas.openxmlformats.org/drawingml/2006/main" w="25718">
            <a:solidFill>
              <a:srgbClr val="A45F57"/>
            </a:solidFill>
          </a:ln>
        </p:spPr>
      </p:sp>
      <p:sp>
        <p:nvSpPr>
          <p:cNvPr id="22" name="">
            <a:extLst xmlns:a="http://schemas.openxmlformats.org/drawingml/2006/main">
              <a:ext uri="{FF2B5EF4-FFF2-40B4-BE49-F238E27FC236}">
                <a16:creationId xmlns:a16="http://schemas.microsoft.com/office/drawing/2014/main" id="{9D866284-8ABC-4152-A806-3B8445B0FEB8}"/>
              </a:ext>
            </a:extLst>
          </p:cNvPr>
          <p:cNvSpPr>
            <a:spLocks xmlns:a="http://schemas.openxmlformats.org/drawingml/2006/main" noGrp="1"/>
          </p:cNvSpPr>
          <p:nvPr/>
        </p:nvSpPr>
        <p:spPr>
          <a:xfrm xmlns:a="http://schemas.openxmlformats.org/drawingml/2006/main">
            <a:off x="9842774" y="2598258"/>
            <a:ext cx="886356" cy="888647"/>
          </a:xfrm>
          <a:custGeom xmlns:a="http://schemas.openxmlformats.org/drawingml/2006/main">
            <a:pathLst>
              <a:path w="935598" h="935418">
                <a:moveTo>
                  <a:pt x="935598" y="462384"/>
                </a:moveTo>
                <a:lnTo>
                  <a:pt x="934648" y="508672"/>
                </a:lnTo>
                <a:lnTo>
                  <a:pt x="926573" y="554262"/>
                </a:lnTo>
                <a:lnTo>
                  <a:pt x="913533" y="598544"/>
                </a:lnTo>
                <a:lnTo>
                  <a:pt x="897463" y="641652"/>
                </a:lnTo>
                <a:lnTo>
                  <a:pt x="878606" y="683636"/>
                </a:lnTo>
                <a:lnTo>
                  <a:pt x="855664" y="723636"/>
                </a:lnTo>
                <a:lnTo>
                  <a:pt x="827325" y="760006"/>
                </a:lnTo>
                <a:lnTo>
                  <a:pt x="793763" y="791475"/>
                </a:lnTo>
                <a:lnTo>
                  <a:pt x="756815" y="818361"/>
                </a:lnTo>
                <a:lnTo>
                  <a:pt x="718724" y="842599"/>
                </a:lnTo>
                <a:lnTo>
                  <a:pt x="680579" y="866317"/>
                </a:lnTo>
                <a:lnTo>
                  <a:pt x="641776" y="889951"/>
                </a:lnTo>
                <a:lnTo>
                  <a:pt x="600903" y="911476"/>
                </a:lnTo>
                <a:lnTo>
                  <a:pt x="557187" y="927488"/>
                </a:lnTo>
                <a:lnTo>
                  <a:pt x="511262" y="935418"/>
                </a:lnTo>
                <a:lnTo>
                  <a:pt x="464672" y="935176"/>
                </a:lnTo>
                <a:lnTo>
                  <a:pt x="418719" y="928955"/>
                </a:lnTo>
                <a:lnTo>
                  <a:pt x="373765" y="919406"/>
                </a:lnTo>
                <a:lnTo>
                  <a:pt x="329591" y="907686"/>
                </a:lnTo>
                <a:lnTo>
                  <a:pt x="286338" y="892921"/>
                </a:lnTo>
                <a:lnTo>
                  <a:pt x="244975" y="873407"/>
                </a:lnTo>
                <a:lnTo>
                  <a:pt x="206739" y="848407"/>
                </a:lnTo>
                <a:lnTo>
                  <a:pt x="172007" y="818997"/>
                </a:lnTo>
                <a:lnTo>
                  <a:pt x="139782" y="787274"/>
                </a:lnTo>
                <a:lnTo>
                  <a:pt x="108482" y="754702"/>
                </a:lnTo>
                <a:lnTo>
                  <a:pt x="77561" y="721043"/>
                </a:lnTo>
                <a:lnTo>
                  <a:pt x="48587" y="684786"/>
                </a:lnTo>
                <a:lnTo>
                  <a:pt x="24710" y="644622"/>
                </a:lnTo>
                <a:lnTo>
                  <a:pt x="8721" y="600695"/>
                </a:lnTo>
                <a:lnTo>
                  <a:pt x="1163" y="554581"/>
                </a:lnTo>
                <a:lnTo>
                  <a:pt x="0" y="508150"/>
                </a:lnTo>
                <a:lnTo>
                  <a:pt x="2148" y="462384"/>
                </a:lnTo>
                <a:lnTo>
                  <a:pt x="5693" y="417178"/>
                </a:lnTo>
                <a:lnTo>
                  <a:pt x="11059" y="372155"/>
                </a:lnTo>
                <a:lnTo>
                  <a:pt x="20277" y="327578"/>
                </a:lnTo>
                <a:lnTo>
                  <a:pt x="35068" y="284436"/>
                </a:lnTo>
                <a:lnTo>
                  <a:pt x="55377" y="243611"/>
                </a:lnTo>
                <a:lnTo>
                  <a:pt x="79529" y="205039"/>
                </a:lnTo>
                <a:lnTo>
                  <a:pt x="105759" y="167831"/>
                </a:lnTo>
                <a:lnTo>
                  <a:pt x="133714" y="131426"/>
                </a:lnTo>
                <a:lnTo>
                  <a:pt x="164640" y="96794"/>
                </a:lnTo>
                <a:lnTo>
                  <a:pt x="200127" y="66464"/>
                </a:lnTo>
                <a:lnTo>
                  <a:pt x="240554" y="43088"/>
                </a:lnTo>
                <a:lnTo>
                  <a:pt x="284560" y="27556"/>
                </a:lnTo>
                <a:lnTo>
                  <a:pt x="329936" y="18220"/>
                </a:lnTo>
                <a:lnTo>
                  <a:pt x="375080" y="11974"/>
                </a:lnTo>
                <a:lnTo>
                  <a:pt x="419768" y="6463"/>
                </a:lnTo>
                <a:lnTo>
                  <a:pt x="464672" y="1726"/>
                </a:lnTo>
                <a:lnTo>
                  <a:pt x="510213" y="0"/>
                </a:lnTo>
                <a:lnTo>
                  <a:pt x="555872" y="3892"/>
                </a:lnTo>
                <a:lnTo>
                  <a:pt x="600557" y="14430"/>
                </a:lnTo>
                <a:lnTo>
                  <a:pt x="643553" y="30526"/>
                </a:lnTo>
                <a:lnTo>
                  <a:pt x="685001" y="50178"/>
                </a:lnTo>
                <a:lnTo>
                  <a:pt x="725336" y="72272"/>
                </a:lnTo>
                <a:lnTo>
                  <a:pt x="764181" y="97431"/>
                </a:lnTo>
                <a:lnTo>
                  <a:pt x="799830" y="127225"/>
                </a:lnTo>
                <a:lnTo>
                  <a:pt x="830048" y="162527"/>
                </a:lnTo>
                <a:lnTo>
                  <a:pt x="853696" y="202446"/>
                </a:lnTo>
                <a:lnTo>
                  <a:pt x="871817" y="244760"/>
                </a:lnTo>
                <a:lnTo>
                  <a:pt x="887105" y="287406"/>
                </a:lnTo>
                <a:lnTo>
                  <a:pt x="901977" y="329729"/>
                </a:lnTo>
                <a:lnTo>
                  <a:pt x="916677" y="372474"/>
                </a:lnTo>
                <a:lnTo>
                  <a:pt x="928955" y="416656"/>
                </a:lnTo>
                <a:lnTo>
                  <a:pt x="935598" y="462384"/>
                </a:lnTo>
                <a:close/>
              </a:path>
            </a:pathLst>
          </a:custGeom>
          <a:solidFill xmlns:a="http://schemas.openxmlformats.org/drawingml/2006/main">
            <a:srgbClr val="F8F6F2"/>
          </a:solidFill>
          <a:ln xmlns:a="http://schemas.openxmlformats.org/drawingml/2006/main" w="19050">
            <a:solidFill>
              <a:srgbClr val="A45F57"/>
            </a:solidFill>
          </a:ln>
        </p:spPr>
      </p:sp>
      <p:sp>
        <p:nvSpPr>
          <p:cNvPr id="23" name="">
            <a:extLst xmlns:a="http://schemas.openxmlformats.org/drawingml/2006/main">
              <a:ext uri="{FF2B5EF4-FFF2-40B4-BE49-F238E27FC236}">
                <a16:creationId xmlns:a16="http://schemas.microsoft.com/office/drawing/2014/main" id="{26EA3293-F9E8-4CBB-A995-69AEE02685B0}"/>
              </a:ext>
            </a:extLst>
          </p:cNvPr>
          <p:cNvSpPr>
            <a:spLocks xmlns:a="http://schemas.openxmlformats.org/drawingml/2006/main" noGrp="1"/>
          </p:cNvSpPr>
          <p:nvPr/>
        </p:nvSpPr>
        <p:spPr>
          <a:xfrm xmlns:a="http://schemas.openxmlformats.org/drawingml/2006/main">
            <a:off x="9885947" y="2747962"/>
            <a:ext cx="794084" cy="579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209" b="0">
                <a:solidFill>
                  <a:srgbClr val="A45F57"/>
                </a:solidFill>
                <a:latin typeface="Chalkboard"/>
                <a:ea typeface="Chalkboard"/>
                <a:cs typeface="Chalkboard"/>
              </a:defRPr>
            </a:pPr>
            <a:r>
              <a:rPr sz="2209" b="0">
                <a:solidFill>
                  <a:srgbClr val="A45F57"/>
                </a:solidFill>
                <a:latin typeface="Chalkboard"/>
                <a:ea typeface="Chalkboard"/>
                <a:cs typeface="Chalkboard"/>
              </a:rPr>
              <a:t>L</a:t>
            </a:r>
          </a:p>
        </p:txBody>
      </p:sp>
      <p:sp>
        <p:nvSpPr>
          <p:cNvPr id="24" name="">
            <a:extLst xmlns:a="http://schemas.openxmlformats.org/drawingml/2006/main">
              <a:ext uri="{FF2B5EF4-FFF2-40B4-BE49-F238E27FC236}">
                <a16:creationId xmlns:a16="http://schemas.microsoft.com/office/drawing/2014/main" id="{83A434B0-AB33-4A7B-BF22-9CAFC418A666}"/>
              </a:ext>
            </a:extLst>
          </p:cNvPr>
          <p:cNvSpPr>
            <a:spLocks xmlns:a="http://schemas.openxmlformats.org/drawingml/2006/main" noGrp="1"/>
          </p:cNvSpPr>
          <p:nvPr/>
        </p:nvSpPr>
        <p:spPr>
          <a:xfrm xmlns:a="http://schemas.openxmlformats.org/drawingml/2006/main">
            <a:off x="2378242" y="4168616"/>
            <a:ext cx="1416718"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066" b="0">
                <a:solidFill>
                  <a:srgbClr val="A45F57"/>
                </a:solidFill>
                <a:latin typeface="Chalkboard"/>
                <a:ea typeface="Chalkboard"/>
                <a:cs typeface="Chalkboard"/>
              </a:defRPr>
            </a:pPr>
            <a:r>
              <a:rPr sz="2066" b="0">
                <a:solidFill>
                  <a:srgbClr val="A45F57"/>
                </a:solidFill>
                <a:latin typeface="Chalkboard"/>
                <a:ea typeface="Chalkboard"/>
                <a:cs typeface="Chalkboard"/>
              </a:rPr>
              <a:t>× h</a:t>
            </a:r>
          </a:p>
        </p:txBody>
      </p:sp>
      <p:sp>
        <p:nvSpPr>
          <p:cNvPr id="25" name="">
            <a:extLst xmlns:a="http://schemas.openxmlformats.org/drawingml/2006/main">
              <a:ext uri="{FF2B5EF4-FFF2-40B4-BE49-F238E27FC236}">
                <a16:creationId xmlns:a16="http://schemas.microsoft.com/office/drawing/2014/main" id="{6E19ED06-7D31-4AFC-9C7F-3C42FCE6B48B}"/>
              </a:ext>
            </a:extLst>
          </p:cNvPr>
          <p:cNvSpPr>
            <a:spLocks xmlns:a="http://schemas.openxmlformats.org/drawingml/2006/main" noGrp="1"/>
          </p:cNvSpPr>
          <p:nvPr/>
        </p:nvSpPr>
        <p:spPr>
          <a:xfrm xmlns:a="http://schemas.openxmlformats.org/drawingml/2006/main">
            <a:off x="5220703" y="4168616"/>
            <a:ext cx="1714500"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066" b="0">
                <a:solidFill>
                  <a:srgbClr val="A45F57"/>
                </a:solidFill>
                <a:latin typeface="Chalkboard"/>
                <a:ea typeface="Chalkboard"/>
                <a:cs typeface="Chalkboard"/>
              </a:defRPr>
            </a:pPr>
            <a:r>
              <a:rPr sz="2066" b="0">
                <a:solidFill>
                  <a:srgbClr val="A45F57"/>
                </a:solidFill>
                <a:latin typeface="Chalkboard"/>
                <a:ea typeface="Chalkboard"/>
                <a:cs typeface="Chalkboard"/>
              </a:rPr>
              <a:t>× ŷ(1−ŷ)</a:t>
            </a:r>
          </a:p>
        </p:txBody>
      </p:sp>
      <p:sp>
        <p:nvSpPr>
          <p:cNvPr id="26" name="">
            <a:extLst xmlns:a="http://schemas.openxmlformats.org/drawingml/2006/main">
              <a:ext uri="{FF2B5EF4-FFF2-40B4-BE49-F238E27FC236}">
                <a16:creationId xmlns:a16="http://schemas.microsoft.com/office/drawing/2014/main" id="{36649ED2-4C64-412A-A7EB-2AD76C38CB44}"/>
              </a:ext>
            </a:extLst>
          </p:cNvPr>
          <p:cNvSpPr>
            <a:spLocks xmlns:a="http://schemas.openxmlformats.org/drawingml/2006/main" noGrp="1"/>
          </p:cNvSpPr>
          <p:nvPr/>
        </p:nvSpPr>
        <p:spPr>
          <a:xfrm xmlns:a="http://schemas.openxmlformats.org/drawingml/2006/main">
            <a:off x="8081211" y="4168616"/>
            <a:ext cx="1714500"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066" b="0">
                <a:solidFill>
                  <a:srgbClr val="A45F57"/>
                </a:solidFill>
                <a:latin typeface="Chalkboard"/>
                <a:ea typeface="Chalkboard"/>
                <a:cs typeface="Chalkboard"/>
              </a:defRPr>
            </a:pPr>
            <a:r>
              <a:rPr sz="2066" b="0">
                <a:solidFill>
                  <a:srgbClr val="A45F57"/>
                </a:solidFill>
                <a:latin typeface="Chalkboard"/>
                <a:ea typeface="Chalkboard"/>
                <a:cs typeface="Chalkboard"/>
              </a:rPr>
              <a:t>× (−1/ŷ)</a:t>
            </a:r>
          </a:p>
        </p:txBody>
      </p:sp>
      <p:sp>
        <p:nvSpPr>
          <p:cNvPr id="27" name="">
            <a:extLst xmlns:a="http://schemas.openxmlformats.org/drawingml/2006/main">
              <a:ext uri="{FF2B5EF4-FFF2-40B4-BE49-F238E27FC236}">
                <a16:creationId xmlns:a16="http://schemas.microsoft.com/office/drawing/2014/main" id="{B4DAC89A-1DF6-467B-AD0B-6714CCCA105F}"/>
              </a:ext>
            </a:extLst>
          </p:cNvPr>
          <p:cNvSpPr>
            <a:spLocks xmlns:a="http://schemas.openxmlformats.org/drawingml/2006/main" noGrp="1"/>
          </p:cNvSpPr>
          <p:nvPr/>
        </p:nvSpPr>
        <p:spPr>
          <a:xfrm xmlns:a="http://schemas.openxmlformats.org/drawingml/2006/main">
            <a:off x="790074" y="5001101"/>
            <a:ext cx="10296024" cy="5881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422" b="0">
                <a:solidFill>
                  <a:srgbClr val="287B95"/>
                </a:solidFill>
                <a:latin typeface="Chalkboard"/>
                <a:ea typeface="Chalkboard"/>
                <a:cs typeface="Chalkboard"/>
              </a:defRPr>
            </a:pPr>
            <a:r>
              <a:rPr sz="2422" b="0">
                <a:solidFill>
                  <a:srgbClr val="287B95"/>
                </a:solidFill>
                <a:latin typeface="Chalkboard"/>
                <a:ea typeface="Chalkboard"/>
                <a:cs typeface="Chalkboard"/>
              </a:rPr>
              <a:t>∂L/∂w₂ = (ŷ − y) · h = −0.1888</a:t>
            </a:r>
          </a:p>
        </p:txBody>
      </p:sp>
      <p:sp>
        <p:nvSpPr>
          <p:cNvPr id="9200" name="matched-title">
            <a:extLst xmlns:a="http://schemas.openxmlformats.org/drawingml/2006/main">
              <a:ext uri="{FF2B5EF4-FFF2-40B4-BE49-F238E27FC236}">
                <a16:creationId xmlns:a16="http://schemas.microsoft.com/office/drawing/2014/main" id="{C4341453-00DE-45FB-B1A4-4BF05745E13D}"/>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Backpropagation follows the chain rule</a:t>
            </a:r>
          </a:p>
        </p:txBody>
      </p:sp>
      <p:sp>
        <p:nvSpPr>
          <p:cNvPr id="9201" name="matched-subtitle">
            <a:extLst xmlns:a="http://schemas.openxmlformats.org/drawingml/2006/main">
              <a:ext uri="{FF2B5EF4-FFF2-40B4-BE49-F238E27FC236}">
                <a16:creationId xmlns:a16="http://schemas.microsoft.com/office/drawing/2014/main" id="{8A64C172-E567-4148-991D-1C3666883E37}"/>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Multiply local derivatives along a path from the loss back to a weight.</a:t>
            </a:r>
          </a:p>
        </p:txBody>
      </p:sp>
      <p:sp>
        <p:nvSpPr>
          <p:cNvPr id="9202" name="matched-footer">
            <a:extLst xmlns:a="http://schemas.openxmlformats.org/drawingml/2006/main">
              <a:ext uri="{FF2B5EF4-FFF2-40B4-BE49-F238E27FC236}">
                <a16:creationId xmlns:a16="http://schemas.microsoft.com/office/drawing/2014/main" id="{FD7A81FE-C648-4E63-9646-7623782644B5}"/>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Sigmoid + cross-entropy simplifies the output error to δ₂ = ŷ − y = −0.3775.</a:t>
            </a:r>
          </a:p>
        </p:txBody>
      </p:sp>
      <p:sp>
        <p:nvSpPr>
          <p:cNvPr id="9203" name="matched-page">
            <a:extLst xmlns:a="http://schemas.openxmlformats.org/drawingml/2006/main">
              <a:ext uri="{FF2B5EF4-FFF2-40B4-BE49-F238E27FC236}">
                <a16:creationId xmlns:a16="http://schemas.microsoft.com/office/drawing/2014/main" id="{EA1AAC29-288B-4D18-89AF-6088D8E31CFC}"/>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10</a:t>
            </a:r>
          </a:p>
        </p:txBody>
      </p:sp>
    </p:spTree>
    <p:extLst>
      <p:ext uri="{BB962C8B-B14F-4D97-AF65-F5344CB8AC3E}">
        <p14:creationId xmlns:p14="http://schemas.microsoft.com/office/powerpoint/2010/main" val="2076040501"/>
      </p:ext>
    </p:extLst>
  </p:cSld>
</p:sld>
</file>

<file path=ppt/slides/slide7.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4" name="">
            <a:extLst xmlns:a="http://schemas.openxmlformats.org/drawingml/2006/main">
              <a:ext uri="{FF2B5EF4-FFF2-40B4-BE49-F238E27FC236}">
                <a16:creationId xmlns:a16="http://schemas.microsoft.com/office/drawing/2014/main" id="{A6F823D6-5CE6-4B34-8264-448BEF082C38}"/>
              </a:ext>
            </a:extLst>
          </p:cNvPr>
          <p:cNvSpPr>
            <a:spLocks xmlns:a="http://schemas.openxmlformats.org/drawingml/2006/main" noGrp="1"/>
          </p:cNvSpPr>
          <p:nvPr/>
        </p:nvSpPr>
        <p:spPr>
          <a:xfrm xmlns:a="http://schemas.openxmlformats.org/drawingml/2006/main">
            <a:off x="1423836" y="2661936"/>
            <a:ext cx="958711" cy="961190"/>
          </a:xfrm>
          <a:custGeom xmlns:a="http://schemas.openxmlformats.org/drawingml/2006/main">
            <a:pathLst>
              <a:path w="1011973" h="1011779">
                <a:moveTo>
                  <a:pt x="1011973" y="500129"/>
                </a:moveTo>
                <a:lnTo>
                  <a:pt x="1010946" y="550197"/>
                </a:lnTo>
                <a:lnTo>
                  <a:pt x="1002212" y="599507"/>
                </a:lnTo>
                <a:lnTo>
                  <a:pt x="988107" y="647405"/>
                </a:lnTo>
                <a:lnTo>
                  <a:pt x="970726" y="694031"/>
                </a:lnTo>
                <a:lnTo>
                  <a:pt x="950329" y="739443"/>
                </a:lnTo>
                <a:lnTo>
                  <a:pt x="925514" y="782709"/>
                </a:lnTo>
                <a:lnTo>
                  <a:pt x="894862" y="822047"/>
                </a:lnTo>
                <a:lnTo>
                  <a:pt x="858560" y="856085"/>
                </a:lnTo>
                <a:lnTo>
                  <a:pt x="818595" y="885166"/>
                </a:lnTo>
                <a:lnTo>
                  <a:pt x="777395" y="911383"/>
                </a:lnTo>
                <a:lnTo>
                  <a:pt x="736136" y="937037"/>
                </a:lnTo>
                <a:lnTo>
                  <a:pt x="694166" y="962600"/>
                </a:lnTo>
                <a:lnTo>
                  <a:pt x="649956" y="985882"/>
                </a:lnTo>
                <a:lnTo>
                  <a:pt x="602672" y="1003201"/>
                </a:lnTo>
                <a:lnTo>
                  <a:pt x="552997" y="1011779"/>
                </a:lnTo>
                <a:lnTo>
                  <a:pt x="502604" y="1011517"/>
                </a:lnTo>
                <a:lnTo>
                  <a:pt x="452900" y="1004788"/>
                </a:lnTo>
                <a:lnTo>
                  <a:pt x="404276" y="994460"/>
                </a:lnTo>
                <a:lnTo>
                  <a:pt x="356496" y="981783"/>
                </a:lnTo>
                <a:lnTo>
                  <a:pt x="309712" y="965813"/>
                </a:lnTo>
                <a:lnTo>
                  <a:pt x="264973" y="944706"/>
                </a:lnTo>
                <a:lnTo>
                  <a:pt x="223616" y="917665"/>
                </a:lnTo>
                <a:lnTo>
                  <a:pt x="186048" y="885854"/>
                </a:lnTo>
                <a:lnTo>
                  <a:pt x="151192" y="851542"/>
                </a:lnTo>
                <a:lnTo>
                  <a:pt x="117337" y="816310"/>
                </a:lnTo>
                <a:lnTo>
                  <a:pt x="83892" y="779904"/>
                </a:lnTo>
                <a:lnTo>
                  <a:pt x="52554" y="740687"/>
                </a:lnTo>
                <a:lnTo>
                  <a:pt x="26727" y="697244"/>
                </a:lnTo>
                <a:lnTo>
                  <a:pt x="9433" y="649731"/>
                </a:lnTo>
                <a:lnTo>
                  <a:pt x="1258" y="599853"/>
                </a:lnTo>
                <a:lnTo>
                  <a:pt x="0" y="549632"/>
                </a:lnTo>
                <a:lnTo>
                  <a:pt x="2323" y="500129"/>
                </a:lnTo>
                <a:lnTo>
                  <a:pt x="6158" y="451234"/>
                </a:lnTo>
                <a:lnTo>
                  <a:pt x="11962" y="402535"/>
                </a:lnTo>
                <a:lnTo>
                  <a:pt x="21933" y="354319"/>
                </a:lnTo>
                <a:lnTo>
                  <a:pt x="37931" y="307655"/>
                </a:lnTo>
                <a:lnTo>
                  <a:pt x="59897" y="263497"/>
                </a:lnTo>
                <a:lnTo>
                  <a:pt x="86021" y="221777"/>
                </a:lnTo>
                <a:lnTo>
                  <a:pt x="114392" y="181532"/>
                </a:lnTo>
                <a:lnTo>
                  <a:pt x="144630" y="142155"/>
                </a:lnTo>
                <a:lnTo>
                  <a:pt x="178080" y="104696"/>
                </a:lnTo>
                <a:lnTo>
                  <a:pt x="216464" y="71890"/>
                </a:lnTo>
                <a:lnTo>
                  <a:pt x="260191" y="46605"/>
                </a:lnTo>
                <a:lnTo>
                  <a:pt x="307790" y="29805"/>
                </a:lnTo>
                <a:lnTo>
                  <a:pt x="356870" y="19707"/>
                </a:lnTo>
                <a:lnTo>
                  <a:pt x="405699" y="12951"/>
                </a:lnTo>
                <a:lnTo>
                  <a:pt x="454034" y="6990"/>
                </a:lnTo>
                <a:lnTo>
                  <a:pt x="502604" y="1867"/>
                </a:lnTo>
                <a:lnTo>
                  <a:pt x="551863" y="0"/>
                </a:lnTo>
                <a:lnTo>
                  <a:pt x="601249" y="4210"/>
                </a:lnTo>
                <a:lnTo>
                  <a:pt x="649582" y="15608"/>
                </a:lnTo>
                <a:lnTo>
                  <a:pt x="696088" y="33018"/>
                </a:lnTo>
                <a:lnTo>
                  <a:pt x="740919" y="54274"/>
                </a:lnTo>
                <a:lnTo>
                  <a:pt x="784547" y="78172"/>
                </a:lnTo>
                <a:lnTo>
                  <a:pt x="826564" y="105384"/>
                </a:lnTo>
                <a:lnTo>
                  <a:pt x="865123" y="137611"/>
                </a:lnTo>
                <a:lnTo>
                  <a:pt x="897807" y="175795"/>
                </a:lnTo>
                <a:lnTo>
                  <a:pt x="923385" y="218973"/>
                </a:lnTo>
                <a:lnTo>
                  <a:pt x="942985" y="264741"/>
                </a:lnTo>
                <a:lnTo>
                  <a:pt x="959522" y="310868"/>
                </a:lnTo>
                <a:lnTo>
                  <a:pt x="975608" y="356645"/>
                </a:lnTo>
                <a:lnTo>
                  <a:pt x="991508" y="402880"/>
                </a:lnTo>
                <a:lnTo>
                  <a:pt x="1004788" y="450669"/>
                </a:lnTo>
                <a:lnTo>
                  <a:pt x="1011973" y="500129"/>
                </a:lnTo>
                <a:close/>
              </a:path>
            </a:pathLst>
          </a:custGeom>
          <a:solidFill xmlns:a="http://schemas.openxmlformats.org/drawingml/2006/main">
            <a:srgbClr val="F8F6F2"/>
          </a:solidFill>
          <a:ln xmlns:a="http://schemas.openxmlformats.org/drawingml/2006/main" w="19050">
            <a:solidFill>
              <a:srgbClr val="287B95"/>
            </a:solidFill>
          </a:ln>
        </p:spPr>
      </p:sp>
      <p:sp>
        <p:nvSpPr>
          <p:cNvPr id="5" name="">
            <a:extLst xmlns:a="http://schemas.openxmlformats.org/drawingml/2006/main">
              <a:ext uri="{FF2B5EF4-FFF2-40B4-BE49-F238E27FC236}">
                <a16:creationId xmlns:a16="http://schemas.microsoft.com/office/drawing/2014/main" id="{8B79FF28-DE5F-4B63-92EC-6FEED40B5D4E}"/>
              </a:ext>
            </a:extLst>
          </p:cNvPr>
          <p:cNvSpPr>
            <a:spLocks xmlns:a="http://schemas.openxmlformats.org/drawingml/2006/main" noGrp="1"/>
          </p:cNvSpPr>
          <p:nvPr/>
        </p:nvSpPr>
        <p:spPr>
          <a:xfrm xmlns:a="http://schemas.openxmlformats.org/drawingml/2006/main">
            <a:off x="1466850" y="2847499"/>
            <a:ext cx="866274" cy="579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209" b="0">
                <a:solidFill>
                  <a:srgbClr val="287B95"/>
                </a:solidFill>
                <a:latin typeface="Chalkboard"/>
                <a:ea typeface="Chalkboard"/>
                <a:cs typeface="Chalkboard"/>
              </a:defRPr>
            </a:pPr>
            <a:r>
              <a:rPr sz="2209" b="0">
                <a:solidFill>
                  <a:srgbClr val="287B95"/>
                </a:solidFill>
                <a:latin typeface="Chalkboard"/>
                <a:ea typeface="Chalkboard"/>
                <a:cs typeface="Chalkboard"/>
              </a:rPr>
              <a:t>z₁</a:t>
            </a:r>
          </a:p>
        </p:txBody>
      </p:sp>
      <p:sp>
        <p:nvSpPr>
          <p:cNvPr id="6" name="">
            <a:extLst xmlns:a="http://schemas.openxmlformats.org/drawingml/2006/main">
              <a:ext uri="{FF2B5EF4-FFF2-40B4-BE49-F238E27FC236}">
                <a16:creationId xmlns:a16="http://schemas.microsoft.com/office/drawing/2014/main" id="{609F77A5-2CC1-418D-AFC3-C3330DAF7639}"/>
              </a:ext>
            </a:extLst>
          </p:cNvPr>
          <p:cNvSpPr>
            <a:spLocks xmlns:a="http://schemas.openxmlformats.org/drawingml/2006/main" noGrp="1"/>
          </p:cNvSpPr>
          <p:nvPr/>
        </p:nvSpPr>
        <p:spPr>
          <a:xfrm xmlns:a="http://schemas.openxmlformats.org/drawingml/2006/main">
            <a:off x="5114523" y="2661936"/>
            <a:ext cx="958711" cy="961190"/>
          </a:xfrm>
          <a:custGeom xmlns:a="http://schemas.openxmlformats.org/drawingml/2006/main">
            <a:pathLst>
              <a:path w="1011973" h="1011779">
                <a:moveTo>
                  <a:pt x="1011973" y="500129"/>
                </a:moveTo>
                <a:lnTo>
                  <a:pt x="1010946" y="550197"/>
                </a:lnTo>
                <a:lnTo>
                  <a:pt x="1002212" y="599507"/>
                </a:lnTo>
                <a:lnTo>
                  <a:pt x="988107" y="647405"/>
                </a:lnTo>
                <a:lnTo>
                  <a:pt x="970726" y="694031"/>
                </a:lnTo>
                <a:lnTo>
                  <a:pt x="950329" y="739443"/>
                </a:lnTo>
                <a:lnTo>
                  <a:pt x="925514" y="782709"/>
                </a:lnTo>
                <a:lnTo>
                  <a:pt x="894862" y="822047"/>
                </a:lnTo>
                <a:lnTo>
                  <a:pt x="858560" y="856085"/>
                </a:lnTo>
                <a:lnTo>
                  <a:pt x="818595" y="885166"/>
                </a:lnTo>
                <a:lnTo>
                  <a:pt x="777395" y="911383"/>
                </a:lnTo>
                <a:lnTo>
                  <a:pt x="736136" y="937037"/>
                </a:lnTo>
                <a:lnTo>
                  <a:pt x="694166" y="962600"/>
                </a:lnTo>
                <a:lnTo>
                  <a:pt x="649956" y="985882"/>
                </a:lnTo>
                <a:lnTo>
                  <a:pt x="602672" y="1003201"/>
                </a:lnTo>
                <a:lnTo>
                  <a:pt x="552997" y="1011779"/>
                </a:lnTo>
                <a:lnTo>
                  <a:pt x="502604" y="1011517"/>
                </a:lnTo>
                <a:lnTo>
                  <a:pt x="452900" y="1004788"/>
                </a:lnTo>
                <a:lnTo>
                  <a:pt x="404276" y="994460"/>
                </a:lnTo>
                <a:lnTo>
                  <a:pt x="356496" y="981783"/>
                </a:lnTo>
                <a:lnTo>
                  <a:pt x="309712" y="965813"/>
                </a:lnTo>
                <a:lnTo>
                  <a:pt x="264973" y="944706"/>
                </a:lnTo>
                <a:lnTo>
                  <a:pt x="223616" y="917665"/>
                </a:lnTo>
                <a:lnTo>
                  <a:pt x="186048" y="885854"/>
                </a:lnTo>
                <a:lnTo>
                  <a:pt x="151192" y="851542"/>
                </a:lnTo>
                <a:lnTo>
                  <a:pt x="117337" y="816310"/>
                </a:lnTo>
                <a:lnTo>
                  <a:pt x="83892" y="779904"/>
                </a:lnTo>
                <a:lnTo>
                  <a:pt x="52554" y="740687"/>
                </a:lnTo>
                <a:lnTo>
                  <a:pt x="26727" y="697244"/>
                </a:lnTo>
                <a:lnTo>
                  <a:pt x="9433" y="649731"/>
                </a:lnTo>
                <a:lnTo>
                  <a:pt x="1258" y="599853"/>
                </a:lnTo>
                <a:lnTo>
                  <a:pt x="0" y="549632"/>
                </a:lnTo>
                <a:lnTo>
                  <a:pt x="2323" y="500129"/>
                </a:lnTo>
                <a:lnTo>
                  <a:pt x="6158" y="451234"/>
                </a:lnTo>
                <a:lnTo>
                  <a:pt x="11962" y="402535"/>
                </a:lnTo>
                <a:lnTo>
                  <a:pt x="21933" y="354319"/>
                </a:lnTo>
                <a:lnTo>
                  <a:pt x="37931" y="307655"/>
                </a:lnTo>
                <a:lnTo>
                  <a:pt x="59897" y="263497"/>
                </a:lnTo>
                <a:lnTo>
                  <a:pt x="86021" y="221777"/>
                </a:lnTo>
                <a:lnTo>
                  <a:pt x="114392" y="181532"/>
                </a:lnTo>
                <a:lnTo>
                  <a:pt x="144630" y="142155"/>
                </a:lnTo>
                <a:lnTo>
                  <a:pt x="178080" y="104696"/>
                </a:lnTo>
                <a:lnTo>
                  <a:pt x="216464" y="71890"/>
                </a:lnTo>
                <a:lnTo>
                  <a:pt x="260191" y="46605"/>
                </a:lnTo>
                <a:lnTo>
                  <a:pt x="307790" y="29805"/>
                </a:lnTo>
                <a:lnTo>
                  <a:pt x="356870" y="19707"/>
                </a:lnTo>
                <a:lnTo>
                  <a:pt x="405699" y="12951"/>
                </a:lnTo>
                <a:lnTo>
                  <a:pt x="454034" y="6990"/>
                </a:lnTo>
                <a:lnTo>
                  <a:pt x="502604" y="1867"/>
                </a:lnTo>
                <a:lnTo>
                  <a:pt x="551863" y="0"/>
                </a:lnTo>
                <a:lnTo>
                  <a:pt x="601249" y="4210"/>
                </a:lnTo>
                <a:lnTo>
                  <a:pt x="649582" y="15608"/>
                </a:lnTo>
                <a:lnTo>
                  <a:pt x="696088" y="33018"/>
                </a:lnTo>
                <a:lnTo>
                  <a:pt x="740919" y="54274"/>
                </a:lnTo>
                <a:lnTo>
                  <a:pt x="784547" y="78172"/>
                </a:lnTo>
                <a:lnTo>
                  <a:pt x="826564" y="105384"/>
                </a:lnTo>
                <a:lnTo>
                  <a:pt x="865123" y="137611"/>
                </a:lnTo>
                <a:lnTo>
                  <a:pt x="897807" y="175795"/>
                </a:lnTo>
                <a:lnTo>
                  <a:pt x="923385" y="218973"/>
                </a:lnTo>
                <a:lnTo>
                  <a:pt x="942985" y="264741"/>
                </a:lnTo>
                <a:lnTo>
                  <a:pt x="959522" y="310868"/>
                </a:lnTo>
                <a:lnTo>
                  <a:pt x="975608" y="356645"/>
                </a:lnTo>
                <a:lnTo>
                  <a:pt x="991508" y="402880"/>
                </a:lnTo>
                <a:lnTo>
                  <a:pt x="1004788" y="450669"/>
                </a:lnTo>
                <a:lnTo>
                  <a:pt x="1011973" y="500129"/>
                </a:lnTo>
                <a:close/>
              </a:path>
            </a:pathLst>
          </a:custGeom>
          <a:solidFill xmlns:a="http://schemas.openxmlformats.org/drawingml/2006/main">
            <a:srgbClr val="F8F6F2"/>
          </a:solidFill>
          <a:ln xmlns:a="http://schemas.openxmlformats.org/drawingml/2006/main" w="19050">
            <a:solidFill>
              <a:srgbClr val="287B95"/>
            </a:solidFill>
          </a:ln>
        </p:spPr>
      </p:sp>
      <p:sp>
        <p:nvSpPr>
          <p:cNvPr id="7" name="">
            <a:extLst xmlns:a="http://schemas.openxmlformats.org/drawingml/2006/main">
              <a:ext uri="{FF2B5EF4-FFF2-40B4-BE49-F238E27FC236}">
                <a16:creationId xmlns:a16="http://schemas.microsoft.com/office/drawing/2014/main" id="{DC811F1B-7F3A-46E1-8C6A-2CB6F4B5D4A8}"/>
              </a:ext>
            </a:extLst>
          </p:cNvPr>
          <p:cNvSpPr>
            <a:spLocks xmlns:a="http://schemas.openxmlformats.org/drawingml/2006/main" noGrp="1"/>
          </p:cNvSpPr>
          <p:nvPr/>
        </p:nvSpPr>
        <p:spPr>
          <a:xfrm xmlns:a="http://schemas.openxmlformats.org/drawingml/2006/main">
            <a:off x="5157537" y="2847499"/>
            <a:ext cx="866274" cy="579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209" b="0">
                <a:solidFill>
                  <a:srgbClr val="287B95"/>
                </a:solidFill>
                <a:latin typeface="Chalkboard"/>
                <a:ea typeface="Chalkboard"/>
                <a:cs typeface="Chalkboard"/>
              </a:defRPr>
            </a:pPr>
            <a:r>
              <a:rPr sz="2209" b="0">
                <a:solidFill>
                  <a:srgbClr val="287B95"/>
                </a:solidFill>
                <a:latin typeface="Chalkboard"/>
                <a:ea typeface="Chalkboard"/>
                <a:cs typeface="Chalkboard"/>
              </a:rPr>
              <a:t>h</a:t>
            </a:r>
          </a:p>
        </p:txBody>
      </p:sp>
      <p:sp>
        <p:nvSpPr>
          <p:cNvPr id="8" name="">
            <a:extLst xmlns:a="http://schemas.openxmlformats.org/drawingml/2006/main">
              <a:ext uri="{FF2B5EF4-FFF2-40B4-BE49-F238E27FC236}">
                <a16:creationId xmlns:a16="http://schemas.microsoft.com/office/drawing/2014/main" id="{FF7B170C-F46F-4F37-9886-161E6885FC23}"/>
              </a:ext>
            </a:extLst>
          </p:cNvPr>
          <p:cNvSpPr>
            <a:spLocks xmlns:a="http://schemas.openxmlformats.org/drawingml/2006/main" noGrp="1"/>
          </p:cNvSpPr>
          <p:nvPr/>
        </p:nvSpPr>
        <p:spPr>
          <a:xfrm xmlns:a="http://schemas.openxmlformats.org/drawingml/2006/main">
            <a:off x="9075920" y="2661936"/>
            <a:ext cx="958711" cy="961190"/>
          </a:xfrm>
          <a:custGeom xmlns:a="http://schemas.openxmlformats.org/drawingml/2006/main">
            <a:pathLst>
              <a:path w="1011973" h="1011779">
                <a:moveTo>
                  <a:pt x="1011973" y="500129"/>
                </a:moveTo>
                <a:lnTo>
                  <a:pt x="1010946" y="550197"/>
                </a:lnTo>
                <a:lnTo>
                  <a:pt x="1002212" y="599507"/>
                </a:lnTo>
                <a:lnTo>
                  <a:pt x="988107" y="647405"/>
                </a:lnTo>
                <a:lnTo>
                  <a:pt x="970726" y="694031"/>
                </a:lnTo>
                <a:lnTo>
                  <a:pt x="950329" y="739443"/>
                </a:lnTo>
                <a:lnTo>
                  <a:pt x="925514" y="782709"/>
                </a:lnTo>
                <a:lnTo>
                  <a:pt x="894862" y="822047"/>
                </a:lnTo>
                <a:lnTo>
                  <a:pt x="858560" y="856085"/>
                </a:lnTo>
                <a:lnTo>
                  <a:pt x="818595" y="885166"/>
                </a:lnTo>
                <a:lnTo>
                  <a:pt x="777395" y="911383"/>
                </a:lnTo>
                <a:lnTo>
                  <a:pt x="736136" y="937037"/>
                </a:lnTo>
                <a:lnTo>
                  <a:pt x="694166" y="962600"/>
                </a:lnTo>
                <a:lnTo>
                  <a:pt x="649956" y="985882"/>
                </a:lnTo>
                <a:lnTo>
                  <a:pt x="602672" y="1003201"/>
                </a:lnTo>
                <a:lnTo>
                  <a:pt x="552997" y="1011779"/>
                </a:lnTo>
                <a:lnTo>
                  <a:pt x="502604" y="1011517"/>
                </a:lnTo>
                <a:lnTo>
                  <a:pt x="452900" y="1004788"/>
                </a:lnTo>
                <a:lnTo>
                  <a:pt x="404276" y="994460"/>
                </a:lnTo>
                <a:lnTo>
                  <a:pt x="356496" y="981783"/>
                </a:lnTo>
                <a:lnTo>
                  <a:pt x="309712" y="965813"/>
                </a:lnTo>
                <a:lnTo>
                  <a:pt x="264973" y="944706"/>
                </a:lnTo>
                <a:lnTo>
                  <a:pt x="223616" y="917665"/>
                </a:lnTo>
                <a:lnTo>
                  <a:pt x="186048" y="885854"/>
                </a:lnTo>
                <a:lnTo>
                  <a:pt x="151192" y="851542"/>
                </a:lnTo>
                <a:lnTo>
                  <a:pt x="117337" y="816310"/>
                </a:lnTo>
                <a:lnTo>
                  <a:pt x="83892" y="779904"/>
                </a:lnTo>
                <a:lnTo>
                  <a:pt x="52554" y="740687"/>
                </a:lnTo>
                <a:lnTo>
                  <a:pt x="26727" y="697244"/>
                </a:lnTo>
                <a:lnTo>
                  <a:pt x="9433" y="649731"/>
                </a:lnTo>
                <a:lnTo>
                  <a:pt x="1258" y="599853"/>
                </a:lnTo>
                <a:lnTo>
                  <a:pt x="0" y="549632"/>
                </a:lnTo>
                <a:lnTo>
                  <a:pt x="2323" y="500129"/>
                </a:lnTo>
                <a:lnTo>
                  <a:pt x="6158" y="451234"/>
                </a:lnTo>
                <a:lnTo>
                  <a:pt x="11962" y="402535"/>
                </a:lnTo>
                <a:lnTo>
                  <a:pt x="21933" y="354319"/>
                </a:lnTo>
                <a:lnTo>
                  <a:pt x="37931" y="307655"/>
                </a:lnTo>
                <a:lnTo>
                  <a:pt x="59897" y="263497"/>
                </a:lnTo>
                <a:lnTo>
                  <a:pt x="86021" y="221777"/>
                </a:lnTo>
                <a:lnTo>
                  <a:pt x="114392" y="181532"/>
                </a:lnTo>
                <a:lnTo>
                  <a:pt x="144630" y="142155"/>
                </a:lnTo>
                <a:lnTo>
                  <a:pt x="178080" y="104696"/>
                </a:lnTo>
                <a:lnTo>
                  <a:pt x="216464" y="71890"/>
                </a:lnTo>
                <a:lnTo>
                  <a:pt x="260191" y="46605"/>
                </a:lnTo>
                <a:lnTo>
                  <a:pt x="307790" y="29805"/>
                </a:lnTo>
                <a:lnTo>
                  <a:pt x="356870" y="19707"/>
                </a:lnTo>
                <a:lnTo>
                  <a:pt x="405699" y="12951"/>
                </a:lnTo>
                <a:lnTo>
                  <a:pt x="454034" y="6990"/>
                </a:lnTo>
                <a:lnTo>
                  <a:pt x="502604" y="1867"/>
                </a:lnTo>
                <a:lnTo>
                  <a:pt x="551863" y="0"/>
                </a:lnTo>
                <a:lnTo>
                  <a:pt x="601249" y="4210"/>
                </a:lnTo>
                <a:lnTo>
                  <a:pt x="649582" y="15608"/>
                </a:lnTo>
                <a:lnTo>
                  <a:pt x="696088" y="33018"/>
                </a:lnTo>
                <a:lnTo>
                  <a:pt x="740919" y="54274"/>
                </a:lnTo>
                <a:lnTo>
                  <a:pt x="784547" y="78172"/>
                </a:lnTo>
                <a:lnTo>
                  <a:pt x="826564" y="105384"/>
                </a:lnTo>
                <a:lnTo>
                  <a:pt x="865123" y="137611"/>
                </a:lnTo>
                <a:lnTo>
                  <a:pt x="897807" y="175795"/>
                </a:lnTo>
                <a:lnTo>
                  <a:pt x="923385" y="218973"/>
                </a:lnTo>
                <a:lnTo>
                  <a:pt x="942985" y="264741"/>
                </a:lnTo>
                <a:lnTo>
                  <a:pt x="959522" y="310868"/>
                </a:lnTo>
                <a:lnTo>
                  <a:pt x="975608" y="356645"/>
                </a:lnTo>
                <a:lnTo>
                  <a:pt x="991508" y="402880"/>
                </a:lnTo>
                <a:lnTo>
                  <a:pt x="1004788" y="450669"/>
                </a:lnTo>
                <a:lnTo>
                  <a:pt x="1011973" y="500129"/>
                </a:lnTo>
                <a:close/>
              </a:path>
            </a:pathLst>
          </a:custGeom>
          <a:solidFill xmlns:a="http://schemas.openxmlformats.org/drawingml/2006/main">
            <a:srgbClr val="F8F6F2"/>
          </a:solidFill>
          <a:ln xmlns:a="http://schemas.openxmlformats.org/drawingml/2006/main" w="19050">
            <a:solidFill>
              <a:srgbClr val="A45F57"/>
            </a:solidFill>
          </a:ln>
        </p:spPr>
      </p:sp>
      <p:sp>
        <p:nvSpPr>
          <p:cNvPr id="9" name="">
            <a:extLst xmlns:a="http://schemas.openxmlformats.org/drawingml/2006/main">
              <a:ext uri="{FF2B5EF4-FFF2-40B4-BE49-F238E27FC236}">
                <a16:creationId xmlns:a16="http://schemas.microsoft.com/office/drawing/2014/main" id="{6B5FF0F6-E79E-4509-924C-B6C156DF7276}"/>
              </a:ext>
            </a:extLst>
          </p:cNvPr>
          <p:cNvSpPr>
            <a:spLocks xmlns:a="http://schemas.openxmlformats.org/drawingml/2006/main" noGrp="1"/>
          </p:cNvSpPr>
          <p:nvPr/>
        </p:nvSpPr>
        <p:spPr>
          <a:xfrm xmlns:a="http://schemas.openxmlformats.org/drawingml/2006/main">
            <a:off x="9118934" y="2847499"/>
            <a:ext cx="866274" cy="579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209" b="0">
                <a:solidFill>
                  <a:srgbClr val="A45F57"/>
                </a:solidFill>
                <a:latin typeface="Chalkboard"/>
                <a:ea typeface="Chalkboard"/>
                <a:cs typeface="Chalkboard"/>
              </a:defRPr>
            </a:pPr>
            <a:r>
              <a:rPr sz="2209" b="0">
                <a:solidFill>
                  <a:srgbClr val="A45F57"/>
                </a:solidFill>
                <a:latin typeface="Chalkboard"/>
                <a:ea typeface="Chalkboard"/>
                <a:cs typeface="Chalkboard"/>
              </a:rPr>
              <a:t>z₂</a:t>
            </a:r>
          </a:p>
        </p:txBody>
      </p:sp>
      <p:sp>
        <p:nvSpPr>
          <p:cNvPr id="10" name="">
            <a:extLst xmlns:a="http://schemas.openxmlformats.org/drawingml/2006/main">
              <a:ext uri="{FF2B5EF4-FFF2-40B4-BE49-F238E27FC236}">
                <a16:creationId xmlns:a16="http://schemas.microsoft.com/office/drawing/2014/main" id="{9D6ACA49-A7B4-4421-9124-A6BF755793B0}"/>
              </a:ext>
            </a:extLst>
          </p:cNvPr>
          <p:cNvSpPr>
            <a:spLocks xmlns:a="http://schemas.openxmlformats.org/drawingml/2006/main" noGrp="1"/>
          </p:cNvSpPr>
          <p:nvPr/>
        </p:nvSpPr>
        <p:spPr>
          <a:xfrm xmlns:a="http://schemas.openxmlformats.org/drawingml/2006/main">
            <a:off x="2432384" y="3129654"/>
            <a:ext cx="2616868" cy="10255"/>
          </a:xfrm>
          <a:custGeom xmlns:a="http://schemas.openxmlformats.org/drawingml/2006/main">
            <a:pathLst>
              <a:path w="2762250" h="10795">
                <a:moveTo>
                  <a:pt x="0" y="7794"/>
                </a:moveTo>
                <a:lnTo>
                  <a:pt x="228107" y="5714"/>
                </a:lnTo>
                <a:lnTo>
                  <a:pt x="452581" y="0"/>
                </a:lnTo>
                <a:lnTo>
                  <a:pt x="693563" y="10795"/>
                </a:lnTo>
                <a:lnTo>
                  <a:pt x="921297" y="8341"/>
                </a:lnTo>
                <a:lnTo>
                  <a:pt x="1147246" y="4103"/>
                </a:lnTo>
                <a:lnTo>
                  <a:pt x="1375396" y="2066"/>
                </a:lnTo>
                <a:lnTo>
                  <a:pt x="1613464" y="9946"/>
                </a:lnTo>
                <a:lnTo>
                  <a:pt x="1838622" y="4917"/>
                </a:lnTo>
                <a:lnTo>
                  <a:pt x="2073802" y="9909"/>
                </a:lnTo>
                <a:lnTo>
                  <a:pt x="2299132" y="5051"/>
                </a:lnTo>
                <a:lnTo>
                  <a:pt x="2526421" y="2153"/>
                </a:lnTo>
                <a:lnTo>
                  <a:pt x="2762250" y="7794"/>
                </a:lnTo>
              </a:path>
            </a:pathLst>
          </a:custGeom>
          <a:noFill xmlns:a="http://schemas.openxmlformats.org/drawingml/2006/main"/>
          <a:ln xmlns:a="http://schemas.openxmlformats.org/drawingml/2006/main" w="19050">
            <a:solidFill>
              <a:srgbClr val="287B95"/>
            </a:solidFill>
          </a:ln>
        </p:spPr>
      </p:sp>
      <p:sp>
        <p:nvSpPr>
          <p:cNvPr id="11" name="">
            <a:extLst xmlns:a="http://schemas.openxmlformats.org/drawingml/2006/main">
              <a:ext uri="{FF2B5EF4-FFF2-40B4-BE49-F238E27FC236}">
                <a16:creationId xmlns:a16="http://schemas.microsoft.com/office/drawing/2014/main" id="{B85B9524-CFD3-4DD7-AD1F-1A89F0945391}"/>
              </a:ext>
            </a:extLst>
          </p:cNvPr>
          <p:cNvSpPr>
            <a:spLocks xmlns:a="http://schemas.openxmlformats.org/drawingml/2006/main" noGrp="1"/>
          </p:cNvSpPr>
          <p:nvPr/>
        </p:nvSpPr>
        <p:spPr>
          <a:xfrm xmlns:a="http://schemas.openxmlformats.org/drawingml/2006/main">
            <a:off x="4959874" y="3093763"/>
            <a:ext cx="89379" cy="86590"/>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287B95"/>
            </a:solidFill>
          </a:ln>
        </p:spPr>
      </p:sp>
      <p:sp>
        <p:nvSpPr>
          <p:cNvPr id="12" name="">
            <a:extLst xmlns:a="http://schemas.openxmlformats.org/drawingml/2006/main">
              <a:ext uri="{FF2B5EF4-FFF2-40B4-BE49-F238E27FC236}">
                <a16:creationId xmlns:a16="http://schemas.microsoft.com/office/drawing/2014/main" id="{9832848C-2EC0-46A8-998A-CAA833E83B69}"/>
              </a:ext>
            </a:extLst>
          </p:cNvPr>
          <p:cNvSpPr>
            <a:spLocks xmlns:a="http://schemas.openxmlformats.org/drawingml/2006/main" noGrp="1"/>
          </p:cNvSpPr>
          <p:nvPr/>
        </p:nvSpPr>
        <p:spPr>
          <a:xfrm xmlns:a="http://schemas.openxmlformats.org/drawingml/2006/main">
            <a:off x="6132095" y="3129247"/>
            <a:ext cx="2887579" cy="14992"/>
          </a:xfrm>
          <a:custGeom xmlns:a="http://schemas.openxmlformats.org/drawingml/2006/main">
            <a:pathLst>
              <a:path w="3048000" h="15781">
                <a:moveTo>
                  <a:pt x="0" y="8223"/>
                </a:moveTo>
                <a:lnTo>
                  <a:pt x="260750" y="14973"/>
                </a:lnTo>
                <a:lnTo>
                  <a:pt x="505431" y="5653"/>
                </a:lnTo>
                <a:lnTo>
                  <a:pt x="767284" y="13507"/>
                </a:lnTo>
                <a:lnTo>
                  <a:pt x="1014276" y="6499"/>
                </a:lnTo>
                <a:lnTo>
                  <a:pt x="1268759" y="6982"/>
                </a:lnTo>
                <a:lnTo>
                  <a:pt x="1519853" y="4076"/>
                </a:lnTo>
                <a:lnTo>
                  <a:pt x="1769777" y="0"/>
                </a:lnTo>
                <a:lnTo>
                  <a:pt x="2036950" y="13173"/>
                </a:lnTo>
                <a:lnTo>
                  <a:pt x="2288184" y="10406"/>
                </a:lnTo>
                <a:lnTo>
                  <a:pt x="2533428" y="1651"/>
                </a:lnTo>
                <a:lnTo>
                  <a:pt x="2801558" y="15781"/>
                </a:lnTo>
                <a:lnTo>
                  <a:pt x="3048000" y="8223"/>
                </a:lnTo>
              </a:path>
            </a:pathLst>
          </a:custGeom>
          <a:noFill xmlns:a="http://schemas.openxmlformats.org/drawingml/2006/main"/>
          <a:ln xmlns:a="http://schemas.openxmlformats.org/drawingml/2006/main" w="19050">
            <a:solidFill>
              <a:srgbClr val="287B95"/>
            </a:solidFill>
          </a:ln>
        </p:spPr>
      </p:sp>
      <p:sp>
        <p:nvSpPr>
          <p:cNvPr id="13" name="">
            <a:extLst xmlns:a="http://schemas.openxmlformats.org/drawingml/2006/main">
              <a:ext uri="{FF2B5EF4-FFF2-40B4-BE49-F238E27FC236}">
                <a16:creationId xmlns:a16="http://schemas.microsoft.com/office/drawing/2014/main" id="{CBA61EE6-B5F6-4676-A198-A7906EEB7406}"/>
              </a:ext>
            </a:extLst>
          </p:cNvPr>
          <p:cNvSpPr>
            <a:spLocks xmlns:a="http://schemas.openxmlformats.org/drawingml/2006/main" noGrp="1"/>
          </p:cNvSpPr>
          <p:nvPr/>
        </p:nvSpPr>
        <p:spPr>
          <a:xfrm xmlns:a="http://schemas.openxmlformats.org/drawingml/2006/main">
            <a:off x="8930295" y="3093763"/>
            <a:ext cx="89379" cy="86590"/>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287B95"/>
            </a:solidFill>
          </a:ln>
        </p:spPr>
      </p:sp>
      <p:sp>
        <p:nvSpPr>
          <p:cNvPr id="14" name="">
            <a:extLst xmlns:a="http://schemas.openxmlformats.org/drawingml/2006/main">
              <a:ext uri="{FF2B5EF4-FFF2-40B4-BE49-F238E27FC236}">
                <a16:creationId xmlns:a16="http://schemas.microsoft.com/office/drawing/2014/main" id="{15146579-479C-4E45-9E62-C93A844F0B41}"/>
              </a:ext>
            </a:extLst>
          </p:cNvPr>
          <p:cNvSpPr>
            <a:spLocks xmlns:a="http://schemas.openxmlformats.org/drawingml/2006/main" noGrp="1"/>
          </p:cNvSpPr>
          <p:nvPr/>
        </p:nvSpPr>
        <p:spPr>
          <a:xfrm xmlns:a="http://schemas.openxmlformats.org/drawingml/2006/main">
            <a:off x="6041858" y="4063369"/>
            <a:ext cx="3068053" cy="10271"/>
          </a:xfrm>
          <a:custGeom xmlns:a="http://schemas.openxmlformats.org/drawingml/2006/main">
            <a:pathLst>
              <a:path w="3238500" h="10812">
                <a:moveTo>
                  <a:pt x="3238500" y="6012"/>
                </a:moveTo>
                <a:lnTo>
                  <a:pt x="2972385" y="9773"/>
                </a:lnTo>
                <a:lnTo>
                  <a:pt x="2703137" y="10400"/>
                </a:lnTo>
                <a:lnTo>
                  <a:pt x="2428196" y="5334"/>
                </a:lnTo>
                <a:lnTo>
                  <a:pt x="2152988" y="0"/>
                </a:lnTo>
                <a:lnTo>
                  <a:pt x="1893924" y="10812"/>
                </a:lnTo>
                <a:lnTo>
                  <a:pt x="1614424" y="1186"/>
                </a:lnTo>
                <a:lnTo>
                  <a:pt x="1348096" y="4733"/>
                </a:lnTo>
                <a:lnTo>
                  <a:pt x="1079923" y="6435"/>
                </a:lnTo>
                <a:lnTo>
                  <a:pt x="813491" y="9879"/>
                </a:lnTo>
                <a:lnTo>
                  <a:pt x="543424" y="9686"/>
                </a:lnTo>
                <a:lnTo>
                  <a:pt x="273968" y="10105"/>
                </a:lnTo>
                <a:lnTo>
                  <a:pt x="0" y="6012"/>
                </a:lnTo>
              </a:path>
            </a:pathLst>
          </a:custGeom>
          <a:noFill xmlns:a="http://schemas.openxmlformats.org/drawingml/2006/main"/>
          <a:ln xmlns:a="http://schemas.openxmlformats.org/drawingml/2006/main" w="28575">
            <a:solidFill>
              <a:srgbClr val="A45F57"/>
            </a:solidFill>
          </a:ln>
        </p:spPr>
      </p:sp>
      <p:sp>
        <p:nvSpPr>
          <p:cNvPr id="15" name="">
            <a:extLst xmlns:a="http://schemas.openxmlformats.org/drawingml/2006/main">
              <a:ext uri="{FF2B5EF4-FFF2-40B4-BE49-F238E27FC236}">
                <a16:creationId xmlns:a16="http://schemas.microsoft.com/office/drawing/2014/main" id="{DF5CCF31-9958-41EA-BEEE-E17021F5B69B}"/>
              </a:ext>
            </a:extLst>
          </p:cNvPr>
          <p:cNvSpPr>
            <a:spLocks xmlns:a="http://schemas.openxmlformats.org/drawingml/2006/main" noGrp="1"/>
          </p:cNvSpPr>
          <p:nvPr/>
        </p:nvSpPr>
        <p:spPr>
          <a:xfrm xmlns:a="http://schemas.openxmlformats.org/drawingml/2006/main">
            <a:off x="6041858" y="4025785"/>
            <a:ext cx="89379" cy="86590"/>
          </a:xfrm>
          <a:custGeom xmlns:a="http://schemas.openxmlformats.org/drawingml/2006/main">
            <a:pathLst>
              <a:path w="94344" h="91147">
                <a:moveTo>
                  <a:pt x="94344" y="0"/>
                </a:moveTo>
                <a:lnTo>
                  <a:pt x="0" y="45574"/>
                </a:lnTo>
                <a:lnTo>
                  <a:pt x="94344" y="91147"/>
                </a:lnTo>
              </a:path>
            </a:pathLst>
          </a:custGeom>
          <a:noFill xmlns:a="http://schemas.openxmlformats.org/drawingml/2006/main"/>
          <a:ln xmlns:a="http://schemas.openxmlformats.org/drawingml/2006/main" w="28575">
            <a:solidFill>
              <a:srgbClr val="A45F57"/>
            </a:solidFill>
          </a:ln>
        </p:spPr>
      </p:sp>
      <p:sp>
        <p:nvSpPr>
          <p:cNvPr id="16" name="">
            <a:extLst xmlns:a="http://schemas.openxmlformats.org/drawingml/2006/main">
              <a:ext uri="{FF2B5EF4-FFF2-40B4-BE49-F238E27FC236}">
                <a16:creationId xmlns:a16="http://schemas.microsoft.com/office/drawing/2014/main" id="{64F06495-CBAB-4EDB-A8B0-5D560CC79F1F}"/>
              </a:ext>
            </a:extLst>
          </p:cNvPr>
          <p:cNvSpPr>
            <a:spLocks xmlns:a="http://schemas.openxmlformats.org/drawingml/2006/main" noGrp="1"/>
          </p:cNvSpPr>
          <p:nvPr/>
        </p:nvSpPr>
        <p:spPr>
          <a:xfrm xmlns:a="http://schemas.openxmlformats.org/drawingml/2006/main">
            <a:off x="2342147" y="4060996"/>
            <a:ext cx="2797342" cy="13970"/>
          </a:xfrm>
          <a:custGeom xmlns:a="http://schemas.openxmlformats.org/drawingml/2006/main">
            <a:pathLst>
              <a:path w="2952750" h="14705">
                <a:moveTo>
                  <a:pt x="2952750" y="8509"/>
                </a:moveTo>
                <a:lnTo>
                  <a:pt x="2709234" y="11055"/>
                </a:lnTo>
                <a:lnTo>
                  <a:pt x="2465096" y="12980"/>
                </a:lnTo>
                <a:lnTo>
                  <a:pt x="2212541" y="6488"/>
                </a:lnTo>
                <a:lnTo>
                  <a:pt x="1959991" y="0"/>
                </a:lnTo>
                <a:lnTo>
                  <a:pt x="1720652" y="6723"/>
                </a:lnTo>
                <a:lnTo>
                  <a:pt x="1482504" y="14638"/>
                </a:lnTo>
                <a:lnTo>
                  <a:pt x="1221906" y="102"/>
                </a:lnTo>
                <a:lnTo>
                  <a:pt x="985928" y="10187"/>
                </a:lnTo>
                <a:lnTo>
                  <a:pt x="734056" y="4377"/>
                </a:lnTo>
                <a:lnTo>
                  <a:pt x="486612" y="2996"/>
                </a:lnTo>
                <a:lnTo>
                  <a:pt x="252259" y="14705"/>
                </a:lnTo>
                <a:lnTo>
                  <a:pt x="0" y="8509"/>
                </a:lnTo>
              </a:path>
            </a:pathLst>
          </a:custGeom>
          <a:noFill xmlns:a="http://schemas.openxmlformats.org/drawingml/2006/main"/>
          <a:ln xmlns:a="http://schemas.openxmlformats.org/drawingml/2006/main" w="28575">
            <a:solidFill>
              <a:srgbClr val="A45F57"/>
            </a:solidFill>
          </a:ln>
        </p:spPr>
      </p:sp>
      <p:sp>
        <p:nvSpPr>
          <p:cNvPr id="17" name="">
            <a:extLst xmlns:a="http://schemas.openxmlformats.org/drawingml/2006/main">
              <a:ext uri="{FF2B5EF4-FFF2-40B4-BE49-F238E27FC236}">
                <a16:creationId xmlns:a16="http://schemas.microsoft.com/office/drawing/2014/main" id="{EE0D6FBF-DF6F-4093-B477-E35B75D24873}"/>
              </a:ext>
            </a:extLst>
          </p:cNvPr>
          <p:cNvSpPr>
            <a:spLocks xmlns:a="http://schemas.openxmlformats.org/drawingml/2006/main" noGrp="1"/>
          </p:cNvSpPr>
          <p:nvPr/>
        </p:nvSpPr>
        <p:spPr>
          <a:xfrm xmlns:a="http://schemas.openxmlformats.org/drawingml/2006/main">
            <a:off x="2342147" y="4025785"/>
            <a:ext cx="89379" cy="86590"/>
          </a:xfrm>
          <a:custGeom xmlns:a="http://schemas.openxmlformats.org/drawingml/2006/main">
            <a:pathLst>
              <a:path w="94344" h="91147">
                <a:moveTo>
                  <a:pt x="94344" y="0"/>
                </a:moveTo>
                <a:lnTo>
                  <a:pt x="0" y="45574"/>
                </a:lnTo>
                <a:lnTo>
                  <a:pt x="94344" y="91147"/>
                </a:lnTo>
              </a:path>
            </a:pathLst>
          </a:custGeom>
          <a:noFill xmlns:a="http://schemas.openxmlformats.org/drawingml/2006/main"/>
          <a:ln xmlns:a="http://schemas.openxmlformats.org/drawingml/2006/main" w="28575">
            <a:solidFill>
              <a:srgbClr val="A45F57"/>
            </a:solidFill>
          </a:ln>
        </p:spPr>
      </p:sp>
      <p:sp>
        <p:nvSpPr>
          <p:cNvPr id="18" name="">
            <a:extLst xmlns:a="http://schemas.openxmlformats.org/drawingml/2006/main">
              <a:ext uri="{FF2B5EF4-FFF2-40B4-BE49-F238E27FC236}">
                <a16:creationId xmlns:a16="http://schemas.microsoft.com/office/drawing/2014/main" id="{2FED0D28-C571-4F65-B7DB-8AD90CFC4E79}"/>
              </a:ext>
            </a:extLst>
          </p:cNvPr>
          <p:cNvSpPr>
            <a:spLocks xmlns:a="http://schemas.openxmlformats.org/drawingml/2006/main" noGrp="1"/>
          </p:cNvSpPr>
          <p:nvPr/>
        </p:nvSpPr>
        <p:spPr>
          <a:xfrm xmlns:a="http://schemas.openxmlformats.org/drawingml/2006/main">
            <a:off x="2928687" y="2521744"/>
            <a:ext cx="1642311" cy="4071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95" b="0">
                <a:solidFill>
                  <a:srgbClr val="287B95"/>
                </a:solidFill>
                <a:latin typeface="Chalkboard"/>
                <a:ea typeface="Chalkboard"/>
                <a:cs typeface="Chalkboard"/>
              </a:defRPr>
            </a:pPr>
            <a:r>
              <a:rPr sz="1995" b="0">
                <a:solidFill>
                  <a:srgbClr val="287B95"/>
                </a:solidFill>
                <a:latin typeface="Chalkboard"/>
                <a:ea typeface="Chalkboard"/>
                <a:cs typeface="Chalkboard"/>
              </a:rPr>
              <a:t>ReLU</a:t>
            </a:r>
          </a:p>
        </p:txBody>
      </p:sp>
      <p:sp>
        <p:nvSpPr>
          <p:cNvPr id="19" name="">
            <a:extLst xmlns:a="http://schemas.openxmlformats.org/drawingml/2006/main">
              <a:ext uri="{FF2B5EF4-FFF2-40B4-BE49-F238E27FC236}">
                <a16:creationId xmlns:a16="http://schemas.microsoft.com/office/drawing/2014/main" id="{B7C83206-8063-465E-8B2A-A01AFDFC24D6}"/>
              </a:ext>
            </a:extLst>
          </p:cNvPr>
          <p:cNvSpPr>
            <a:spLocks xmlns:a="http://schemas.openxmlformats.org/drawingml/2006/main" noGrp="1"/>
          </p:cNvSpPr>
          <p:nvPr/>
        </p:nvSpPr>
        <p:spPr>
          <a:xfrm xmlns:a="http://schemas.openxmlformats.org/drawingml/2006/main">
            <a:off x="6763753" y="2521744"/>
            <a:ext cx="1642311" cy="4071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95" b="0">
                <a:solidFill>
                  <a:srgbClr val="287B95"/>
                </a:solidFill>
                <a:latin typeface="Chalkboard"/>
                <a:ea typeface="Chalkboard"/>
                <a:cs typeface="Chalkboard"/>
              </a:defRPr>
            </a:pPr>
            <a:r>
              <a:rPr sz="1995" b="0">
                <a:solidFill>
                  <a:srgbClr val="287B95"/>
                </a:solidFill>
                <a:latin typeface="Chalkboard"/>
                <a:ea typeface="Chalkboard"/>
                <a:cs typeface="Chalkboard"/>
              </a:rPr>
              <a:t>w₂ = 1</a:t>
            </a:r>
          </a:p>
        </p:txBody>
      </p:sp>
      <p:sp>
        <p:nvSpPr>
          <p:cNvPr id="20" name="">
            <a:extLst xmlns:a="http://schemas.openxmlformats.org/drawingml/2006/main">
              <a:ext uri="{FF2B5EF4-FFF2-40B4-BE49-F238E27FC236}">
                <a16:creationId xmlns:a16="http://schemas.microsoft.com/office/drawing/2014/main" id="{ABB3B766-FEC2-4000-9D6D-DFBA9E539F0E}"/>
              </a:ext>
            </a:extLst>
          </p:cNvPr>
          <p:cNvSpPr>
            <a:spLocks xmlns:a="http://schemas.openxmlformats.org/drawingml/2006/main" noGrp="1"/>
          </p:cNvSpPr>
          <p:nvPr/>
        </p:nvSpPr>
        <p:spPr>
          <a:xfrm xmlns:a="http://schemas.openxmlformats.org/drawingml/2006/main">
            <a:off x="2540668" y="4358640"/>
            <a:ext cx="2932697" cy="4162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24" b="0">
                <a:solidFill>
                  <a:srgbClr val="A45F57"/>
                </a:solidFill>
                <a:latin typeface="Chalkboard"/>
                <a:ea typeface="Chalkboard"/>
                <a:cs typeface="Chalkboard"/>
              </a:defRPr>
            </a:pPr>
            <a:r>
              <a:rPr sz="1924" b="0">
                <a:solidFill>
                  <a:srgbClr val="A45F57"/>
                </a:solidFill>
                <a:latin typeface="Chalkboard"/>
                <a:ea typeface="Chalkboard"/>
                <a:cs typeface="Chalkboard"/>
              </a:rPr>
              <a:t>× ReLU′(z₁) = 1</a:t>
            </a:r>
          </a:p>
        </p:txBody>
      </p:sp>
      <p:sp>
        <p:nvSpPr>
          <p:cNvPr id="21" name="">
            <a:extLst xmlns:a="http://schemas.openxmlformats.org/drawingml/2006/main">
              <a:ext uri="{FF2B5EF4-FFF2-40B4-BE49-F238E27FC236}">
                <a16:creationId xmlns:a16="http://schemas.microsoft.com/office/drawing/2014/main" id="{3BCD2305-93B9-4D22-9F74-5050E9F4D651}"/>
              </a:ext>
            </a:extLst>
          </p:cNvPr>
          <p:cNvSpPr>
            <a:spLocks xmlns:a="http://schemas.openxmlformats.org/drawingml/2006/main" noGrp="1"/>
          </p:cNvSpPr>
          <p:nvPr/>
        </p:nvSpPr>
        <p:spPr>
          <a:xfrm xmlns:a="http://schemas.openxmlformats.org/drawingml/2006/main">
            <a:off x="6655468" y="4358640"/>
            <a:ext cx="2337134" cy="4162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24" b="0">
                <a:solidFill>
                  <a:srgbClr val="A45F57"/>
                </a:solidFill>
                <a:latin typeface="Chalkboard"/>
                <a:ea typeface="Chalkboard"/>
                <a:cs typeface="Chalkboard"/>
              </a:defRPr>
            </a:pPr>
            <a:r>
              <a:rPr sz="1924" b="0">
                <a:solidFill>
                  <a:srgbClr val="A45F57"/>
                </a:solidFill>
                <a:latin typeface="Chalkboard"/>
                <a:ea typeface="Chalkboard"/>
                <a:cs typeface="Chalkboard"/>
              </a:rPr>
              <a:t>× w₂ = 1</a:t>
            </a:r>
          </a:p>
        </p:txBody>
      </p:sp>
      <p:sp>
        <p:nvSpPr>
          <p:cNvPr id="22" name="">
            <a:extLst xmlns:a="http://schemas.openxmlformats.org/drawingml/2006/main">
              <a:ext uri="{FF2B5EF4-FFF2-40B4-BE49-F238E27FC236}">
                <a16:creationId xmlns:a16="http://schemas.microsoft.com/office/drawing/2014/main" id="{2BF5F902-E452-4455-B61A-03701383D3CB}"/>
              </a:ext>
            </a:extLst>
          </p:cNvPr>
          <p:cNvSpPr>
            <a:spLocks xmlns:a="http://schemas.openxmlformats.org/drawingml/2006/main" noGrp="1"/>
          </p:cNvSpPr>
          <p:nvPr/>
        </p:nvSpPr>
        <p:spPr>
          <a:xfrm xmlns:a="http://schemas.openxmlformats.org/drawingml/2006/main">
            <a:off x="799097" y="1951672"/>
            <a:ext cx="3365834" cy="4705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351" b="0">
                <a:solidFill>
                  <a:srgbClr val="A45F57"/>
                </a:solidFill>
                <a:latin typeface="Chalkboard"/>
                <a:ea typeface="Chalkboard"/>
                <a:cs typeface="Chalkboard"/>
              </a:defRPr>
            </a:pPr>
            <a:r>
              <a:rPr sz="2351" b="0">
                <a:solidFill>
                  <a:srgbClr val="A45F57"/>
                </a:solidFill>
                <a:latin typeface="Chalkboard"/>
                <a:ea typeface="Chalkboard"/>
                <a:cs typeface="Chalkboard"/>
              </a:rPr>
              <a:t>δ₁ = −0.3775</a:t>
            </a:r>
          </a:p>
        </p:txBody>
      </p:sp>
      <p:sp>
        <p:nvSpPr>
          <p:cNvPr id="23" name="">
            <a:extLst xmlns:a="http://schemas.openxmlformats.org/drawingml/2006/main">
              <a:ext uri="{FF2B5EF4-FFF2-40B4-BE49-F238E27FC236}">
                <a16:creationId xmlns:a16="http://schemas.microsoft.com/office/drawing/2014/main" id="{3D5A292D-7130-4595-9C7F-8F170DB87CB1}"/>
              </a:ext>
            </a:extLst>
          </p:cNvPr>
          <p:cNvSpPr>
            <a:spLocks xmlns:a="http://schemas.openxmlformats.org/drawingml/2006/main" noGrp="1"/>
          </p:cNvSpPr>
          <p:nvPr/>
        </p:nvSpPr>
        <p:spPr>
          <a:xfrm xmlns:a="http://schemas.openxmlformats.org/drawingml/2006/main">
            <a:off x="8036092" y="1951672"/>
            <a:ext cx="3158289" cy="4705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351" b="0">
                <a:solidFill>
                  <a:srgbClr val="A45F57"/>
                </a:solidFill>
                <a:latin typeface="Chalkboard"/>
                <a:ea typeface="Chalkboard"/>
                <a:cs typeface="Chalkboard"/>
              </a:defRPr>
            </a:pPr>
            <a:r>
              <a:rPr sz="2351" b="0">
                <a:solidFill>
                  <a:srgbClr val="A45F57"/>
                </a:solidFill>
                <a:latin typeface="Chalkboard"/>
                <a:ea typeface="Chalkboard"/>
                <a:cs typeface="Chalkboard"/>
              </a:rPr>
              <a:t>δ₂ = −0.3775</a:t>
            </a:r>
          </a:p>
        </p:txBody>
      </p:sp>
      <p:sp>
        <p:nvSpPr>
          <p:cNvPr id="24" name="">
            <a:extLst xmlns:a="http://schemas.openxmlformats.org/drawingml/2006/main">
              <a:ext uri="{FF2B5EF4-FFF2-40B4-BE49-F238E27FC236}">
                <a16:creationId xmlns:a16="http://schemas.microsoft.com/office/drawing/2014/main" id="{53F16C42-98EC-4210-9466-A376C211558D}"/>
              </a:ext>
            </a:extLst>
          </p:cNvPr>
          <p:cNvSpPr>
            <a:spLocks xmlns:a="http://schemas.openxmlformats.org/drawingml/2006/main" noGrp="1"/>
          </p:cNvSpPr>
          <p:nvPr/>
        </p:nvSpPr>
        <p:spPr>
          <a:xfrm xmlns:a="http://schemas.openxmlformats.org/drawingml/2006/main">
            <a:off x="790074" y="5118735"/>
            <a:ext cx="5405187" cy="4705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066" b="0">
                <a:solidFill>
                  <a:srgbClr val="272729"/>
                </a:solidFill>
                <a:latin typeface="Chalkboard"/>
                <a:ea typeface="Chalkboard"/>
                <a:cs typeface="Chalkboard"/>
              </a:defRPr>
            </a:pPr>
            <a:r>
              <a:rPr sz="2066" b="0">
                <a:solidFill>
                  <a:srgbClr val="272729"/>
                </a:solidFill>
                <a:latin typeface="Chalkboard"/>
                <a:ea typeface="Chalkboard"/>
                <a:cs typeface="Chalkboard"/>
              </a:rPr>
              <a:t>∂L/∂w₁ = δ₁x = −0.3775</a:t>
            </a:r>
          </a:p>
        </p:txBody>
      </p:sp>
      <p:sp>
        <p:nvSpPr>
          <p:cNvPr id="25" name="">
            <a:extLst xmlns:a="http://schemas.openxmlformats.org/drawingml/2006/main">
              <a:ext uri="{FF2B5EF4-FFF2-40B4-BE49-F238E27FC236}">
                <a16:creationId xmlns:a16="http://schemas.microsoft.com/office/drawing/2014/main" id="{D36F65D6-A7E7-4D5D-89A1-6A205B9744CF}"/>
              </a:ext>
            </a:extLst>
          </p:cNvPr>
          <p:cNvSpPr>
            <a:spLocks xmlns:a="http://schemas.openxmlformats.org/drawingml/2006/main" noGrp="1"/>
          </p:cNvSpPr>
          <p:nvPr/>
        </p:nvSpPr>
        <p:spPr>
          <a:xfrm xmlns:a="http://schemas.openxmlformats.org/drawingml/2006/main">
            <a:off x="6619374" y="5118735"/>
            <a:ext cx="4493795" cy="4705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995" b="0">
                <a:solidFill>
                  <a:srgbClr val="272729"/>
                </a:solidFill>
                <a:latin typeface="Chalkboard"/>
                <a:ea typeface="Chalkboard"/>
                <a:cs typeface="Chalkboard"/>
              </a:defRPr>
            </a:pPr>
            <a:r>
              <a:rPr sz="1995" b="0">
                <a:solidFill>
                  <a:srgbClr val="272729"/>
                </a:solidFill>
                <a:latin typeface="Chalkboard"/>
                <a:ea typeface="Chalkboard"/>
                <a:cs typeface="Chalkboard"/>
              </a:rPr>
              <a:t>∂L/∂b₁ = δ₁ = −0.3775</a:t>
            </a:r>
          </a:p>
        </p:txBody>
      </p:sp>
      <p:sp>
        <p:nvSpPr>
          <p:cNvPr id="9200" name="matched-title">
            <a:extLst xmlns:a="http://schemas.openxmlformats.org/drawingml/2006/main">
              <a:ext uri="{FF2B5EF4-FFF2-40B4-BE49-F238E27FC236}">
                <a16:creationId xmlns:a16="http://schemas.microsoft.com/office/drawing/2014/main" id="{0FD3B9B2-90D7-41E4-AAD4-B7186AD9EFAE}"/>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The error reaches the hidden neuron</a:t>
            </a:r>
          </a:p>
        </p:txBody>
      </p:sp>
      <p:sp>
        <p:nvSpPr>
          <p:cNvPr id="9201" name="matched-subtitle">
            <a:extLst xmlns:a="http://schemas.openxmlformats.org/drawingml/2006/main">
              <a:ext uri="{FF2B5EF4-FFF2-40B4-BE49-F238E27FC236}">
                <a16:creationId xmlns:a16="http://schemas.microsoft.com/office/drawing/2014/main" id="{C9BA3B14-5480-4593-B8DE-EC3689663E27}"/>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Backpropagation multiplies by the output weight and the ReLU derivative.</a:t>
            </a:r>
          </a:p>
        </p:txBody>
      </p:sp>
      <p:sp>
        <p:nvSpPr>
          <p:cNvPr id="9202" name="matched-footer">
            <a:extLst xmlns:a="http://schemas.openxmlformats.org/drawingml/2006/main">
              <a:ext uri="{FF2B5EF4-FFF2-40B4-BE49-F238E27FC236}">
                <a16:creationId xmlns:a16="http://schemas.microsoft.com/office/drawing/2014/main" id="{6D96366D-98B9-48D6-8839-C2D613CFB838}"/>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Use the forward-pass weights. ReLU′ is 1 here because z₁ = 0.5 &gt; 0.</a:t>
            </a:r>
          </a:p>
        </p:txBody>
      </p:sp>
      <p:sp>
        <p:nvSpPr>
          <p:cNvPr id="9203" name="matched-page">
            <a:extLst xmlns:a="http://schemas.openxmlformats.org/drawingml/2006/main">
              <a:ext uri="{FF2B5EF4-FFF2-40B4-BE49-F238E27FC236}">
                <a16:creationId xmlns:a16="http://schemas.microsoft.com/office/drawing/2014/main" id="{BACCB200-A166-437A-B3B7-F79FF88686D2}"/>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11</a:t>
            </a:r>
          </a:p>
        </p:txBody>
      </p:sp>
    </p:spTree>
    <p:extLst>
      <p:ext uri="{BB962C8B-B14F-4D97-AF65-F5344CB8AC3E}">
        <p14:creationId xmlns:p14="http://schemas.microsoft.com/office/powerpoint/2010/main" val="570094713"/>
      </p:ext>
    </p:extLst>
  </p:cSld>
</p:sld>
</file>

<file path=ppt/slides/slide8.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4" name="">
            <a:extLst xmlns:a="http://schemas.openxmlformats.org/drawingml/2006/main">
              <a:ext uri="{FF2B5EF4-FFF2-40B4-BE49-F238E27FC236}">
                <a16:creationId xmlns:a16="http://schemas.microsoft.com/office/drawing/2014/main" id="{6238EDDE-2DF5-4E13-9B65-80F126225E2F}"/>
              </a:ext>
            </a:extLst>
          </p:cNvPr>
          <p:cNvSpPr>
            <a:spLocks xmlns:a="http://schemas.openxmlformats.org/drawingml/2006/main" noGrp="1"/>
          </p:cNvSpPr>
          <p:nvPr/>
        </p:nvSpPr>
        <p:spPr>
          <a:xfrm xmlns:a="http://schemas.openxmlformats.org/drawingml/2006/main">
            <a:off x="2504574" y="1906429"/>
            <a:ext cx="1922045" cy="4162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995" b="0">
                <a:solidFill>
                  <a:srgbClr val="616069"/>
                </a:solidFill>
                <a:latin typeface="Chalkboard"/>
                <a:ea typeface="Chalkboard"/>
                <a:cs typeface="Chalkboard"/>
              </a:defRPr>
            </a:pPr>
            <a:r>
              <a:rPr sz="1995" b="0">
                <a:solidFill>
                  <a:srgbClr val="616069"/>
                </a:solidFill>
                <a:latin typeface="Chalkboard"/>
                <a:ea typeface="Chalkboard"/>
                <a:cs typeface="Chalkboard"/>
              </a:rPr>
              <a:t>Before</a:t>
            </a:r>
          </a:p>
        </p:txBody>
      </p:sp>
      <p:sp>
        <p:nvSpPr>
          <p:cNvPr id="5" name="">
            <a:extLst xmlns:a="http://schemas.openxmlformats.org/drawingml/2006/main">
              <a:ext uri="{FF2B5EF4-FFF2-40B4-BE49-F238E27FC236}">
                <a16:creationId xmlns:a16="http://schemas.microsoft.com/office/drawing/2014/main" id="{A1F4EB3E-AC45-49DB-B6AA-0E3A167ED472}"/>
              </a:ext>
            </a:extLst>
          </p:cNvPr>
          <p:cNvSpPr>
            <a:spLocks xmlns:a="http://schemas.openxmlformats.org/drawingml/2006/main" noGrp="1"/>
          </p:cNvSpPr>
          <p:nvPr/>
        </p:nvSpPr>
        <p:spPr>
          <a:xfrm xmlns:a="http://schemas.openxmlformats.org/drawingml/2006/main">
            <a:off x="5365082" y="1906429"/>
            <a:ext cx="2445418" cy="4162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995" b="0">
                <a:solidFill>
                  <a:srgbClr val="287B95"/>
                </a:solidFill>
                <a:latin typeface="Chalkboard"/>
                <a:ea typeface="Chalkboard"/>
                <a:cs typeface="Chalkboard"/>
              </a:defRPr>
            </a:pPr>
            <a:r>
              <a:rPr sz="1995" b="0">
                <a:solidFill>
                  <a:srgbClr val="287B95"/>
                </a:solidFill>
                <a:latin typeface="Chalkboard"/>
                <a:ea typeface="Chalkboard"/>
                <a:cs typeface="Chalkboard"/>
              </a:rPr>
              <a:t>Step = −ηg</a:t>
            </a:r>
          </a:p>
        </p:txBody>
      </p:sp>
      <p:sp>
        <p:nvSpPr>
          <p:cNvPr id="6" name="">
            <a:extLst xmlns:a="http://schemas.openxmlformats.org/drawingml/2006/main">
              <a:ext uri="{FF2B5EF4-FFF2-40B4-BE49-F238E27FC236}">
                <a16:creationId xmlns:a16="http://schemas.microsoft.com/office/drawing/2014/main" id="{2E2A3CCA-6FC9-463C-A282-27C5570AB4AB}"/>
              </a:ext>
            </a:extLst>
          </p:cNvPr>
          <p:cNvSpPr>
            <a:spLocks xmlns:a="http://schemas.openxmlformats.org/drawingml/2006/main" noGrp="1"/>
          </p:cNvSpPr>
          <p:nvPr/>
        </p:nvSpPr>
        <p:spPr>
          <a:xfrm xmlns:a="http://schemas.openxmlformats.org/drawingml/2006/main">
            <a:off x="9037721" y="1906429"/>
            <a:ext cx="2093495" cy="4162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995" b="0">
                <a:solidFill>
                  <a:srgbClr val="A45F57"/>
                </a:solidFill>
                <a:latin typeface="Chalkboard"/>
                <a:ea typeface="Chalkboard"/>
                <a:cs typeface="Chalkboard"/>
              </a:defRPr>
            </a:pPr>
            <a:r>
              <a:rPr sz="1995" b="0">
                <a:solidFill>
                  <a:srgbClr val="A45F57"/>
                </a:solidFill>
                <a:latin typeface="Chalkboard"/>
                <a:ea typeface="Chalkboard"/>
                <a:cs typeface="Chalkboard"/>
              </a:rPr>
              <a:t>After</a:t>
            </a:r>
          </a:p>
        </p:txBody>
      </p:sp>
      <p:sp>
        <p:nvSpPr>
          <p:cNvPr id="7" name="">
            <a:extLst xmlns:a="http://schemas.openxmlformats.org/drawingml/2006/main">
              <a:ext uri="{FF2B5EF4-FFF2-40B4-BE49-F238E27FC236}">
                <a16:creationId xmlns:a16="http://schemas.microsoft.com/office/drawing/2014/main" id="{30AD1AB1-78CF-432B-B09D-A3859AD7082F}"/>
              </a:ext>
            </a:extLst>
          </p:cNvPr>
          <p:cNvSpPr>
            <a:spLocks xmlns:a="http://schemas.openxmlformats.org/drawingml/2006/main" noGrp="1"/>
          </p:cNvSpPr>
          <p:nvPr/>
        </p:nvSpPr>
        <p:spPr>
          <a:xfrm xmlns:a="http://schemas.openxmlformats.org/drawingml/2006/main">
            <a:off x="835192" y="2594134"/>
            <a:ext cx="1136984" cy="4614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280" b="0">
                <a:solidFill>
                  <a:srgbClr val="272729"/>
                </a:solidFill>
                <a:latin typeface="Chalkboard"/>
                <a:ea typeface="Chalkboard"/>
                <a:cs typeface="Chalkboard"/>
              </a:defRPr>
            </a:pPr>
            <a:r>
              <a:rPr sz="2280" b="0">
                <a:solidFill>
                  <a:srgbClr val="272729"/>
                </a:solidFill>
                <a:latin typeface="Chalkboard"/>
                <a:ea typeface="Chalkboard"/>
                <a:cs typeface="Chalkboard"/>
              </a:rPr>
              <a:t>w₁</a:t>
            </a:r>
          </a:p>
        </p:txBody>
      </p:sp>
      <p:sp>
        <p:nvSpPr>
          <p:cNvPr id="8" name="">
            <a:extLst xmlns:a="http://schemas.openxmlformats.org/drawingml/2006/main">
              <a:ext uri="{FF2B5EF4-FFF2-40B4-BE49-F238E27FC236}">
                <a16:creationId xmlns:a16="http://schemas.microsoft.com/office/drawing/2014/main" id="{FC810FA5-6AA1-4EA5-86E8-BD0D84D2F759}"/>
              </a:ext>
            </a:extLst>
          </p:cNvPr>
          <p:cNvSpPr>
            <a:spLocks xmlns:a="http://schemas.openxmlformats.org/drawingml/2006/main" noGrp="1"/>
          </p:cNvSpPr>
          <p:nvPr/>
        </p:nvSpPr>
        <p:spPr>
          <a:xfrm xmlns:a="http://schemas.openxmlformats.org/drawingml/2006/main">
            <a:off x="2486526" y="2594134"/>
            <a:ext cx="2057400" cy="4614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280" b="0">
                <a:solidFill>
                  <a:srgbClr val="272729"/>
                </a:solidFill>
                <a:latin typeface="Chalkboard"/>
                <a:ea typeface="Chalkboard"/>
                <a:cs typeface="Chalkboard"/>
              </a:defRPr>
            </a:pPr>
            <a:r>
              <a:rPr sz="2280" b="0">
                <a:solidFill>
                  <a:srgbClr val="272729"/>
                </a:solidFill>
                <a:latin typeface="Chalkboard"/>
                <a:ea typeface="Chalkboard"/>
                <a:cs typeface="Chalkboard"/>
              </a:rPr>
              <a:t>0.5000</a:t>
            </a:r>
          </a:p>
        </p:txBody>
      </p:sp>
      <p:sp>
        <p:nvSpPr>
          <p:cNvPr id="9" name="">
            <a:extLst xmlns:a="http://schemas.openxmlformats.org/drawingml/2006/main">
              <a:ext uri="{FF2B5EF4-FFF2-40B4-BE49-F238E27FC236}">
                <a16:creationId xmlns:a16="http://schemas.microsoft.com/office/drawing/2014/main" id="{2BD99402-12F4-4A2E-B14E-3A228CC4B65C}"/>
              </a:ext>
            </a:extLst>
          </p:cNvPr>
          <p:cNvSpPr>
            <a:spLocks xmlns:a="http://schemas.openxmlformats.org/drawingml/2006/main" noGrp="1"/>
          </p:cNvSpPr>
          <p:nvPr/>
        </p:nvSpPr>
        <p:spPr>
          <a:xfrm xmlns:a="http://schemas.openxmlformats.org/drawingml/2006/main">
            <a:off x="4634163" y="2813930"/>
            <a:ext cx="3835066" cy="12894"/>
          </a:xfrm>
          <a:custGeom xmlns:a="http://schemas.openxmlformats.org/drawingml/2006/main">
            <a:pathLst>
              <a:path w="4048125" h="13573">
                <a:moveTo>
                  <a:pt x="0" y="6761"/>
                </a:moveTo>
                <a:lnTo>
                  <a:pt x="336647" y="6063"/>
                </a:lnTo>
                <a:lnTo>
                  <a:pt x="667927" y="0"/>
                </a:lnTo>
                <a:lnTo>
                  <a:pt x="1006864" y="1593"/>
                </a:lnTo>
                <a:lnTo>
                  <a:pt x="1352492" y="9878"/>
                </a:lnTo>
                <a:lnTo>
                  <a:pt x="1683258" y="3300"/>
                </a:lnTo>
                <a:lnTo>
                  <a:pt x="2030156" y="12854"/>
                </a:lnTo>
                <a:lnTo>
                  <a:pt x="2363724" y="9078"/>
                </a:lnTo>
                <a:lnTo>
                  <a:pt x="2701045" y="9056"/>
                </a:lnTo>
                <a:lnTo>
                  <a:pt x="3031073" y="1740"/>
                </a:lnTo>
                <a:lnTo>
                  <a:pt x="3379621" y="12944"/>
                </a:lnTo>
                <a:lnTo>
                  <a:pt x="3717594" y="13573"/>
                </a:lnTo>
                <a:lnTo>
                  <a:pt x="4048125" y="6761"/>
                </a:lnTo>
              </a:path>
            </a:pathLst>
          </a:custGeom>
          <a:noFill xmlns:a="http://schemas.openxmlformats.org/drawingml/2006/main"/>
          <a:ln xmlns:a="http://schemas.openxmlformats.org/drawingml/2006/main" w="19050">
            <a:solidFill>
              <a:srgbClr val="287B95"/>
            </a:solidFill>
          </a:ln>
        </p:spPr>
      </p:sp>
      <p:sp>
        <p:nvSpPr>
          <p:cNvPr id="10" name="">
            <a:extLst xmlns:a="http://schemas.openxmlformats.org/drawingml/2006/main">
              <a:ext uri="{FF2B5EF4-FFF2-40B4-BE49-F238E27FC236}">
                <a16:creationId xmlns:a16="http://schemas.microsoft.com/office/drawing/2014/main" id="{20F922D7-B023-46B9-BA35-49DC49EA7A10}"/>
              </a:ext>
            </a:extLst>
          </p:cNvPr>
          <p:cNvSpPr>
            <a:spLocks xmlns:a="http://schemas.openxmlformats.org/drawingml/2006/main" noGrp="1"/>
          </p:cNvSpPr>
          <p:nvPr/>
        </p:nvSpPr>
        <p:spPr>
          <a:xfrm xmlns:a="http://schemas.openxmlformats.org/drawingml/2006/main">
            <a:off x="8379850" y="2777057"/>
            <a:ext cx="89379" cy="86590"/>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287B95"/>
            </a:solidFill>
          </a:ln>
        </p:spPr>
      </p:sp>
      <p:sp>
        <p:nvSpPr>
          <p:cNvPr id="11" name="">
            <a:extLst xmlns:a="http://schemas.openxmlformats.org/drawingml/2006/main">
              <a:ext uri="{FF2B5EF4-FFF2-40B4-BE49-F238E27FC236}">
                <a16:creationId xmlns:a16="http://schemas.microsoft.com/office/drawing/2014/main" id="{F9F20D01-DF8D-4BAB-A2FC-26DC05A4E242}"/>
              </a:ext>
            </a:extLst>
          </p:cNvPr>
          <p:cNvSpPr>
            <a:spLocks xmlns:a="http://schemas.openxmlformats.org/drawingml/2006/main" noGrp="1"/>
          </p:cNvSpPr>
          <p:nvPr/>
        </p:nvSpPr>
        <p:spPr>
          <a:xfrm xmlns:a="http://schemas.openxmlformats.org/drawingml/2006/main">
            <a:off x="5536532" y="2440305"/>
            <a:ext cx="1940092" cy="3438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852" b="0">
                <a:solidFill>
                  <a:srgbClr val="287B95"/>
                </a:solidFill>
                <a:latin typeface="Chalkboard"/>
                <a:ea typeface="Chalkboard"/>
                <a:cs typeface="Chalkboard"/>
              </a:defRPr>
            </a:pPr>
            <a:r>
              <a:rPr sz="1852" b="0">
                <a:solidFill>
                  <a:srgbClr val="287B95"/>
                </a:solidFill>
                <a:latin typeface="Chalkboard"/>
                <a:ea typeface="Chalkboard"/>
                <a:cs typeface="Chalkboard"/>
              </a:rPr>
              <a:t>+0.0378</a:t>
            </a:r>
          </a:p>
        </p:txBody>
      </p:sp>
      <p:sp>
        <p:nvSpPr>
          <p:cNvPr id="12" name="">
            <a:extLst xmlns:a="http://schemas.openxmlformats.org/drawingml/2006/main">
              <a:ext uri="{FF2B5EF4-FFF2-40B4-BE49-F238E27FC236}">
                <a16:creationId xmlns:a16="http://schemas.microsoft.com/office/drawing/2014/main" id="{40F6F2AF-8D6C-4D96-8164-F8FCE112FEBA}"/>
              </a:ext>
            </a:extLst>
          </p:cNvPr>
          <p:cNvSpPr>
            <a:spLocks xmlns:a="http://schemas.openxmlformats.org/drawingml/2006/main" noGrp="1"/>
          </p:cNvSpPr>
          <p:nvPr/>
        </p:nvSpPr>
        <p:spPr>
          <a:xfrm xmlns:a="http://schemas.openxmlformats.org/drawingml/2006/main">
            <a:off x="9001626" y="2594134"/>
            <a:ext cx="2138613" cy="4614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351" b="0">
                <a:solidFill>
                  <a:srgbClr val="A45F57"/>
                </a:solidFill>
                <a:latin typeface="Chalkboard"/>
                <a:ea typeface="Chalkboard"/>
                <a:cs typeface="Chalkboard"/>
              </a:defRPr>
            </a:pPr>
            <a:r>
              <a:rPr sz="2351" b="0">
                <a:solidFill>
                  <a:srgbClr val="A45F57"/>
                </a:solidFill>
                <a:latin typeface="Chalkboard"/>
                <a:ea typeface="Chalkboard"/>
                <a:cs typeface="Chalkboard"/>
              </a:rPr>
              <a:t>0.5378</a:t>
            </a:r>
          </a:p>
        </p:txBody>
      </p:sp>
      <p:sp>
        <p:nvSpPr>
          <p:cNvPr id="13" name="">
            <a:extLst xmlns:a="http://schemas.openxmlformats.org/drawingml/2006/main">
              <a:ext uri="{FF2B5EF4-FFF2-40B4-BE49-F238E27FC236}">
                <a16:creationId xmlns:a16="http://schemas.microsoft.com/office/drawing/2014/main" id="{B19280EF-922C-41A3-8C63-49B873FA578F}"/>
              </a:ext>
            </a:extLst>
          </p:cNvPr>
          <p:cNvSpPr>
            <a:spLocks xmlns:a="http://schemas.openxmlformats.org/drawingml/2006/main" noGrp="1"/>
          </p:cNvSpPr>
          <p:nvPr/>
        </p:nvSpPr>
        <p:spPr>
          <a:xfrm xmlns:a="http://schemas.openxmlformats.org/drawingml/2006/main">
            <a:off x="835192" y="3281839"/>
            <a:ext cx="1136984" cy="4614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280" b="0">
                <a:solidFill>
                  <a:srgbClr val="272729"/>
                </a:solidFill>
                <a:latin typeface="Chalkboard"/>
                <a:ea typeface="Chalkboard"/>
                <a:cs typeface="Chalkboard"/>
              </a:defRPr>
            </a:pPr>
            <a:r>
              <a:rPr sz="2280" b="0">
                <a:solidFill>
                  <a:srgbClr val="272729"/>
                </a:solidFill>
                <a:latin typeface="Chalkboard"/>
                <a:ea typeface="Chalkboard"/>
                <a:cs typeface="Chalkboard"/>
              </a:rPr>
              <a:t>b₁</a:t>
            </a:r>
          </a:p>
        </p:txBody>
      </p:sp>
      <p:sp>
        <p:nvSpPr>
          <p:cNvPr id="14" name="">
            <a:extLst xmlns:a="http://schemas.openxmlformats.org/drawingml/2006/main">
              <a:ext uri="{FF2B5EF4-FFF2-40B4-BE49-F238E27FC236}">
                <a16:creationId xmlns:a16="http://schemas.microsoft.com/office/drawing/2014/main" id="{00A078E2-8919-4FE1-8E1B-CC85801C5E10}"/>
              </a:ext>
            </a:extLst>
          </p:cNvPr>
          <p:cNvSpPr>
            <a:spLocks xmlns:a="http://schemas.openxmlformats.org/drawingml/2006/main" noGrp="1"/>
          </p:cNvSpPr>
          <p:nvPr/>
        </p:nvSpPr>
        <p:spPr>
          <a:xfrm xmlns:a="http://schemas.openxmlformats.org/drawingml/2006/main">
            <a:off x="2486526" y="3281839"/>
            <a:ext cx="2057400" cy="4614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280" b="0">
                <a:solidFill>
                  <a:srgbClr val="272729"/>
                </a:solidFill>
                <a:latin typeface="Chalkboard"/>
                <a:ea typeface="Chalkboard"/>
                <a:cs typeface="Chalkboard"/>
              </a:defRPr>
            </a:pPr>
            <a:r>
              <a:rPr sz="2280" b="0">
                <a:solidFill>
                  <a:srgbClr val="272729"/>
                </a:solidFill>
                <a:latin typeface="Chalkboard"/>
                <a:ea typeface="Chalkboard"/>
                <a:cs typeface="Chalkboard"/>
              </a:rPr>
              <a:t>0.0000</a:t>
            </a:r>
          </a:p>
        </p:txBody>
      </p:sp>
      <p:sp>
        <p:nvSpPr>
          <p:cNvPr id="15" name="">
            <a:extLst xmlns:a="http://schemas.openxmlformats.org/drawingml/2006/main">
              <a:ext uri="{FF2B5EF4-FFF2-40B4-BE49-F238E27FC236}">
                <a16:creationId xmlns:a16="http://schemas.microsoft.com/office/drawing/2014/main" id="{A5D8788A-4756-40E9-89D2-CF817800080B}"/>
              </a:ext>
            </a:extLst>
          </p:cNvPr>
          <p:cNvSpPr>
            <a:spLocks xmlns:a="http://schemas.openxmlformats.org/drawingml/2006/main" noGrp="1"/>
          </p:cNvSpPr>
          <p:nvPr/>
        </p:nvSpPr>
        <p:spPr>
          <a:xfrm xmlns:a="http://schemas.openxmlformats.org/drawingml/2006/main">
            <a:off x="4634163" y="3500831"/>
            <a:ext cx="3835066" cy="15050"/>
          </a:xfrm>
          <a:custGeom xmlns:a="http://schemas.openxmlformats.org/drawingml/2006/main">
            <a:pathLst>
              <a:path w="4048125" h="15842">
                <a:moveTo>
                  <a:pt x="0" y="7607"/>
                </a:moveTo>
                <a:lnTo>
                  <a:pt x="339803" y="10067"/>
                </a:lnTo>
                <a:lnTo>
                  <a:pt x="677678" y="10597"/>
                </a:lnTo>
                <a:lnTo>
                  <a:pt x="1016766" y="12342"/>
                </a:lnTo>
                <a:lnTo>
                  <a:pt x="1341902" y="134"/>
                </a:lnTo>
                <a:lnTo>
                  <a:pt x="1687248" y="8136"/>
                </a:lnTo>
                <a:lnTo>
                  <a:pt x="2032298" y="15842"/>
                </a:lnTo>
                <a:lnTo>
                  <a:pt x="2359365" y="5565"/>
                </a:lnTo>
                <a:lnTo>
                  <a:pt x="2691143" y="0"/>
                </a:lnTo>
                <a:lnTo>
                  <a:pt x="3034020" y="5534"/>
                </a:lnTo>
                <a:lnTo>
                  <a:pt x="3366267" y="437"/>
                </a:lnTo>
                <a:lnTo>
                  <a:pt x="3714150" y="10976"/>
                </a:lnTo>
                <a:lnTo>
                  <a:pt x="4048125" y="7607"/>
                </a:lnTo>
              </a:path>
            </a:pathLst>
          </a:custGeom>
          <a:noFill xmlns:a="http://schemas.openxmlformats.org/drawingml/2006/main"/>
          <a:ln xmlns:a="http://schemas.openxmlformats.org/drawingml/2006/main" w="19050">
            <a:solidFill>
              <a:srgbClr val="287B95"/>
            </a:solidFill>
          </a:ln>
        </p:spPr>
      </p:sp>
      <p:sp>
        <p:nvSpPr>
          <p:cNvPr id="16" name="">
            <a:extLst xmlns:a="http://schemas.openxmlformats.org/drawingml/2006/main">
              <a:ext uri="{FF2B5EF4-FFF2-40B4-BE49-F238E27FC236}">
                <a16:creationId xmlns:a16="http://schemas.microsoft.com/office/drawing/2014/main" id="{A6A55357-180C-431D-B271-664B8DF6B5E5}"/>
              </a:ext>
            </a:extLst>
          </p:cNvPr>
          <p:cNvSpPr>
            <a:spLocks xmlns:a="http://schemas.openxmlformats.org/drawingml/2006/main" noGrp="1"/>
          </p:cNvSpPr>
          <p:nvPr/>
        </p:nvSpPr>
        <p:spPr>
          <a:xfrm xmlns:a="http://schemas.openxmlformats.org/drawingml/2006/main">
            <a:off x="8379850" y="3464762"/>
            <a:ext cx="89379" cy="86590"/>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287B95"/>
            </a:solidFill>
          </a:ln>
        </p:spPr>
      </p:sp>
      <p:sp>
        <p:nvSpPr>
          <p:cNvPr id="17" name="">
            <a:extLst xmlns:a="http://schemas.openxmlformats.org/drawingml/2006/main">
              <a:ext uri="{FF2B5EF4-FFF2-40B4-BE49-F238E27FC236}">
                <a16:creationId xmlns:a16="http://schemas.microsoft.com/office/drawing/2014/main" id="{0F1BF1F7-0E67-458F-B5DC-95D11311A567}"/>
              </a:ext>
            </a:extLst>
          </p:cNvPr>
          <p:cNvSpPr>
            <a:spLocks xmlns:a="http://schemas.openxmlformats.org/drawingml/2006/main" noGrp="1"/>
          </p:cNvSpPr>
          <p:nvPr/>
        </p:nvSpPr>
        <p:spPr>
          <a:xfrm xmlns:a="http://schemas.openxmlformats.org/drawingml/2006/main">
            <a:off x="5536532" y="3128010"/>
            <a:ext cx="1940092" cy="3438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852" b="0">
                <a:solidFill>
                  <a:srgbClr val="287B95"/>
                </a:solidFill>
                <a:latin typeface="Chalkboard"/>
                <a:ea typeface="Chalkboard"/>
                <a:cs typeface="Chalkboard"/>
              </a:defRPr>
            </a:pPr>
            <a:r>
              <a:rPr sz="1852" b="0">
                <a:solidFill>
                  <a:srgbClr val="287B95"/>
                </a:solidFill>
                <a:latin typeface="Chalkboard"/>
                <a:ea typeface="Chalkboard"/>
                <a:cs typeface="Chalkboard"/>
              </a:rPr>
              <a:t>+0.0378</a:t>
            </a:r>
          </a:p>
        </p:txBody>
      </p:sp>
      <p:sp>
        <p:nvSpPr>
          <p:cNvPr id="18" name="">
            <a:extLst xmlns:a="http://schemas.openxmlformats.org/drawingml/2006/main">
              <a:ext uri="{FF2B5EF4-FFF2-40B4-BE49-F238E27FC236}">
                <a16:creationId xmlns:a16="http://schemas.microsoft.com/office/drawing/2014/main" id="{B87A270B-FFD5-47E1-B0B4-55A260E66B44}"/>
              </a:ext>
            </a:extLst>
          </p:cNvPr>
          <p:cNvSpPr>
            <a:spLocks xmlns:a="http://schemas.openxmlformats.org/drawingml/2006/main" noGrp="1"/>
          </p:cNvSpPr>
          <p:nvPr/>
        </p:nvSpPr>
        <p:spPr>
          <a:xfrm xmlns:a="http://schemas.openxmlformats.org/drawingml/2006/main">
            <a:off x="9001626" y="3281839"/>
            <a:ext cx="2138613" cy="4614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351" b="0">
                <a:solidFill>
                  <a:srgbClr val="A45F57"/>
                </a:solidFill>
                <a:latin typeface="Chalkboard"/>
                <a:ea typeface="Chalkboard"/>
                <a:cs typeface="Chalkboard"/>
              </a:defRPr>
            </a:pPr>
            <a:r>
              <a:rPr sz="2351" b="0">
                <a:solidFill>
                  <a:srgbClr val="A45F57"/>
                </a:solidFill>
                <a:latin typeface="Chalkboard"/>
                <a:ea typeface="Chalkboard"/>
                <a:cs typeface="Chalkboard"/>
              </a:rPr>
              <a:t>0.0378</a:t>
            </a:r>
          </a:p>
        </p:txBody>
      </p:sp>
      <p:sp>
        <p:nvSpPr>
          <p:cNvPr id="19" name="">
            <a:extLst xmlns:a="http://schemas.openxmlformats.org/drawingml/2006/main">
              <a:ext uri="{FF2B5EF4-FFF2-40B4-BE49-F238E27FC236}">
                <a16:creationId xmlns:a16="http://schemas.microsoft.com/office/drawing/2014/main" id="{8809026B-51E6-4983-B9D4-A7CBF25B4BED}"/>
              </a:ext>
            </a:extLst>
          </p:cNvPr>
          <p:cNvSpPr>
            <a:spLocks xmlns:a="http://schemas.openxmlformats.org/drawingml/2006/main" noGrp="1"/>
          </p:cNvSpPr>
          <p:nvPr/>
        </p:nvSpPr>
        <p:spPr>
          <a:xfrm xmlns:a="http://schemas.openxmlformats.org/drawingml/2006/main">
            <a:off x="835192" y="3969544"/>
            <a:ext cx="1136984" cy="4614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280" b="0">
                <a:solidFill>
                  <a:srgbClr val="272729"/>
                </a:solidFill>
                <a:latin typeface="Chalkboard"/>
                <a:ea typeface="Chalkboard"/>
                <a:cs typeface="Chalkboard"/>
              </a:defRPr>
            </a:pPr>
            <a:r>
              <a:rPr sz="2280" b="0">
                <a:solidFill>
                  <a:srgbClr val="272729"/>
                </a:solidFill>
                <a:latin typeface="Chalkboard"/>
                <a:ea typeface="Chalkboard"/>
                <a:cs typeface="Chalkboard"/>
              </a:rPr>
              <a:t>w₂</a:t>
            </a:r>
          </a:p>
        </p:txBody>
      </p:sp>
      <p:sp>
        <p:nvSpPr>
          <p:cNvPr id="20" name="">
            <a:extLst xmlns:a="http://schemas.openxmlformats.org/drawingml/2006/main">
              <a:ext uri="{FF2B5EF4-FFF2-40B4-BE49-F238E27FC236}">
                <a16:creationId xmlns:a16="http://schemas.microsoft.com/office/drawing/2014/main" id="{B30CCCD8-1D8A-4545-8C76-7A371E8AA8CB}"/>
              </a:ext>
            </a:extLst>
          </p:cNvPr>
          <p:cNvSpPr>
            <a:spLocks xmlns:a="http://schemas.openxmlformats.org/drawingml/2006/main" noGrp="1"/>
          </p:cNvSpPr>
          <p:nvPr/>
        </p:nvSpPr>
        <p:spPr>
          <a:xfrm xmlns:a="http://schemas.openxmlformats.org/drawingml/2006/main">
            <a:off x="2486526" y="3969544"/>
            <a:ext cx="2057400" cy="4614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280" b="0">
                <a:solidFill>
                  <a:srgbClr val="272729"/>
                </a:solidFill>
                <a:latin typeface="Chalkboard"/>
                <a:ea typeface="Chalkboard"/>
                <a:cs typeface="Chalkboard"/>
              </a:defRPr>
            </a:pPr>
            <a:r>
              <a:rPr sz="2280" b="0">
                <a:solidFill>
                  <a:srgbClr val="272729"/>
                </a:solidFill>
                <a:latin typeface="Chalkboard"/>
                <a:ea typeface="Chalkboard"/>
                <a:cs typeface="Chalkboard"/>
              </a:rPr>
              <a:t>1.0000</a:t>
            </a:r>
          </a:p>
        </p:txBody>
      </p:sp>
      <p:sp>
        <p:nvSpPr>
          <p:cNvPr id="21" name="">
            <a:extLst xmlns:a="http://schemas.openxmlformats.org/drawingml/2006/main">
              <a:ext uri="{FF2B5EF4-FFF2-40B4-BE49-F238E27FC236}">
                <a16:creationId xmlns:a16="http://schemas.microsoft.com/office/drawing/2014/main" id="{418A8868-2FE4-4777-9EB2-92907D9B25FB}"/>
              </a:ext>
            </a:extLst>
          </p:cNvPr>
          <p:cNvSpPr>
            <a:spLocks xmlns:a="http://schemas.openxmlformats.org/drawingml/2006/main" noGrp="1"/>
          </p:cNvSpPr>
          <p:nvPr/>
        </p:nvSpPr>
        <p:spPr>
          <a:xfrm xmlns:a="http://schemas.openxmlformats.org/drawingml/2006/main">
            <a:off x="4634163" y="4189736"/>
            <a:ext cx="3835066" cy="13569"/>
          </a:xfrm>
          <a:custGeom xmlns:a="http://schemas.openxmlformats.org/drawingml/2006/main">
            <a:pathLst>
              <a:path w="4048125" h="14283">
                <a:moveTo>
                  <a:pt x="0" y="6344"/>
                </a:moveTo>
                <a:lnTo>
                  <a:pt x="343017" y="12016"/>
                </a:lnTo>
                <a:lnTo>
                  <a:pt x="675812" y="7468"/>
                </a:lnTo>
                <a:lnTo>
                  <a:pt x="1012754" y="7067"/>
                </a:lnTo>
                <a:lnTo>
                  <a:pt x="1343654" y="623"/>
                </a:lnTo>
                <a:lnTo>
                  <a:pt x="1686719" y="6344"/>
                </a:lnTo>
                <a:lnTo>
                  <a:pt x="2017719" y="0"/>
                </a:lnTo>
                <a:lnTo>
                  <a:pt x="2369346" y="14283"/>
                </a:lnTo>
                <a:lnTo>
                  <a:pt x="2704569" y="12163"/>
                </a:lnTo>
                <a:lnTo>
                  <a:pt x="3030762" y="1011"/>
                </a:lnTo>
                <a:lnTo>
                  <a:pt x="3372249" y="5155"/>
                </a:lnTo>
                <a:lnTo>
                  <a:pt x="3713646" y="9209"/>
                </a:lnTo>
                <a:lnTo>
                  <a:pt x="4048125" y="6344"/>
                </a:lnTo>
              </a:path>
            </a:pathLst>
          </a:custGeom>
          <a:noFill xmlns:a="http://schemas.openxmlformats.org/drawingml/2006/main"/>
          <a:ln xmlns:a="http://schemas.openxmlformats.org/drawingml/2006/main" w="19050">
            <a:solidFill>
              <a:srgbClr val="287B95"/>
            </a:solidFill>
          </a:ln>
        </p:spPr>
      </p:sp>
      <p:sp>
        <p:nvSpPr>
          <p:cNvPr id="22" name="">
            <a:extLst xmlns:a="http://schemas.openxmlformats.org/drawingml/2006/main">
              <a:ext uri="{FF2B5EF4-FFF2-40B4-BE49-F238E27FC236}">
                <a16:creationId xmlns:a16="http://schemas.microsoft.com/office/drawing/2014/main" id="{66250EDE-86AE-480E-A5D8-F19EFD6FAB59}"/>
              </a:ext>
            </a:extLst>
          </p:cNvPr>
          <p:cNvSpPr>
            <a:spLocks xmlns:a="http://schemas.openxmlformats.org/drawingml/2006/main" noGrp="1"/>
          </p:cNvSpPr>
          <p:nvPr/>
        </p:nvSpPr>
        <p:spPr>
          <a:xfrm xmlns:a="http://schemas.openxmlformats.org/drawingml/2006/main">
            <a:off x="8379850" y="4152467"/>
            <a:ext cx="89379" cy="86590"/>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287B95"/>
            </a:solidFill>
          </a:ln>
        </p:spPr>
      </p:sp>
      <p:sp>
        <p:nvSpPr>
          <p:cNvPr id="23" name="">
            <a:extLst xmlns:a="http://schemas.openxmlformats.org/drawingml/2006/main">
              <a:ext uri="{FF2B5EF4-FFF2-40B4-BE49-F238E27FC236}">
                <a16:creationId xmlns:a16="http://schemas.microsoft.com/office/drawing/2014/main" id="{EC25AA9C-B7DD-4ABF-9FB0-C74E225A818D}"/>
              </a:ext>
            </a:extLst>
          </p:cNvPr>
          <p:cNvSpPr>
            <a:spLocks xmlns:a="http://schemas.openxmlformats.org/drawingml/2006/main" noGrp="1"/>
          </p:cNvSpPr>
          <p:nvPr/>
        </p:nvSpPr>
        <p:spPr>
          <a:xfrm xmlns:a="http://schemas.openxmlformats.org/drawingml/2006/main">
            <a:off x="5536532" y="3815715"/>
            <a:ext cx="1940092" cy="3438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852" b="0">
                <a:solidFill>
                  <a:srgbClr val="287B95"/>
                </a:solidFill>
                <a:latin typeface="Chalkboard"/>
                <a:ea typeface="Chalkboard"/>
                <a:cs typeface="Chalkboard"/>
              </a:defRPr>
            </a:pPr>
            <a:r>
              <a:rPr sz="1852" b="0">
                <a:solidFill>
                  <a:srgbClr val="287B95"/>
                </a:solidFill>
                <a:latin typeface="Chalkboard"/>
                <a:ea typeface="Chalkboard"/>
                <a:cs typeface="Chalkboard"/>
              </a:rPr>
              <a:t>+0.0189</a:t>
            </a:r>
          </a:p>
        </p:txBody>
      </p:sp>
      <p:sp>
        <p:nvSpPr>
          <p:cNvPr id="24" name="">
            <a:extLst xmlns:a="http://schemas.openxmlformats.org/drawingml/2006/main">
              <a:ext uri="{FF2B5EF4-FFF2-40B4-BE49-F238E27FC236}">
                <a16:creationId xmlns:a16="http://schemas.microsoft.com/office/drawing/2014/main" id="{DB3F3B81-5393-4D5A-8DA1-4D3611A53281}"/>
              </a:ext>
            </a:extLst>
          </p:cNvPr>
          <p:cNvSpPr>
            <a:spLocks xmlns:a="http://schemas.openxmlformats.org/drawingml/2006/main" noGrp="1"/>
          </p:cNvSpPr>
          <p:nvPr/>
        </p:nvSpPr>
        <p:spPr>
          <a:xfrm xmlns:a="http://schemas.openxmlformats.org/drawingml/2006/main">
            <a:off x="9001626" y="3969544"/>
            <a:ext cx="2138613" cy="4614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351" b="0">
                <a:solidFill>
                  <a:srgbClr val="A45F57"/>
                </a:solidFill>
                <a:latin typeface="Chalkboard"/>
                <a:ea typeface="Chalkboard"/>
                <a:cs typeface="Chalkboard"/>
              </a:defRPr>
            </a:pPr>
            <a:r>
              <a:rPr sz="2351" b="0">
                <a:solidFill>
                  <a:srgbClr val="A45F57"/>
                </a:solidFill>
                <a:latin typeface="Chalkboard"/>
                <a:ea typeface="Chalkboard"/>
                <a:cs typeface="Chalkboard"/>
              </a:rPr>
              <a:t>1.0189</a:t>
            </a:r>
          </a:p>
        </p:txBody>
      </p:sp>
      <p:sp>
        <p:nvSpPr>
          <p:cNvPr id="25" name="">
            <a:extLst xmlns:a="http://schemas.openxmlformats.org/drawingml/2006/main">
              <a:ext uri="{FF2B5EF4-FFF2-40B4-BE49-F238E27FC236}">
                <a16:creationId xmlns:a16="http://schemas.microsoft.com/office/drawing/2014/main" id="{3F89CE0A-6C49-4CD5-BC71-76F27226CFD7}"/>
              </a:ext>
            </a:extLst>
          </p:cNvPr>
          <p:cNvSpPr>
            <a:spLocks xmlns:a="http://schemas.openxmlformats.org/drawingml/2006/main" noGrp="1"/>
          </p:cNvSpPr>
          <p:nvPr/>
        </p:nvSpPr>
        <p:spPr>
          <a:xfrm xmlns:a="http://schemas.openxmlformats.org/drawingml/2006/main">
            <a:off x="835192" y="4657249"/>
            <a:ext cx="1136984" cy="4614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280" b="0">
                <a:solidFill>
                  <a:srgbClr val="272729"/>
                </a:solidFill>
                <a:latin typeface="Chalkboard"/>
                <a:ea typeface="Chalkboard"/>
                <a:cs typeface="Chalkboard"/>
              </a:defRPr>
            </a:pPr>
            <a:r>
              <a:rPr sz="2280" b="0">
                <a:solidFill>
                  <a:srgbClr val="272729"/>
                </a:solidFill>
                <a:latin typeface="Chalkboard"/>
                <a:ea typeface="Chalkboard"/>
                <a:cs typeface="Chalkboard"/>
              </a:rPr>
              <a:t>b₂</a:t>
            </a:r>
          </a:p>
        </p:txBody>
      </p:sp>
      <p:sp>
        <p:nvSpPr>
          <p:cNvPr id="26" name="">
            <a:extLst xmlns:a="http://schemas.openxmlformats.org/drawingml/2006/main">
              <a:ext uri="{FF2B5EF4-FFF2-40B4-BE49-F238E27FC236}">
                <a16:creationId xmlns:a16="http://schemas.microsoft.com/office/drawing/2014/main" id="{A7AB77A0-86E6-4814-90B0-09376963A594}"/>
              </a:ext>
            </a:extLst>
          </p:cNvPr>
          <p:cNvSpPr>
            <a:spLocks xmlns:a="http://schemas.openxmlformats.org/drawingml/2006/main" noGrp="1"/>
          </p:cNvSpPr>
          <p:nvPr/>
        </p:nvSpPr>
        <p:spPr>
          <a:xfrm xmlns:a="http://schemas.openxmlformats.org/drawingml/2006/main">
            <a:off x="2486526" y="4657249"/>
            <a:ext cx="2057400" cy="4614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280" b="0">
                <a:solidFill>
                  <a:srgbClr val="272729"/>
                </a:solidFill>
                <a:latin typeface="Chalkboard"/>
                <a:ea typeface="Chalkboard"/>
                <a:cs typeface="Chalkboard"/>
              </a:defRPr>
            </a:pPr>
            <a:r>
              <a:rPr sz="2280" b="0">
                <a:solidFill>
                  <a:srgbClr val="272729"/>
                </a:solidFill>
                <a:latin typeface="Chalkboard"/>
                <a:ea typeface="Chalkboard"/>
                <a:cs typeface="Chalkboard"/>
              </a:rPr>
              <a:t>0.0000</a:t>
            </a:r>
          </a:p>
        </p:txBody>
      </p:sp>
      <p:sp>
        <p:nvSpPr>
          <p:cNvPr id="27" name="">
            <a:extLst xmlns:a="http://schemas.openxmlformats.org/drawingml/2006/main">
              <a:ext uri="{FF2B5EF4-FFF2-40B4-BE49-F238E27FC236}">
                <a16:creationId xmlns:a16="http://schemas.microsoft.com/office/drawing/2014/main" id="{B854F462-F7D9-40CC-95A2-D0120C90AE4A}"/>
              </a:ext>
            </a:extLst>
          </p:cNvPr>
          <p:cNvSpPr>
            <a:spLocks xmlns:a="http://schemas.openxmlformats.org/drawingml/2006/main" noGrp="1"/>
          </p:cNvSpPr>
          <p:nvPr/>
        </p:nvSpPr>
        <p:spPr>
          <a:xfrm xmlns:a="http://schemas.openxmlformats.org/drawingml/2006/main">
            <a:off x="4634163" y="4875779"/>
            <a:ext cx="3835066" cy="15409"/>
          </a:xfrm>
          <a:custGeom xmlns:a="http://schemas.openxmlformats.org/drawingml/2006/main">
            <a:pathLst>
              <a:path w="4048125" h="16220">
                <a:moveTo>
                  <a:pt x="0" y="8093"/>
                </a:moveTo>
                <a:lnTo>
                  <a:pt x="345470" y="16220"/>
                </a:lnTo>
                <a:lnTo>
                  <a:pt x="681761" y="15166"/>
                </a:lnTo>
                <a:lnTo>
                  <a:pt x="1006244" y="2305"/>
                </a:lnTo>
                <a:lnTo>
                  <a:pt x="1356943" y="15661"/>
                </a:lnTo>
                <a:lnTo>
                  <a:pt x="1694579" y="15954"/>
                </a:lnTo>
                <a:lnTo>
                  <a:pt x="2019252" y="3282"/>
                </a:lnTo>
                <a:lnTo>
                  <a:pt x="2363686" y="10372"/>
                </a:lnTo>
                <a:lnTo>
                  <a:pt x="2706782" y="16125"/>
                </a:lnTo>
                <a:lnTo>
                  <a:pt x="3028001" y="0"/>
                </a:lnTo>
                <a:lnTo>
                  <a:pt x="3365573" y="229"/>
                </a:lnTo>
                <a:lnTo>
                  <a:pt x="3708167" y="5479"/>
                </a:lnTo>
                <a:lnTo>
                  <a:pt x="4048125" y="8093"/>
                </a:lnTo>
              </a:path>
            </a:pathLst>
          </a:custGeom>
          <a:noFill xmlns:a="http://schemas.openxmlformats.org/drawingml/2006/main"/>
          <a:ln xmlns:a="http://schemas.openxmlformats.org/drawingml/2006/main" w="19050">
            <a:solidFill>
              <a:srgbClr val="287B95"/>
            </a:solidFill>
          </a:ln>
        </p:spPr>
      </p:sp>
      <p:sp>
        <p:nvSpPr>
          <p:cNvPr id="28" name="">
            <a:extLst xmlns:a="http://schemas.openxmlformats.org/drawingml/2006/main">
              <a:ext uri="{FF2B5EF4-FFF2-40B4-BE49-F238E27FC236}">
                <a16:creationId xmlns:a16="http://schemas.microsoft.com/office/drawing/2014/main" id="{A3CC2DBB-2379-4AF8-9945-B37127F7EBF8}"/>
              </a:ext>
            </a:extLst>
          </p:cNvPr>
          <p:cNvSpPr>
            <a:spLocks xmlns:a="http://schemas.openxmlformats.org/drawingml/2006/main" noGrp="1"/>
          </p:cNvSpPr>
          <p:nvPr/>
        </p:nvSpPr>
        <p:spPr>
          <a:xfrm xmlns:a="http://schemas.openxmlformats.org/drawingml/2006/main">
            <a:off x="8379850" y="4840172"/>
            <a:ext cx="89379" cy="86590"/>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287B95"/>
            </a:solidFill>
          </a:ln>
        </p:spPr>
      </p:sp>
      <p:sp>
        <p:nvSpPr>
          <p:cNvPr id="29" name="">
            <a:extLst xmlns:a="http://schemas.openxmlformats.org/drawingml/2006/main">
              <a:ext uri="{FF2B5EF4-FFF2-40B4-BE49-F238E27FC236}">
                <a16:creationId xmlns:a16="http://schemas.microsoft.com/office/drawing/2014/main" id="{5DD8089D-25EC-4D27-B120-85BDCC291D01}"/>
              </a:ext>
            </a:extLst>
          </p:cNvPr>
          <p:cNvSpPr>
            <a:spLocks xmlns:a="http://schemas.openxmlformats.org/drawingml/2006/main" noGrp="1"/>
          </p:cNvSpPr>
          <p:nvPr/>
        </p:nvSpPr>
        <p:spPr>
          <a:xfrm xmlns:a="http://schemas.openxmlformats.org/drawingml/2006/main">
            <a:off x="5536532" y="4503420"/>
            <a:ext cx="1940092" cy="3438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852" b="0">
                <a:solidFill>
                  <a:srgbClr val="287B95"/>
                </a:solidFill>
                <a:latin typeface="Chalkboard"/>
                <a:ea typeface="Chalkboard"/>
                <a:cs typeface="Chalkboard"/>
              </a:defRPr>
            </a:pPr>
            <a:r>
              <a:rPr sz="1852" b="0">
                <a:solidFill>
                  <a:srgbClr val="287B95"/>
                </a:solidFill>
                <a:latin typeface="Chalkboard"/>
                <a:ea typeface="Chalkboard"/>
                <a:cs typeface="Chalkboard"/>
              </a:rPr>
              <a:t>+0.0378</a:t>
            </a:r>
          </a:p>
        </p:txBody>
      </p:sp>
      <p:sp>
        <p:nvSpPr>
          <p:cNvPr id="30" name="">
            <a:extLst xmlns:a="http://schemas.openxmlformats.org/drawingml/2006/main">
              <a:ext uri="{FF2B5EF4-FFF2-40B4-BE49-F238E27FC236}">
                <a16:creationId xmlns:a16="http://schemas.microsoft.com/office/drawing/2014/main" id="{33F53403-9163-4F43-9AF8-EE4749F57194}"/>
              </a:ext>
            </a:extLst>
          </p:cNvPr>
          <p:cNvSpPr>
            <a:spLocks xmlns:a="http://schemas.openxmlformats.org/drawingml/2006/main" noGrp="1"/>
          </p:cNvSpPr>
          <p:nvPr/>
        </p:nvSpPr>
        <p:spPr>
          <a:xfrm xmlns:a="http://schemas.openxmlformats.org/drawingml/2006/main">
            <a:off x="9001626" y="4657249"/>
            <a:ext cx="2138613" cy="4614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351" b="0">
                <a:solidFill>
                  <a:srgbClr val="A45F57"/>
                </a:solidFill>
                <a:latin typeface="Chalkboard"/>
                <a:ea typeface="Chalkboard"/>
                <a:cs typeface="Chalkboard"/>
              </a:defRPr>
            </a:pPr>
            <a:r>
              <a:rPr sz="2351" b="0">
                <a:solidFill>
                  <a:srgbClr val="A45F57"/>
                </a:solidFill>
                <a:latin typeface="Chalkboard"/>
                <a:ea typeface="Chalkboard"/>
                <a:cs typeface="Chalkboard"/>
              </a:rPr>
              <a:t>0.0378</a:t>
            </a:r>
          </a:p>
        </p:txBody>
      </p:sp>
      <p:sp>
        <p:nvSpPr>
          <p:cNvPr id="9200" name="matched-title">
            <a:extLst xmlns:a="http://schemas.openxmlformats.org/drawingml/2006/main">
              <a:ext uri="{FF2B5EF4-FFF2-40B4-BE49-F238E27FC236}">
                <a16:creationId xmlns:a16="http://schemas.microsoft.com/office/drawing/2014/main" id="{8D41E96D-8677-4875-A9F7-7B03DB406B11}"/>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Four parameters take a step</a:t>
            </a:r>
          </a:p>
        </p:txBody>
      </p:sp>
      <p:sp>
        <p:nvSpPr>
          <p:cNvPr id="9201" name="matched-subtitle">
            <a:extLst xmlns:a="http://schemas.openxmlformats.org/drawingml/2006/main">
              <a:ext uri="{FF2B5EF4-FFF2-40B4-BE49-F238E27FC236}">
                <a16:creationId xmlns:a16="http://schemas.microsoft.com/office/drawing/2014/main" id="{E74FE4A0-DD9A-4688-8997-91BFA3BF5572}"/>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Learning rate η = 0.1. Every gradient is negative, so each parameter increases.</a:t>
            </a:r>
          </a:p>
        </p:txBody>
      </p:sp>
      <p:sp>
        <p:nvSpPr>
          <p:cNvPr id="9202" name="matched-footer">
            <a:extLst xmlns:a="http://schemas.openxmlformats.org/drawingml/2006/main">
              <a:ext uri="{FF2B5EF4-FFF2-40B4-BE49-F238E27FC236}">
                <a16:creationId xmlns:a16="http://schemas.microsoft.com/office/drawing/2014/main" id="{DA752B92-C95B-4E6D-BEBE-F1DC7759C735}"/>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All updates use gradients from the same forward pass, before any weights change.</a:t>
            </a:r>
          </a:p>
        </p:txBody>
      </p:sp>
      <p:sp>
        <p:nvSpPr>
          <p:cNvPr id="9203" name="matched-page">
            <a:extLst xmlns:a="http://schemas.openxmlformats.org/drawingml/2006/main">
              <a:ext uri="{FF2B5EF4-FFF2-40B4-BE49-F238E27FC236}">
                <a16:creationId xmlns:a16="http://schemas.microsoft.com/office/drawing/2014/main" id="{67D9C70F-8E6F-4040-B396-636EDD803D0D}"/>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13</a:t>
            </a:r>
          </a:p>
        </p:txBody>
      </p:sp>
    </p:spTree>
    <p:extLst>
      <p:ext uri="{BB962C8B-B14F-4D97-AF65-F5344CB8AC3E}">
        <p14:creationId xmlns:p14="http://schemas.microsoft.com/office/powerpoint/2010/main" val="1059371978"/>
      </p:ext>
    </p:extLst>
  </p:cSld>
</p:sld>
</file>

<file path=ppt/slides/slide9.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5" name="">
            <a:extLst xmlns:a="http://schemas.openxmlformats.org/drawingml/2006/main">
              <a:ext uri="{FF2B5EF4-FFF2-40B4-BE49-F238E27FC236}">
                <a16:creationId xmlns:a16="http://schemas.microsoft.com/office/drawing/2014/main" id="{1FB143EE-95EB-4114-A689-5D30AF3411BB}"/>
              </a:ext>
            </a:extLst>
          </p:cNvPr>
          <p:cNvSpPr>
            <a:spLocks xmlns:a="http://schemas.openxmlformats.org/drawingml/2006/main" noGrp="1"/>
          </p:cNvSpPr>
          <p:nvPr/>
        </p:nvSpPr>
        <p:spPr>
          <a:xfrm xmlns:a="http://schemas.openxmlformats.org/drawingml/2006/main">
            <a:off x="7602955" y="2304574"/>
            <a:ext cx="3537284" cy="4705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066" b="0">
                <a:solidFill>
                  <a:srgbClr val="616069"/>
                </a:solidFill>
                <a:latin typeface="Chalkboard"/>
                <a:ea typeface="Chalkboard"/>
                <a:cs typeface="Chalkboard"/>
              </a:defRPr>
            </a:pPr>
            <a:r>
              <a:rPr sz="2066" b="0">
                <a:solidFill>
                  <a:srgbClr val="616069"/>
                </a:solidFill>
                <a:latin typeface="Chalkboard"/>
                <a:ea typeface="Chalkboard"/>
                <a:cs typeface="Chalkboard"/>
              </a:rPr>
              <a:t>Spam probability</a:t>
            </a:r>
          </a:p>
        </p:txBody>
      </p:sp>
      <p:sp>
        <p:nvSpPr>
          <p:cNvPr id="6" name="">
            <a:extLst xmlns:a="http://schemas.openxmlformats.org/drawingml/2006/main">
              <a:ext uri="{FF2B5EF4-FFF2-40B4-BE49-F238E27FC236}">
                <a16:creationId xmlns:a16="http://schemas.microsoft.com/office/drawing/2014/main" id="{BB0419EA-566A-423F-BBB4-11BA359B49F9}"/>
              </a:ext>
            </a:extLst>
          </p:cNvPr>
          <p:cNvSpPr>
            <a:spLocks xmlns:a="http://schemas.openxmlformats.org/drawingml/2006/main" noGrp="1"/>
          </p:cNvSpPr>
          <p:nvPr/>
        </p:nvSpPr>
        <p:spPr>
          <a:xfrm xmlns:a="http://schemas.openxmlformats.org/drawingml/2006/main">
            <a:off x="7684168" y="3037522"/>
            <a:ext cx="3302668" cy="597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3135" b="0">
                <a:solidFill>
                  <a:srgbClr val="A45F57"/>
                </a:solidFill>
                <a:latin typeface="Chalkboard"/>
                <a:ea typeface="Chalkboard"/>
                <a:cs typeface="Chalkboard"/>
              </a:defRPr>
            </a:pPr>
            <a:r>
              <a:rPr sz="3135" b="0">
                <a:solidFill>
                  <a:srgbClr val="A45F57"/>
                </a:solidFill>
                <a:latin typeface="Chalkboard"/>
                <a:ea typeface="Chalkboard"/>
                <a:cs typeface="Chalkboard"/>
              </a:rPr>
              <a:t>0.6225</a:t>
            </a:r>
          </a:p>
        </p:txBody>
      </p:sp>
      <p:sp>
        <p:nvSpPr>
          <p:cNvPr id="7" name="">
            <a:extLst xmlns:a="http://schemas.openxmlformats.org/drawingml/2006/main">
              <a:ext uri="{FF2B5EF4-FFF2-40B4-BE49-F238E27FC236}">
                <a16:creationId xmlns:a16="http://schemas.microsoft.com/office/drawing/2014/main" id="{0D7D3BE8-FE8B-4DDD-858B-AA41AADC21FE}"/>
              </a:ext>
            </a:extLst>
          </p:cNvPr>
          <p:cNvSpPr>
            <a:spLocks xmlns:a="http://schemas.openxmlformats.org/drawingml/2006/main" noGrp="1"/>
          </p:cNvSpPr>
          <p:nvPr/>
        </p:nvSpPr>
        <p:spPr>
          <a:xfrm xmlns:a="http://schemas.openxmlformats.org/drawingml/2006/main">
            <a:off x="7945855" y="3834740"/>
            <a:ext cx="2580774" cy="16045"/>
          </a:xfrm>
          <a:custGeom xmlns:a="http://schemas.openxmlformats.org/drawingml/2006/main">
            <a:pathLst>
              <a:path w="2724150" h="16889">
                <a:moveTo>
                  <a:pt x="0" y="8549"/>
                </a:moveTo>
                <a:lnTo>
                  <a:pt x="221607" y="3144"/>
                </a:lnTo>
                <a:lnTo>
                  <a:pt x="445476" y="0"/>
                </a:lnTo>
                <a:lnTo>
                  <a:pt x="683318" y="10830"/>
                </a:lnTo>
                <a:lnTo>
                  <a:pt x="900802" y="1301"/>
                </a:lnTo>
                <a:lnTo>
                  <a:pt x="1143402" y="16889"/>
                </a:lnTo>
                <a:lnTo>
                  <a:pt x="1364601" y="11075"/>
                </a:lnTo>
                <a:lnTo>
                  <a:pt x="1585860" y="5322"/>
                </a:lnTo>
                <a:lnTo>
                  <a:pt x="1813001" y="5451"/>
                </a:lnTo>
                <a:lnTo>
                  <a:pt x="2050815" y="16252"/>
                </a:lnTo>
                <a:lnTo>
                  <a:pt x="2269161" y="7586"/>
                </a:lnTo>
                <a:lnTo>
                  <a:pt x="2502995" y="14407"/>
                </a:lnTo>
                <a:lnTo>
                  <a:pt x="2724150" y="8549"/>
                </a:lnTo>
              </a:path>
            </a:pathLst>
          </a:custGeom>
          <a:noFill xmlns:a="http://schemas.openxmlformats.org/drawingml/2006/main"/>
          <a:ln xmlns:a="http://schemas.openxmlformats.org/drawingml/2006/main" w="19050">
            <a:solidFill>
              <a:srgbClr val="287B95"/>
            </a:solidFill>
          </a:ln>
        </p:spPr>
      </p:sp>
      <p:sp>
        <p:nvSpPr>
          <p:cNvPr id="8" name="">
            <a:extLst xmlns:a="http://schemas.openxmlformats.org/drawingml/2006/main">
              <a:ext uri="{FF2B5EF4-FFF2-40B4-BE49-F238E27FC236}">
                <a16:creationId xmlns:a16="http://schemas.microsoft.com/office/drawing/2014/main" id="{9949FB3A-15DD-4724-8DC7-FC078F818FE2}"/>
              </a:ext>
            </a:extLst>
          </p:cNvPr>
          <p:cNvSpPr>
            <a:spLocks xmlns:a="http://schemas.openxmlformats.org/drawingml/2006/main" noGrp="1"/>
          </p:cNvSpPr>
          <p:nvPr/>
        </p:nvSpPr>
        <p:spPr>
          <a:xfrm xmlns:a="http://schemas.openxmlformats.org/drawingml/2006/main">
            <a:off x="10437250" y="3799566"/>
            <a:ext cx="89379" cy="86590"/>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287B95"/>
            </a:solidFill>
          </a:ln>
        </p:spPr>
      </p:sp>
      <p:sp>
        <p:nvSpPr>
          <p:cNvPr id="9" name="">
            <a:extLst xmlns:a="http://schemas.openxmlformats.org/drawingml/2006/main">
              <a:ext uri="{FF2B5EF4-FFF2-40B4-BE49-F238E27FC236}">
                <a16:creationId xmlns:a16="http://schemas.microsoft.com/office/drawing/2014/main" id="{DDB2302E-5927-4D2F-B9F8-3D52D3FD263D}"/>
              </a:ext>
            </a:extLst>
          </p:cNvPr>
          <p:cNvSpPr>
            <a:spLocks xmlns:a="http://schemas.openxmlformats.org/drawingml/2006/main" noGrp="1"/>
          </p:cNvSpPr>
          <p:nvPr/>
        </p:nvSpPr>
        <p:spPr>
          <a:xfrm xmlns:a="http://schemas.openxmlformats.org/drawingml/2006/main">
            <a:off x="7684168" y="4132421"/>
            <a:ext cx="3302668" cy="597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3135" b="0">
                <a:solidFill>
                  <a:srgbClr val="287B95"/>
                </a:solidFill>
                <a:latin typeface="Chalkboard"/>
                <a:ea typeface="Chalkboard"/>
                <a:cs typeface="Chalkboard"/>
              </a:defRPr>
            </a:pPr>
            <a:r>
              <a:rPr sz="3135" b="0">
                <a:solidFill>
                  <a:srgbClr val="287B95"/>
                </a:solidFill>
                <a:latin typeface="Chalkboard"/>
                <a:ea typeface="Chalkboard"/>
                <a:cs typeface="Chalkboard"/>
              </a:rPr>
              <a:t>0.6512</a:t>
            </a:r>
          </a:p>
        </p:txBody>
      </p:sp>
      <p:sp>
        <p:nvSpPr>
          <p:cNvPr id="10" name="">
            <a:extLst xmlns:a="http://schemas.openxmlformats.org/drawingml/2006/main">
              <a:ext uri="{FF2B5EF4-FFF2-40B4-BE49-F238E27FC236}">
                <a16:creationId xmlns:a16="http://schemas.microsoft.com/office/drawing/2014/main" id="{75B11B69-0010-460A-A8EC-42E0E5E98B26}"/>
              </a:ext>
            </a:extLst>
          </p:cNvPr>
          <p:cNvSpPr>
            <a:spLocks xmlns:a="http://schemas.openxmlformats.org/drawingml/2006/main" noGrp="1"/>
          </p:cNvSpPr>
          <p:nvPr/>
        </p:nvSpPr>
        <p:spPr>
          <a:xfrm xmlns:a="http://schemas.openxmlformats.org/drawingml/2006/main">
            <a:off x="7584908" y="4983004"/>
            <a:ext cx="3546308" cy="4343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924" b="0">
                <a:solidFill>
                  <a:srgbClr val="287B95"/>
                </a:solidFill>
                <a:latin typeface="Chalkboard"/>
                <a:ea typeface="Chalkboard"/>
                <a:cs typeface="Chalkboard"/>
              </a:defRPr>
            </a:pPr>
            <a:r>
              <a:rPr sz="1924" b="0">
                <a:solidFill>
                  <a:srgbClr val="287B95"/>
                </a:solidFill>
                <a:latin typeface="Chalkboard"/>
                <a:ea typeface="Chalkboard"/>
                <a:cs typeface="Chalkboard"/>
              </a:rPr>
              <a:t>Closer to y = 1</a:t>
            </a:r>
          </a:p>
        </p:txBody>
      </p:sp>
      <p:graphicFrame>
        <p:nvGraphicFramePr>
          <p:cNvPr id="29" name="Chart"/>
          <p:cNvGraphicFramePr/>
          <p:nvPr/>
        </p:nvGraphicFramePr>
        <p:xfrm>
          <a:off xmlns:a="http://schemas.openxmlformats.org/drawingml/2006/main" x="808121" y="2087404"/>
          <a:ext xmlns:a="http://schemas.openxmlformats.org/drawingml/2006/main" cx="5955632" cy="3393281"/>
        </p:xfrm>
        <a:graphic xmlns:a="http://schemas.openxmlformats.org/drawingml/2006/main">
          <a:graphicData uri="http://schemas.openxmlformats.org/drawingml/2006/chart">
            <c:chart xmlns:r="http://schemas.openxmlformats.org/officeDocument/2006/relationships" xmlns:c="http://schemas.openxmlformats.org/drawingml/2006/chart" r:id="Rea5913d515644b3a"/>
          </a:graphicData>
        </a:graphic>
      </p:graphicFrame>
      <p:sp>
        <p:nvSpPr>
          <p:cNvPr id="9200" name="matched-title">
            <a:extLst xmlns:a="http://schemas.openxmlformats.org/drawingml/2006/main">
              <a:ext uri="{FF2B5EF4-FFF2-40B4-BE49-F238E27FC236}">
                <a16:creationId xmlns:a16="http://schemas.microsoft.com/office/drawing/2014/main" id="{B1EC9A91-87F3-4F87-88B9-9B63355416D9}"/>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The update lowers the loss</a:t>
            </a:r>
          </a:p>
        </p:txBody>
      </p:sp>
      <p:sp>
        <p:nvSpPr>
          <p:cNvPr id="9201" name="matched-subtitle">
            <a:extLst xmlns:a="http://schemas.openxmlformats.org/drawingml/2006/main">
              <a:ext uri="{FF2B5EF4-FFF2-40B4-BE49-F238E27FC236}">
                <a16:creationId xmlns:a16="http://schemas.microsoft.com/office/drawing/2014/main" id="{6D79BE97-038E-4120-A2D8-0396629CDCF1}"/>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The same email now receives a higher spam probability.</a:t>
            </a:r>
          </a:p>
        </p:txBody>
      </p:sp>
      <p:sp>
        <p:nvSpPr>
          <p:cNvPr id="9202" name="matched-footer">
            <a:extLst xmlns:a="http://schemas.openxmlformats.org/drawingml/2006/main">
              <a:ext uri="{FF2B5EF4-FFF2-40B4-BE49-F238E27FC236}">
                <a16:creationId xmlns:a16="http://schemas.microsoft.com/office/drawing/2014/main" id="{8D5BBCD5-6864-4A38-8297-9850AF4A448F}"/>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Improvement on this training example does not establish performance on unseen emails.</a:t>
            </a:r>
          </a:p>
        </p:txBody>
      </p:sp>
      <p:sp>
        <p:nvSpPr>
          <p:cNvPr id="9203" name="matched-page">
            <a:extLst xmlns:a="http://schemas.openxmlformats.org/drawingml/2006/main">
              <a:ext uri="{FF2B5EF4-FFF2-40B4-BE49-F238E27FC236}">
                <a16:creationId xmlns:a16="http://schemas.microsoft.com/office/drawing/2014/main" id="{F63727D5-FB7F-4EAE-85EF-C36B0C4B1643}"/>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15</a:t>
            </a:r>
          </a:p>
        </p:txBody>
      </p:sp>
    </p:spTree>
    <p:extLst>
      <p:ext uri="{BB962C8B-B14F-4D97-AF65-F5344CB8AC3E}">
        <p14:creationId xmlns:p14="http://schemas.microsoft.com/office/powerpoint/2010/main" val="924707155"/>
      </p:ext>
    </p:extLst>
  </p:cSld>
</p:sld>
</file>

<file path=ppt/slides/slide10.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4" name="">
            <a:extLst xmlns:a="http://schemas.openxmlformats.org/drawingml/2006/main">
              <a:ext uri="{FF2B5EF4-FFF2-40B4-BE49-F238E27FC236}">
                <a16:creationId xmlns:a16="http://schemas.microsoft.com/office/drawing/2014/main" id="{F079FE7F-C935-4551-AA23-92FA9846FF37}"/>
              </a:ext>
            </a:extLst>
          </p:cNvPr>
          <p:cNvSpPr>
            <a:spLocks xmlns:a="http://schemas.openxmlformats.org/drawingml/2006/main" noGrp="1"/>
          </p:cNvSpPr>
          <p:nvPr/>
        </p:nvSpPr>
        <p:spPr>
          <a:xfrm xmlns:a="http://schemas.openxmlformats.org/drawingml/2006/main">
            <a:off x="907382" y="1815941"/>
            <a:ext cx="2914650"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351" b="0">
                <a:solidFill>
                  <a:srgbClr val="287B95"/>
                </a:solidFill>
                <a:latin typeface="Chalkboard"/>
                <a:ea typeface="Chalkboard"/>
                <a:cs typeface="Chalkboard"/>
              </a:defRPr>
            </a:pPr>
            <a:r>
              <a:rPr sz="2351" b="0">
                <a:solidFill>
                  <a:srgbClr val="287B95"/>
                </a:solidFill>
                <a:latin typeface="Chalkboard"/>
                <a:ea typeface="Chalkboard"/>
                <a:cs typeface="Chalkboard"/>
              </a:rPr>
              <a:t>η = 0.1</a:t>
            </a:r>
          </a:p>
        </p:txBody>
      </p:sp>
      <p:sp>
        <p:nvSpPr>
          <p:cNvPr id="6" name="">
            <a:extLst xmlns:a="http://schemas.openxmlformats.org/drawingml/2006/main">
              <a:ext uri="{FF2B5EF4-FFF2-40B4-BE49-F238E27FC236}">
                <a16:creationId xmlns:a16="http://schemas.microsoft.com/office/drawing/2014/main" id="{3D7D9AF2-85FB-451B-B036-4505DA1B137D}"/>
              </a:ext>
            </a:extLst>
          </p:cNvPr>
          <p:cNvSpPr>
            <a:spLocks xmlns:a="http://schemas.openxmlformats.org/drawingml/2006/main" noGrp="1"/>
          </p:cNvSpPr>
          <p:nvPr/>
        </p:nvSpPr>
        <p:spPr>
          <a:xfrm xmlns:a="http://schemas.openxmlformats.org/drawingml/2006/main">
            <a:off x="772026" y="5136832"/>
            <a:ext cx="3203408" cy="370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24" b="0">
                <a:solidFill>
                  <a:srgbClr val="287B95"/>
                </a:solidFill>
                <a:latin typeface="Chalkboard"/>
                <a:ea typeface="Chalkboard"/>
                <a:cs typeface="Chalkboard"/>
              </a:defRPr>
            </a:pPr>
            <a:r>
              <a:rPr sz="1924" b="0">
                <a:solidFill>
                  <a:srgbClr val="287B95"/>
                </a:solidFill>
                <a:latin typeface="Chalkboard"/>
                <a:ea typeface="Chalkboard"/>
                <a:cs typeface="Chalkboard"/>
              </a:rPr>
              <a:t>Small step</a:t>
            </a:r>
          </a:p>
        </p:txBody>
      </p:sp>
      <p:sp>
        <p:nvSpPr>
          <p:cNvPr id="7" name="">
            <a:extLst xmlns:a="http://schemas.openxmlformats.org/drawingml/2006/main">
              <a:ext uri="{FF2B5EF4-FFF2-40B4-BE49-F238E27FC236}">
                <a16:creationId xmlns:a16="http://schemas.microsoft.com/office/drawing/2014/main" id="{F9E740ED-8AED-4DB1-AD79-39B6307B50B9}"/>
              </a:ext>
            </a:extLst>
          </p:cNvPr>
          <p:cNvSpPr>
            <a:spLocks xmlns:a="http://schemas.openxmlformats.org/drawingml/2006/main" noGrp="1"/>
          </p:cNvSpPr>
          <p:nvPr/>
        </p:nvSpPr>
        <p:spPr>
          <a:xfrm xmlns:a="http://schemas.openxmlformats.org/drawingml/2006/main">
            <a:off x="4652211" y="1815941"/>
            <a:ext cx="2914650"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351" b="0">
                <a:solidFill>
                  <a:srgbClr val="287B95"/>
                </a:solidFill>
                <a:latin typeface="Chalkboard"/>
                <a:ea typeface="Chalkboard"/>
                <a:cs typeface="Chalkboard"/>
              </a:defRPr>
            </a:pPr>
            <a:r>
              <a:rPr sz="2351" b="0">
                <a:solidFill>
                  <a:srgbClr val="287B95"/>
                </a:solidFill>
                <a:latin typeface="Chalkboard"/>
                <a:ea typeface="Chalkboard"/>
                <a:cs typeface="Chalkboard"/>
              </a:rPr>
              <a:t>η = 0.5</a:t>
            </a:r>
          </a:p>
        </p:txBody>
      </p:sp>
      <p:sp>
        <p:nvSpPr>
          <p:cNvPr id="9" name="">
            <a:extLst xmlns:a="http://schemas.openxmlformats.org/drawingml/2006/main">
              <a:ext uri="{FF2B5EF4-FFF2-40B4-BE49-F238E27FC236}">
                <a16:creationId xmlns:a16="http://schemas.microsoft.com/office/drawing/2014/main" id="{9C2E0EA3-685D-4207-B565-EFED646AE766}"/>
              </a:ext>
            </a:extLst>
          </p:cNvPr>
          <p:cNvSpPr>
            <a:spLocks xmlns:a="http://schemas.openxmlformats.org/drawingml/2006/main" noGrp="1"/>
          </p:cNvSpPr>
          <p:nvPr/>
        </p:nvSpPr>
        <p:spPr>
          <a:xfrm xmlns:a="http://schemas.openxmlformats.org/drawingml/2006/main">
            <a:off x="4516855" y="5136832"/>
            <a:ext cx="3203408" cy="370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24" b="0">
                <a:solidFill>
                  <a:srgbClr val="287B95"/>
                </a:solidFill>
                <a:latin typeface="Chalkboard"/>
                <a:ea typeface="Chalkboard"/>
                <a:cs typeface="Chalkboard"/>
              </a:defRPr>
            </a:pPr>
            <a:r>
              <a:rPr sz="1924" b="0">
                <a:solidFill>
                  <a:srgbClr val="287B95"/>
                </a:solidFill>
                <a:latin typeface="Chalkboard"/>
                <a:ea typeface="Chalkboard"/>
                <a:cs typeface="Chalkboard"/>
              </a:rPr>
              <a:t>At the minimum</a:t>
            </a:r>
          </a:p>
        </p:txBody>
      </p:sp>
      <p:sp>
        <p:nvSpPr>
          <p:cNvPr id="10" name="">
            <a:extLst xmlns:a="http://schemas.openxmlformats.org/drawingml/2006/main">
              <a:ext uri="{FF2B5EF4-FFF2-40B4-BE49-F238E27FC236}">
                <a16:creationId xmlns:a16="http://schemas.microsoft.com/office/drawing/2014/main" id="{3FBC4168-E759-4890-BE6C-8E124AE3EBBB}"/>
              </a:ext>
            </a:extLst>
          </p:cNvPr>
          <p:cNvSpPr>
            <a:spLocks xmlns:a="http://schemas.openxmlformats.org/drawingml/2006/main" noGrp="1"/>
          </p:cNvSpPr>
          <p:nvPr/>
        </p:nvSpPr>
        <p:spPr>
          <a:xfrm xmlns:a="http://schemas.openxmlformats.org/drawingml/2006/main">
            <a:off x="8397039" y="1815941"/>
            <a:ext cx="2914650"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351" b="0">
                <a:solidFill>
                  <a:srgbClr val="A45F57"/>
                </a:solidFill>
                <a:latin typeface="Chalkboard"/>
                <a:ea typeface="Chalkboard"/>
                <a:cs typeface="Chalkboard"/>
              </a:defRPr>
            </a:pPr>
            <a:r>
              <a:rPr sz="2351" b="0">
                <a:solidFill>
                  <a:srgbClr val="A45F57"/>
                </a:solidFill>
                <a:latin typeface="Chalkboard"/>
                <a:ea typeface="Chalkboard"/>
                <a:cs typeface="Chalkboard"/>
              </a:rPr>
              <a:t>η = 1.1</a:t>
            </a:r>
          </a:p>
        </p:txBody>
      </p:sp>
      <p:sp>
        <p:nvSpPr>
          <p:cNvPr id="12" name="">
            <a:extLst xmlns:a="http://schemas.openxmlformats.org/drawingml/2006/main">
              <a:ext uri="{FF2B5EF4-FFF2-40B4-BE49-F238E27FC236}">
                <a16:creationId xmlns:a16="http://schemas.microsoft.com/office/drawing/2014/main" id="{8DF77EB6-D78A-4B1D-8FD7-AF24F0C6968A}"/>
              </a:ext>
            </a:extLst>
          </p:cNvPr>
          <p:cNvSpPr>
            <a:spLocks xmlns:a="http://schemas.openxmlformats.org/drawingml/2006/main" noGrp="1"/>
          </p:cNvSpPr>
          <p:nvPr/>
        </p:nvSpPr>
        <p:spPr>
          <a:xfrm xmlns:a="http://schemas.openxmlformats.org/drawingml/2006/main">
            <a:off x="8261684" y="5136832"/>
            <a:ext cx="3203408" cy="370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24" b="0">
                <a:solidFill>
                  <a:srgbClr val="A45F57"/>
                </a:solidFill>
                <a:latin typeface="Chalkboard"/>
                <a:ea typeface="Chalkboard"/>
                <a:cs typeface="Chalkboard"/>
              </a:defRPr>
            </a:pPr>
            <a:r>
              <a:rPr sz="1924" b="0">
                <a:solidFill>
                  <a:srgbClr val="A45F57"/>
                </a:solidFill>
                <a:latin typeface="Chalkboard"/>
                <a:ea typeface="Chalkboard"/>
                <a:cs typeface="Chalkboard"/>
              </a:rPr>
              <a:t>Overshoots</a:t>
            </a:r>
          </a:p>
        </p:txBody>
      </p:sp>
      <p:graphicFrame>
        <p:nvGraphicFramePr>
          <p:cNvPr id="33" name="Step-size chart 1"/>
          <p:cNvGraphicFramePr/>
          <p:nvPr/>
        </p:nvGraphicFramePr>
        <p:xfrm>
          <a:off xmlns:a="http://schemas.openxmlformats.org/drawingml/2006/main" x="627647" y="2322671"/>
          <a:ext xmlns:a="http://schemas.openxmlformats.org/drawingml/2006/main" cx="3492166" cy="2759869"/>
        </p:xfrm>
        <a:graphic xmlns:a="http://schemas.openxmlformats.org/drawingml/2006/main">
          <a:graphicData uri="http://schemas.openxmlformats.org/drawingml/2006/chart">
            <c:chart xmlns:r="http://schemas.openxmlformats.org/officeDocument/2006/relationships" xmlns:c="http://schemas.openxmlformats.org/drawingml/2006/chart" r:id="R69002f6add6f4afe"/>
          </a:graphicData>
        </a:graphic>
      </p:graphicFrame>
      <p:graphicFrame>
        <p:nvGraphicFramePr>
          <p:cNvPr id="34" name="Step-size chart 2"/>
          <p:cNvGraphicFramePr/>
          <p:nvPr/>
        </p:nvGraphicFramePr>
        <p:xfrm>
          <a:off xmlns:a="http://schemas.openxmlformats.org/drawingml/2006/main" x="4372476" y="2322671"/>
          <a:ext xmlns:a="http://schemas.openxmlformats.org/drawingml/2006/main" cx="3492166" cy="2759869"/>
        </p:xfrm>
        <a:graphic xmlns:a="http://schemas.openxmlformats.org/drawingml/2006/main">
          <a:graphicData uri="http://schemas.openxmlformats.org/drawingml/2006/chart">
            <c:chart xmlns:r="http://schemas.openxmlformats.org/officeDocument/2006/relationships" xmlns:c="http://schemas.openxmlformats.org/drawingml/2006/chart" r:id="R567b0a1429344397"/>
          </a:graphicData>
        </a:graphic>
      </p:graphicFrame>
      <p:graphicFrame>
        <p:nvGraphicFramePr>
          <p:cNvPr id="35" name="Step-size chart 3"/>
          <p:cNvGraphicFramePr/>
          <p:nvPr/>
        </p:nvGraphicFramePr>
        <p:xfrm>
          <a:off xmlns:a="http://schemas.openxmlformats.org/drawingml/2006/main" x="8117305" y="2322671"/>
          <a:ext xmlns:a="http://schemas.openxmlformats.org/drawingml/2006/main" cx="3492166" cy="2759869"/>
        </p:xfrm>
        <a:graphic xmlns:a="http://schemas.openxmlformats.org/drawingml/2006/main">
          <a:graphicData uri="http://schemas.openxmlformats.org/drawingml/2006/chart">
            <c:chart xmlns:r="http://schemas.openxmlformats.org/officeDocument/2006/relationships" xmlns:c="http://schemas.openxmlformats.org/drawingml/2006/chart" r:id="Rf228c010c2e0483b"/>
          </a:graphicData>
        </a:graphic>
      </p:graphicFrame>
      <p:sp>
        <p:nvSpPr>
          <p:cNvPr id="9200" name="matched-title">
            <a:extLst xmlns:a="http://schemas.openxmlformats.org/drawingml/2006/main">
              <a:ext uri="{FF2B5EF4-FFF2-40B4-BE49-F238E27FC236}">
                <a16:creationId xmlns:a16="http://schemas.microsoft.com/office/drawing/2014/main" id="{D7E8A103-7B44-4923-AD23-FD87DCFFAF9D}"/>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Step size changes the path</a:t>
            </a:r>
          </a:p>
        </p:txBody>
      </p:sp>
      <p:sp>
        <p:nvSpPr>
          <p:cNvPr id="9201" name="matched-subtitle">
            <a:extLst xmlns:a="http://schemas.openxmlformats.org/drawingml/2006/main">
              <a:ext uri="{FF2B5EF4-FFF2-40B4-BE49-F238E27FC236}">
                <a16:creationId xmlns:a16="http://schemas.microsoft.com/office/drawing/2014/main" id="{66F65FFA-32FE-41D7-988C-A7760DBF5CF4}"/>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Same loss L(w) = w², same start w = 1, three learning rates.</a:t>
            </a:r>
          </a:p>
        </p:txBody>
      </p:sp>
      <p:sp>
        <p:nvSpPr>
          <p:cNvPr id="9202" name="matched-footer">
            <a:extLst xmlns:a="http://schemas.openxmlformats.org/drawingml/2006/main">
              <a:ext uri="{FF2B5EF4-FFF2-40B4-BE49-F238E27FC236}">
                <a16:creationId xmlns:a16="http://schemas.microsoft.com/office/drawing/2014/main" id="{6413E1E9-3144-4776-AEA2-12FE0F6BD0BF}"/>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One update: w = 0.8 (L = 0.64), w = 0 (L = 0), or w = −1.2 (L = 1.44).</a:t>
            </a:r>
          </a:p>
        </p:txBody>
      </p:sp>
      <p:sp>
        <p:nvSpPr>
          <p:cNvPr id="9203" name="matched-page">
            <a:extLst xmlns:a="http://schemas.openxmlformats.org/drawingml/2006/main">
              <a:ext uri="{FF2B5EF4-FFF2-40B4-BE49-F238E27FC236}">
                <a16:creationId xmlns:a16="http://schemas.microsoft.com/office/drawing/2014/main" id="{7458B126-F3E9-4B44-BE52-AD3A506C8E21}"/>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16</a:t>
            </a:r>
          </a:p>
        </p:txBody>
      </p:sp>
    </p:spTree>
    <p:extLst>
      <p:ext uri="{BB962C8B-B14F-4D97-AF65-F5344CB8AC3E}">
        <p14:creationId xmlns:p14="http://schemas.microsoft.com/office/powerpoint/2010/main" val="1267007366"/>
      </p:ext>
    </p:extLst>
  </p:cSld>
</p:sld>
</file>

<file path=ppt/slides/slide11.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4" name="">
            <a:extLst xmlns:a="http://schemas.openxmlformats.org/drawingml/2006/main">
              <a:ext uri="{FF2B5EF4-FFF2-40B4-BE49-F238E27FC236}">
                <a16:creationId xmlns:a16="http://schemas.microsoft.com/office/drawing/2014/main" id="{FEA17A6F-D7AA-4B71-95E4-9E289D4E95F4}"/>
              </a:ext>
            </a:extLst>
          </p:cNvPr>
          <p:cNvSpPr>
            <a:spLocks xmlns:a="http://schemas.openxmlformats.org/drawingml/2006/main" noGrp="1"/>
          </p:cNvSpPr>
          <p:nvPr/>
        </p:nvSpPr>
        <p:spPr>
          <a:xfrm xmlns:a="http://schemas.openxmlformats.org/drawingml/2006/main">
            <a:off x="880311" y="2186940"/>
            <a:ext cx="1687429" cy="579120"/>
          </a:xfrm>
          <a:custGeom xmlns:a="http://schemas.openxmlformats.org/drawingml/2006/main">
            <a:pathLst>
              <a:path w="1781175" h="609600">
                <a:moveTo>
                  <a:pt x="28575" y="19050"/>
                </a:moveTo>
                <a:lnTo>
                  <a:pt x="626269" y="0"/>
                </a:lnTo>
                <a:lnTo>
                  <a:pt x="1278255" y="19050"/>
                </a:lnTo>
                <a:lnTo>
                  <a:pt x="1762125" y="9525"/>
                </a:lnTo>
                <a:lnTo>
                  <a:pt x="1781175" y="304800"/>
                </a:lnTo>
                <a:lnTo>
                  <a:pt x="1771650" y="590550"/>
                </a:lnTo>
                <a:lnTo>
                  <a:pt x="1154906" y="609600"/>
                </a:lnTo>
                <a:lnTo>
                  <a:pt x="538163" y="590550"/>
                </a:lnTo>
                <a:lnTo>
                  <a:pt x="9525" y="600075"/>
                </a:lnTo>
                <a:lnTo>
                  <a:pt x="0" y="304800"/>
                </a:lnTo>
                <a:lnTo>
                  <a:pt x="28575" y="19050"/>
                </a:lnTo>
                <a:close/>
              </a:path>
            </a:pathLst>
          </a:custGeom>
          <a:noFill xmlns:a="http://schemas.openxmlformats.org/drawingml/2006/main"/>
          <a:ln xmlns:a="http://schemas.openxmlformats.org/drawingml/2006/main" w="15240">
            <a:solidFill>
              <a:srgbClr val="287B95"/>
            </a:solidFill>
          </a:ln>
        </p:spPr>
      </p:sp>
      <p:sp>
        <p:nvSpPr>
          <p:cNvPr id="5" name="">
            <a:extLst xmlns:a="http://schemas.openxmlformats.org/drawingml/2006/main">
              <a:ext uri="{FF2B5EF4-FFF2-40B4-BE49-F238E27FC236}">
                <a16:creationId xmlns:a16="http://schemas.microsoft.com/office/drawing/2014/main" id="{242E26F9-F1F3-4953-8EAC-DD270D0BC475}"/>
              </a:ext>
            </a:extLst>
          </p:cNvPr>
          <p:cNvSpPr>
            <a:spLocks xmlns:a="http://schemas.openxmlformats.org/drawingml/2006/main" noGrp="1"/>
          </p:cNvSpPr>
          <p:nvPr/>
        </p:nvSpPr>
        <p:spPr>
          <a:xfrm xmlns:a="http://schemas.openxmlformats.org/drawingml/2006/main">
            <a:off x="952500" y="2223135"/>
            <a:ext cx="1543050" cy="4976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95" b="0">
                <a:solidFill>
                  <a:srgbClr val="287B95"/>
                </a:solidFill>
                <a:latin typeface="Chalkboard"/>
                <a:ea typeface="Chalkboard"/>
                <a:cs typeface="Chalkboard"/>
              </a:defRPr>
            </a:pPr>
            <a:r>
              <a:rPr sz="1995" b="0">
                <a:solidFill>
                  <a:srgbClr val="287B95"/>
                </a:solidFill>
                <a:latin typeface="Chalkboard"/>
                <a:ea typeface="Chalkboard"/>
                <a:cs typeface="Chalkboard"/>
              </a:rPr>
              <a:t>Email 1</a:t>
            </a:r>
          </a:p>
        </p:txBody>
      </p:sp>
      <p:sp>
        <p:nvSpPr>
          <p:cNvPr id="6" name="">
            <a:extLst xmlns:a="http://schemas.openxmlformats.org/drawingml/2006/main">
              <a:ext uri="{FF2B5EF4-FFF2-40B4-BE49-F238E27FC236}">
                <a16:creationId xmlns:a16="http://schemas.microsoft.com/office/drawing/2014/main" id="{6358FA00-AA17-4100-8934-11475D1C3459}"/>
              </a:ext>
            </a:extLst>
          </p:cNvPr>
          <p:cNvSpPr>
            <a:spLocks xmlns:a="http://schemas.openxmlformats.org/drawingml/2006/main" noGrp="1"/>
          </p:cNvSpPr>
          <p:nvPr/>
        </p:nvSpPr>
        <p:spPr>
          <a:xfrm xmlns:a="http://schemas.openxmlformats.org/drawingml/2006/main">
            <a:off x="2676024" y="2468954"/>
            <a:ext cx="1470861" cy="14195"/>
          </a:xfrm>
          <a:custGeom xmlns:a="http://schemas.openxmlformats.org/drawingml/2006/main">
            <a:pathLst>
              <a:path w="1552575" h="14942">
                <a:moveTo>
                  <a:pt x="0" y="7943"/>
                </a:moveTo>
                <a:lnTo>
                  <a:pt x="136380" y="14942"/>
                </a:lnTo>
                <a:lnTo>
                  <a:pt x="260303" y="9484"/>
                </a:lnTo>
                <a:lnTo>
                  <a:pt x="380447" y="246"/>
                </a:lnTo>
                <a:lnTo>
                  <a:pt x="509582" y="0"/>
                </a:lnTo>
                <a:lnTo>
                  <a:pt x="652219" y="13256"/>
                </a:lnTo>
                <a:lnTo>
                  <a:pt x="772425" y="4080"/>
                </a:lnTo>
                <a:lnTo>
                  <a:pt x="909981" y="12255"/>
                </a:lnTo>
                <a:lnTo>
                  <a:pt x="1035644" y="8537"/>
                </a:lnTo>
                <a:lnTo>
                  <a:pt x="1161399" y="4911"/>
                </a:lnTo>
                <a:lnTo>
                  <a:pt x="1296437" y="10568"/>
                </a:lnTo>
                <a:lnTo>
                  <a:pt x="1423741" y="8491"/>
                </a:lnTo>
                <a:lnTo>
                  <a:pt x="1552575" y="7943"/>
                </a:lnTo>
              </a:path>
            </a:pathLst>
          </a:custGeom>
          <a:noFill xmlns:a="http://schemas.openxmlformats.org/drawingml/2006/main"/>
          <a:ln xmlns:a="http://schemas.openxmlformats.org/drawingml/2006/main" w="16193">
            <a:solidFill>
              <a:srgbClr val="858078"/>
            </a:solidFill>
          </a:ln>
        </p:spPr>
      </p:sp>
      <p:sp>
        <p:nvSpPr>
          <p:cNvPr id="7" name="">
            <a:extLst xmlns:a="http://schemas.openxmlformats.org/drawingml/2006/main">
              <a:ext uri="{FF2B5EF4-FFF2-40B4-BE49-F238E27FC236}">
                <a16:creationId xmlns:a16="http://schemas.microsoft.com/office/drawing/2014/main" id="{EABBFB03-7250-48B7-A377-F315490A39ED}"/>
              </a:ext>
            </a:extLst>
          </p:cNvPr>
          <p:cNvSpPr>
            <a:spLocks xmlns:a="http://schemas.openxmlformats.org/drawingml/2006/main" noGrp="1"/>
          </p:cNvSpPr>
          <p:nvPr/>
        </p:nvSpPr>
        <p:spPr>
          <a:xfrm xmlns:a="http://schemas.openxmlformats.org/drawingml/2006/main">
            <a:off x="4057506" y="2433205"/>
            <a:ext cx="89379" cy="86590"/>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6193">
            <a:solidFill>
              <a:srgbClr val="858078"/>
            </a:solidFill>
          </a:ln>
        </p:spPr>
      </p:sp>
      <p:sp>
        <p:nvSpPr>
          <p:cNvPr id="8" name="">
            <a:extLst xmlns:a="http://schemas.openxmlformats.org/drawingml/2006/main">
              <a:ext uri="{FF2B5EF4-FFF2-40B4-BE49-F238E27FC236}">
                <a16:creationId xmlns:a16="http://schemas.microsoft.com/office/drawing/2014/main" id="{ED19D993-79D1-4FF0-8B2C-CA3B17D62F19}"/>
              </a:ext>
            </a:extLst>
          </p:cNvPr>
          <p:cNvSpPr>
            <a:spLocks xmlns:a="http://schemas.openxmlformats.org/drawingml/2006/main" noGrp="1"/>
          </p:cNvSpPr>
          <p:nvPr/>
        </p:nvSpPr>
        <p:spPr>
          <a:xfrm xmlns:a="http://schemas.openxmlformats.org/drawingml/2006/main">
            <a:off x="4264192" y="2223135"/>
            <a:ext cx="992605" cy="4976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351" b="0">
                <a:solidFill>
                  <a:srgbClr val="272729"/>
                </a:solidFill>
                <a:latin typeface="Chalkboard"/>
                <a:ea typeface="Chalkboard"/>
                <a:cs typeface="Chalkboard"/>
              </a:defRPr>
            </a:pPr>
            <a:r>
              <a:rPr sz="2351" b="0">
                <a:solidFill>
                  <a:srgbClr val="272729"/>
                </a:solidFill>
                <a:latin typeface="Chalkboard"/>
                <a:ea typeface="Chalkboard"/>
                <a:cs typeface="Chalkboard"/>
              </a:rPr>
              <a:t>g₁</a:t>
            </a:r>
          </a:p>
        </p:txBody>
      </p:sp>
      <p:sp>
        <p:nvSpPr>
          <p:cNvPr id="9" name="">
            <a:extLst xmlns:a="http://schemas.openxmlformats.org/drawingml/2006/main">
              <a:ext uri="{FF2B5EF4-FFF2-40B4-BE49-F238E27FC236}">
                <a16:creationId xmlns:a16="http://schemas.microsoft.com/office/drawing/2014/main" id="{AC183212-955D-4519-8A85-8F4B728C1A9D}"/>
              </a:ext>
            </a:extLst>
          </p:cNvPr>
          <p:cNvSpPr>
            <a:spLocks xmlns:a="http://schemas.openxmlformats.org/drawingml/2006/main" noGrp="1"/>
          </p:cNvSpPr>
          <p:nvPr/>
        </p:nvSpPr>
        <p:spPr>
          <a:xfrm xmlns:a="http://schemas.openxmlformats.org/drawingml/2006/main">
            <a:off x="5301916" y="2476500"/>
            <a:ext cx="1669382" cy="1040606"/>
          </a:xfrm>
          <a:custGeom xmlns:a="http://schemas.openxmlformats.org/drawingml/2006/main">
            <a:pathLst>
              <a:path w="1762125" h="1095375">
                <a:moveTo>
                  <a:pt x="0" y="0"/>
                </a:moveTo>
                <a:lnTo>
                  <a:pt x="144266" y="88703"/>
                </a:lnTo>
                <a:lnTo>
                  <a:pt x="293905" y="182780"/>
                </a:lnTo>
                <a:lnTo>
                  <a:pt x="446389" y="279702"/>
                </a:lnTo>
                <a:lnTo>
                  <a:pt x="593472" y="371222"/>
                </a:lnTo>
                <a:lnTo>
                  <a:pt x="730127" y="452314"/>
                </a:lnTo>
                <a:lnTo>
                  <a:pt x="874487" y="541112"/>
                </a:lnTo>
                <a:lnTo>
                  <a:pt x="1028453" y="639515"/>
                </a:lnTo>
                <a:lnTo>
                  <a:pt x="1166447" y="721947"/>
                </a:lnTo>
                <a:lnTo>
                  <a:pt x="1316657" y="816595"/>
                </a:lnTo>
                <a:lnTo>
                  <a:pt x="1467933" y="912308"/>
                </a:lnTo>
                <a:lnTo>
                  <a:pt x="1615746" y="1004559"/>
                </a:lnTo>
                <a:lnTo>
                  <a:pt x="1762125" y="1095375"/>
                </a:lnTo>
              </a:path>
            </a:pathLst>
          </a:custGeom>
          <a:noFill xmlns:a="http://schemas.openxmlformats.org/drawingml/2006/main"/>
          <a:ln xmlns:a="http://schemas.openxmlformats.org/drawingml/2006/main" w="16193">
            <a:solidFill>
              <a:srgbClr val="287B95"/>
            </a:solidFill>
          </a:ln>
        </p:spPr>
      </p:sp>
      <p:sp>
        <p:nvSpPr>
          <p:cNvPr id="10" name="">
            <a:extLst xmlns:a="http://schemas.openxmlformats.org/drawingml/2006/main">
              <a:ext uri="{FF2B5EF4-FFF2-40B4-BE49-F238E27FC236}">
                <a16:creationId xmlns:a16="http://schemas.microsoft.com/office/drawing/2014/main" id="{E50D1E81-E6D3-44C0-9850-5F40B746F9E9}"/>
              </a:ext>
            </a:extLst>
          </p:cNvPr>
          <p:cNvSpPr>
            <a:spLocks xmlns:a="http://schemas.openxmlformats.org/drawingml/2006/main" noGrp="1"/>
          </p:cNvSpPr>
          <p:nvPr/>
        </p:nvSpPr>
        <p:spPr>
          <a:xfrm xmlns:a="http://schemas.openxmlformats.org/drawingml/2006/main">
            <a:off x="6872596" y="3433019"/>
            <a:ext cx="98702" cy="84087"/>
          </a:xfrm>
          <a:custGeom xmlns:a="http://schemas.openxmlformats.org/drawingml/2006/main">
            <a:pathLst>
              <a:path w="104185" h="88513">
                <a:moveTo>
                  <a:pt x="0" y="77410"/>
                </a:moveTo>
                <a:lnTo>
                  <a:pt x="104185" y="88513"/>
                </a:lnTo>
                <a:lnTo>
                  <a:pt x="48120" y="0"/>
                </a:lnTo>
              </a:path>
            </a:pathLst>
          </a:custGeom>
          <a:noFill xmlns:a="http://schemas.openxmlformats.org/drawingml/2006/main"/>
          <a:ln xmlns:a="http://schemas.openxmlformats.org/drawingml/2006/main" w="16193">
            <a:solidFill>
              <a:srgbClr val="287B95"/>
            </a:solidFill>
          </a:ln>
        </p:spPr>
      </p:sp>
      <p:sp>
        <p:nvSpPr>
          <p:cNvPr id="11" name="">
            <a:extLst xmlns:a="http://schemas.openxmlformats.org/drawingml/2006/main">
              <a:ext uri="{FF2B5EF4-FFF2-40B4-BE49-F238E27FC236}">
                <a16:creationId xmlns:a16="http://schemas.microsoft.com/office/drawing/2014/main" id="{B83BE0A1-C397-4430-8317-2253B5A681E8}"/>
              </a:ext>
            </a:extLst>
          </p:cNvPr>
          <p:cNvSpPr>
            <a:spLocks xmlns:a="http://schemas.openxmlformats.org/drawingml/2006/main" noGrp="1"/>
          </p:cNvSpPr>
          <p:nvPr/>
        </p:nvSpPr>
        <p:spPr>
          <a:xfrm xmlns:a="http://schemas.openxmlformats.org/drawingml/2006/main">
            <a:off x="880311" y="3227546"/>
            <a:ext cx="1687429" cy="579120"/>
          </a:xfrm>
          <a:custGeom xmlns:a="http://schemas.openxmlformats.org/drawingml/2006/main">
            <a:pathLst>
              <a:path w="1781175" h="609600">
                <a:moveTo>
                  <a:pt x="28575" y="19050"/>
                </a:moveTo>
                <a:lnTo>
                  <a:pt x="626269" y="0"/>
                </a:lnTo>
                <a:lnTo>
                  <a:pt x="1278255" y="19050"/>
                </a:lnTo>
                <a:lnTo>
                  <a:pt x="1762125" y="9525"/>
                </a:lnTo>
                <a:lnTo>
                  <a:pt x="1781175" y="304800"/>
                </a:lnTo>
                <a:lnTo>
                  <a:pt x="1771650" y="590550"/>
                </a:lnTo>
                <a:lnTo>
                  <a:pt x="1154906" y="609600"/>
                </a:lnTo>
                <a:lnTo>
                  <a:pt x="538163" y="590550"/>
                </a:lnTo>
                <a:lnTo>
                  <a:pt x="9525" y="600075"/>
                </a:lnTo>
                <a:lnTo>
                  <a:pt x="0" y="304800"/>
                </a:lnTo>
                <a:lnTo>
                  <a:pt x="28575" y="19050"/>
                </a:lnTo>
                <a:close/>
              </a:path>
            </a:pathLst>
          </a:custGeom>
          <a:noFill xmlns:a="http://schemas.openxmlformats.org/drawingml/2006/main"/>
          <a:ln xmlns:a="http://schemas.openxmlformats.org/drawingml/2006/main" w="15240">
            <a:solidFill>
              <a:srgbClr val="287B95"/>
            </a:solidFill>
          </a:ln>
        </p:spPr>
      </p:sp>
      <p:sp>
        <p:nvSpPr>
          <p:cNvPr id="12" name="">
            <a:extLst xmlns:a="http://schemas.openxmlformats.org/drawingml/2006/main">
              <a:ext uri="{FF2B5EF4-FFF2-40B4-BE49-F238E27FC236}">
                <a16:creationId xmlns:a16="http://schemas.microsoft.com/office/drawing/2014/main" id="{FE7CB1E9-BFED-4204-B5D4-2820FAF5741D}"/>
              </a:ext>
            </a:extLst>
          </p:cNvPr>
          <p:cNvSpPr>
            <a:spLocks xmlns:a="http://schemas.openxmlformats.org/drawingml/2006/main" noGrp="1"/>
          </p:cNvSpPr>
          <p:nvPr/>
        </p:nvSpPr>
        <p:spPr>
          <a:xfrm xmlns:a="http://schemas.openxmlformats.org/drawingml/2006/main">
            <a:off x="952500" y="3263741"/>
            <a:ext cx="1543050" cy="4976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95" b="0">
                <a:solidFill>
                  <a:srgbClr val="287B95"/>
                </a:solidFill>
                <a:latin typeface="Chalkboard"/>
                <a:ea typeface="Chalkboard"/>
                <a:cs typeface="Chalkboard"/>
              </a:defRPr>
            </a:pPr>
            <a:r>
              <a:rPr sz="1995" b="0">
                <a:solidFill>
                  <a:srgbClr val="287B95"/>
                </a:solidFill>
                <a:latin typeface="Chalkboard"/>
                <a:ea typeface="Chalkboard"/>
                <a:cs typeface="Chalkboard"/>
              </a:rPr>
              <a:t>Email 2</a:t>
            </a:r>
          </a:p>
        </p:txBody>
      </p:sp>
      <p:sp>
        <p:nvSpPr>
          <p:cNvPr id="13" name="">
            <a:extLst xmlns:a="http://schemas.openxmlformats.org/drawingml/2006/main">
              <a:ext uri="{FF2B5EF4-FFF2-40B4-BE49-F238E27FC236}">
                <a16:creationId xmlns:a16="http://schemas.microsoft.com/office/drawing/2014/main" id="{7EC3ACBF-65F9-49D1-929A-CED0DA231A5B}"/>
              </a:ext>
            </a:extLst>
          </p:cNvPr>
          <p:cNvSpPr>
            <a:spLocks xmlns:a="http://schemas.openxmlformats.org/drawingml/2006/main" noGrp="1"/>
          </p:cNvSpPr>
          <p:nvPr/>
        </p:nvSpPr>
        <p:spPr>
          <a:xfrm xmlns:a="http://schemas.openxmlformats.org/drawingml/2006/main">
            <a:off x="2676024" y="3510378"/>
            <a:ext cx="1470861" cy="14532"/>
          </a:xfrm>
          <a:custGeom xmlns:a="http://schemas.openxmlformats.org/drawingml/2006/main">
            <a:pathLst>
              <a:path w="1552575" h="15297">
                <a:moveTo>
                  <a:pt x="0" y="7082"/>
                </a:moveTo>
                <a:lnTo>
                  <a:pt x="127896" y="5597"/>
                </a:lnTo>
                <a:lnTo>
                  <a:pt x="262410" y="10730"/>
                </a:lnTo>
                <a:lnTo>
                  <a:pt x="383814" y="2753"/>
                </a:lnTo>
                <a:lnTo>
                  <a:pt x="514325" y="3882"/>
                </a:lnTo>
                <a:lnTo>
                  <a:pt x="654324" y="14500"/>
                </a:lnTo>
                <a:lnTo>
                  <a:pt x="774802" y="5597"/>
                </a:lnTo>
                <a:lnTo>
                  <a:pt x="904521" y="5934"/>
                </a:lnTo>
                <a:lnTo>
                  <a:pt x="1027968" y="0"/>
                </a:lnTo>
                <a:lnTo>
                  <a:pt x="1172646" y="15297"/>
                </a:lnTo>
                <a:lnTo>
                  <a:pt x="1298561" y="11831"/>
                </a:lnTo>
                <a:lnTo>
                  <a:pt x="1419976" y="3864"/>
                </a:lnTo>
                <a:lnTo>
                  <a:pt x="1552575" y="7082"/>
                </a:lnTo>
              </a:path>
            </a:pathLst>
          </a:custGeom>
          <a:noFill xmlns:a="http://schemas.openxmlformats.org/drawingml/2006/main"/>
          <a:ln xmlns:a="http://schemas.openxmlformats.org/drawingml/2006/main" w="16193">
            <a:solidFill>
              <a:srgbClr val="858078"/>
            </a:solidFill>
          </a:ln>
        </p:spPr>
      </p:sp>
      <p:sp>
        <p:nvSpPr>
          <p:cNvPr id="14" name="">
            <a:extLst xmlns:a="http://schemas.openxmlformats.org/drawingml/2006/main">
              <a:ext uri="{FF2B5EF4-FFF2-40B4-BE49-F238E27FC236}">
                <a16:creationId xmlns:a16="http://schemas.microsoft.com/office/drawing/2014/main" id="{A21572F6-640F-4FAA-9711-E9C9431AE520}"/>
              </a:ext>
            </a:extLst>
          </p:cNvPr>
          <p:cNvSpPr>
            <a:spLocks xmlns:a="http://schemas.openxmlformats.org/drawingml/2006/main" noGrp="1"/>
          </p:cNvSpPr>
          <p:nvPr/>
        </p:nvSpPr>
        <p:spPr>
          <a:xfrm xmlns:a="http://schemas.openxmlformats.org/drawingml/2006/main">
            <a:off x="4057506" y="3473811"/>
            <a:ext cx="89379" cy="86590"/>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6193">
            <a:solidFill>
              <a:srgbClr val="858078"/>
            </a:solidFill>
          </a:ln>
        </p:spPr>
      </p:sp>
      <p:sp>
        <p:nvSpPr>
          <p:cNvPr id="15" name="">
            <a:extLst xmlns:a="http://schemas.openxmlformats.org/drawingml/2006/main">
              <a:ext uri="{FF2B5EF4-FFF2-40B4-BE49-F238E27FC236}">
                <a16:creationId xmlns:a16="http://schemas.microsoft.com/office/drawing/2014/main" id="{24C661C2-1ADA-4E1D-A051-27E85A2DA37B}"/>
              </a:ext>
            </a:extLst>
          </p:cNvPr>
          <p:cNvSpPr>
            <a:spLocks xmlns:a="http://schemas.openxmlformats.org/drawingml/2006/main" noGrp="1"/>
          </p:cNvSpPr>
          <p:nvPr/>
        </p:nvSpPr>
        <p:spPr>
          <a:xfrm xmlns:a="http://schemas.openxmlformats.org/drawingml/2006/main">
            <a:off x="4264192" y="3263741"/>
            <a:ext cx="992605" cy="4976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351" b="0">
                <a:solidFill>
                  <a:srgbClr val="272729"/>
                </a:solidFill>
                <a:latin typeface="Chalkboard"/>
                <a:ea typeface="Chalkboard"/>
                <a:cs typeface="Chalkboard"/>
              </a:defRPr>
            </a:pPr>
            <a:r>
              <a:rPr sz="2351" b="0">
                <a:solidFill>
                  <a:srgbClr val="272729"/>
                </a:solidFill>
                <a:latin typeface="Chalkboard"/>
                <a:ea typeface="Chalkboard"/>
                <a:cs typeface="Chalkboard"/>
              </a:rPr>
              <a:t>g₂</a:t>
            </a:r>
          </a:p>
        </p:txBody>
      </p:sp>
      <p:sp>
        <p:nvSpPr>
          <p:cNvPr id="16" name="">
            <a:extLst xmlns:a="http://schemas.openxmlformats.org/drawingml/2006/main">
              <a:ext uri="{FF2B5EF4-FFF2-40B4-BE49-F238E27FC236}">
                <a16:creationId xmlns:a16="http://schemas.microsoft.com/office/drawing/2014/main" id="{40CABF27-F40F-4259-9EFE-5C7946241CC7}"/>
              </a:ext>
            </a:extLst>
          </p:cNvPr>
          <p:cNvSpPr>
            <a:spLocks xmlns:a="http://schemas.openxmlformats.org/drawingml/2006/main" noGrp="1"/>
          </p:cNvSpPr>
          <p:nvPr/>
        </p:nvSpPr>
        <p:spPr>
          <a:xfrm xmlns:a="http://schemas.openxmlformats.org/drawingml/2006/main">
            <a:off x="5301916" y="3510854"/>
            <a:ext cx="1669382" cy="14111"/>
          </a:xfrm>
          <a:custGeom xmlns:a="http://schemas.openxmlformats.org/drawingml/2006/main">
            <a:pathLst>
              <a:path w="1762125" h="14854">
                <a:moveTo>
                  <a:pt x="0" y="6581"/>
                </a:moveTo>
                <a:lnTo>
                  <a:pt x="152531" y="12268"/>
                </a:lnTo>
                <a:lnTo>
                  <a:pt x="297328" y="10221"/>
                </a:lnTo>
                <a:lnTo>
                  <a:pt x="438031" y="4080"/>
                </a:lnTo>
                <a:lnTo>
                  <a:pt x="591205" y="10411"/>
                </a:lnTo>
                <a:lnTo>
                  <a:pt x="732302" y="4664"/>
                </a:lnTo>
                <a:lnTo>
                  <a:pt x="880505" y="6023"/>
                </a:lnTo>
                <a:lnTo>
                  <a:pt x="1032556" y="11230"/>
                </a:lnTo>
                <a:lnTo>
                  <a:pt x="1177368" y="9199"/>
                </a:lnTo>
                <a:lnTo>
                  <a:pt x="1315013" y="0"/>
                </a:lnTo>
                <a:lnTo>
                  <a:pt x="1471341" y="9484"/>
                </a:lnTo>
                <a:lnTo>
                  <a:pt x="1623555" y="14854"/>
                </a:lnTo>
                <a:lnTo>
                  <a:pt x="1762125" y="6581"/>
                </a:lnTo>
              </a:path>
            </a:pathLst>
          </a:custGeom>
          <a:noFill xmlns:a="http://schemas.openxmlformats.org/drawingml/2006/main"/>
          <a:ln xmlns:a="http://schemas.openxmlformats.org/drawingml/2006/main" w="16193">
            <a:solidFill>
              <a:srgbClr val="287B95"/>
            </a:solidFill>
          </a:ln>
        </p:spPr>
      </p:sp>
      <p:sp>
        <p:nvSpPr>
          <p:cNvPr id="17" name="">
            <a:extLst xmlns:a="http://schemas.openxmlformats.org/drawingml/2006/main">
              <a:ext uri="{FF2B5EF4-FFF2-40B4-BE49-F238E27FC236}">
                <a16:creationId xmlns:a16="http://schemas.microsoft.com/office/drawing/2014/main" id="{DF65255F-FD97-4E1E-96B5-DDE210B41B38}"/>
              </a:ext>
            </a:extLst>
          </p:cNvPr>
          <p:cNvSpPr>
            <a:spLocks xmlns:a="http://schemas.openxmlformats.org/drawingml/2006/main" noGrp="1"/>
          </p:cNvSpPr>
          <p:nvPr/>
        </p:nvSpPr>
        <p:spPr>
          <a:xfrm xmlns:a="http://schemas.openxmlformats.org/drawingml/2006/main">
            <a:off x="6881919" y="3473811"/>
            <a:ext cx="89379" cy="86590"/>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6193">
            <a:solidFill>
              <a:srgbClr val="287B95"/>
            </a:solidFill>
          </a:ln>
        </p:spPr>
      </p:sp>
      <p:sp>
        <p:nvSpPr>
          <p:cNvPr id="18" name="">
            <a:extLst xmlns:a="http://schemas.openxmlformats.org/drawingml/2006/main">
              <a:ext uri="{FF2B5EF4-FFF2-40B4-BE49-F238E27FC236}">
                <a16:creationId xmlns:a16="http://schemas.microsoft.com/office/drawing/2014/main" id="{C29ECFA4-D3C9-4B40-B9BA-215485A1CD7B}"/>
              </a:ext>
            </a:extLst>
          </p:cNvPr>
          <p:cNvSpPr>
            <a:spLocks xmlns:a="http://schemas.openxmlformats.org/drawingml/2006/main" noGrp="1"/>
          </p:cNvSpPr>
          <p:nvPr/>
        </p:nvSpPr>
        <p:spPr>
          <a:xfrm xmlns:a="http://schemas.openxmlformats.org/drawingml/2006/main">
            <a:off x="880311" y="4268152"/>
            <a:ext cx="1687429" cy="579120"/>
          </a:xfrm>
          <a:custGeom xmlns:a="http://schemas.openxmlformats.org/drawingml/2006/main">
            <a:pathLst>
              <a:path w="1781175" h="609600">
                <a:moveTo>
                  <a:pt x="28575" y="19050"/>
                </a:moveTo>
                <a:lnTo>
                  <a:pt x="626269" y="0"/>
                </a:lnTo>
                <a:lnTo>
                  <a:pt x="1278255" y="19050"/>
                </a:lnTo>
                <a:lnTo>
                  <a:pt x="1762125" y="9525"/>
                </a:lnTo>
                <a:lnTo>
                  <a:pt x="1781175" y="304800"/>
                </a:lnTo>
                <a:lnTo>
                  <a:pt x="1771650" y="590550"/>
                </a:lnTo>
                <a:lnTo>
                  <a:pt x="1154906" y="609600"/>
                </a:lnTo>
                <a:lnTo>
                  <a:pt x="538163" y="590550"/>
                </a:lnTo>
                <a:lnTo>
                  <a:pt x="9525" y="600075"/>
                </a:lnTo>
                <a:lnTo>
                  <a:pt x="0" y="304800"/>
                </a:lnTo>
                <a:lnTo>
                  <a:pt x="28575" y="19050"/>
                </a:lnTo>
                <a:close/>
              </a:path>
            </a:pathLst>
          </a:custGeom>
          <a:noFill xmlns:a="http://schemas.openxmlformats.org/drawingml/2006/main"/>
          <a:ln xmlns:a="http://schemas.openxmlformats.org/drawingml/2006/main" w="15240">
            <a:solidFill>
              <a:srgbClr val="287B95"/>
            </a:solidFill>
          </a:ln>
        </p:spPr>
      </p:sp>
      <p:sp>
        <p:nvSpPr>
          <p:cNvPr id="19" name="">
            <a:extLst xmlns:a="http://schemas.openxmlformats.org/drawingml/2006/main">
              <a:ext uri="{FF2B5EF4-FFF2-40B4-BE49-F238E27FC236}">
                <a16:creationId xmlns:a16="http://schemas.microsoft.com/office/drawing/2014/main" id="{DE31E934-DCD2-4D81-9D71-842E869AA7E1}"/>
              </a:ext>
            </a:extLst>
          </p:cNvPr>
          <p:cNvSpPr>
            <a:spLocks xmlns:a="http://schemas.openxmlformats.org/drawingml/2006/main" noGrp="1"/>
          </p:cNvSpPr>
          <p:nvPr/>
        </p:nvSpPr>
        <p:spPr>
          <a:xfrm xmlns:a="http://schemas.openxmlformats.org/drawingml/2006/main">
            <a:off x="952500" y="4304348"/>
            <a:ext cx="1543050" cy="4976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95" b="0">
                <a:solidFill>
                  <a:srgbClr val="287B95"/>
                </a:solidFill>
                <a:latin typeface="Chalkboard"/>
                <a:ea typeface="Chalkboard"/>
                <a:cs typeface="Chalkboard"/>
              </a:defRPr>
            </a:pPr>
            <a:r>
              <a:rPr sz="1995" b="0">
                <a:solidFill>
                  <a:srgbClr val="287B95"/>
                </a:solidFill>
                <a:latin typeface="Chalkboard"/>
                <a:ea typeface="Chalkboard"/>
                <a:cs typeface="Chalkboard"/>
              </a:rPr>
              <a:t>Email 3</a:t>
            </a:r>
          </a:p>
        </p:txBody>
      </p:sp>
      <p:sp>
        <p:nvSpPr>
          <p:cNvPr id="20" name="">
            <a:extLst xmlns:a="http://schemas.openxmlformats.org/drawingml/2006/main">
              <a:ext uri="{FF2B5EF4-FFF2-40B4-BE49-F238E27FC236}">
                <a16:creationId xmlns:a16="http://schemas.microsoft.com/office/drawing/2014/main" id="{51AE898B-73BF-41E6-9EFF-D6835FD065EB}"/>
              </a:ext>
            </a:extLst>
          </p:cNvPr>
          <p:cNvSpPr>
            <a:spLocks xmlns:a="http://schemas.openxmlformats.org/drawingml/2006/main" noGrp="1"/>
          </p:cNvSpPr>
          <p:nvPr/>
        </p:nvSpPr>
        <p:spPr>
          <a:xfrm xmlns:a="http://schemas.openxmlformats.org/drawingml/2006/main">
            <a:off x="2676024" y="4550120"/>
            <a:ext cx="1470861" cy="13981"/>
          </a:xfrm>
          <a:custGeom xmlns:a="http://schemas.openxmlformats.org/drawingml/2006/main">
            <a:pathLst>
              <a:path w="1552575" h="14717">
                <a:moveTo>
                  <a:pt x="0" y="7992"/>
                </a:moveTo>
                <a:lnTo>
                  <a:pt x="136106" y="14717"/>
                </a:lnTo>
                <a:lnTo>
                  <a:pt x="259097" y="8327"/>
                </a:lnTo>
                <a:lnTo>
                  <a:pt x="393987" y="13836"/>
                </a:lnTo>
                <a:lnTo>
                  <a:pt x="521431" y="11898"/>
                </a:lnTo>
                <a:lnTo>
                  <a:pt x="638914" y="0"/>
                </a:lnTo>
                <a:lnTo>
                  <a:pt x="778610" y="10315"/>
                </a:lnTo>
                <a:lnTo>
                  <a:pt x="905571" y="7895"/>
                </a:lnTo>
                <a:lnTo>
                  <a:pt x="1027172" y="114"/>
                </a:lnTo>
                <a:lnTo>
                  <a:pt x="1168257" y="11818"/>
                </a:lnTo>
                <a:lnTo>
                  <a:pt x="1295515" y="9695"/>
                </a:lnTo>
                <a:lnTo>
                  <a:pt x="1428514" y="13312"/>
                </a:lnTo>
                <a:lnTo>
                  <a:pt x="1552575" y="7992"/>
                </a:lnTo>
              </a:path>
            </a:pathLst>
          </a:custGeom>
          <a:noFill xmlns:a="http://schemas.openxmlformats.org/drawingml/2006/main"/>
          <a:ln xmlns:a="http://schemas.openxmlformats.org/drawingml/2006/main" w="16193">
            <a:solidFill>
              <a:srgbClr val="858078"/>
            </a:solidFill>
          </a:ln>
        </p:spPr>
      </p:sp>
      <p:sp>
        <p:nvSpPr>
          <p:cNvPr id="21" name="">
            <a:extLst xmlns:a="http://schemas.openxmlformats.org/drawingml/2006/main">
              <a:ext uri="{FF2B5EF4-FFF2-40B4-BE49-F238E27FC236}">
                <a16:creationId xmlns:a16="http://schemas.microsoft.com/office/drawing/2014/main" id="{5A1FA9A4-624D-4539-818E-9D2A1AAAF571}"/>
              </a:ext>
            </a:extLst>
          </p:cNvPr>
          <p:cNvSpPr>
            <a:spLocks xmlns:a="http://schemas.openxmlformats.org/drawingml/2006/main" noGrp="1"/>
          </p:cNvSpPr>
          <p:nvPr/>
        </p:nvSpPr>
        <p:spPr>
          <a:xfrm xmlns:a="http://schemas.openxmlformats.org/drawingml/2006/main">
            <a:off x="4057506" y="4514417"/>
            <a:ext cx="89379" cy="86590"/>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6193">
            <a:solidFill>
              <a:srgbClr val="858078"/>
            </a:solidFill>
          </a:ln>
        </p:spPr>
      </p:sp>
      <p:sp>
        <p:nvSpPr>
          <p:cNvPr id="22" name="">
            <a:extLst xmlns:a="http://schemas.openxmlformats.org/drawingml/2006/main">
              <a:ext uri="{FF2B5EF4-FFF2-40B4-BE49-F238E27FC236}">
                <a16:creationId xmlns:a16="http://schemas.microsoft.com/office/drawing/2014/main" id="{8FE82984-D2FB-43E4-BC73-D8912917A056}"/>
              </a:ext>
            </a:extLst>
          </p:cNvPr>
          <p:cNvSpPr>
            <a:spLocks xmlns:a="http://schemas.openxmlformats.org/drawingml/2006/main" noGrp="1"/>
          </p:cNvSpPr>
          <p:nvPr/>
        </p:nvSpPr>
        <p:spPr>
          <a:xfrm xmlns:a="http://schemas.openxmlformats.org/drawingml/2006/main">
            <a:off x="4264192" y="4304348"/>
            <a:ext cx="992605" cy="4976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351" b="0">
                <a:solidFill>
                  <a:srgbClr val="272729"/>
                </a:solidFill>
                <a:latin typeface="Chalkboard"/>
                <a:ea typeface="Chalkboard"/>
                <a:cs typeface="Chalkboard"/>
              </a:defRPr>
            </a:pPr>
            <a:r>
              <a:rPr sz="2351" b="0">
                <a:solidFill>
                  <a:srgbClr val="272729"/>
                </a:solidFill>
                <a:latin typeface="Chalkboard"/>
                <a:ea typeface="Chalkboard"/>
                <a:cs typeface="Chalkboard"/>
              </a:rPr>
              <a:t>g₃</a:t>
            </a:r>
          </a:p>
        </p:txBody>
      </p:sp>
      <p:sp>
        <p:nvSpPr>
          <p:cNvPr id="23" name="">
            <a:extLst xmlns:a="http://schemas.openxmlformats.org/drawingml/2006/main">
              <a:ext uri="{FF2B5EF4-FFF2-40B4-BE49-F238E27FC236}">
                <a16:creationId xmlns:a16="http://schemas.microsoft.com/office/drawing/2014/main" id="{706945DC-9A4D-406E-B426-7769F7675596}"/>
              </a:ext>
            </a:extLst>
          </p:cNvPr>
          <p:cNvSpPr>
            <a:spLocks xmlns:a="http://schemas.openxmlformats.org/drawingml/2006/main" noGrp="1"/>
          </p:cNvSpPr>
          <p:nvPr/>
        </p:nvSpPr>
        <p:spPr>
          <a:xfrm xmlns:a="http://schemas.openxmlformats.org/drawingml/2006/main">
            <a:off x="5301916" y="3517106"/>
            <a:ext cx="1669382" cy="1040606"/>
          </a:xfrm>
          <a:custGeom xmlns:a="http://schemas.openxmlformats.org/drawingml/2006/main">
            <a:pathLst>
              <a:path w="1762125" h="1095375">
                <a:moveTo>
                  <a:pt x="0" y="1095375"/>
                </a:moveTo>
                <a:lnTo>
                  <a:pt x="145654" y="1002904"/>
                </a:lnTo>
                <a:lnTo>
                  <a:pt x="288947" y="908072"/>
                </a:lnTo>
                <a:lnTo>
                  <a:pt x="434895" y="815895"/>
                </a:lnTo>
                <a:lnTo>
                  <a:pt x="591367" y="734242"/>
                </a:lnTo>
                <a:lnTo>
                  <a:pt x="740260" y="645010"/>
                </a:lnTo>
                <a:lnTo>
                  <a:pt x="878673" y="545298"/>
                </a:lnTo>
                <a:lnTo>
                  <a:pt x="1033766" y="462266"/>
                </a:lnTo>
                <a:lnTo>
                  <a:pt x="1176546" y="366921"/>
                </a:lnTo>
                <a:lnTo>
                  <a:pt x="1324021" y="276271"/>
                </a:lnTo>
                <a:lnTo>
                  <a:pt x="1465865" y="179990"/>
                </a:lnTo>
                <a:lnTo>
                  <a:pt x="1610992" y="86992"/>
                </a:lnTo>
                <a:lnTo>
                  <a:pt x="1762125" y="0"/>
                </a:lnTo>
              </a:path>
            </a:pathLst>
          </a:custGeom>
          <a:noFill xmlns:a="http://schemas.openxmlformats.org/drawingml/2006/main"/>
          <a:ln xmlns:a="http://schemas.openxmlformats.org/drawingml/2006/main" w="16193">
            <a:solidFill>
              <a:srgbClr val="287B95"/>
            </a:solidFill>
          </a:ln>
        </p:spPr>
      </p:sp>
      <p:sp>
        <p:nvSpPr>
          <p:cNvPr id="24" name="">
            <a:extLst xmlns:a="http://schemas.openxmlformats.org/drawingml/2006/main">
              <a:ext uri="{FF2B5EF4-FFF2-40B4-BE49-F238E27FC236}">
                <a16:creationId xmlns:a16="http://schemas.microsoft.com/office/drawing/2014/main" id="{2CBE0469-DAD3-4931-A19E-88C45BE6425D}"/>
              </a:ext>
            </a:extLst>
          </p:cNvPr>
          <p:cNvSpPr>
            <a:spLocks xmlns:a="http://schemas.openxmlformats.org/drawingml/2006/main" noGrp="1"/>
          </p:cNvSpPr>
          <p:nvPr/>
        </p:nvSpPr>
        <p:spPr>
          <a:xfrm xmlns:a="http://schemas.openxmlformats.org/drawingml/2006/main">
            <a:off x="6872596" y="3517106"/>
            <a:ext cx="98702" cy="84087"/>
          </a:xfrm>
          <a:custGeom xmlns:a="http://schemas.openxmlformats.org/drawingml/2006/main">
            <a:pathLst>
              <a:path w="104185" h="88513">
                <a:moveTo>
                  <a:pt x="48120" y="88513"/>
                </a:moveTo>
                <a:lnTo>
                  <a:pt x="104185" y="0"/>
                </a:lnTo>
                <a:lnTo>
                  <a:pt x="0" y="11103"/>
                </a:lnTo>
              </a:path>
            </a:pathLst>
          </a:custGeom>
          <a:noFill xmlns:a="http://schemas.openxmlformats.org/drawingml/2006/main"/>
          <a:ln xmlns:a="http://schemas.openxmlformats.org/drawingml/2006/main" w="16193">
            <a:solidFill>
              <a:srgbClr val="287B95"/>
            </a:solidFill>
          </a:ln>
        </p:spPr>
      </p:sp>
      <p:sp>
        <p:nvSpPr>
          <p:cNvPr id="25" name="">
            <a:extLst xmlns:a="http://schemas.openxmlformats.org/drawingml/2006/main">
              <a:ext uri="{FF2B5EF4-FFF2-40B4-BE49-F238E27FC236}">
                <a16:creationId xmlns:a16="http://schemas.microsoft.com/office/drawing/2014/main" id="{9E14E6E2-DF0F-435C-88BA-8B4F8F0320B5}"/>
              </a:ext>
            </a:extLst>
          </p:cNvPr>
          <p:cNvSpPr>
            <a:spLocks xmlns:a="http://schemas.openxmlformats.org/drawingml/2006/main" noGrp="1"/>
          </p:cNvSpPr>
          <p:nvPr/>
        </p:nvSpPr>
        <p:spPr>
          <a:xfrm xmlns:a="http://schemas.openxmlformats.org/drawingml/2006/main">
            <a:off x="7045908" y="2970266"/>
            <a:ext cx="1103422" cy="1106275"/>
          </a:xfrm>
          <a:custGeom xmlns:a="http://schemas.openxmlformats.org/drawingml/2006/main">
            <a:pathLst>
              <a:path w="1164723" h="1164500">
                <a:moveTo>
                  <a:pt x="1164723" y="575621"/>
                </a:moveTo>
                <a:lnTo>
                  <a:pt x="1163541" y="633245"/>
                </a:lnTo>
                <a:lnTo>
                  <a:pt x="1153489" y="689999"/>
                </a:lnTo>
                <a:lnTo>
                  <a:pt x="1137256" y="745127"/>
                </a:lnTo>
                <a:lnTo>
                  <a:pt x="1117250" y="798791"/>
                </a:lnTo>
                <a:lnTo>
                  <a:pt x="1093775" y="851057"/>
                </a:lnTo>
                <a:lnTo>
                  <a:pt x="1065215" y="900854"/>
                </a:lnTo>
                <a:lnTo>
                  <a:pt x="1029936" y="946129"/>
                </a:lnTo>
                <a:lnTo>
                  <a:pt x="988154" y="985305"/>
                </a:lnTo>
                <a:lnTo>
                  <a:pt x="942157" y="1018775"/>
                </a:lnTo>
                <a:lnTo>
                  <a:pt x="894738" y="1048950"/>
                </a:lnTo>
                <a:lnTo>
                  <a:pt x="847251" y="1078476"/>
                </a:lnTo>
                <a:lnTo>
                  <a:pt x="798946" y="1107898"/>
                </a:lnTo>
                <a:lnTo>
                  <a:pt x="748062" y="1134694"/>
                </a:lnTo>
                <a:lnTo>
                  <a:pt x="693641" y="1154627"/>
                </a:lnTo>
                <a:lnTo>
                  <a:pt x="636469" y="1164500"/>
                </a:lnTo>
                <a:lnTo>
                  <a:pt x="578469" y="1164199"/>
                </a:lnTo>
                <a:lnTo>
                  <a:pt x="521262" y="1156454"/>
                </a:lnTo>
                <a:lnTo>
                  <a:pt x="465299" y="1144567"/>
                </a:lnTo>
                <a:lnTo>
                  <a:pt x="410307" y="1129976"/>
                </a:lnTo>
                <a:lnTo>
                  <a:pt x="356461" y="1111596"/>
                </a:lnTo>
                <a:lnTo>
                  <a:pt x="304969" y="1087303"/>
                </a:lnTo>
                <a:lnTo>
                  <a:pt x="257369" y="1056181"/>
                </a:lnTo>
                <a:lnTo>
                  <a:pt x="214131" y="1019568"/>
                </a:lnTo>
                <a:lnTo>
                  <a:pt x="174014" y="980076"/>
                </a:lnTo>
                <a:lnTo>
                  <a:pt x="135049" y="939527"/>
                </a:lnTo>
                <a:lnTo>
                  <a:pt x="96555" y="897625"/>
                </a:lnTo>
                <a:lnTo>
                  <a:pt x="60486" y="852488"/>
                </a:lnTo>
                <a:lnTo>
                  <a:pt x="30762" y="802489"/>
                </a:lnTo>
                <a:lnTo>
                  <a:pt x="10857" y="747804"/>
                </a:lnTo>
                <a:lnTo>
                  <a:pt x="1448" y="690397"/>
                </a:lnTo>
                <a:lnTo>
                  <a:pt x="0" y="632595"/>
                </a:lnTo>
                <a:lnTo>
                  <a:pt x="2673" y="575621"/>
                </a:lnTo>
                <a:lnTo>
                  <a:pt x="7087" y="519344"/>
                </a:lnTo>
                <a:lnTo>
                  <a:pt x="13768" y="463294"/>
                </a:lnTo>
                <a:lnTo>
                  <a:pt x="25243" y="407801"/>
                </a:lnTo>
                <a:lnTo>
                  <a:pt x="43656" y="354094"/>
                </a:lnTo>
                <a:lnTo>
                  <a:pt x="68938" y="303271"/>
                </a:lnTo>
                <a:lnTo>
                  <a:pt x="99005" y="255253"/>
                </a:lnTo>
                <a:lnTo>
                  <a:pt x="131659" y="208933"/>
                </a:lnTo>
                <a:lnTo>
                  <a:pt x="166460" y="163612"/>
                </a:lnTo>
                <a:lnTo>
                  <a:pt x="204960" y="120499"/>
                </a:lnTo>
                <a:lnTo>
                  <a:pt x="249138" y="82741"/>
                </a:lnTo>
                <a:lnTo>
                  <a:pt x="299465" y="53640"/>
                </a:lnTo>
                <a:lnTo>
                  <a:pt x="354249" y="34304"/>
                </a:lnTo>
                <a:lnTo>
                  <a:pt x="410737" y="22682"/>
                </a:lnTo>
                <a:lnTo>
                  <a:pt x="466936" y="14906"/>
                </a:lnTo>
                <a:lnTo>
                  <a:pt x="522568" y="8046"/>
                </a:lnTo>
                <a:lnTo>
                  <a:pt x="578469" y="2149"/>
                </a:lnTo>
                <a:lnTo>
                  <a:pt x="635163" y="0"/>
                </a:lnTo>
                <a:lnTo>
                  <a:pt x="692004" y="4845"/>
                </a:lnTo>
                <a:lnTo>
                  <a:pt x="747633" y="17964"/>
                </a:lnTo>
                <a:lnTo>
                  <a:pt x="801158" y="38002"/>
                </a:lnTo>
                <a:lnTo>
                  <a:pt x="852756" y="62466"/>
                </a:lnTo>
                <a:lnTo>
                  <a:pt x="902970" y="89971"/>
                </a:lnTo>
                <a:lnTo>
                  <a:pt x="951328" y="121291"/>
                </a:lnTo>
                <a:lnTo>
                  <a:pt x="995707" y="158383"/>
                </a:lnTo>
                <a:lnTo>
                  <a:pt x="1033325" y="202330"/>
                </a:lnTo>
                <a:lnTo>
                  <a:pt x="1062764" y="252025"/>
                </a:lnTo>
                <a:lnTo>
                  <a:pt x="1085323" y="304702"/>
                </a:lnTo>
                <a:lnTo>
                  <a:pt x="1104356" y="357791"/>
                </a:lnTo>
                <a:lnTo>
                  <a:pt x="1122869" y="410479"/>
                </a:lnTo>
                <a:lnTo>
                  <a:pt x="1141170" y="463693"/>
                </a:lnTo>
                <a:lnTo>
                  <a:pt x="1156454" y="518694"/>
                </a:lnTo>
                <a:lnTo>
                  <a:pt x="1164723" y="575621"/>
                </a:lnTo>
                <a:close/>
              </a:path>
            </a:pathLst>
          </a:custGeom>
          <a:solidFill xmlns:a="http://schemas.openxmlformats.org/drawingml/2006/main">
            <a:srgbClr val="F8F6F2"/>
          </a:solidFill>
          <a:ln xmlns:a="http://schemas.openxmlformats.org/drawingml/2006/main" w="19050">
            <a:solidFill>
              <a:srgbClr val="287B95"/>
            </a:solidFill>
          </a:ln>
        </p:spPr>
      </p:sp>
      <p:sp>
        <p:nvSpPr>
          <p:cNvPr id="26" name="">
            <a:extLst xmlns:a="http://schemas.openxmlformats.org/drawingml/2006/main">
              <a:ext uri="{FF2B5EF4-FFF2-40B4-BE49-F238E27FC236}">
                <a16:creationId xmlns:a16="http://schemas.microsoft.com/office/drawing/2014/main" id="{F42D762D-FBF8-4BDE-B9BE-EB0445E62668}"/>
              </a:ext>
            </a:extLst>
          </p:cNvPr>
          <p:cNvSpPr>
            <a:spLocks xmlns:a="http://schemas.openxmlformats.org/drawingml/2006/main" noGrp="1"/>
          </p:cNvSpPr>
          <p:nvPr/>
        </p:nvSpPr>
        <p:spPr>
          <a:xfrm xmlns:a="http://schemas.openxmlformats.org/drawingml/2006/main">
            <a:off x="7088605" y="3227546"/>
            <a:ext cx="1010653" cy="579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209" b="0">
                <a:solidFill>
                  <a:srgbClr val="287B95"/>
                </a:solidFill>
                <a:latin typeface="Chalkboard"/>
                <a:ea typeface="Chalkboard"/>
                <a:cs typeface="Chalkboard"/>
              </a:defRPr>
            </a:pPr>
            <a:r>
              <a:rPr sz="2209" b="0">
                <a:solidFill>
                  <a:srgbClr val="287B95"/>
                </a:solidFill>
                <a:latin typeface="Chalkboard"/>
                <a:ea typeface="Chalkboard"/>
                <a:cs typeface="Chalkboard"/>
              </a:rPr>
              <a:t>mean</a:t>
            </a:r>
          </a:p>
        </p:txBody>
      </p:sp>
      <p:sp>
        <p:nvSpPr>
          <p:cNvPr id="27" name="">
            <a:extLst xmlns:a="http://schemas.openxmlformats.org/drawingml/2006/main">
              <a:ext uri="{FF2B5EF4-FFF2-40B4-BE49-F238E27FC236}">
                <a16:creationId xmlns:a16="http://schemas.microsoft.com/office/drawing/2014/main" id="{58AF06B9-D2C8-484B-B201-C8D0C973A79A}"/>
              </a:ext>
            </a:extLst>
          </p:cNvPr>
          <p:cNvSpPr>
            <a:spLocks xmlns:a="http://schemas.openxmlformats.org/drawingml/2006/main" noGrp="1"/>
          </p:cNvSpPr>
          <p:nvPr/>
        </p:nvSpPr>
        <p:spPr>
          <a:xfrm xmlns:a="http://schemas.openxmlformats.org/drawingml/2006/main">
            <a:off x="8216566" y="3509007"/>
            <a:ext cx="1001629" cy="15174"/>
          </a:xfrm>
          <a:custGeom xmlns:a="http://schemas.openxmlformats.org/drawingml/2006/main">
            <a:pathLst>
              <a:path w="1057275" h="15973">
                <a:moveTo>
                  <a:pt x="0" y="8526"/>
                </a:moveTo>
                <a:lnTo>
                  <a:pt x="82373" y="2793"/>
                </a:lnTo>
                <a:lnTo>
                  <a:pt x="174509" y="6823"/>
                </a:lnTo>
                <a:lnTo>
                  <a:pt x="263836" y="8043"/>
                </a:lnTo>
                <a:lnTo>
                  <a:pt x="343899" y="0"/>
                </a:lnTo>
                <a:lnTo>
                  <a:pt x="438253" y="6248"/>
                </a:lnTo>
                <a:lnTo>
                  <a:pt x="523975" y="3864"/>
                </a:lnTo>
                <a:lnTo>
                  <a:pt x="610345" y="2127"/>
                </a:lnTo>
                <a:lnTo>
                  <a:pt x="707908" y="11584"/>
                </a:lnTo>
                <a:lnTo>
                  <a:pt x="790862" y="6432"/>
                </a:lnTo>
                <a:lnTo>
                  <a:pt x="888509" y="15973"/>
                </a:lnTo>
                <a:lnTo>
                  <a:pt x="970435" y="9792"/>
                </a:lnTo>
                <a:lnTo>
                  <a:pt x="1057275" y="8526"/>
                </a:lnTo>
              </a:path>
            </a:pathLst>
          </a:custGeom>
          <a:noFill xmlns:a="http://schemas.openxmlformats.org/drawingml/2006/main"/>
          <a:ln xmlns:a="http://schemas.openxmlformats.org/drawingml/2006/main" w="19050">
            <a:solidFill>
              <a:srgbClr val="A45F57"/>
            </a:solidFill>
          </a:ln>
        </p:spPr>
      </p:sp>
      <p:sp>
        <p:nvSpPr>
          <p:cNvPr id="28" name="">
            <a:extLst xmlns:a="http://schemas.openxmlformats.org/drawingml/2006/main">
              <a:ext uri="{FF2B5EF4-FFF2-40B4-BE49-F238E27FC236}">
                <a16:creationId xmlns:a16="http://schemas.microsoft.com/office/drawing/2014/main" id="{265158E5-1FC6-404F-8DE0-3FC44026F759}"/>
              </a:ext>
            </a:extLst>
          </p:cNvPr>
          <p:cNvSpPr>
            <a:spLocks xmlns:a="http://schemas.openxmlformats.org/drawingml/2006/main" noGrp="1"/>
          </p:cNvSpPr>
          <p:nvPr/>
        </p:nvSpPr>
        <p:spPr>
          <a:xfrm xmlns:a="http://schemas.openxmlformats.org/drawingml/2006/main">
            <a:off x="9128816" y="3473811"/>
            <a:ext cx="89379" cy="86590"/>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A45F57"/>
            </a:solidFill>
          </a:ln>
        </p:spPr>
      </p:sp>
      <p:sp>
        <p:nvSpPr>
          <p:cNvPr id="29" name="">
            <a:extLst xmlns:a="http://schemas.openxmlformats.org/drawingml/2006/main">
              <a:ext uri="{FF2B5EF4-FFF2-40B4-BE49-F238E27FC236}">
                <a16:creationId xmlns:a16="http://schemas.microsoft.com/office/drawing/2014/main" id="{788AA083-DC31-4231-9B33-A2E0EBC6A4F5}"/>
              </a:ext>
            </a:extLst>
          </p:cNvPr>
          <p:cNvSpPr>
            <a:spLocks xmlns:a="http://schemas.openxmlformats.org/drawingml/2006/main" noGrp="1"/>
          </p:cNvSpPr>
          <p:nvPr/>
        </p:nvSpPr>
        <p:spPr>
          <a:xfrm xmlns:a="http://schemas.openxmlformats.org/drawingml/2006/main">
            <a:off x="9482620" y="2898550"/>
            <a:ext cx="1248133" cy="1251360"/>
          </a:xfrm>
          <a:custGeom xmlns:a="http://schemas.openxmlformats.org/drawingml/2006/main">
            <a:pathLst>
              <a:path w="1317474" h="1317221">
                <a:moveTo>
                  <a:pt x="1317474" y="651112"/>
                </a:moveTo>
                <a:lnTo>
                  <a:pt x="1316137" y="716294"/>
                </a:lnTo>
                <a:lnTo>
                  <a:pt x="1304766" y="780491"/>
                </a:lnTo>
                <a:lnTo>
                  <a:pt x="1286404" y="842848"/>
                </a:lnTo>
                <a:lnTo>
                  <a:pt x="1263775" y="903550"/>
                </a:lnTo>
                <a:lnTo>
                  <a:pt x="1237221" y="962671"/>
                </a:lnTo>
                <a:lnTo>
                  <a:pt x="1204915" y="1018998"/>
                </a:lnTo>
                <a:lnTo>
                  <a:pt x="1165009" y="1070212"/>
                </a:lnTo>
                <a:lnTo>
                  <a:pt x="1117748" y="1114526"/>
                </a:lnTo>
                <a:lnTo>
                  <a:pt x="1065719" y="1152385"/>
                </a:lnTo>
                <a:lnTo>
                  <a:pt x="1012081" y="1186518"/>
                </a:lnTo>
                <a:lnTo>
                  <a:pt x="958366" y="1219916"/>
                </a:lnTo>
                <a:lnTo>
                  <a:pt x="903726" y="1253197"/>
                </a:lnTo>
                <a:lnTo>
                  <a:pt x="846169" y="1283507"/>
                </a:lnTo>
                <a:lnTo>
                  <a:pt x="784610" y="1306054"/>
                </a:lnTo>
                <a:lnTo>
                  <a:pt x="719940" y="1317221"/>
                </a:lnTo>
                <a:lnTo>
                  <a:pt x="654334" y="1316881"/>
                </a:lnTo>
                <a:lnTo>
                  <a:pt x="589624" y="1308121"/>
                </a:lnTo>
                <a:lnTo>
                  <a:pt x="526322" y="1294674"/>
                </a:lnTo>
                <a:lnTo>
                  <a:pt x="464118" y="1278170"/>
                </a:lnTo>
                <a:lnTo>
                  <a:pt x="403210" y="1257379"/>
                </a:lnTo>
                <a:lnTo>
                  <a:pt x="344965" y="1229900"/>
                </a:lnTo>
                <a:lnTo>
                  <a:pt x="291123" y="1194696"/>
                </a:lnTo>
                <a:lnTo>
                  <a:pt x="242214" y="1153282"/>
                </a:lnTo>
                <a:lnTo>
                  <a:pt x="196835" y="1108611"/>
                </a:lnTo>
                <a:lnTo>
                  <a:pt x="152760" y="1062743"/>
                </a:lnTo>
                <a:lnTo>
                  <a:pt x="109218" y="1015347"/>
                </a:lnTo>
                <a:lnTo>
                  <a:pt x="68419" y="964290"/>
                </a:lnTo>
                <a:lnTo>
                  <a:pt x="34796" y="907733"/>
                </a:lnTo>
                <a:lnTo>
                  <a:pt x="12280" y="845877"/>
                </a:lnTo>
                <a:lnTo>
                  <a:pt x="1638" y="780941"/>
                </a:lnTo>
                <a:lnTo>
                  <a:pt x="0" y="715558"/>
                </a:lnTo>
                <a:lnTo>
                  <a:pt x="3024" y="651112"/>
                </a:lnTo>
                <a:lnTo>
                  <a:pt x="8016" y="587455"/>
                </a:lnTo>
                <a:lnTo>
                  <a:pt x="15573" y="524054"/>
                </a:lnTo>
                <a:lnTo>
                  <a:pt x="28554" y="461283"/>
                </a:lnTo>
                <a:lnTo>
                  <a:pt x="49381" y="400532"/>
                </a:lnTo>
                <a:lnTo>
                  <a:pt x="77979" y="343044"/>
                </a:lnTo>
                <a:lnTo>
                  <a:pt x="111990" y="288729"/>
                </a:lnTo>
                <a:lnTo>
                  <a:pt x="148925" y="236334"/>
                </a:lnTo>
                <a:lnTo>
                  <a:pt x="188291" y="185069"/>
                </a:lnTo>
                <a:lnTo>
                  <a:pt x="231840" y="136302"/>
                </a:lnTo>
                <a:lnTo>
                  <a:pt x="281812" y="93592"/>
                </a:lnTo>
                <a:lnTo>
                  <a:pt x="338739" y="60675"/>
                </a:lnTo>
                <a:lnTo>
                  <a:pt x="400708" y="38803"/>
                </a:lnTo>
                <a:lnTo>
                  <a:pt x="464604" y="25656"/>
                </a:lnTo>
                <a:lnTo>
                  <a:pt x="528174" y="16861"/>
                </a:lnTo>
                <a:lnTo>
                  <a:pt x="591102" y="9101"/>
                </a:lnTo>
                <a:lnTo>
                  <a:pt x="654334" y="2431"/>
                </a:lnTo>
                <a:lnTo>
                  <a:pt x="718463" y="0"/>
                </a:lnTo>
                <a:lnTo>
                  <a:pt x="782758" y="5481"/>
                </a:lnTo>
                <a:lnTo>
                  <a:pt x="845683" y="20320"/>
                </a:lnTo>
                <a:lnTo>
                  <a:pt x="906228" y="42986"/>
                </a:lnTo>
                <a:lnTo>
                  <a:pt x="964593" y="70658"/>
                </a:lnTo>
                <a:lnTo>
                  <a:pt x="1021392" y="101771"/>
                </a:lnTo>
                <a:lnTo>
                  <a:pt x="1076092" y="137198"/>
                </a:lnTo>
                <a:lnTo>
                  <a:pt x="1126292" y="179154"/>
                </a:lnTo>
                <a:lnTo>
                  <a:pt x="1168843" y="228865"/>
                </a:lnTo>
                <a:lnTo>
                  <a:pt x="1202143" y="285078"/>
                </a:lnTo>
                <a:lnTo>
                  <a:pt x="1227660" y="344663"/>
                </a:lnTo>
                <a:lnTo>
                  <a:pt x="1249189" y="404715"/>
                </a:lnTo>
                <a:lnTo>
                  <a:pt x="1270131" y="464312"/>
                </a:lnTo>
                <a:lnTo>
                  <a:pt x="1290831" y="524505"/>
                </a:lnTo>
                <a:lnTo>
                  <a:pt x="1308121" y="586720"/>
                </a:lnTo>
                <a:lnTo>
                  <a:pt x="1317474" y="651112"/>
                </a:lnTo>
                <a:close/>
              </a:path>
            </a:pathLst>
          </a:custGeom>
          <a:solidFill xmlns:a="http://schemas.openxmlformats.org/drawingml/2006/main">
            <a:srgbClr val="F8F6F2"/>
          </a:solidFill>
          <a:ln xmlns:a="http://schemas.openxmlformats.org/drawingml/2006/main" w="19050">
            <a:solidFill>
              <a:srgbClr val="A45F57"/>
            </a:solidFill>
          </a:ln>
        </p:spPr>
      </p:sp>
      <p:sp>
        <p:nvSpPr>
          <p:cNvPr id="30" name="">
            <a:extLst xmlns:a="http://schemas.openxmlformats.org/drawingml/2006/main">
              <a:ext uri="{FF2B5EF4-FFF2-40B4-BE49-F238E27FC236}">
                <a16:creationId xmlns:a16="http://schemas.microsoft.com/office/drawing/2014/main" id="{876C495D-064B-4120-8811-11F735C3F34C}"/>
              </a:ext>
            </a:extLst>
          </p:cNvPr>
          <p:cNvSpPr>
            <a:spLocks xmlns:a="http://schemas.openxmlformats.org/drawingml/2006/main" noGrp="1"/>
          </p:cNvSpPr>
          <p:nvPr/>
        </p:nvSpPr>
        <p:spPr>
          <a:xfrm xmlns:a="http://schemas.openxmlformats.org/drawingml/2006/main">
            <a:off x="9525000" y="3227546"/>
            <a:ext cx="1155032" cy="579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209" b="0">
                <a:solidFill>
                  <a:srgbClr val="A45F57"/>
                </a:solidFill>
                <a:latin typeface="Chalkboard"/>
                <a:ea typeface="Chalkboard"/>
                <a:cs typeface="Chalkboard"/>
              </a:defRPr>
            </a:pPr>
            <a:r>
              <a:rPr sz="2209" b="0">
                <a:solidFill>
                  <a:srgbClr val="A45F57"/>
                </a:solidFill>
                <a:latin typeface="Chalkboard"/>
                <a:ea typeface="Chalkboard"/>
                <a:cs typeface="Chalkboard"/>
              </a:rPr>
              <a:t>step</a:t>
            </a:r>
          </a:p>
        </p:txBody>
      </p:sp>
      <p:sp>
        <p:nvSpPr>
          <p:cNvPr id="31" name="">
            <a:extLst xmlns:a="http://schemas.openxmlformats.org/drawingml/2006/main">
              <a:ext uri="{FF2B5EF4-FFF2-40B4-BE49-F238E27FC236}">
                <a16:creationId xmlns:a16="http://schemas.microsoft.com/office/drawing/2014/main" id="{E8452B1A-6623-461B-AC12-310362FAA06D}"/>
              </a:ext>
            </a:extLst>
          </p:cNvPr>
          <p:cNvSpPr>
            <a:spLocks xmlns:a="http://schemas.openxmlformats.org/drawingml/2006/main" noGrp="1"/>
          </p:cNvSpPr>
          <p:nvPr/>
        </p:nvSpPr>
        <p:spPr>
          <a:xfrm xmlns:a="http://schemas.openxmlformats.org/drawingml/2006/main">
            <a:off x="781050" y="5064442"/>
            <a:ext cx="7354303"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351" b="0">
                <a:solidFill>
                  <a:srgbClr val="287B95"/>
                </a:solidFill>
                <a:latin typeface="Chalkboard"/>
                <a:ea typeface="Chalkboard"/>
                <a:cs typeface="Chalkboard"/>
              </a:defRPr>
            </a:pPr>
            <a:r>
              <a:rPr sz="2351" b="0">
                <a:solidFill>
                  <a:srgbClr val="287B95"/>
                </a:solidFill>
                <a:latin typeface="Chalkboard"/>
                <a:ea typeface="Chalkboard"/>
                <a:cs typeface="Chalkboard"/>
              </a:rPr>
              <a:t>g_batch = (g₁ + g₂ + g₃) / 3</a:t>
            </a:r>
          </a:p>
        </p:txBody>
      </p:sp>
      <p:sp>
        <p:nvSpPr>
          <p:cNvPr id="9200" name="matched-title">
            <a:extLst xmlns:a="http://schemas.openxmlformats.org/drawingml/2006/main">
              <a:ext uri="{FF2B5EF4-FFF2-40B4-BE49-F238E27FC236}">
                <a16:creationId xmlns:a16="http://schemas.microsoft.com/office/drawing/2014/main" id="{AB762A94-C389-407E-9CC2-9C082A173BB9}"/>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A batch combines many gradients</a:t>
            </a:r>
          </a:p>
        </p:txBody>
      </p:sp>
      <p:sp>
        <p:nvSpPr>
          <p:cNvPr id="9201" name="matched-subtitle">
            <a:extLst xmlns:a="http://schemas.openxmlformats.org/drawingml/2006/main">
              <a:ext uri="{FF2B5EF4-FFF2-40B4-BE49-F238E27FC236}">
                <a16:creationId xmlns:a16="http://schemas.microsoft.com/office/drawing/2014/main" id="{E5CB9C5B-9A65-408C-AF81-A73BC5B0FBF0}"/>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Average the example gradients, then make one parameter update.</a:t>
            </a:r>
          </a:p>
        </p:txBody>
      </p:sp>
      <p:sp>
        <p:nvSpPr>
          <p:cNvPr id="9202" name="matched-footer">
            <a:extLst xmlns:a="http://schemas.openxmlformats.org/drawingml/2006/main">
              <a:ext uri="{FF2B5EF4-FFF2-40B4-BE49-F238E27FC236}">
                <a16:creationId xmlns:a16="http://schemas.microsoft.com/office/drawing/2014/main" id="{28A6A853-62B7-40DB-80B6-EFFDEAC01742}"/>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Repeat over batches. One full pass is an epoch. Held-out validation data guides tuning and stopping.</a:t>
            </a:r>
          </a:p>
        </p:txBody>
      </p:sp>
      <p:sp>
        <p:nvSpPr>
          <p:cNvPr id="9203" name="matched-page">
            <a:extLst xmlns:a="http://schemas.openxmlformats.org/drawingml/2006/main">
              <a:ext uri="{FF2B5EF4-FFF2-40B4-BE49-F238E27FC236}">
                <a16:creationId xmlns:a16="http://schemas.microsoft.com/office/drawing/2014/main" id="{4941FEC8-CE80-4197-AACB-683A7B674011}"/>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18</a:t>
            </a:r>
          </a:p>
        </p:txBody>
      </p:sp>
    </p:spTree>
    <p:extLst>
      <p:ext uri="{BB962C8B-B14F-4D97-AF65-F5344CB8AC3E}">
        <p14:creationId xmlns:p14="http://schemas.microsoft.com/office/powerpoint/2010/main" val="1459197268"/>
      </p:ext>
    </p:extLst>
  </p:cSld>
</p:sld>
</file>

<file path=ppt/slides/slide12.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4" name="">
            <a:extLst xmlns:a="http://schemas.openxmlformats.org/drawingml/2006/main">
              <a:ext uri="{FF2B5EF4-FFF2-40B4-BE49-F238E27FC236}">
                <a16:creationId xmlns:a16="http://schemas.microsoft.com/office/drawing/2014/main" id="{1B06FF5D-F557-4416-B165-E52B6F9DF0C0}"/>
              </a:ext>
            </a:extLst>
          </p:cNvPr>
          <p:cNvSpPr>
            <a:spLocks xmlns:a="http://schemas.openxmlformats.org/drawingml/2006/main" noGrp="1"/>
          </p:cNvSpPr>
          <p:nvPr/>
        </p:nvSpPr>
        <p:spPr>
          <a:xfrm xmlns:a="http://schemas.openxmlformats.org/drawingml/2006/main">
            <a:off x="871287" y="2386012"/>
            <a:ext cx="2129589" cy="895826"/>
          </a:xfrm>
          <a:custGeom xmlns:a="http://schemas.openxmlformats.org/drawingml/2006/main">
            <a:pathLst>
              <a:path w="2247900" h="942975">
                <a:moveTo>
                  <a:pt x="28575" y="19050"/>
                </a:moveTo>
                <a:lnTo>
                  <a:pt x="789622" y="0"/>
                </a:lnTo>
                <a:lnTo>
                  <a:pt x="1614297" y="19050"/>
                </a:lnTo>
                <a:lnTo>
                  <a:pt x="2228850" y="9525"/>
                </a:lnTo>
                <a:lnTo>
                  <a:pt x="2247900" y="471488"/>
                </a:lnTo>
                <a:lnTo>
                  <a:pt x="2238375" y="923925"/>
                </a:lnTo>
                <a:lnTo>
                  <a:pt x="1458278" y="942975"/>
                </a:lnTo>
                <a:lnTo>
                  <a:pt x="678180" y="923925"/>
                </a:lnTo>
                <a:lnTo>
                  <a:pt x="9525" y="933450"/>
                </a:lnTo>
                <a:lnTo>
                  <a:pt x="0" y="471488"/>
                </a:lnTo>
                <a:lnTo>
                  <a:pt x="28575" y="19050"/>
                </a:lnTo>
                <a:close/>
              </a:path>
            </a:pathLst>
          </a:custGeom>
          <a:noFill xmlns:a="http://schemas.openxmlformats.org/drawingml/2006/main"/>
          <a:ln xmlns:a="http://schemas.openxmlformats.org/drawingml/2006/main" w="15240">
            <a:solidFill>
              <a:srgbClr val="287B95"/>
            </a:solidFill>
          </a:ln>
        </p:spPr>
      </p:sp>
      <p:sp>
        <p:nvSpPr>
          <p:cNvPr id="5" name="">
            <a:extLst xmlns:a="http://schemas.openxmlformats.org/drawingml/2006/main">
              <a:ext uri="{FF2B5EF4-FFF2-40B4-BE49-F238E27FC236}">
                <a16:creationId xmlns:a16="http://schemas.microsoft.com/office/drawing/2014/main" id="{030FEA76-F449-4DF7-9EA9-AF7D8E897E83}"/>
              </a:ext>
            </a:extLst>
          </p:cNvPr>
          <p:cNvSpPr>
            <a:spLocks xmlns:a="http://schemas.openxmlformats.org/drawingml/2006/main" noGrp="1"/>
          </p:cNvSpPr>
          <p:nvPr/>
        </p:nvSpPr>
        <p:spPr>
          <a:xfrm xmlns:a="http://schemas.openxmlformats.org/drawingml/2006/main">
            <a:off x="934453" y="2548890"/>
            <a:ext cx="2003258" cy="5519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95" b="0">
                <a:solidFill>
                  <a:srgbClr val="287B95"/>
                </a:solidFill>
                <a:latin typeface="Chalkboard"/>
                <a:ea typeface="Chalkboard"/>
                <a:cs typeface="Chalkboard"/>
              </a:defRPr>
            </a:pPr>
            <a:r>
              <a:rPr sz="1995" b="0">
                <a:solidFill>
                  <a:srgbClr val="287B95"/>
                </a:solidFill>
                <a:latin typeface="Chalkboard"/>
                <a:ea typeface="Chalkboard"/>
                <a:cs typeface="Chalkboard"/>
              </a:rPr>
              <a:t>Predict</a:t>
            </a:r>
          </a:p>
        </p:txBody>
      </p:sp>
      <p:sp>
        <p:nvSpPr>
          <p:cNvPr id="6" name="">
            <a:extLst xmlns:a="http://schemas.openxmlformats.org/drawingml/2006/main">
              <a:ext uri="{FF2B5EF4-FFF2-40B4-BE49-F238E27FC236}">
                <a16:creationId xmlns:a16="http://schemas.microsoft.com/office/drawing/2014/main" id="{A7342FD7-E660-4C4B-8910-A96959B1B61F}"/>
              </a:ext>
            </a:extLst>
          </p:cNvPr>
          <p:cNvSpPr>
            <a:spLocks xmlns:a="http://schemas.openxmlformats.org/drawingml/2006/main" noGrp="1"/>
          </p:cNvSpPr>
          <p:nvPr/>
        </p:nvSpPr>
        <p:spPr>
          <a:xfrm xmlns:a="http://schemas.openxmlformats.org/drawingml/2006/main">
            <a:off x="3091113" y="2822621"/>
            <a:ext cx="1470861" cy="12906"/>
          </a:xfrm>
          <a:custGeom xmlns:a="http://schemas.openxmlformats.org/drawingml/2006/main">
            <a:pathLst>
              <a:path w="1552575" h="13585">
                <a:moveTo>
                  <a:pt x="0" y="7137"/>
                </a:moveTo>
                <a:lnTo>
                  <a:pt x="134236" y="11992"/>
                </a:lnTo>
                <a:lnTo>
                  <a:pt x="252848" y="1222"/>
                </a:lnTo>
                <a:lnTo>
                  <a:pt x="383765" y="2758"/>
                </a:lnTo>
                <a:lnTo>
                  <a:pt x="523973" y="13585"/>
                </a:lnTo>
                <a:lnTo>
                  <a:pt x="645250" y="5481"/>
                </a:lnTo>
                <a:lnTo>
                  <a:pt x="778907" y="9757"/>
                </a:lnTo>
                <a:lnTo>
                  <a:pt x="900314" y="1782"/>
                </a:lnTo>
                <a:lnTo>
                  <a:pt x="1028420" y="508"/>
                </a:lnTo>
                <a:lnTo>
                  <a:pt x="1166839" y="9545"/>
                </a:lnTo>
                <a:lnTo>
                  <a:pt x="1290483" y="3808"/>
                </a:lnTo>
                <a:lnTo>
                  <a:pt x="1416056" y="0"/>
                </a:lnTo>
                <a:lnTo>
                  <a:pt x="1552575" y="7137"/>
                </a:lnTo>
              </a:path>
            </a:pathLst>
          </a:custGeom>
          <a:noFill xmlns:a="http://schemas.openxmlformats.org/drawingml/2006/main"/>
          <a:ln xmlns:a="http://schemas.openxmlformats.org/drawingml/2006/main" w="19050">
            <a:solidFill>
              <a:srgbClr val="287B95"/>
            </a:solidFill>
          </a:ln>
        </p:spPr>
      </p:sp>
      <p:sp>
        <p:nvSpPr>
          <p:cNvPr id="7" name="">
            <a:extLst xmlns:a="http://schemas.openxmlformats.org/drawingml/2006/main">
              <a:ext uri="{FF2B5EF4-FFF2-40B4-BE49-F238E27FC236}">
                <a16:creationId xmlns:a16="http://schemas.microsoft.com/office/drawing/2014/main" id="{36862A15-52C4-4BEF-85DA-673C28CE7AB8}"/>
              </a:ext>
            </a:extLst>
          </p:cNvPr>
          <p:cNvSpPr>
            <a:spLocks xmlns:a="http://schemas.openxmlformats.org/drawingml/2006/main" noGrp="1"/>
          </p:cNvSpPr>
          <p:nvPr/>
        </p:nvSpPr>
        <p:spPr>
          <a:xfrm xmlns:a="http://schemas.openxmlformats.org/drawingml/2006/main">
            <a:off x="4472595" y="2786106"/>
            <a:ext cx="89379" cy="86590"/>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287B95"/>
            </a:solidFill>
          </a:ln>
        </p:spPr>
      </p:sp>
      <p:sp>
        <p:nvSpPr>
          <p:cNvPr id="8" name="">
            <a:extLst xmlns:a="http://schemas.openxmlformats.org/drawingml/2006/main">
              <a:ext uri="{FF2B5EF4-FFF2-40B4-BE49-F238E27FC236}">
                <a16:creationId xmlns:a16="http://schemas.microsoft.com/office/drawing/2014/main" id="{577476BC-5DF8-4744-A588-05E8ED9E7489}"/>
              </a:ext>
            </a:extLst>
          </p:cNvPr>
          <p:cNvSpPr>
            <a:spLocks xmlns:a="http://schemas.openxmlformats.org/drawingml/2006/main" noGrp="1"/>
          </p:cNvSpPr>
          <p:nvPr/>
        </p:nvSpPr>
        <p:spPr>
          <a:xfrm xmlns:a="http://schemas.openxmlformats.org/drawingml/2006/main">
            <a:off x="4670258" y="2386012"/>
            <a:ext cx="2129589" cy="895826"/>
          </a:xfrm>
          <a:custGeom xmlns:a="http://schemas.openxmlformats.org/drawingml/2006/main">
            <a:pathLst>
              <a:path w="2247900" h="942975">
                <a:moveTo>
                  <a:pt x="28575" y="19050"/>
                </a:moveTo>
                <a:lnTo>
                  <a:pt x="789622" y="0"/>
                </a:lnTo>
                <a:lnTo>
                  <a:pt x="1614297" y="19050"/>
                </a:lnTo>
                <a:lnTo>
                  <a:pt x="2228850" y="9525"/>
                </a:lnTo>
                <a:lnTo>
                  <a:pt x="2247900" y="471488"/>
                </a:lnTo>
                <a:lnTo>
                  <a:pt x="2238375" y="923925"/>
                </a:lnTo>
                <a:lnTo>
                  <a:pt x="1458278" y="942975"/>
                </a:lnTo>
                <a:lnTo>
                  <a:pt x="678180" y="923925"/>
                </a:lnTo>
                <a:lnTo>
                  <a:pt x="9525" y="933450"/>
                </a:lnTo>
                <a:lnTo>
                  <a:pt x="0" y="471488"/>
                </a:lnTo>
                <a:lnTo>
                  <a:pt x="28575" y="19050"/>
                </a:lnTo>
                <a:close/>
              </a:path>
            </a:pathLst>
          </a:custGeom>
          <a:noFill xmlns:a="http://schemas.openxmlformats.org/drawingml/2006/main"/>
          <a:ln xmlns:a="http://schemas.openxmlformats.org/drawingml/2006/main" w="15240">
            <a:solidFill>
              <a:srgbClr val="287B95"/>
            </a:solidFill>
          </a:ln>
        </p:spPr>
      </p:sp>
      <p:sp>
        <p:nvSpPr>
          <p:cNvPr id="9" name="">
            <a:extLst xmlns:a="http://schemas.openxmlformats.org/drawingml/2006/main">
              <a:ext uri="{FF2B5EF4-FFF2-40B4-BE49-F238E27FC236}">
                <a16:creationId xmlns:a16="http://schemas.microsoft.com/office/drawing/2014/main" id="{1A43CA20-29E2-4304-96B2-1D36BC3FB1A3}"/>
              </a:ext>
            </a:extLst>
          </p:cNvPr>
          <p:cNvSpPr>
            <a:spLocks xmlns:a="http://schemas.openxmlformats.org/drawingml/2006/main" noGrp="1"/>
          </p:cNvSpPr>
          <p:nvPr/>
        </p:nvSpPr>
        <p:spPr>
          <a:xfrm xmlns:a="http://schemas.openxmlformats.org/drawingml/2006/main">
            <a:off x="4733424" y="2548890"/>
            <a:ext cx="2003258" cy="5519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95" b="0">
                <a:solidFill>
                  <a:srgbClr val="287B95"/>
                </a:solidFill>
                <a:latin typeface="Chalkboard"/>
                <a:ea typeface="Chalkboard"/>
                <a:cs typeface="Chalkboard"/>
              </a:defRPr>
            </a:pPr>
            <a:r>
              <a:rPr sz="1995" b="0">
                <a:solidFill>
                  <a:srgbClr val="287B95"/>
                </a:solidFill>
                <a:latin typeface="Chalkboard"/>
                <a:ea typeface="Chalkboard"/>
                <a:cs typeface="Chalkboard"/>
              </a:rPr>
              <a:t>Measure loss</a:t>
            </a:r>
          </a:p>
        </p:txBody>
      </p:sp>
      <p:sp>
        <p:nvSpPr>
          <p:cNvPr id="10" name="">
            <a:extLst xmlns:a="http://schemas.openxmlformats.org/drawingml/2006/main">
              <a:ext uri="{FF2B5EF4-FFF2-40B4-BE49-F238E27FC236}">
                <a16:creationId xmlns:a16="http://schemas.microsoft.com/office/drawing/2014/main" id="{7ABC35F5-DA7C-42C4-B9AD-DE4CA4A3891F}"/>
              </a:ext>
            </a:extLst>
          </p:cNvPr>
          <p:cNvSpPr>
            <a:spLocks xmlns:a="http://schemas.openxmlformats.org/drawingml/2006/main" noGrp="1"/>
          </p:cNvSpPr>
          <p:nvPr/>
        </p:nvSpPr>
        <p:spPr>
          <a:xfrm xmlns:a="http://schemas.openxmlformats.org/drawingml/2006/main">
            <a:off x="6890084" y="2822373"/>
            <a:ext cx="1732547" cy="14752"/>
          </a:xfrm>
          <a:custGeom xmlns:a="http://schemas.openxmlformats.org/drawingml/2006/main">
            <a:pathLst>
              <a:path w="1828800" h="15528">
                <a:moveTo>
                  <a:pt x="0" y="7398"/>
                </a:moveTo>
                <a:lnTo>
                  <a:pt x="159020" y="14018"/>
                </a:lnTo>
                <a:lnTo>
                  <a:pt x="304201" y="6799"/>
                </a:lnTo>
                <a:lnTo>
                  <a:pt x="454896" y="5094"/>
                </a:lnTo>
                <a:lnTo>
                  <a:pt x="602202" y="0"/>
                </a:lnTo>
                <a:lnTo>
                  <a:pt x="761908" y="7306"/>
                </a:lnTo>
                <a:lnTo>
                  <a:pt x="908561" y="1559"/>
                </a:lnTo>
                <a:lnTo>
                  <a:pt x="1066121" y="6719"/>
                </a:lnTo>
                <a:lnTo>
                  <a:pt x="1220434" y="8632"/>
                </a:lnTo>
                <a:lnTo>
                  <a:pt x="1379730" y="15528"/>
                </a:lnTo>
                <a:lnTo>
                  <a:pt x="1527475" y="10873"/>
                </a:lnTo>
                <a:lnTo>
                  <a:pt x="1683050" y="14048"/>
                </a:lnTo>
                <a:lnTo>
                  <a:pt x="1828800" y="7398"/>
                </a:lnTo>
              </a:path>
            </a:pathLst>
          </a:custGeom>
          <a:noFill xmlns:a="http://schemas.openxmlformats.org/drawingml/2006/main"/>
          <a:ln xmlns:a="http://schemas.openxmlformats.org/drawingml/2006/main" w="19050">
            <a:solidFill>
              <a:srgbClr val="287B95"/>
            </a:solidFill>
          </a:ln>
        </p:spPr>
      </p:sp>
      <p:sp>
        <p:nvSpPr>
          <p:cNvPr id="11" name="">
            <a:extLst xmlns:a="http://schemas.openxmlformats.org/drawingml/2006/main">
              <a:ext uri="{FF2B5EF4-FFF2-40B4-BE49-F238E27FC236}">
                <a16:creationId xmlns:a16="http://schemas.microsoft.com/office/drawing/2014/main" id="{DF91A471-95CE-4D7A-8BE8-82421A683355}"/>
              </a:ext>
            </a:extLst>
          </p:cNvPr>
          <p:cNvSpPr>
            <a:spLocks xmlns:a="http://schemas.openxmlformats.org/drawingml/2006/main" noGrp="1"/>
          </p:cNvSpPr>
          <p:nvPr/>
        </p:nvSpPr>
        <p:spPr>
          <a:xfrm xmlns:a="http://schemas.openxmlformats.org/drawingml/2006/main">
            <a:off x="8533253" y="2786106"/>
            <a:ext cx="89379" cy="86590"/>
          </a:xfrm>
          <a:custGeom xmlns:a="http://schemas.openxmlformats.org/drawingml/2006/main">
            <a:pathLst>
              <a:path w="94344" h="91147">
                <a:moveTo>
                  <a:pt x="0" y="91147"/>
                </a:moveTo>
                <a:lnTo>
                  <a:pt x="94344" y="45574"/>
                </a:lnTo>
                <a:lnTo>
                  <a:pt x="0" y="0"/>
                </a:lnTo>
              </a:path>
            </a:pathLst>
          </a:custGeom>
          <a:noFill xmlns:a="http://schemas.openxmlformats.org/drawingml/2006/main"/>
          <a:ln xmlns:a="http://schemas.openxmlformats.org/drawingml/2006/main" w="19050">
            <a:solidFill>
              <a:srgbClr val="287B95"/>
            </a:solidFill>
          </a:ln>
        </p:spPr>
      </p:sp>
      <p:sp>
        <p:nvSpPr>
          <p:cNvPr id="12" name="">
            <a:extLst xmlns:a="http://schemas.openxmlformats.org/drawingml/2006/main">
              <a:ext uri="{FF2B5EF4-FFF2-40B4-BE49-F238E27FC236}">
                <a16:creationId xmlns:a16="http://schemas.microsoft.com/office/drawing/2014/main" id="{89EF40AD-9FE0-40F1-BC29-7472A2FC47AF}"/>
              </a:ext>
            </a:extLst>
          </p:cNvPr>
          <p:cNvSpPr>
            <a:spLocks xmlns:a="http://schemas.openxmlformats.org/drawingml/2006/main" noGrp="1"/>
          </p:cNvSpPr>
          <p:nvPr/>
        </p:nvSpPr>
        <p:spPr>
          <a:xfrm xmlns:a="http://schemas.openxmlformats.org/drawingml/2006/main">
            <a:off x="8730916" y="2386012"/>
            <a:ext cx="2129589" cy="895826"/>
          </a:xfrm>
          <a:custGeom xmlns:a="http://schemas.openxmlformats.org/drawingml/2006/main">
            <a:pathLst>
              <a:path w="2247900" h="942975">
                <a:moveTo>
                  <a:pt x="28575" y="19050"/>
                </a:moveTo>
                <a:lnTo>
                  <a:pt x="789623" y="0"/>
                </a:lnTo>
                <a:lnTo>
                  <a:pt x="1614297" y="19050"/>
                </a:lnTo>
                <a:lnTo>
                  <a:pt x="2228850" y="9525"/>
                </a:lnTo>
                <a:lnTo>
                  <a:pt x="2247900" y="471488"/>
                </a:lnTo>
                <a:lnTo>
                  <a:pt x="2238375" y="923925"/>
                </a:lnTo>
                <a:lnTo>
                  <a:pt x="1458277" y="942975"/>
                </a:lnTo>
                <a:lnTo>
                  <a:pt x="678180" y="923925"/>
                </a:lnTo>
                <a:lnTo>
                  <a:pt x="9525" y="933450"/>
                </a:lnTo>
                <a:lnTo>
                  <a:pt x="0" y="471488"/>
                </a:lnTo>
                <a:lnTo>
                  <a:pt x="28575" y="19050"/>
                </a:lnTo>
                <a:close/>
              </a:path>
            </a:pathLst>
          </a:custGeom>
          <a:noFill xmlns:a="http://schemas.openxmlformats.org/drawingml/2006/main"/>
          <a:ln xmlns:a="http://schemas.openxmlformats.org/drawingml/2006/main" w="15240">
            <a:solidFill>
              <a:srgbClr val="A45F57"/>
            </a:solidFill>
          </a:ln>
        </p:spPr>
      </p:sp>
      <p:sp>
        <p:nvSpPr>
          <p:cNvPr id="13" name="">
            <a:extLst xmlns:a="http://schemas.openxmlformats.org/drawingml/2006/main">
              <a:ext uri="{FF2B5EF4-FFF2-40B4-BE49-F238E27FC236}">
                <a16:creationId xmlns:a16="http://schemas.microsoft.com/office/drawing/2014/main" id="{90E506FD-BB0E-4CD5-83A1-8C0A69766F33}"/>
              </a:ext>
            </a:extLst>
          </p:cNvPr>
          <p:cNvSpPr>
            <a:spLocks xmlns:a="http://schemas.openxmlformats.org/drawingml/2006/main" noGrp="1"/>
          </p:cNvSpPr>
          <p:nvPr/>
        </p:nvSpPr>
        <p:spPr>
          <a:xfrm xmlns:a="http://schemas.openxmlformats.org/drawingml/2006/main">
            <a:off x="8794082" y="2548890"/>
            <a:ext cx="2003258" cy="5519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95" b="0">
                <a:solidFill>
                  <a:srgbClr val="A45F57"/>
                </a:solidFill>
                <a:latin typeface="Chalkboard"/>
                <a:ea typeface="Chalkboard"/>
                <a:cs typeface="Chalkboard"/>
              </a:defRPr>
            </a:pPr>
            <a:r>
              <a:rPr sz="1995" b="0">
                <a:solidFill>
                  <a:srgbClr val="A45F57"/>
                </a:solidFill>
                <a:latin typeface="Chalkboard"/>
                <a:ea typeface="Chalkboard"/>
                <a:cs typeface="Chalkboard"/>
              </a:rPr>
              <a:t>Backpropagate</a:t>
            </a:r>
          </a:p>
        </p:txBody>
      </p:sp>
      <p:sp>
        <p:nvSpPr>
          <p:cNvPr id="14" name="">
            <a:extLst xmlns:a="http://schemas.openxmlformats.org/drawingml/2006/main">
              <a:ext uri="{FF2B5EF4-FFF2-40B4-BE49-F238E27FC236}">
                <a16:creationId xmlns:a16="http://schemas.microsoft.com/office/drawing/2014/main" id="{A723BB88-3191-4413-9CEA-B3B4EC9AA135}"/>
              </a:ext>
            </a:extLst>
          </p:cNvPr>
          <p:cNvSpPr>
            <a:spLocks xmlns:a="http://schemas.openxmlformats.org/drawingml/2006/main" noGrp="1"/>
          </p:cNvSpPr>
          <p:nvPr/>
        </p:nvSpPr>
        <p:spPr>
          <a:xfrm xmlns:a="http://schemas.openxmlformats.org/drawingml/2006/main">
            <a:off x="4652211" y="4449128"/>
            <a:ext cx="2183732" cy="877729"/>
          </a:xfrm>
          <a:custGeom xmlns:a="http://schemas.openxmlformats.org/drawingml/2006/main">
            <a:pathLst>
              <a:path w="2305050" h="923925">
                <a:moveTo>
                  <a:pt x="28575" y="19050"/>
                </a:moveTo>
                <a:lnTo>
                  <a:pt x="809625" y="0"/>
                </a:lnTo>
                <a:lnTo>
                  <a:pt x="1655445" y="19050"/>
                </a:lnTo>
                <a:lnTo>
                  <a:pt x="2286000" y="9525"/>
                </a:lnTo>
                <a:lnTo>
                  <a:pt x="2305050" y="461963"/>
                </a:lnTo>
                <a:lnTo>
                  <a:pt x="2295525" y="904875"/>
                </a:lnTo>
                <a:lnTo>
                  <a:pt x="1495425" y="923925"/>
                </a:lnTo>
                <a:lnTo>
                  <a:pt x="695325" y="904875"/>
                </a:lnTo>
                <a:lnTo>
                  <a:pt x="9525" y="914400"/>
                </a:lnTo>
                <a:lnTo>
                  <a:pt x="0" y="461963"/>
                </a:lnTo>
                <a:lnTo>
                  <a:pt x="28575" y="19050"/>
                </a:lnTo>
                <a:close/>
              </a:path>
            </a:pathLst>
          </a:custGeom>
          <a:noFill xmlns:a="http://schemas.openxmlformats.org/drawingml/2006/main"/>
          <a:ln xmlns:a="http://schemas.openxmlformats.org/drawingml/2006/main" w="15240">
            <a:solidFill>
              <a:srgbClr val="A45F57"/>
            </a:solidFill>
          </a:ln>
        </p:spPr>
      </p:sp>
      <p:sp>
        <p:nvSpPr>
          <p:cNvPr id="15" name="">
            <a:extLst xmlns:a="http://schemas.openxmlformats.org/drawingml/2006/main">
              <a:ext uri="{FF2B5EF4-FFF2-40B4-BE49-F238E27FC236}">
                <a16:creationId xmlns:a16="http://schemas.microsoft.com/office/drawing/2014/main" id="{118BE632-E1DC-42B1-A322-378A4C3BD8AF}"/>
              </a:ext>
            </a:extLst>
          </p:cNvPr>
          <p:cNvSpPr>
            <a:spLocks xmlns:a="http://schemas.openxmlformats.org/drawingml/2006/main" noGrp="1"/>
          </p:cNvSpPr>
          <p:nvPr/>
        </p:nvSpPr>
        <p:spPr>
          <a:xfrm xmlns:a="http://schemas.openxmlformats.org/drawingml/2006/main">
            <a:off x="4706353" y="4630102"/>
            <a:ext cx="2075447" cy="5157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95" b="0">
                <a:solidFill>
                  <a:srgbClr val="A45F57"/>
                </a:solidFill>
                <a:latin typeface="Chalkboard"/>
                <a:ea typeface="Chalkboard"/>
                <a:cs typeface="Chalkboard"/>
              </a:defRPr>
            </a:pPr>
            <a:r>
              <a:rPr sz="1995" b="0">
                <a:solidFill>
                  <a:srgbClr val="A45F57"/>
                </a:solidFill>
                <a:latin typeface="Chalkboard"/>
                <a:ea typeface="Chalkboard"/>
                <a:cs typeface="Chalkboard"/>
              </a:rPr>
              <a:t>Update weights</a:t>
            </a:r>
          </a:p>
        </p:txBody>
      </p:sp>
      <p:sp>
        <p:nvSpPr>
          <p:cNvPr id="16" name="">
            <a:extLst xmlns:a="http://schemas.openxmlformats.org/drawingml/2006/main">
              <a:ext uri="{FF2B5EF4-FFF2-40B4-BE49-F238E27FC236}">
                <a16:creationId xmlns:a16="http://schemas.microsoft.com/office/drawing/2014/main" id="{89CF68F7-FCFB-48FF-BF9A-4E13678D0ADC}"/>
              </a:ext>
            </a:extLst>
          </p:cNvPr>
          <p:cNvSpPr>
            <a:spLocks xmlns:a="http://schemas.openxmlformats.org/drawingml/2006/main" noGrp="1"/>
          </p:cNvSpPr>
          <p:nvPr/>
        </p:nvSpPr>
        <p:spPr>
          <a:xfrm xmlns:a="http://schemas.openxmlformats.org/drawingml/2006/main">
            <a:off x="6953250" y="3444716"/>
            <a:ext cx="2851484" cy="1447800"/>
          </a:xfrm>
          <a:custGeom xmlns:a="http://schemas.openxmlformats.org/drawingml/2006/main">
            <a:pathLst>
              <a:path w="3009900" h="1524000">
                <a:moveTo>
                  <a:pt x="3000375" y="0"/>
                </a:moveTo>
                <a:lnTo>
                  <a:pt x="3009900" y="1524000"/>
                </a:lnTo>
                <a:lnTo>
                  <a:pt x="0" y="1524000"/>
                </a:lnTo>
              </a:path>
            </a:pathLst>
          </a:custGeom>
          <a:noFill xmlns:a="http://schemas.openxmlformats.org/drawingml/2006/main"/>
          <a:ln xmlns:a="http://schemas.openxmlformats.org/drawingml/2006/main" w="19050">
            <a:solidFill>
              <a:srgbClr val="A45F57"/>
            </a:solidFill>
          </a:ln>
        </p:spPr>
      </p:sp>
      <p:sp>
        <p:nvSpPr>
          <p:cNvPr id="17" name="">
            <a:extLst xmlns:a="http://schemas.openxmlformats.org/drawingml/2006/main">
              <a:ext uri="{FF2B5EF4-FFF2-40B4-BE49-F238E27FC236}">
                <a16:creationId xmlns:a16="http://schemas.microsoft.com/office/drawing/2014/main" id="{D1534C5C-BE3B-4413-95A7-A1E6E07185E0}"/>
              </a:ext>
            </a:extLst>
          </p:cNvPr>
          <p:cNvSpPr>
            <a:spLocks xmlns:a="http://schemas.openxmlformats.org/drawingml/2006/main" noGrp="1"/>
          </p:cNvSpPr>
          <p:nvPr/>
        </p:nvSpPr>
        <p:spPr>
          <a:xfrm xmlns:a="http://schemas.openxmlformats.org/drawingml/2006/main">
            <a:off x="6953250" y="4884990"/>
            <a:ext cx="351924" cy="10270"/>
          </a:xfrm>
          <a:custGeom xmlns:a="http://schemas.openxmlformats.org/drawingml/2006/main">
            <a:pathLst>
              <a:path w="371475" h="10810">
                <a:moveTo>
                  <a:pt x="371475" y="7922"/>
                </a:moveTo>
                <a:lnTo>
                  <a:pt x="335718" y="3122"/>
                </a:lnTo>
                <a:lnTo>
                  <a:pt x="312450" y="10810"/>
                </a:lnTo>
                <a:lnTo>
                  <a:pt x="272414" y="1730"/>
                </a:lnTo>
                <a:lnTo>
                  <a:pt x="248179" y="8451"/>
                </a:lnTo>
                <a:lnTo>
                  <a:pt x="218307" y="9535"/>
                </a:lnTo>
                <a:lnTo>
                  <a:pt x="187391" y="9576"/>
                </a:lnTo>
                <a:lnTo>
                  <a:pt x="157642" y="10783"/>
                </a:lnTo>
                <a:lnTo>
                  <a:pt x="125867" y="9964"/>
                </a:lnTo>
                <a:lnTo>
                  <a:pt x="91503" y="6556"/>
                </a:lnTo>
                <a:lnTo>
                  <a:pt x="60263" y="6272"/>
                </a:lnTo>
                <a:lnTo>
                  <a:pt x="23034" y="0"/>
                </a:lnTo>
                <a:lnTo>
                  <a:pt x="0" y="7922"/>
                </a:lnTo>
              </a:path>
            </a:pathLst>
          </a:custGeom>
          <a:noFill xmlns:a="http://schemas.openxmlformats.org/drawingml/2006/main"/>
          <a:ln xmlns:a="http://schemas.openxmlformats.org/drawingml/2006/main" w="19050">
            <a:solidFill>
              <a:srgbClr val="A45F57"/>
            </a:solidFill>
          </a:ln>
        </p:spPr>
      </p:sp>
      <p:sp>
        <p:nvSpPr>
          <p:cNvPr id="18" name="">
            <a:extLst xmlns:a="http://schemas.openxmlformats.org/drawingml/2006/main">
              <a:ext uri="{FF2B5EF4-FFF2-40B4-BE49-F238E27FC236}">
                <a16:creationId xmlns:a16="http://schemas.microsoft.com/office/drawing/2014/main" id="{B52D1B36-D15C-489B-8C06-48AA29E00E0A}"/>
              </a:ext>
            </a:extLst>
          </p:cNvPr>
          <p:cNvSpPr>
            <a:spLocks xmlns:a="http://schemas.openxmlformats.org/drawingml/2006/main" noGrp="1"/>
          </p:cNvSpPr>
          <p:nvPr/>
        </p:nvSpPr>
        <p:spPr>
          <a:xfrm xmlns:a="http://schemas.openxmlformats.org/drawingml/2006/main">
            <a:off x="6953250" y="4849221"/>
            <a:ext cx="89379" cy="86590"/>
          </a:xfrm>
          <a:custGeom xmlns:a="http://schemas.openxmlformats.org/drawingml/2006/main">
            <a:pathLst>
              <a:path w="94344" h="91147">
                <a:moveTo>
                  <a:pt x="94344" y="0"/>
                </a:moveTo>
                <a:lnTo>
                  <a:pt x="0" y="45574"/>
                </a:lnTo>
                <a:lnTo>
                  <a:pt x="94344" y="91147"/>
                </a:lnTo>
              </a:path>
            </a:pathLst>
          </a:custGeom>
          <a:noFill xmlns:a="http://schemas.openxmlformats.org/drawingml/2006/main"/>
          <a:ln xmlns:a="http://schemas.openxmlformats.org/drawingml/2006/main" w="19050">
            <a:solidFill>
              <a:srgbClr val="A45F57"/>
            </a:solidFill>
          </a:ln>
        </p:spPr>
      </p:sp>
      <p:sp>
        <p:nvSpPr>
          <p:cNvPr id="19" name="">
            <a:extLst xmlns:a="http://schemas.openxmlformats.org/drawingml/2006/main">
              <a:ext uri="{FF2B5EF4-FFF2-40B4-BE49-F238E27FC236}">
                <a16:creationId xmlns:a16="http://schemas.microsoft.com/office/drawing/2014/main" id="{009C2EDC-9A1C-48E8-95CE-ABB8DBEDAFD5}"/>
              </a:ext>
            </a:extLst>
          </p:cNvPr>
          <p:cNvSpPr>
            <a:spLocks xmlns:a="http://schemas.openxmlformats.org/drawingml/2006/main" noGrp="1"/>
          </p:cNvSpPr>
          <p:nvPr/>
        </p:nvSpPr>
        <p:spPr>
          <a:xfrm xmlns:a="http://schemas.openxmlformats.org/drawingml/2006/main">
            <a:off x="1918034" y="3426619"/>
            <a:ext cx="2607845" cy="1465898"/>
          </a:xfrm>
          <a:custGeom xmlns:a="http://schemas.openxmlformats.org/drawingml/2006/main">
            <a:pathLst>
              <a:path w="2752725" h="1543050">
                <a:moveTo>
                  <a:pt x="2752725" y="1543050"/>
                </a:moveTo>
                <a:lnTo>
                  <a:pt x="0" y="1543050"/>
                </a:lnTo>
                <a:lnTo>
                  <a:pt x="19050" y="0"/>
                </a:lnTo>
              </a:path>
            </a:pathLst>
          </a:custGeom>
          <a:noFill xmlns:a="http://schemas.openxmlformats.org/drawingml/2006/main"/>
          <a:ln xmlns:a="http://schemas.openxmlformats.org/drawingml/2006/main" w="19050">
            <a:solidFill>
              <a:srgbClr val="287B95"/>
            </a:solidFill>
          </a:ln>
        </p:spPr>
      </p:sp>
      <p:sp>
        <p:nvSpPr>
          <p:cNvPr id="20" name="">
            <a:extLst xmlns:a="http://schemas.openxmlformats.org/drawingml/2006/main">
              <a:ext uri="{FF2B5EF4-FFF2-40B4-BE49-F238E27FC236}">
                <a16:creationId xmlns:a16="http://schemas.microsoft.com/office/drawing/2014/main" id="{6687CA29-0094-4639-AD98-FFBE3A3F99A9}"/>
              </a:ext>
            </a:extLst>
          </p:cNvPr>
          <p:cNvSpPr>
            <a:spLocks xmlns:a="http://schemas.openxmlformats.org/drawingml/2006/main" noGrp="1"/>
          </p:cNvSpPr>
          <p:nvPr/>
        </p:nvSpPr>
        <p:spPr>
          <a:xfrm xmlns:a="http://schemas.openxmlformats.org/drawingml/2006/main">
            <a:off x="1928698" y="3426619"/>
            <a:ext cx="10582" cy="380048"/>
          </a:xfrm>
          <a:custGeom xmlns:a="http://schemas.openxmlformats.org/drawingml/2006/main">
            <a:pathLst>
              <a:path w="11170" h="400050">
                <a:moveTo>
                  <a:pt x="7794" y="400050"/>
                </a:moveTo>
                <a:lnTo>
                  <a:pt x="8740" y="367659"/>
                </a:lnTo>
                <a:lnTo>
                  <a:pt x="3107" y="328688"/>
                </a:lnTo>
                <a:lnTo>
                  <a:pt x="3814" y="296057"/>
                </a:lnTo>
                <a:lnTo>
                  <a:pt x="8171" y="267077"/>
                </a:lnTo>
                <a:lnTo>
                  <a:pt x="5630" y="231199"/>
                </a:lnTo>
                <a:lnTo>
                  <a:pt x="4886" y="197117"/>
                </a:lnTo>
                <a:lnTo>
                  <a:pt x="9544" y="168437"/>
                </a:lnTo>
                <a:lnTo>
                  <a:pt x="11170" y="136726"/>
                </a:lnTo>
                <a:lnTo>
                  <a:pt x="1571" y="93790"/>
                </a:lnTo>
                <a:lnTo>
                  <a:pt x="6620" y="65501"/>
                </a:lnTo>
                <a:lnTo>
                  <a:pt x="0" y="25544"/>
                </a:lnTo>
                <a:lnTo>
                  <a:pt x="7794" y="0"/>
                </a:lnTo>
              </a:path>
            </a:pathLst>
          </a:custGeom>
          <a:noFill xmlns:a="http://schemas.openxmlformats.org/drawingml/2006/main"/>
          <a:ln xmlns:a="http://schemas.openxmlformats.org/drawingml/2006/main" w="19050">
            <a:solidFill>
              <a:srgbClr val="287B95"/>
            </a:solidFill>
          </a:ln>
        </p:spPr>
      </p:sp>
      <p:sp>
        <p:nvSpPr>
          <p:cNvPr id="21" name="">
            <a:extLst xmlns:a="http://schemas.openxmlformats.org/drawingml/2006/main">
              <a:ext uri="{FF2B5EF4-FFF2-40B4-BE49-F238E27FC236}">
                <a16:creationId xmlns:a16="http://schemas.microsoft.com/office/drawing/2014/main" id="{A409F65A-809B-48AE-B1BE-64CA69465CAF}"/>
              </a:ext>
            </a:extLst>
          </p:cNvPr>
          <p:cNvSpPr>
            <a:spLocks xmlns:a="http://schemas.openxmlformats.org/drawingml/2006/main" noGrp="1"/>
          </p:cNvSpPr>
          <p:nvPr/>
        </p:nvSpPr>
        <p:spPr>
          <a:xfrm xmlns:a="http://schemas.openxmlformats.org/drawingml/2006/main">
            <a:off x="1892906" y="3426619"/>
            <a:ext cx="86350" cy="89627"/>
          </a:xfrm>
          <a:custGeom xmlns:a="http://schemas.openxmlformats.org/drawingml/2006/main">
            <a:pathLst>
              <a:path w="91147" h="94344">
                <a:moveTo>
                  <a:pt x="91147" y="94344"/>
                </a:moveTo>
                <a:lnTo>
                  <a:pt x="45574" y="0"/>
                </a:lnTo>
                <a:lnTo>
                  <a:pt x="0" y="94344"/>
                </a:lnTo>
              </a:path>
            </a:pathLst>
          </a:custGeom>
          <a:noFill xmlns:a="http://schemas.openxmlformats.org/drawingml/2006/main"/>
          <a:ln xmlns:a="http://schemas.openxmlformats.org/drawingml/2006/main" w="19050">
            <a:solidFill>
              <a:srgbClr val="287B95"/>
            </a:solidFill>
          </a:ln>
        </p:spPr>
      </p:sp>
      <p:sp>
        <p:nvSpPr>
          <p:cNvPr id="9200" name="matched-title">
            <a:extLst xmlns:a="http://schemas.openxmlformats.org/drawingml/2006/main">
              <a:ext uri="{FF2B5EF4-FFF2-40B4-BE49-F238E27FC236}">
                <a16:creationId xmlns:a16="http://schemas.microsoft.com/office/drawing/2014/main" id="{2C8FA2B5-A1B6-4760-8D36-2A518F4822CB}"/>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The learning loop</a:t>
            </a:r>
          </a:p>
        </p:txBody>
      </p:sp>
      <p:sp>
        <p:nvSpPr>
          <p:cNvPr id="9201" name="matched-subtitle">
            <a:extLst xmlns:a="http://schemas.openxmlformats.org/drawingml/2006/main">
              <a:ext uri="{FF2B5EF4-FFF2-40B4-BE49-F238E27FC236}">
                <a16:creationId xmlns:a16="http://schemas.microsoft.com/office/drawing/2014/main" id="{109714FC-D2DB-4E17-8DE1-66DB2FF0D6ED}"/>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Predictions travel forward. Gradients travel backward. Updates start the next pass.</a:t>
            </a:r>
          </a:p>
        </p:txBody>
      </p:sp>
      <p:sp>
        <p:nvSpPr>
          <p:cNvPr id="9202" name="matched-footer">
            <a:extLst xmlns:a="http://schemas.openxmlformats.org/drawingml/2006/main">
              <a:ext uri="{FF2B5EF4-FFF2-40B4-BE49-F238E27FC236}">
                <a16:creationId xmlns:a16="http://schemas.microsoft.com/office/drawing/2014/main" id="{1B9EA7BB-AF50-428B-8C9C-0462A7135093}"/>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θ_new = θ_old − η∇L</a:t>
            </a:r>
          </a:p>
        </p:txBody>
      </p:sp>
      <p:sp>
        <p:nvSpPr>
          <p:cNvPr id="9203" name="matched-page">
            <a:extLst xmlns:a="http://schemas.openxmlformats.org/drawingml/2006/main">
              <a:ext uri="{FF2B5EF4-FFF2-40B4-BE49-F238E27FC236}">
                <a16:creationId xmlns:a16="http://schemas.microsoft.com/office/drawing/2014/main" id="{EEDEFC47-665F-4B0D-A7E2-A0695F3B2A40}"/>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20</a:t>
            </a:r>
          </a:p>
        </p:txBody>
      </p:sp>
    </p:spTree>
    <p:extLst>
      <p:ext uri="{BB962C8B-B14F-4D97-AF65-F5344CB8AC3E}">
        <p14:creationId xmlns:p14="http://schemas.microsoft.com/office/powerpoint/2010/main" val="170654766"/>
      </p:ext>
    </p:extLst>
  </p:cSld>
</p:sld>
</file>

<file path=ppt/slides/slide13.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5" name="recap-step-1">
            <a:extLst xmlns:a="http://schemas.openxmlformats.org/drawingml/2006/main">
              <a:ext uri="{FF2B5EF4-FFF2-40B4-BE49-F238E27FC236}">
                <a16:creationId xmlns:a16="http://schemas.microsoft.com/office/drawing/2014/main" id="{40B1FB04-9255-4F3F-886D-9128AB480B6C}"/>
              </a:ext>
            </a:extLst>
          </p:cNvPr>
          <p:cNvSpPr>
            <a:spLocks xmlns:a="http://schemas.openxmlformats.org/drawingml/2006/main" noGrp="1"/>
          </p:cNvSpPr>
          <p:nvPr/>
        </p:nvSpPr>
        <p:spPr>
          <a:xfrm xmlns:a="http://schemas.openxmlformats.org/drawingml/2006/main">
            <a:off x="916405" y="2304574"/>
            <a:ext cx="2219826" cy="1610678"/>
          </a:xfrm>
          <a:prstGeom xmlns:a="http://schemas.openxmlformats.org/drawingml/2006/main" prst="roundRect">
            <a:avLst>
              <a:gd name="adj" fmla="val 11236"/>
            </a:avLst>
          </a:prstGeom>
          <a:solidFill xmlns:a="http://schemas.openxmlformats.org/drawingml/2006/main">
            <a:srgbClr val="EAF3FA"/>
          </a:solidFill>
          <a:ln xmlns:a="http://schemas.openxmlformats.org/drawingml/2006/main" w="15240">
            <a:solidFill>
              <a:srgbClr val="345C83"/>
            </a:solidFill>
            <a:prstDash val="solid"/>
          </a:ln>
        </p:spPr>
      </p:sp>
      <p:sp>
        <p:nvSpPr>
          <p:cNvPr id="6" name="recap-step-1-title">
            <a:extLst xmlns:a="http://schemas.openxmlformats.org/drawingml/2006/main">
              <a:ext uri="{FF2B5EF4-FFF2-40B4-BE49-F238E27FC236}">
                <a16:creationId xmlns:a16="http://schemas.microsoft.com/office/drawing/2014/main" id="{1B02BF90-FB4B-4798-983A-B0E7E0EB7D96}"/>
              </a:ext>
            </a:extLst>
          </p:cNvPr>
          <p:cNvSpPr>
            <a:spLocks xmlns:a="http://schemas.openxmlformats.org/drawingml/2006/main" noGrp="1"/>
          </p:cNvSpPr>
          <p:nvPr/>
        </p:nvSpPr>
        <p:spPr>
          <a:xfrm xmlns:a="http://schemas.openxmlformats.org/drawingml/2006/main">
            <a:off x="1042737" y="2557939"/>
            <a:ext cx="1967163"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68" b="1">
                <a:solidFill>
                  <a:srgbClr val="345C83"/>
                </a:solidFill>
                <a:latin typeface="Chalkboard"/>
                <a:ea typeface="Chalkboard"/>
                <a:cs typeface="Chalkboard"/>
              </a:defRPr>
            </a:pPr>
            <a:r>
              <a:rPr sz="1568" b="1">
                <a:solidFill>
                  <a:srgbClr val="345C83"/>
                </a:solidFill>
                <a:latin typeface="Chalkboard"/>
                <a:ea typeface="Chalkboard"/>
                <a:cs typeface="Chalkboard"/>
              </a:rPr>
              <a:t>Predict</a:t>
            </a:r>
          </a:p>
        </p:txBody>
      </p:sp>
      <p:sp>
        <p:nvSpPr>
          <p:cNvPr id="7" name="recap-step-1-detail">
            <a:extLst xmlns:a="http://schemas.openxmlformats.org/drawingml/2006/main">
              <a:ext uri="{FF2B5EF4-FFF2-40B4-BE49-F238E27FC236}">
                <a16:creationId xmlns:a16="http://schemas.microsoft.com/office/drawing/2014/main" id="{6AFCA52B-DFD0-4FB5-B77E-BD07BD8C3B28}"/>
              </a:ext>
            </a:extLst>
          </p:cNvPr>
          <p:cNvSpPr>
            <a:spLocks xmlns:a="http://schemas.openxmlformats.org/drawingml/2006/main" noGrp="1"/>
          </p:cNvSpPr>
          <p:nvPr/>
        </p:nvSpPr>
        <p:spPr>
          <a:xfrm xmlns:a="http://schemas.openxmlformats.org/drawingml/2006/main">
            <a:off x="1078832" y="3082766"/>
            <a:ext cx="1894974" cy="5972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69">
                <a:solidFill>
                  <a:srgbClr val="414447"/>
                </a:solidFill>
                <a:latin typeface="Arial"/>
                <a:ea typeface="Arial"/>
                <a:cs typeface="Arial"/>
              </a:defRPr>
            </a:pPr>
            <a:r>
              <a:rPr sz="1069">
                <a:solidFill>
                  <a:srgbClr val="414447"/>
                </a:solidFill>
                <a:latin typeface="Arial"/>
                <a:ea typeface="Arial"/>
                <a:cs typeface="Arial"/>
              </a:rPr>
              <a:t>Forward pass</a:t>
            </a:r>
          </a:p>
          <a:p xmlns:a="http://schemas.openxmlformats.org/drawingml/2006/main">
            <a:pPr algn="ctr">
              <a:defRPr sz="1069">
                <a:solidFill>
                  <a:srgbClr val="414447"/>
                </a:solidFill>
                <a:latin typeface="Arial"/>
                <a:ea typeface="Arial"/>
                <a:cs typeface="Arial"/>
              </a:defRPr>
            </a:pPr>
            <a:r>
              <a:rPr sz="1069">
                <a:solidFill>
                  <a:srgbClr val="414447"/>
                </a:solidFill>
                <a:latin typeface="Arial"/>
                <a:ea typeface="Arial"/>
                <a:cs typeface="Arial"/>
              </a:rPr>
              <a:t>ŷ = 0.6225</a:t>
            </a:r>
          </a:p>
        </p:txBody>
      </p:sp>
      <p:sp>
        <p:nvSpPr>
          <p:cNvPr id="8" name="recap-step-2">
            <a:extLst xmlns:a="http://schemas.openxmlformats.org/drawingml/2006/main">
              <a:ext uri="{FF2B5EF4-FFF2-40B4-BE49-F238E27FC236}">
                <a16:creationId xmlns:a16="http://schemas.microsoft.com/office/drawing/2014/main" id="{11125799-B368-4C8A-B62E-3E8DF4863756}"/>
              </a:ext>
            </a:extLst>
          </p:cNvPr>
          <p:cNvSpPr>
            <a:spLocks xmlns:a="http://schemas.openxmlformats.org/drawingml/2006/main" noGrp="1"/>
          </p:cNvSpPr>
          <p:nvPr/>
        </p:nvSpPr>
        <p:spPr>
          <a:xfrm xmlns:a="http://schemas.openxmlformats.org/drawingml/2006/main">
            <a:off x="3533274" y="2304574"/>
            <a:ext cx="2219826" cy="1610678"/>
          </a:xfrm>
          <a:prstGeom xmlns:a="http://schemas.openxmlformats.org/drawingml/2006/main" prst="roundRect">
            <a:avLst>
              <a:gd name="adj" fmla="val 11236"/>
            </a:avLst>
          </a:prstGeom>
          <a:solidFill xmlns:a="http://schemas.openxmlformats.org/drawingml/2006/main">
            <a:srgbClr val="F9E4E1"/>
          </a:solidFill>
          <a:ln xmlns:a="http://schemas.openxmlformats.org/drawingml/2006/main" w="15240">
            <a:solidFill>
              <a:srgbClr val="A45F57"/>
            </a:solidFill>
            <a:prstDash val="solid"/>
          </a:ln>
        </p:spPr>
      </p:sp>
      <p:sp>
        <p:nvSpPr>
          <p:cNvPr id="9" name="recap-step-2-title">
            <a:extLst xmlns:a="http://schemas.openxmlformats.org/drawingml/2006/main">
              <a:ext uri="{FF2B5EF4-FFF2-40B4-BE49-F238E27FC236}">
                <a16:creationId xmlns:a16="http://schemas.microsoft.com/office/drawing/2014/main" id="{803A86DF-66C9-4743-A3BA-53FE276BBBBD}"/>
              </a:ext>
            </a:extLst>
          </p:cNvPr>
          <p:cNvSpPr>
            <a:spLocks xmlns:a="http://schemas.openxmlformats.org/drawingml/2006/main" noGrp="1"/>
          </p:cNvSpPr>
          <p:nvPr/>
        </p:nvSpPr>
        <p:spPr>
          <a:xfrm xmlns:a="http://schemas.openxmlformats.org/drawingml/2006/main">
            <a:off x="3659605" y="2557939"/>
            <a:ext cx="1967163"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68" b="1">
                <a:solidFill>
                  <a:srgbClr val="A45F57"/>
                </a:solidFill>
                <a:latin typeface="Chalkboard"/>
                <a:ea typeface="Chalkboard"/>
                <a:cs typeface="Chalkboard"/>
              </a:defRPr>
            </a:pPr>
            <a:r>
              <a:rPr sz="1568" b="1">
                <a:solidFill>
                  <a:srgbClr val="A45F57"/>
                </a:solidFill>
                <a:latin typeface="Chalkboard"/>
                <a:ea typeface="Chalkboard"/>
                <a:cs typeface="Chalkboard"/>
              </a:rPr>
              <a:t>Measure loss</a:t>
            </a:r>
          </a:p>
        </p:txBody>
      </p:sp>
      <p:sp>
        <p:nvSpPr>
          <p:cNvPr id="10" name="recap-step-2-detail">
            <a:extLst xmlns:a="http://schemas.openxmlformats.org/drawingml/2006/main">
              <a:ext uri="{FF2B5EF4-FFF2-40B4-BE49-F238E27FC236}">
                <a16:creationId xmlns:a16="http://schemas.microsoft.com/office/drawing/2014/main" id="{93710726-D1B7-4AB6-815C-2A4820B2D0E0}"/>
              </a:ext>
            </a:extLst>
          </p:cNvPr>
          <p:cNvSpPr>
            <a:spLocks xmlns:a="http://schemas.openxmlformats.org/drawingml/2006/main" noGrp="1"/>
          </p:cNvSpPr>
          <p:nvPr/>
        </p:nvSpPr>
        <p:spPr>
          <a:xfrm xmlns:a="http://schemas.openxmlformats.org/drawingml/2006/main">
            <a:off x="3695700" y="3082766"/>
            <a:ext cx="1894974" cy="5972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69">
                <a:solidFill>
                  <a:srgbClr val="414447"/>
                </a:solidFill>
                <a:latin typeface="Arial"/>
                <a:ea typeface="Arial"/>
                <a:cs typeface="Arial"/>
              </a:defRPr>
            </a:pPr>
            <a:r>
              <a:rPr sz="1069">
                <a:solidFill>
                  <a:srgbClr val="414447"/>
                </a:solidFill>
                <a:latin typeface="Arial"/>
                <a:ea typeface="Arial"/>
                <a:cs typeface="Arial"/>
              </a:rPr>
              <a:t>Compare ŷ with y</a:t>
            </a:r>
          </a:p>
          <a:p xmlns:a="http://schemas.openxmlformats.org/drawingml/2006/main">
            <a:pPr algn="ctr">
              <a:defRPr sz="1069">
                <a:solidFill>
                  <a:srgbClr val="414447"/>
                </a:solidFill>
                <a:latin typeface="Arial"/>
                <a:ea typeface="Arial"/>
                <a:cs typeface="Arial"/>
              </a:defRPr>
            </a:pPr>
            <a:r>
              <a:rPr sz="1069">
                <a:solidFill>
                  <a:srgbClr val="414447"/>
                </a:solidFill>
                <a:latin typeface="Arial"/>
                <a:ea typeface="Arial"/>
                <a:cs typeface="Arial"/>
              </a:rPr>
              <a:t>L = 0.4741</a:t>
            </a:r>
          </a:p>
        </p:txBody>
      </p:sp>
      <p:sp>
        <p:nvSpPr>
          <p:cNvPr id="11" name="recap-step-3">
            <a:extLst xmlns:a="http://schemas.openxmlformats.org/drawingml/2006/main">
              <a:ext uri="{FF2B5EF4-FFF2-40B4-BE49-F238E27FC236}">
                <a16:creationId xmlns:a16="http://schemas.microsoft.com/office/drawing/2014/main" id="{0F74C931-834E-4B48-B970-0FA2064C4607}"/>
              </a:ext>
            </a:extLst>
          </p:cNvPr>
          <p:cNvSpPr>
            <a:spLocks xmlns:a="http://schemas.openxmlformats.org/drawingml/2006/main" noGrp="1"/>
          </p:cNvSpPr>
          <p:nvPr/>
        </p:nvSpPr>
        <p:spPr>
          <a:xfrm xmlns:a="http://schemas.openxmlformats.org/drawingml/2006/main">
            <a:off x="6150142" y="2304574"/>
            <a:ext cx="2219826" cy="1610678"/>
          </a:xfrm>
          <a:prstGeom xmlns:a="http://schemas.openxmlformats.org/drawingml/2006/main" prst="roundRect">
            <a:avLst>
              <a:gd name="adj" fmla="val 11236"/>
            </a:avLst>
          </a:prstGeom>
          <a:solidFill xmlns:a="http://schemas.openxmlformats.org/drawingml/2006/main">
            <a:srgbClr val="F0E8F6"/>
          </a:solidFill>
          <a:ln xmlns:a="http://schemas.openxmlformats.org/drawingml/2006/main" w="15240">
            <a:solidFill>
              <a:srgbClr val="9A54B3"/>
            </a:solidFill>
            <a:prstDash val="solid"/>
          </a:ln>
        </p:spPr>
      </p:sp>
      <p:sp>
        <p:nvSpPr>
          <p:cNvPr id="12" name="recap-step-3-title">
            <a:extLst xmlns:a="http://schemas.openxmlformats.org/drawingml/2006/main">
              <a:ext uri="{FF2B5EF4-FFF2-40B4-BE49-F238E27FC236}">
                <a16:creationId xmlns:a16="http://schemas.microsoft.com/office/drawing/2014/main" id="{C8C9F3AC-4FEA-4E1C-AEF5-9330AD4DAC99}"/>
              </a:ext>
            </a:extLst>
          </p:cNvPr>
          <p:cNvSpPr>
            <a:spLocks xmlns:a="http://schemas.openxmlformats.org/drawingml/2006/main" noGrp="1"/>
          </p:cNvSpPr>
          <p:nvPr/>
        </p:nvSpPr>
        <p:spPr>
          <a:xfrm xmlns:a="http://schemas.openxmlformats.org/drawingml/2006/main">
            <a:off x="6276474" y="2557939"/>
            <a:ext cx="1967163"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68" b="1">
                <a:solidFill>
                  <a:srgbClr val="9A54B3"/>
                </a:solidFill>
                <a:latin typeface="Chalkboard"/>
                <a:ea typeface="Chalkboard"/>
                <a:cs typeface="Chalkboard"/>
              </a:defRPr>
            </a:pPr>
            <a:r>
              <a:rPr sz="1568" b="1">
                <a:solidFill>
                  <a:srgbClr val="9A54B3"/>
                </a:solidFill>
                <a:latin typeface="Chalkboard"/>
                <a:ea typeface="Chalkboard"/>
                <a:cs typeface="Chalkboard"/>
              </a:rPr>
              <a:t>Backpropagate</a:t>
            </a:r>
          </a:p>
        </p:txBody>
      </p:sp>
      <p:sp>
        <p:nvSpPr>
          <p:cNvPr id="13" name="recap-step-3-detail">
            <a:extLst xmlns:a="http://schemas.openxmlformats.org/drawingml/2006/main">
              <a:ext uri="{FF2B5EF4-FFF2-40B4-BE49-F238E27FC236}">
                <a16:creationId xmlns:a16="http://schemas.microsoft.com/office/drawing/2014/main" id="{24DFB4B3-08E0-4475-A9FA-A442624006E5}"/>
              </a:ext>
            </a:extLst>
          </p:cNvPr>
          <p:cNvSpPr>
            <a:spLocks xmlns:a="http://schemas.openxmlformats.org/drawingml/2006/main" noGrp="1"/>
          </p:cNvSpPr>
          <p:nvPr/>
        </p:nvSpPr>
        <p:spPr>
          <a:xfrm xmlns:a="http://schemas.openxmlformats.org/drawingml/2006/main">
            <a:off x="6312568" y="3082766"/>
            <a:ext cx="1894974" cy="5972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69">
                <a:solidFill>
                  <a:srgbClr val="414447"/>
                </a:solidFill>
                <a:latin typeface="Arial"/>
                <a:ea typeface="Arial"/>
                <a:cs typeface="Arial"/>
              </a:defRPr>
            </a:pPr>
            <a:r>
              <a:rPr sz="1069">
                <a:solidFill>
                  <a:srgbClr val="414447"/>
                </a:solidFill>
                <a:latin typeface="Arial"/>
                <a:ea typeface="Arial"/>
                <a:cs typeface="Arial"/>
              </a:rPr>
              <a:t>Apply the chain rule</a:t>
            </a:r>
          </a:p>
          <a:p xmlns:a="http://schemas.openxmlformats.org/drawingml/2006/main">
            <a:pPr algn="ctr">
              <a:defRPr sz="1069">
                <a:solidFill>
                  <a:srgbClr val="414447"/>
                </a:solidFill>
                <a:latin typeface="Arial"/>
                <a:ea typeface="Arial"/>
                <a:cs typeface="Arial"/>
              </a:defRPr>
            </a:pPr>
            <a:r>
              <a:rPr sz="1069">
                <a:solidFill>
                  <a:srgbClr val="414447"/>
                </a:solidFill>
                <a:latin typeface="Arial"/>
                <a:ea typeface="Arial"/>
                <a:cs typeface="Arial"/>
              </a:rPr>
              <a:t>Find each gradient</a:t>
            </a:r>
          </a:p>
        </p:txBody>
      </p:sp>
      <p:sp>
        <p:nvSpPr>
          <p:cNvPr id="14" name="recap-step-4">
            <a:extLst xmlns:a="http://schemas.openxmlformats.org/drawingml/2006/main">
              <a:ext uri="{FF2B5EF4-FFF2-40B4-BE49-F238E27FC236}">
                <a16:creationId xmlns:a16="http://schemas.microsoft.com/office/drawing/2014/main" id="{D08557F0-7FFC-43A8-A4B6-A73863C9EC5E}"/>
              </a:ext>
            </a:extLst>
          </p:cNvPr>
          <p:cNvSpPr>
            <a:spLocks xmlns:a="http://schemas.openxmlformats.org/drawingml/2006/main" noGrp="1"/>
          </p:cNvSpPr>
          <p:nvPr/>
        </p:nvSpPr>
        <p:spPr>
          <a:xfrm xmlns:a="http://schemas.openxmlformats.org/drawingml/2006/main">
            <a:off x="8767011" y="2304574"/>
            <a:ext cx="2219826" cy="1610678"/>
          </a:xfrm>
          <a:prstGeom xmlns:a="http://schemas.openxmlformats.org/drawingml/2006/main" prst="roundRect">
            <a:avLst>
              <a:gd name="adj" fmla="val 11236"/>
            </a:avLst>
          </a:prstGeom>
          <a:solidFill xmlns:a="http://schemas.openxmlformats.org/drawingml/2006/main">
            <a:srgbClr val="E5F3EC"/>
          </a:solidFill>
          <a:ln xmlns:a="http://schemas.openxmlformats.org/drawingml/2006/main" w="15240">
            <a:solidFill>
              <a:srgbClr val="228778"/>
            </a:solidFill>
            <a:prstDash val="solid"/>
          </a:ln>
        </p:spPr>
      </p:sp>
      <p:sp>
        <p:nvSpPr>
          <p:cNvPr id="15" name="recap-step-4-title">
            <a:extLst xmlns:a="http://schemas.openxmlformats.org/drawingml/2006/main">
              <a:ext uri="{FF2B5EF4-FFF2-40B4-BE49-F238E27FC236}">
                <a16:creationId xmlns:a16="http://schemas.microsoft.com/office/drawing/2014/main" id="{263DF8FC-4418-4FFC-80F4-7C6B91D69C7E}"/>
              </a:ext>
            </a:extLst>
          </p:cNvPr>
          <p:cNvSpPr>
            <a:spLocks xmlns:a="http://schemas.openxmlformats.org/drawingml/2006/main" noGrp="1"/>
          </p:cNvSpPr>
          <p:nvPr/>
        </p:nvSpPr>
        <p:spPr>
          <a:xfrm xmlns:a="http://schemas.openxmlformats.org/drawingml/2006/main">
            <a:off x="8893342" y="2557939"/>
            <a:ext cx="1967163"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68" b="1">
                <a:solidFill>
                  <a:srgbClr val="228778"/>
                </a:solidFill>
                <a:latin typeface="Chalkboard"/>
                <a:ea typeface="Chalkboard"/>
                <a:cs typeface="Chalkboard"/>
              </a:defRPr>
            </a:pPr>
            <a:r>
              <a:rPr sz="1568" b="1">
                <a:solidFill>
                  <a:srgbClr val="228778"/>
                </a:solidFill>
                <a:latin typeface="Chalkboard"/>
                <a:ea typeface="Chalkboard"/>
                <a:cs typeface="Chalkboard"/>
              </a:rPr>
              <a:t>Update weights</a:t>
            </a:r>
          </a:p>
        </p:txBody>
      </p:sp>
      <p:sp>
        <p:nvSpPr>
          <p:cNvPr id="16" name="recap-step-4-detail">
            <a:extLst xmlns:a="http://schemas.openxmlformats.org/drawingml/2006/main">
              <a:ext uri="{FF2B5EF4-FFF2-40B4-BE49-F238E27FC236}">
                <a16:creationId xmlns:a16="http://schemas.microsoft.com/office/drawing/2014/main" id="{3B98E593-4CFD-445E-A7D0-FA1C0DAAC880}"/>
              </a:ext>
            </a:extLst>
          </p:cNvPr>
          <p:cNvSpPr>
            <a:spLocks xmlns:a="http://schemas.openxmlformats.org/drawingml/2006/main" noGrp="1"/>
          </p:cNvSpPr>
          <p:nvPr/>
        </p:nvSpPr>
        <p:spPr>
          <a:xfrm xmlns:a="http://schemas.openxmlformats.org/drawingml/2006/main">
            <a:off x="8929437" y="3082766"/>
            <a:ext cx="1894974" cy="5972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69">
                <a:solidFill>
                  <a:srgbClr val="414447"/>
                </a:solidFill>
                <a:latin typeface="Arial"/>
                <a:ea typeface="Arial"/>
                <a:cs typeface="Arial"/>
              </a:defRPr>
            </a:pPr>
            <a:r>
              <a:rPr sz="1069">
                <a:solidFill>
                  <a:srgbClr val="414447"/>
                </a:solidFill>
                <a:latin typeface="Arial"/>
                <a:ea typeface="Arial"/>
                <a:cs typeface="Arial"/>
              </a:rPr>
              <a:t>Gradient descent</a:t>
            </a:r>
          </a:p>
          <a:p xmlns:a="http://schemas.openxmlformats.org/drawingml/2006/main">
            <a:pPr algn="ctr">
              <a:defRPr sz="1069">
                <a:solidFill>
                  <a:srgbClr val="414447"/>
                </a:solidFill>
                <a:latin typeface="Arial"/>
                <a:ea typeface="Arial"/>
                <a:cs typeface="Arial"/>
              </a:defRPr>
            </a:pPr>
            <a:r>
              <a:rPr sz="1069">
                <a:solidFill>
                  <a:srgbClr val="414447"/>
                </a:solidFill>
                <a:latin typeface="Arial"/>
                <a:ea typeface="Arial"/>
                <a:cs typeface="Arial"/>
              </a:rPr>
              <a:t>θnew = θold − η∇L</a:t>
            </a:r>
          </a:p>
        </p:txBody>
      </p:sp>
      <p:cxnSp>
        <p:nvCxnSpPr>
          <p:cNvPr id="40" name=""/>
          <p:cNvCxnSpPr>
            <a:stCxn xmlns:a="http://schemas.openxmlformats.org/drawingml/2006/main" id="5" idx="3"/>
            <a:endCxn xmlns:a="http://schemas.openxmlformats.org/drawingml/2006/main" id="8" idx="1"/>
          </p:cNvCxnSpPr>
          <p:nvPr/>
        </p:nvCxnSpPr>
        <p:spPr>
          <a:xfrm xmlns:a="http://schemas.openxmlformats.org/drawingml/2006/main">
            <a:off x="3136232" y="3109912"/>
            <a:ext cx="397042" cy="0"/>
          </a:xfrm>
          <a:prstGeom xmlns:a="http://schemas.openxmlformats.org/drawingml/2006/main" prst="straightConnector1">
            <a:avLst/>
          </a:prstGeom>
          <a:ln xmlns:a="http://schemas.openxmlformats.org/drawingml/2006/main" w="17145" cap="rnd">
            <a:solidFill>
              <a:srgbClr val="287B95"/>
            </a:solidFill>
            <a:prstDash val="solid"/>
            <a:tailEnd type="arrow" w="med" len="med"/>
          </a:ln>
        </p:spPr>
      </p:cxnSp>
      <p:cxnSp>
        <p:nvCxnSpPr>
          <p:cNvPr id="41" name=""/>
          <p:cNvCxnSpPr>
            <a:stCxn xmlns:a="http://schemas.openxmlformats.org/drawingml/2006/main" id="8" idx="3"/>
            <a:endCxn xmlns:a="http://schemas.openxmlformats.org/drawingml/2006/main" id="11" idx="1"/>
          </p:cNvCxnSpPr>
          <p:nvPr/>
        </p:nvCxnSpPr>
        <p:spPr>
          <a:xfrm xmlns:a="http://schemas.openxmlformats.org/drawingml/2006/main">
            <a:off x="5753100" y="3109912"/>
            <a:ext cx="397042" cy="0"/>
          </a:xfrm>
          <a:prstGeom xmlns:a="http://schemas.openxmlformats.org/drawingml/2006/main" prst="straightConnector1">
            <a:avLst/>
          </a:prstGeom>
          <a:ln xmlns:a="http://schemas.openxmlformats.org/drawingml/2006/main" w="17145" cap="rnd">
            <a:solidFill>
              <a:srgbClr val="8E6F51"/>
            </a:solidFill>
            <a:prstDash val="solid"/>
            <a:tailEnd type="arrow" w="med" len="med"/>
          </a:ln>
        </p:spPr>
      </p:cxnSp>
      <p:cxnSp>
        <p:nvCxnSpPr>
          <p:cNvPr id="42" name=""/>
          <p:cNvCxnSpPr>
            <a:stCxn xmlns:a="http://schemas.openxmlformats.org/drawingml/2006/main" id="11" idx="3"/>
            <a:endCxn xmlns:a="http://schemas.openxmlformats.org/drawingml/2006/main" id="14" idx="1"/>
          </p:cNvCxnSpPr>
          <p:nvPr/>
        </p:nvCxnSpPr>
        <p:spPr>
          <a:xfrm xmlns:a="http://schemas.openxmlformats.org/drawingml/2006/main">
            <a:off x="8369968" y="3109912"/>
            <a:ext cx="397042" cy="0"/>
          </a:xfrm>
          <a:prstGeom xmlns:a="http://schemas.openxmlformats.org/drawingml/2006/main" prst="straightConnector1">
            <a:avLst/>
          </a:prstGeom>
          <a:ln xmlns:a="http://schemas.openxmlformats.org/drawingml/2006/main" w="17145" cap="rnd">
            <a:solidFill>
              <a:srgbClr val="287B95"/>
            </a:solidFill>
            <a:prstDash val="solid"/>
            <a:tailEnd type="arrow" w="med" len="med"/>
          </a:ln>
        </p:spPr>
      </p:cxnSp>
      <p:sp>
        <p:nvSpPr>
          <p:cNvPr id="20" name="recap-result">
            <a:extLst xmlns:a="http://schemas.openxmlformats.org/drawingml/2006/main">
              <a:ext uri="{FF2B5EF4-FFF2-40B4-BE49-F238E27FC236}">
                <a16:creationId xmlns:a16="http://schemas.microsoft.com/office/drawing/2014/main" id="{B46EB40D-C650-46FA-B1E2-2A00CF66772E}"/>
              </a:ext>
            </a:extLst>
          </p:cNvPr>
          <p:cNvSpPr>
            <a:spLocks xmlns:a="http://schemas.openxmlformats.org/drawingml/2006/main" noGrp="1"/>
          </p:cNvSpPr>
          <p:nvPr/>
        </p:nvSpPr>
        <p:spPr>
          <a:xfrm xmlns:a="http://schemas.openxmlformats.org/drawingml/2006/main">
            <a:off x="1638300" y="4539615"/>
            <a:ext cx="8626642" cy="741997"/>
          </a:xfrm>
          <a:prstGeom xmlns:a="http://schemas.openxmlformats.org/drawingml/2006/main" prst="roundRect">
            <a:avLst>
              <a:gd name="adj" fmla="val 17073"/>
            </a:avLst>
          </a:prstGeom>
          <a:solidFill xmlns:a="http://schemas.openxmlformats.org/drawingml/2006/main">
            <a:srgbClr val="F8E8B2"/>
          </a:solidFill>
          <a:ln xmlns:a="http://schemas.openxmlformats.org/drawingml/2006/main" w="8573">
            <a:solidFill>
              <a:srgbClr val="E7D28C"/>
            </a:solidFill>
            <a:prstDash val="solid"/>
          </a:ln>
        </p:spPr>
        <p:txBody>
          <a:bodyPr xmlns:a="http://schemas.openxmlformats.org/drawingml/2006/main" lIns="171450" tIns="76200" rIns="171450" bIns="76200" anchor="ctr">
            <a:normAutofit fontScale="100000"/>
          </a:bodyPr>
          <a:lstStyle xmlns:a="http://schemas.openxmlformats.org/drawingml/2006/main"/>
          <a:p xmlns:a="http://schemas.openxmlformats.org/drawingml/2006/main">
            <a:pPr algn="ctr">
              <a:defRPr sz="1282">
                <a:solidFill>
                  <a:srgbClr val="414447"/>
                </a:solidFill>
                <a:latin typeface="Chalkboard"/>
                <a:ea typeface="Chalkboard"/>
                <a:cs typeface="Chalkboard"/>
              </a:defRPr>
            </a:pPr>
            <a:r>
              <a:rPr sz="1282">
                <a:solidFill>
                  <a:srgbClr val="414447"/>
                </a:solidFill>
                <a:latin typeface="Chalkboard"/>
                <a:ea typeface="Chalkboard"/>
                <a:cs typeface="Chalkboard"/>
              </a:rPr>
              <a:t>After one update, spam probability rises from 0.6225 to 0.6512. Loss falls from 0.4741 to 0.4290.</a:t>
            </a:r>
          </a:p>
        </p:txBody>
      </p:sp>
      <p:sp>
        <p:nvSpPr>
          <p:cNvPr id="9200" name="matched-title">
            <a:extLst xmlns:a="http://schemas.openxmlformats.org/drawingml/2006/main">
              <a:ext uri="{FF2B5EF4-FFF2-40B4-BE49-F238E27FC236}">
                <a16:creationId xmlns:a16="http://schemas.microsoft.com/office/drawing/2014/main" id="{475EE007-7EF4-4B98-8F18-BDE5EA692E26}"/>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Recap of one training update</a:t>
            </a:r>
          </a:p>
        </p:txBody>
      </p:sp>
      <p:sp>
        <p:nvSpPr>
          <p:cNvPr id="9201" name="matched-subtitle">
            <a:extLst xmlns:a="http://schemas.openxmlformats.org/drawingml/2006/main">
              <a:ext uri="{FF2B5EF4-FFF2-40B4-BE49-F238E27FC236}">
                <a16:creationId xmlns:a16="http://schemas.microsoft.com/office/drawing/2014/main" id="{7464AE49-70DC-4D31-8DD8-5BDF95801D4C}"/>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Forward pass creates a prediction. Backpropagation supplies the gradients for a gradient descent step.</a:t>
            </a:r>
          </a:p>
        </p:txBody>
      </p:sp>
      <p:sp>
        <p:nvSpPr>
          <p:cNvPr id="9202" name="matched-footer">
            <a:extLst xmlns:a="http://schemas.openxmlformats.org/drawingml/2006/main">
              <a:ext uri="{FF2B5EF4-FFF2-40B4-BE49-F238E27FC236}">
                <a16:creationId xmlns:a16="http://schemas.microsoft.com/office/drawing/2014/main" id="{735E5427-C0B2-4230-BC6A-966F8D47C1F4}"/>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Small, repeated updates help the network reduce training loss over many examples.</a:t>
            </a:r>
          </a:p>
        </p:txBody>
      </p:sp>
      <p:sp>
        <p:nvSpPr>
          <p:cNvPr id="9203" name="matched-page">
            <a:extLst xmlns:a="http://schemas.openxmlformats.org/drawingml/2006/main">
              <a:ext uri="{FF2B5EF4-FFF2-40B4-BE49-F238E27FC236}">
                <a16:creationId xmlns:a16="http://schemas.microsoft.com/office/drawing/2014/main" id="{CAD83513-830D-4000-91C4-BE768049C9C4}"/>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33</a:t>
            </a:r>
          </a:p>
        </p:txBody>
      </p:sp>
    </p:spTree>
    <p:extLst>
      <p:ext uri="{BB962C8B-B14F-4D97-AF65-F5344CB8AC3E}">
        <p14:creationId xmlns:p14="http://schemas.microsoft.com/office/powerpoint/2010/main" val="328996061"/>
      </p:ext>
    </p:extLst>
  </p:cSld>
</p:sld>
</file>

<file path=ppt/slides/slide14.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3930a82a9814985"/>
          <a:stretch xmlns:a="http://schemas.openxmlformats.org/drawingml/2006/main"/>
        </p:blipFill>
        <p:spPr>
          <a:xfrm xmlns:a="http://schemas.openxmlformats.org/drawingml/2006/main">
            <a:off x="1579646" y="1752600"/>
            <a:ext cx="5630780" cy="376428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991F6BE-C228-4310-AB5E-B10DE39387A8}"/>
              </a:ext>
            </a:extLst>
          </p:cNvPr>
          <p:cNvSpPr>
            <a:spLocks xmlns:a="http://schemas.openxmlformats.org/drawingml/2006/main" noGrp="1"/>
          </p:cNvSpPr>
          <p:nvPr/>
        </p:nvSpPr>
        <p:spPr>
          <a:xfrm xmlns:a="http://schemas.openxmlformats.org/drawingml/2006/main">
            <a:off x="8478253" y="2150745"/>
            <a:ext cx="2526632" cy="4343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09" b="1">
                <a:solidFill>
                  <a:srgbClr val="287B95"/>
                </a:solidFill>
                <a:latin typeface="Chalkboard"/>
                <a:ea typeface="Arial"/>
                <a:cs typeface="Arial"/>
              </a:defRPr>
            </a:pPr>
            <a:r>
              <a:rPr sz="2209" b="1">
                <a:solidFill>
                  <a:srgbClr val="287B95"/>
                </a:solidFill>
                <a:latin typeface="Chalkboard"/>
                <a:ea typeface="Arial"/>
                <a:cs typeface="Arial"/>
              </a:rPr>
              <a:t>Weights</a:t>
            </a:r>
          </a:p>
        </p:txBody>
      </p:sp>
      <p:sp>
        <p:nvSpPr>
          <p:cNvPr id="7" name="">
            <a:extLst xmlns:a="http://schemas.openxmlformats.org/drawingml/2006/main">
              <a:ext uri="{FF2B5EF4-FFF2-40B4-BE49-F238E27FC236}">
                <a16:creationId xmlns:a16="http://schemas.microsoft.com/office/drawing/2014/main" id="{CA8ED75E-E706-4302-9BE2-BE5EA24A6911}"/>
              </a:ext>
            </a:extLst>
          </p:cNvPr>
          <p:cNvSpPr>
            <a:spLocks xmlns:a="http://schemas.openxmlformats.org/drawingml/2006/main" noGrp="1"/>
          </p:cNvSpPr>
          <p:nvPr/>
        </p:nvSpPr>
        <p:spPr>
          <a:xfrm xmlns:a="http://schemas.openxmlformats.org/drawingml/2006/main">
            <a:off x="8478253" y="2666524"/>
            <a:ext cx="2707105"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81" b="0">
                <a:solidFill>
                  <a:srgbClr val="272729"/>
                </a:solidFill>
                <a:latin typeface="Arial"/>
                <a:ea typeface="Arial"/>
                <a:cs typeface="Arial"/>
              </a:defRPr>
            </a:pPr>
            <a:r>
              <a:rPr sz="1781" b="0">
                <a:solidFill>
                  <a:srgbClr val="272729"/>
                </a:solidFill>
                <a:latin typeface="Arial"/>
                <a:ea typeface="Arial"/>
                <a:cs typeface="Arial"/>
              </a:rPr>
              <a:t>Scale the influence</a:t>
            </a:r>
          </a:p>
          <a:p xmlns:a="http://schemas.openxmlformats.org/drawingml/2006/main">
            <a:pPr>
              <a:defRPr sz="1781" b="0">
                <a:solidFill>
                  <a:srgbClr val="272729"/>
                </a:solidFill>
                <a:latin typeface="Arial"/>
                <a:ea typeface="Arial"/>
                <a:cs typeface="Arial"/>
              </a:defRPr>
            </a:pPr>
            <a:r>
              <a:rPr sz="1781" b="0">
                <a:solidFill>
                  <a:srgbClr val="272729"/>
                </a:solidFill>
                <a:latin typeface="Arial"/>
                <a:ea typeface="Arial"/>
                <a:cs typeface="Arial"/>
              </a:rPr>
              <a:t>of each input.</a:t>
            </a:r>
          </a:p>
        </p:txBody>
      </p:sp>
      <p:sp>
        <p:nvSpPr>
          <p:cNvPr id="8" name="">
            <a:extLst xmlns:a="http://schemas.openxmlformats.org/drawingml/2006/main">
              <a:ext uri="{FF2B5EF4-FFF2-40B4-BE49-F238E27FC236}">
                <a16:creationId xmlns:a16="http://schemas.microsoft.com/office/drawing/2014/main" id="{FFB4ACA7-47F3-442F-B37C-8A0681CAB8DE}"/>
              </a:ext>
            </a:extLst>
          </p:cNvPr>
          <p:cNvSpPr>
            <a:spLocks xmlns:a="http://schemas.openxmlformats.org/drawingml/2006/main" noGrp="1"/>
          </p:cNvSpPr>
          <p:nvPr/>
        </p:nvSpPr>
        <p:spPr>
          <a:xfrm xmlns:a="http://schemas.openxmlformats.org/drawingml/2006/main">
            <a:off x="8478253" y="3815715"/>
            <a:ext cx="2526632" cy="4343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09" b="1">
                <a:solidFill>
                  <a:srgbClr val="A45F57"/>
                </a:solidFill>
                <a:latin typeface="Chalkboard"/>
                <a:ea typeface="Arial"/>
                <a:cs typeface="Arial"/>
              </a:defRPr>
            </a:pPr>
            <a:r>
              <a:rPr sz="2209" b="1">
                <a:solidFill>
                  <a:srgbClr val="A45F57"/>
                </a:solidFill>
                <a:latin typeface="Chalkboard"/>
                <a:ea typeface="Arial"/>
                <a:cs typeface="Arial"/>
              </a:rPr>
              <a:t>Biases</a:t>
            </a:r>
          </a:p>
        </p:txBody>
      </p:sp>
      <p:sp>
        <p:nvSpPr>
          <p:cNvPr id="9" name="">
            <a:extLst xmlns:a="http://schemas.openxmlformats.org/drawingml/2006/main">
              <a:ext uri="{FF2B5EF4-FFF2-40B4-BE49-F238E27FC236}">
                <a16:creationId xmlns:a16="http://schemas.microsoft.com/office/drawing/2014/main" id="{F16F9C9F-7B0F-494B-92FD-99D116434BA9}"/>
              </a:ext>
            </a:extLst>
          </p:cNvPr>
          <p:cNvSpPr>
            <a:spLocks xmlns:a="http://schemas.openxmlformats.org/drawingml/2006/main" noGrp="1"/>
          </p:cNvSpPr>
          <p:nvPr/>
        </p:nvSpPr>
        <p:spPr>
          <a:xfrm xmlns:a="http://schemas.openxmlformats.org/drawingml/2006/main">
            <a:off x="8478253" y="4313396"/>
            <a:ext cx="2707105" cy="7691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81" b="0">
                <a:solidFill>
                  <a:srgbClr val="272729"/>
                </a:solidFill>
                <a:latin typeface="Arial"/>
                <a:ea typeface="Arial"/>
                <a:cs typeface="Arial"/>
              </a:defRPr>
            </a:pPr>
            <a:r>
              <a:rPr sz="1781" b="0">
                <a:solidFill>
                  <a:srgbClr val="272729"/>
                </a:solidFill>
                <a:latin typeface="Arial"/>
                <a:ea typeface="Arial"/>
                <a:cs typeface="Arial"/>
              </a:rPr>
              <a:t>Shift each neuron’s</a:t>
            </a:r>
          </a:p>
          <a:p xmlns:a="http://schemas.openxmlformats.org/drawingml/2006/main">
            <a:pPr>
              <a:defRPr sz="1781" b="0">
                <a:solidFill>
                  <a:srgbClr val="272729"/>
                </a:solidFill>
                <a:latin typeface="Arial"/>
                <a:ea typeface="Arial"/>
                <a:cs typeface="Arial"/>
              </a:defRPr>
            </a:pPr>
            <a:r>
              <a:rPr sz="1781" b="0">
                <a:solidFill>
                  <a:srgbClr val="272729"/>
                </a:solidFill>
                <a:latin typeface="Arial"/>
                <a:ea typeface="Arial"/>
                <a:cs typeface="Arial"/>
              </a:rPr>
              <a:t>weighted sum.</a:t>
            </a:r>
          </a:p>
        </p:txBody>
      </p:sp>
      <p:sp>
        <p:nvSpPr>
          <p:cNvPr id="9200" name="matched-title">
            <a:extLst xmlns:a="http://schemas.openxmlformats.org/drawingml/2006/main">
              <a:ext uri="{FF2B5EF4-FFF2-40B4-BE49-F238E27FC236}">
                <a16:creationId xmlns:a16="http://schemas.microsoft.com/office/drawing/2014/main" id="{02468E28-1ED5-4972-9964-66409C02138D}"/>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Recap: the network and its parameters</a:t>
            </a:r>
          </a:p>
        </p:txBody>
      </p:sp>
      <p:sp>
        <p:nvSpPr>
          <p:cNvPr id="9201" name="matched-subtitle">
            <a:extLst xmlns:a="http://schemas.openxmlformats.org/drawingml/2006/main">
              <a:ext uri="{FF2B5EF4-FFF2-40B4-BE49-F238E27FC236}">
                <a16:creationId xmlns:a16="http://schemas.microsoft.com/office/drawing/2014/main" id="{4163D30B-34BD-4AF9-8A99-4724824E3AAA}"/>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The earlier spam example used a multilayer perceptron (MLP).</a:t>
            </a:r>
          </a:p>
        </p:txBody>
      </p:sp>
      <p:sp>
        <p:nvSpPr>
          <p:cNvPr id="9202" name="matched-footer">
            <a:extLst xmlns:a="http://schemas.openxmlformats.org/drawingml/2006/main">
              <a:ext uri="{FF2B5EF4-FFF2-40B4-BE49-F238E27FC236}">
                <a16:creationId xmlns:a16="http://schemas.microsoft.com/office/drawing/2014/main" id="{AA321CE8-C227-4F42-8125-F85C545B9B81}"/>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20 weights + 6 biases = 26 trainable parameters. Input nodes have no bias.</a:t>
            </a:r>
          </a:p>
        </p:txBody>
      </p:sp>
      <p:sp>
        <p:nvSpPr>
          <p:cNvPr id="9203" name="matched-page">
            <a:extLst xmlns:a="http://schemas.openxmlformats.org/drawingml/2006/main">
              <a:ext uri="{FF2B5EF4-FFF2-40B4-BE49-F238E27FC236}">
                <a16:creationId xmlns:a16="http://schemas.microsoft.com/office/drawing/2014/main" id="{9E31A6BB-4A1E-4CF8-BA64-C43E69021406}"/>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01</a:t>
            </a:r>
          </a:p>
        </p:txBody>
      </p:sp>
    </p:spTree>
    <p:extLst>
      <p:ext uri="{BB962C8B-B14F-4D97-AF65-F5344CB8AC3E}">
        <p14:creationId xmlns:p14="http://schemas.microsoft.com/office/powerpoint/2010/main" val="607596525"/>
      </p:ext>
    </p:extLst>
  </p:cSld>
</p:sld>
</file>

<file path=ppt/slides/slide15.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2d5910c8f6a467e"/>
          <a:stretch xmlns:a="http://schemas.openxmlformats.org/drawingml/2006/main"/>
        </p:blipFill>
        <p:spPr>
          <a:xfrm xmlns:a="http://schemas.openxmlformats.org/drawingml/2006/main">
            <a:off x="1866148" y="1752600"/>
            <a:ext cx="4886326" cy="326659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21150EC-83EE-477B-88E1-35FB02073524}"/>
              </a:ext>
            </a:extLst>
          </p:cNvPr>
          <p:cNvSpPr>
            <a:spLocks xmlns:a="http://schemas.openxmlformats.org/drawingml/2006/main" noGrp="1"/>
          </p:cNvSpPr>
          <p:nvPr/>
        </p:nvSpPr>
        <p:spPr>
          <a:xfrm xmlns:a="http://schemas.openxmlformats.org/drawingml/2006/main">
            <a:off x="8072187" y="2168842"/>
            <a:ext cx="3068053" cy="6153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09" b="1">
                <a:solidFill>
                  <a:srgbClr val="287B95"/>
                </a:solidFill>
                <a:latin typeface="Chalkboard"/>
                <a:ea typeface="Arial"/>
                <a:cs typeface="Arial"/>
              </a:defRPr>
            </a:pPr>
            <a:r>
              <a:rPr sz="2209" b="1">
                <a:solidFill>
                  <a:srgbClr val="287B95"/>
                </a:solidFill>
                <a:latin typeface="Chalkboard"/>
                <a:ea typeface="Arial"/>
                <a:cs typeface="Arial"/>
              </a:rPr>
              <a:t>z = Σ wᵢxᵢ + b</a:t>
            </a:r>
          </a:p>
        </p:txBody>
      </p:sp>
      <p:sp>
        <p:nvSpPr>
          <p:cNvPr id="7" name="">
            <a:extLst xmlns:a="http://schemas.openxmlformats.org/drawingml/2006/main">
              <a:ext uri="{FF2B5EF4-FFF2-40B4-BE49-F238E27FC236}">
                <a16:creationId xmlns:a16="http://schemas.microsoft.com/office/drawing/2014/main" id="{EC7A61F7-3EB5-43BB-B82B-128DF49CEB21}"/>
              </a:ext>
            </a:extLst>
          </p:cNvPr>
          <p:cNvSpPr>
            <a:spLocks xmlns:a="http://schemas.openxmlformats.org/drawingml/2006/main" noGrp="1"/>
          </p:cNvSpPr>
          <p:nvPr/>
        </p:nvSpPr>
        <p:spPr>
          <a:xfrm xmlns:a="http://schemas.openxmlformats.org/drawingml/2006/main">
            <a:off x="8072187" y="3019425"/>
            <a:ext cx="2977816" cy="5610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51" b="1">
                <a:solidFill>
                  <a:srgbClr val="A45F57"/>
                </a:solidFill>
                <a:latin typeface="Chalkboard"/>
                <a:ea typeface="Arial"/>
                <a:cs typeface="Arial"/>
              </a:defRPr>
            </a:pPr>
            <a:r>
              <a:rPr sz="2351" b="1">
                <a:solidFill>
                  <a:srgbClr val="A45F57"/>
                </a:solidFill>
                <a:latin typeface="Chalkboard"/>
                <a:ea typeface="Arial"/>
                <a:cs typeface="Arial"/>
              </a:rPr>
              <a:t>a = f(z)</a:t>
            </a:r>
          </a:p>
        </p:txBody>
      </p:sp>
      <p:sp>
        <p:nvSpPr>
          <p:cNvPr id="8" name="">
            <a:extLst xmlns:a="http://schemas.openxmlformats.org/drawingml/2006/main">
              <a:ext uri="{FF2B5EF4-FFF2-40B4-BE49-F238E27FC236}">
                <a16:creationId xmlns:a16="http://schemas.microsoft.com/office/drawing/2014/main" id="{1F66E982-8834-4AF2-AB94-9C7D9E8ACD7C}"/>
              </a:ext>
            </a:extLst>
          </p:cNvPr>
          <p:cNvSpPr>
            <a:spLocks xmlns:a="http://schemas.openxmlformats.org/drawingml/2006/main" noGrp="1"/>
          </p:cNvSpPr>
          <p:nvPr/>
        </p:nvSpPr>
        <p:spPr>
          <a:xfrm xmlns:a="http://schemas.openxmlformats.org/drawingml/2006/main">
            <a:off x="8072187" y="3888105"/>
            <a:ext cx="3158289" cy="1357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81" b="0">
                <a:solidFill>
                  <a:srgbClr val="272729"/>
                </a:solidFill>
                <a:latin typeface="Arial"/>
                <a:ea typeface="Arial"/>
                <a:cs typeface="Arial"/>
              </a:defRPr>
            </a:pPr>
            <a:r>
              <a:rPr sz="1781" b="0">
                <a:solidFill>
                  <a:srgbClr val="272729"/>
                </a:solidFill>
                <a:latin typeface="Arial"/>
                <a:ea typeface="Arial"/>
                <a:cs typeface="Arial"/>
              </a:rPr>
              <a:t>ReLU: max(0, z)</a:t>
            </a:r>
          </a:p>
          <a:p xmlns:a="http://schemas.openxmlformats.org/drawingml/2006/main">
            <a:r>
              <a:t/>
            </a:r>
          </a:p>
          <a:p xmlns:a="http://schemas.openxmlformats.org/drawingml/2006/main">
            <a:pPr>
              <a:defRPr sz="1781" b="0">
                <a:solidFill>
                  <a:srgbClr val="272729"/>
                </a:solidFill>
                <a:latin typeface="Arial"/>
                <a:ea typeface="Arial"/>
                <a:cs typeface="Arial"/>
              </a:defRPr>
            </a:pPr>
            <a:r>
              <a:rPr sz="1781" b="0">
                <a:solidFill>
                  <a:srgbClr val="272729"/>
                </a:solidFill>
                <a:latin typeface="Arial"/>
                <a:ea typeface="Arial"/>
                <a:cs typeface="Arial"/>
              </a:rPr>
              <a:t>Sigmoid: 1 / (1 + e⁻ᶻ)</a:t>
            </a:r>
          </a:p>
        </p:txBody>
      </p:sp>
      <p:sp>
        <p:nvSpPr>
          <p:cNvPr id="9" name="">
            <a:extLst xmlns:a="http://schemas.openxmlformats.org/drawingml/2006/main">
              <a:ext uri="{FF2B5EF4-FFF2-40B4-BE49-F238E27FC236}">
                <a16:creationId xmlns:a16="http://schemas.microsoft.com/office/drawing/2014/main" id="{DB9CEA83-D36A-4317-9C5E-D4BEB51D415E}"/>
              </a:ext>
            </a:extLst>
          </p:cNvPr>
          <p:cNvSpPr>
            <a:spLocks xmlns:a="http://schemas.openxmlformats.org/drawingml/2006/main" noGrp="1"/>
          </p:cNvSpPr>
          <p:nvPr/>
        </p:nvSpPr>
        <p:spPr>
          <a:xfrm xmlns:a="http://schemas.openxmlformats.org/drawingml/2006/main">
            <a:off x="880311" y="5154930"/>
            <a:ext cx="6858000" cy="4071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39" b="0">
                <a:solidFill>
                  <a:srgbClr val="287B95"/>
                </a:solidFill>
                <a:latin typeface="Arial"/>
                <a:ea typeface="Arial"/>
                <a:cs typeface="Arial"/>
              </a:defRPr>
            </a:pPr>
            <a:r>
              <a:rPr sz="1639" b="0">
                <a:solidFill>
                  <a:srgbClr val="287B95"/>
                </a:solidFill>
                <a:latin typeface="Arial"/>
                <a:ea typeface="Arial"/>
                <a:cs typeface="Arial"/>
              </a:rPr>
              <a:t>Hidden layers use ReLU. The binary output uses sigmoid.</a:t>
            </a:r>
          </a:p>
        </p:txBody>
      </p:sp>
      <p:sp>
        <p:nvSpPr>
          <p:cNvPr id="9200" name="matched-title">
            <a:extLst xmlns:a="http://schemas.openxmlformats.org/drawingml/2006/main">
              <a:ext uri="{FF2B5EF4-FFF2-40B4-BE49-F238E27FC236}">
                <a16:creationId xmlns:a16="http://schemas.microsoft.com/office/drawing/2014/main" id="{F9DA4D6C-E511-4949-9579-EEF0AFB5BB91}"/>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Recap: the calculation inside a neuron</a:t>
            </a:r>
          </a:p>
        </p:txBody>
      </p:sp>
      <p:sp>
        <p:nvSpPr>
          <p:cNvPr id="9201" name="matched-subtitle">
            <a:extLst xmlns:a="http://schemas.openxmlformats.org/drawingml/2006/main">
              <a:ext uri="{FF2B5EF4-FFF2-40B4-BE49-F238E27FC236}">
                <a16:creationId xmlns:a16="http://schemas.microsoft.com/office/drawing/2014/main" id="{E303972F-669E-4F22-BA02-36800594ABA1}"/>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Each neuron combines its inputs, adds a bias, and applies an activation.</a:t>
            </a:r>
          </a:p>
        </p:txBody>
      </p:sp>
      <p:sp>
        <p:nvSpPr>
          <p:cNvPr id="9202" name="matched-footer">
            <a:extLst xmlns:a="http://schemas.openxmlformats.org/drawingml/2006/main">
              <a:ext uri="{FF2B5EF4-FFF2-40B4-BE49-F238E27FC236}">
                <a16:creationId xmlns:a16="http://schemas.microsoft.com/office/drawing/2014/main" id="{A5C74D89-D983-4AD7-9E67-6CB3362E05A1}"/>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Example from the earlier deck: z = 2.6 − 0.5 = 2.1, so ReLU(z) = 2.1.</a:t>
            </a:r>
          </a:p>
        </p:txBody>
      </p:sp>
      <p:sp>
        <p:nvSpPr>
          <p:cNvPr id="9203" name="matched-page">
            <a:extLst xmlns:a="http://schemas.openxmlformats.org/drawingml/2006/main">
              <a:ext uri="{FF2B5EF4-FFF2-40B4-BE49-F238E27FC236}">
                <a16:creationId xmlns:a16="http://schemas.microsoft.com/office/drawing/2014/main" id="{2D2826D2-4C7B-4899-B148-A58FE4C3DB98}"/>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02</a:t>
            </a:r>
          </a:p>
        </p:txBody>
      </p:sp>
    </p:spTree>
    <p:extLst>
      <p:ext uri="{BB962C8B-B14F-4D97-AF65-F5344CB8AC3E}">
        <p14:creationId xmlns:p14="http://schemas.microsoft.com/office/powerpoint/2010/main" val="1042847782"/>
      </p:ext>
    </p:extLst>
  </p:cSld>
</p:sld>
</file>

<file path=ppt/slides/slide16.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6c85109c1c946f3"/>
          <a:stretch xmlns:a="http://schemas.openxmlformats.org/drawingml/2006/main"/>
        </p:blipFill>
        <p:spPr>
          <a:xfrm xmlns:a="http://schemas.openxmlformats.org/drawingml/2006/main">
            <a:off x="1439779" y="1752600"/>
            <a:ext cx="8933446" cy="298608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B065CE8-8D08-4C1D-B211-78D59C75CCB4}"/>
              </a:ext>
            </a:extLst>
          </p:cNvPr>
          <p:cNvSpPr>
            <a:spLocks xmlns:a="http://schemas.openxmlformats.org/drawingml/2006/main" noGrp="1"/>
          </p:cNvSpPr>
          <p:nvPr/>
        </p:nvSpPr>
        <p:spPr>
          <a:xfrm xmlns:a="http://schemas.openxmlformats.org/drawingml/2006/main">
            <a:off x="988595" y="4802029"/>
            <a:ext cx="2526632" cy="4071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95" b="1">
                <a:solidFill>
                  <a:srgbClr val="287B95"/>
                </a:solidFill>
                <a:latin typeface="Chalkboard"/>
                <a:ea typeface="Arial"/>
                <a:cs typeface="Arial"/>
              </a:defRPr>
            </a:pPr>
            <a:r>
              <a:rPr sz="1995" b="1">
                <a:solidFill>
                  <a:srgbClr val="287B95"/>
                </a:solidFill>
                <a:latin typeface="Chalkboard"/>
                <a:ea typeface="Arial"/>
                <a:cs typeface="Arial"/>
              </a:rPr>
              <a:t>Prediction</a:t>
            </a:r>
          </a:p>
        </p:txBody>
      </p:sp>
      <p:sp>
        <p:nvSpPr>
          <p:cNvPr id="7" name="">
            <a:extLst xmlns:a="http://schemas.openxmlformats.org/drawingml/2006/main">
              <a:ext uri="{FF2B5EF4-FFF2-40B4-BE49-F238E27FC236}">
                <a16:creationId xmlns:a16="http://schemas.microsoft.com/office/drawing/2014/main" id="{AF8C9579-B251-44CB-820A-44F3A85FABE6}"/>
              </a:ext>
            </a:extLst>
          </p:cNvPr>
          <p:cNvSpPr>
            <a:spLocks xmlns:a="http://schemas.openxmlformats.org/drawingml/2006/main" noGrp="1"/>
          </p:cNvSpPr>
          <p:nvPr/>
        </p:nvSpPr>
        <p:spPr>
          <a:xfrm xmlns:a="http://schemas.openxmlformats.org/drawingml/2006/main">
            <a:off x="988595" y="5218271"/>
            <a:ext cx="4737434"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39" b="0">
                <a:solidFill>
                  <a:srgbClr val="272729"/>
                </a:solidFill>
                <a:latin typeface="Arial"/>
                <a:ea typeface="Arial"/>
                <a:cs typeface="Arial"/>
              </a:defRPr>
            </a:pPr>
            <a:r>
              <a:rPr sz="1639" b="0">
                <a:solidFill>
                  <a:srgbClr val="272729"/>
                </a:solidFill>
                <a:latin typeface="Arial"/>
                <a:ea typeface="Arial"/>
                <a:cs typeface="Arial"/>
              </a:rPr>
              <a:t>Use the current weights and biases.</a:t>
            </a:r>
          </a:p>
        </p:txBody>
      </p:sp>
      <p:sp>
        <p:nvSpPr>
          <p:cNvPr id="8" name="">
            <a:extLst xmlns:a="http://schemas.openxmlformats.org/drawingml/2006/main">
              <a:ext uri="{FF2B5EF4-FFF2-40B4-BE49-F238E27FC236}">
                <a16:creationId xmlns:a16="http://schemas.microsoft.com/office/drawing/2014/main" id="{073258A9-5172-413E-AD58-9EE91CA7274B}"/>
              </a:ext>
            </a:extLst>
          </p:cNvPr>
          <p:cNvSpPr>
            <a:spLocks xmlns:a="http://schemas.openxmlformats.org/drawingml/2006/main" noGrp="1"/>
          </p:cNvSpPr>
          <p:nvPr/>
        </p:nvSpPr>
        <p:spPr>
          <a:xfrm xmlns:a="http://schemas.openxmlformats.org/drawingml/2006/main">
            <a:off x="6321592" y="4802029"/>
            <a:ext cx="2707105" cy="4071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95" b="1">
                <a:solidFill>
                  <a:srgbClr val="A45F57"/>
                </a:solidFill>
                <a:latin typeface="Chalkboard"/>
                <a:ea typeface="Arial"/>
                <a:cs typeface="Arial"/>
              </a:defRPr>
            </a:pPr>
            <a:r>
              <a:rPr sz="1995" b="1">
                <a:solidFill>
                  <a:srgbClr val="A45F57"/>
                </a:solidFill>
                <a:latin typeface="Chalkboard"/>
                <a:ea typeface="Arial"/>
                <a:cs typeface="Arial"/>
              </a:rPr>
              <a:t>Training</a:t>
            </a:r>
          </a:p>
        </p:txBody>
      </p:sp>
      <p:sp>
        <p:nvSpPr>
          <p:cNvPr id="9" name="">
            <a:extLst xmlns:a="http://schemas.openxmlformats.org/drawingml/2006/main">
              <a:ext uri="{FF2B5EF4-FFF2-40B4-BE49-F238E27FC236}">
                <a16:creationId xmlns:a16="http://schemas.microsoft.com/office/drawing/2014/main" id="{972B6C6D-3596-4ADB-A463-22601F02F3A1}"/>
              </a:ext>
            </a:extLst>
          </p:cNvPr>
          <p:cNvSpPr>
            <a:spLocks xmlns:a="http://schemas.openxmlformats.org/drawingml/2006/main" noGrp="1"/>
          </p:cNvSpPr>
          <p:nvPr/>
        </p:nvSpPr>
        <p:spPr>
          <a:xfrm xmlns:a="http://schemas.openxmlformats.org/drawingml/2006/main">
            <a:off x="6321592" y="5218271"/>
            <a:ext cx="4692316"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39" b="0">
                <a:solidFill>
                  <a:srgbClr val="272729"/>
                </a:solidFill>
                <a:latin typeface="Arial"/>
                <a:ea typeface="Arial"/>
                <a:cs typeface="Arial"/>
              </a:defRPr>
            </a:pPr>
            <a:r>
              <a:rPr sz="1639" b="0">
                <a:solidFill>
                  <a:srgbClr val="272729"/>
                </a:solidFill>
                <a:latin typeface="Arial"/>
                <a:ea typeface="Arial"/>
                <a:cs typeface="Arial"/>
              </a:rPr>
              <a:t>Compare with y = 1, then update parameters.</a:t>
            </a:r>
          </a:p>
        </p:txBody>
      </p:sp>
      <p:sp>
        <p:nvSpPr>
          <p:cNvPr id="9200" name="matched-title">
            <a:extLst xmlns:a="http://schemas.openxmlformats.org/drawingml/2006/main">
              <a:ext uri="{FF2B5EF4-FFF2-40B4-BE49-F238E27FC236}">
                <a16:creationId xmlns:a16="http://schemas.microsoft.com/office/drawing/2014/main" id="{C8764B4A-E2B0-4895-8C87-DF0C59EEF554}"/>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Recap: prediction, decision, and learning</a:t>
            </a:r>
          </a:p>
        </p:txBody>
      </p:sp>
      <p:sp>
        <p:nvSpPr>
          <p:cNvPr id="9201" name="matched-subtitle">
            <a:extLst xmlns:a="http://schemas.openxmlformats.org/drawingml/2006/main">
              <a:ext uri="{FF2B5EF4-FFF2-40B4-BE49-F238E27FC236}">
                <a16:creationId xmlns:a16="http://schemas.microsoft.com/office/drawing/2014/main" id="{B42A95DE-F967-4287-B833-7FBD77DA41CA}"/>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The same email representation supports prediction and training.</a:t>
            </a:r>
          </a:p>
        </p:txBody>
      </p:sp>
      <p:sp>
        <p:nvSpPr>
          <p:cNvPr id="9202" name="matched-footer">
            <a:extLst xmlns:a="http://schemas.openxmlformats.org/drawingml/2006/main">
              <a:ext uri="{FF2B5EF4-FFF2-40B4-BE49-F238E27FC236}">
                <a16:creationId xmlns:a16="http://schemas.microsoft.com/office/drawing/2014/main" id="{C4152479-5278-40A2-800D-21CD3C93E0ED}"/>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The smaller training example starts at ŷ = 0.6225. It uses different illustrative parameters.</a:t>
            </a:r>
          </a:p>
        </p:txBody>
      </p:sp>
      <p:sp>
        <p:nvSpPr>
          <p:cNvPr id="9203" name="matched-page">
            <a:extLst xmlns:a="http://schemas.openxmlformats.org/drawingml/2006/main">
              <a:ext uri="{FF2B5EF4-FFF2-40B4-BE49-F238E27FC236}">
                <a16:creationId xmlns:a16="http://schemas.microsoft.com/office/drawing/2014/main" id="{20CC5533-DD7F-4B16-A557-0B405409C28D}"/>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03</a:t>
            </a:r>
          </a:p>
        </p:txBody>
      </p:sp>
    </p:spTree>
    <p:extLst>
      <p:ext uri="{BB962C8B-B14F-4D97-AF65-F5344CB8AC3E}">
        <p14:creationId xmlns:p14="http://schemas.microsoft.com/office/powerpoint/2010/main" val="171071520"/>
      </p:ext>
    </p:extLst>
  </p:cSld>
</p:sld>
</file>

<file path=ppt/slides/slide17.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graphicFrame>
        <p:nvGraphicFramePr>
          <p:cNvPr id="15" name="Chart"/>
          <p:cNvGraphicFramePr/>
          <p:nvPr/>
        </p:nvGraphicFramePr>
        <p:xfrm>
          <a:off xmlns:a="http://schemas.openxmlformats.org/drawingml/2006/main" x="763003" y="1852136"/>
          <a:ext xmlns:a="http://schemas.openxmlformats.org/drawingml/2006/main" cx="6858000" cy="3529012"/>
        </p:xfrm>
        <a:graphic xmlns:a="http://schemas.openxmlformats.org/drawingml/2006/main">
          <a:graphicData uri="http://schemas.openxmlformats.org/drawingml/2006/chart">
            <c:chart xmlns:r="http://schemas.openxmlformats.org/officeDocument/2006/relationships" xmlns:c="http://schemas.openxmlformats.org/drawingml/2006/chart" r:id="Rb3b0b4691a334d30"/>
          </a:graphicData>
        </a:graphic>
      </p:graphicFrame>
      <p:sp>
        <p:nvSpPr>
          <p:cNvPr id="6" name="">
            <a:extLst xmlns:a="http://schemas.openxmlformats.org/drawingml/2006/main">
              <a:ext uri="{FF2B5EF4-FFF2-40B4-BE49-F238E27FC236}">
                <a16:creationId xmlns:a16="http://schemas.microsoft.com/office/drawing/2014/main" id="{73537468-6700-4942-BF9B-7AC23042FE55}"/>
              </a:ext>
            </a:extLst>
          </p:cNvPr>
          <p:cNvSpPr>
            <a:spLocks xmlns:a="http://schemas.openxmlformats.org/drawingml/2006/main" noGrp="1"/>
          </p:cNvSpPr>
          <p:nvPr/>
        </p:nvSpPr>
        <p:spPr>
          <a:xfrm xmlns:a="http://schemas.openxmlformats.org/drawingml/2006/main">
            <a:off x="8063163" y="2042160"/>
            <a:ext cx="2977816" cy="4524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66" b="1">
                <a:solidFill>
                  <a:srgbClr val="478B79"/>
                </a:solidFill>
                <a:latin typeface="Chalkboard"/>
                <a:ea typeface="Arial"/>
                <a:cs typeface="Arial"/>
              </a:defRPr>
            </a:pPr>
            <a:r>
              <a:rPr sz="2066" b="1">
                <a:solidFill>
                  <a:srgbClr val="478B79"/>
                </a:solidFill>
                <a:latin typeface="Chalkboard"/>
                <a:ea typeface="Arial"/>
                <a:cs typeface="Arial"/>
              </a:rPr>
              <a:t>Negative slope</a:t>
            </a:r>
          </a:p>
        </p:txBody>
      </p:sp>
      <p:sp>
        <p:nvSpPr>
          <p:cNvPr id="7" name="">
            <a:extLst xmlns:a="http://schemas.openxmlformats.org/drawingml/2006/main">
              <a:ext uri="{FF2B5EF4-FFF2-40B4-BE49-F238E27FC236}">
                <a16:creationId xmlns:a16="http://schemas.microsoft.com/office/drawing/2014/main" id="{76B4D4B1-8EA6-48E5-9129-C54B9E7CE45E}"/>
              </a:ext>
            </a:extLst>
          </p:cNvPr>
          <p:cNvSpPr>
            <a:spLocks xmlns:a="http://schemas.openxmlformats.org/drawingml/2006/main" noGrp="1"/>
          </p:cNvSpPr>
          <p:nvPr/>
        </p:nvSpPr>
        <p:spPr>
          <a:xfrm xmlns:a="http://schemas.openxmlformats.org/drawingml/2006/main">
            <a:off x="8063163" y="2521744"/>
            <a:ext cx="2977816" cy="4071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24" b="0">
                <a:solidFill>
                  <a:srgbClr val="272729"/>
                </a:solidFill>
                <a:latin typeface="Arial"/>
                <a:ea typeface="Arial"/>
                <a:cs typeface="Arial"/>
              </a:defRPr>
            </a:pPr>
            <a:r>
              <a:rPr sz="1924" b="0">
                <a:solidFill>
                  <a:srgbClr val="272729"/>
                </a:solidFill>
                <a:latin typeface="Arial"/>
                <a:ea typeface="Arial"/>
                <a:cs typeface="Arial"/>
              </a:rPr>
              <a:t>Increase w</a:t>
            </a:r>
          </a:p>
        </p:txBody>
      </p:sp>
      <p:sp>
        <p:nvSpPr>
          <p:cNvPr id="8" name="">
            <a:extLst xmlns:a="http://schemas.openxmlformats.org/drawingml/2006/main">
              <a:ext uri="{FF2B5EF4-FFF2-40B4-BE49-F238E27FC236}">
                <a16:creationId xmlns:a16="http://schemas.microsoft.com/office/drawing/2014/main" id="{D082D5A2-52A7-46B1-9963-24F3764042EA}"/>
              </a:ext>
            </a:extLst>
          </p:cNvPr>
          <p:cNvSpPr>
            <a:spLocks xmlns:a="http://schemas.openxmlformats.org/drawingml/2006/main" noGrp="1"/>
          </p:cNvSpPr>
          <p:nvPr/>
        </p:nvSpPr>
        <p:spPr>
          <a:xfrm xmlns:a="http://schemas.openxmlformats.org/drawingml/2006/main">
            <a:off x="8063163" y="3390424"/>
            <a:ext cx="2977816" cy="4524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66" b="1">
                <a:solidFill>
                  <a:srgbClr val="A45F57"/>
                </a:solidFill>
                <a:latin typeface="Chalkboard"/>
                <a:ea typeface="Arial"/>
                <a:cs typeface="Arial"/>
              </a:defRPr>
            </a:pPr>
            <a:r>
              <a:rPr sz="2066" b="1">
                <a:solidFill>
                  <a:srgbClr val="A45F57"/>
                </a:solidFill>
                <a:latin typeface="Chalkboard"/>
                <a:ea typeface="Arial"/>
                <a:cs typeface="Arial"/>
              </a:rPr>
              <a:t>Positive slope</a:t>
            </a:r>
          </a:p>
        </p:txBody>
      </p:sp>
      <p:sp>
        <p:nvSpPr>
          <p:cNvPr id="9" name="">
            <a:extLst xmlns:a="http://schemas.openxmlformats.org/drawingml/2006/main">
              <a:ext uri="{FF2B5EF4-FFF2-40B4-BE49-F238E27FC236}">
                <a16:creationId xmlns:a16="http://schemas.microsoft.com/office/drawing/2014/main" id="{C489A0FA-5AC0-425A-BF7E-D10B67178607}"/>
              </a:ext>
            </a:extLst>
          </p:cNvPr>
          <p:cNvSpPr>
            <a:spLocks xmlns:a="http://schemas.openxmlformats.org/drawingml/2006/main" noGrp="1"/>
          </p:cNvSpPr>
          <p:nvPr/>
        </p:nvSpPr>
        <p:spPr>
          <a:xfrm xmlns:a="http://schemas.openxmlformats.org/drawingml/2006/main">
            <a:off x="8063163" y="3870007"/>
            <a:ext cx="2977816" cy="4071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24" b="0">
                <a:solidFill>
                  <a:srgbClr val="272729"/>
                </a:solidFill>
                <a:latin typeface="Arial"/>
                <a:ea typeface="Arial"/>
                <a:cs typeface="Arial"/>
              </a:defRPr>
            </a:pPr>
            <a:r>
              <a:rPr sz="1924" b="0">
                <a:solidFill>
                  <a:srgbClr val="272729"/>
                </a:solidFill>
                <a:latin typeface="Arial"/>
                <a:ea typeface="Arial"/>
                <a:cs typeface="Arial"/>
              </a:rPr>
              <a:t>Decrease w</a:t>
            </a:r>
          </a:p>
        </p:txBody>
      </p:sp>
      <p:sp>
        <p:nvSpPr>
          <p:cNvPr id="10" name="">
            <a:extLst xmlns:a="http://schemas.openxmlformats.org/drawingml/2006/main">
              <a:ext uri="{FF2B5EF4-FFF2-40B4-BE49-F238E27FC236}">
                <a16:creationId xmlns:a16="http://schemas.microsoft.com/office/drawing/2014/main" id="{C1E9AEC5-DCDA-4E3D-9681-1D8A2B54CBF9}"/>
              </a:ext>
            </a:extLst>
          </p:cNvPr>
          <p:cNvSpPr>
            <a:spLocks xmlns:a="http://schemas.openxmlformats.org/drawingml/2006/main" noGrp="1"/>
          </p:cNvSpPr>
          <p:nvPr/>
        </p:nvSpPr>
        <p:spPr>
          <a:xfrm xmlns:a="http://schemas.openxmlformats.org/drawingml/2006/main">
            <a:off x="8027068" y="4792980"/>
            <a:ext cx="3293645" cy="5248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24" b="1">
                <a:solidFill>
                  <a:srgbClr val="287B95"/>
                </a:solidFill>
                <a:latin typeface="Chalkboard"/>
                <a:ea typeface="Arial"/>
                <a:cs typeface="Arial"/>
              </a:defRPr>
            </a:pPr>
            <a:r>
              <a:rPr sz="1924" b="1">
                <a:solidFill>
                  <a:srgbClr val="287B95"/>
                </a:solidFill>
                <a:latin typeface="Chalkboard"/>
                <a:ea typeface="Arial"/>
                <a:cs typeface="Arial"/>
              </a:rPr>
              <a:t>ΔL ≈ (∂L/∂w) Δw</a:t>
            </a:r>
          </a:p>
        </p:txBody>
      </p:sp>
      <p:sp>
        <p:nvSpPr>
          <p:cNvPr id="9200" name="matched-title">
            <a:extLst xmlns:a="http://schemas.openxmlformats.org/drawingml/2006/main">
              <a:ext uri="{FF2B5EF4-FFF2-40B4-BE49-F238E27FC236}">
                <a16:creationId xmlns:a16="http://schemas.microsoft.com/office/drawing/2014/main" id="{F13FE866-16DF-466B-96F8-A2CF4732F819}"/>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What a gradient tells us</a:t>
            </a:r>
          </a:p>
        </p:txBody>
      </p:sp>
      <p:sp>
        <p:nvSpPr>
          <p:cNvPr id="9201" name="matched-subtitle">
            <a:extLst xmlns:a="http://schemas.openxmlformats.org/drawingml/2006/main">
              <a:ext uri="{FF2B5EF4-FFF2-40B4-BE49-F238E27FC236}">
                <a16:creationId xmlns:a16="http://schemas.microsoft.com/office/drawing/2014/main" id="{7BBEC522-64E7-41DF-94AF-A7955F3A0553}"/>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The tangent slope shows how loss changes near the current parameter value.</a:t>
            </a:r>
          </a:p>
        </p:txBody>
      </p:sp>
      <p:sp>
        <p:nvSpPr>
          <p:cNvPr id="9202" name="matched-footer">
            <a:extLst xmlns:a="http://schemas.openxmlformats.org/drawingml/2006/main">
              <a:ext uri="{FF2B5EF4-FFF2-40B4-BE49-F238E27FC236}">
                <a16:creationId xmlns:a16="http://schemas.microsoft.com/office/drawing/2014/main" id="{ADA959CB-0884-4BDD-80FA-8B0B37B2B9AA}"/>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Subtracting a small multiple of the gradient moves the parameter downhill locally.</a:t>
            </a:r>
          </a:p>
        </p:txBody>
      </p:sp>
      <p:sp>
        <p:nvSpPr>
          <p:cNvPr id="9203" name="matched-page">
            <a:extLst xmlns:a="http://schemas.openxmlformats.org/drawingml/2006/main">
              <a:ext uri="{FF2B5EF4-FFF2-40B4-BE49-F238E27FC236}">
                <a16:creationId xmlns:a16="http://schemas.microsoft.com/office/drawing/2014/main" id="{CEC88032-DC28-4C57-897C-D12EF969C1A4}"/>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05</a:t>
            </a:r>
          </a:p>
        </p:txBody>
      </p:sp>
    </p:spTree>
    <p:extLst>
      <p:ext uri="{BB962C8B-B14F-4D97-AF65-F5344CB8AC3E}">
        <p14:creationId xmlns:p14="http://schemas.microsoft.com/office/powerpoint/2010/main" val="27538795"/>
      </p:ext>
    </p:extLst>
  </p:cSld>
</p:sld>
</file>

<file path=ppt/slides/slide18.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5" name="">
            <a:extLst xmlns:a="http://schemas.openxmlformats.org/drawingml/2006/main">
              <a:ext uri="{FF2B5EF4-FFF2-40B4-BE49-F238E27FC236}">
                <a16:creationId xmlns:a16="http://schemas.microsoft.com/office/drawing/2014/main" id="{F27CCB01-42D4-4408-A34A-EC3C75244466}"/>
              </a:ext>
            </a:extLst>
          </p:cNvPr>
          <p:cNvSpPr>
            <a:spLocks xmlns:a="http://schemas.openxmlformats.org/drawingml/2006/main" noGrp="1"/>
          </p:cNvSpPr>
          <p:nvPr/>
        </p:nvSpPr>
        <p:spPr>
          <a:xfrm xmlns:a="http://schemas.openxmlformats.org/drawingml/2006/main">
            <a:off x="1349542" y="1797844"/>
            <a:ext cx="4241132" cy="4071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95" b="1">
                <a:solidFill>
                  <a:srgbClr val="287B95"/>
                </a:solidFill>
                <a:latin typeface="Chalkboard"/>
                <a:ea typeface="Arial"/>
                <a:cs typeface="Arial"/>
              </a:defRPr>
            </a:pPr>
            <a:r>
              <a:rPr sz="1995" b="1">
                <a:solidFill>
                  <a:srgbClr val="287B95"/>
                </a:solidFill>
                <a:latin typeface="Chalkboard"/>
                <a:ea typeface="Arial"/>
                <a:cs typeface="Arial"/>
              </a:rPr>
              <a:t>Spam probability</a:t>
            </a:r>
          </a:p>
        </p:txBody>
      </p:sp>
      <p:graphicFrame>
        <p:nvGraphicFramePr>
          <p:cNvPr id="15" name="Chart"/>
          <p:cNvGraphicFramePr/>
          <p:nvPr/>
        </p:nvGraphicFramePr>
        <p:xfrm>
          <a:off xmlns:a="http://schemas.openxmlformats.org/drawingml/2006/main" x="808121" y="2358866"/>
          <a:ext xmlns:a="http://schemas.openxmlformats.org/drawingml/2006/main" cx="4782553" cy="2714625"/>
        </p:xfrm>
        <a:graphic xmlns:a="http://schemas.openxmlformats.org/drawingml/2006/main">
          <a:graphicData uri="http://schemas.openxmlformats.org/drawingml/2006/chart">
            <c:chart xmlns:r="http://schemas.openxmlformats.org/officeDocument/2006/relationships" xmlns:c="http://schemas.openxmlformats.org/drawingml/2006/chart" r:id="R4c287940b58a4914"/>
          </a:graphicData>
        </a:graphic>
      </p:graphicFrame>
      <p:sp>
        <p:nvSpPr>
          <p:cNvPr id="7" name="">
            <a:extLst xmlns:a="http://schemas.openxmlformats.org/drawingml/2006/main">
              <a:ext uri="{FF2B5EF4-FFF2-40B4-BE49-F238E27FC236}">
                <a16:creationId xmlns:a16="http://schemas.microsoft.com/office/drawing/2014/main" id="{7AA81C4A-FCE1-4EB1-A8F7-2955F9357725}"/>
              </a:ext>
            </a:extLst>
          </p:cNvPr>
          <p:cNvSpPr>
            <a:spLocks xmlns:a="http://schemas.openxmlformats.org/drawingml/2006/main" noGrp="1"/>
          </p:cNvSpPr>
          <p:nvPr/>
        </p:nvSpPr>
        <p:spPr>
          <a:xfrm xmlns:a="http://schemas.openxmlformats.org/drawingml/2006/main">
            <a:off x="6853989" y="1797844"/>
            <a:ext cx="4241132" cy="4071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95" b="1">
                <a:solidFill>
                  <a:srgbClr val="287B95"/>
                </a:solidFill>
                <a:latin typeface="Chalkboard"/>
                <a:ea typeface="Arial"/>
                <a:cs typeface="Arial"/>
              </a:defRPr>
            </a:pPr>
            <a:r>
              <a:rPr sz="1995" b="1">
                <a:solidFill>
                  <a:srgbClr val="287B95"/>
                </a:solidFill>
                <a:latin typeface="Chalkboard"/>
                <a:ea typeface="Arial"/>
                <a:cs typeface="Arial"/>
              </a:rPr>
              <a:t>Binary cross-entropy</a:t>
            </a:r>
          </a:p>
        </p:txBody>
      </p:sp>
      <p:graphicFrame>
        <p:nvGraphicFramePr>
          <p:cNvPr id="17" name="Chart"/>
          <p:cNvGraphicFramePr/>
          <p:nvPr/>
        </p:nvGraphicFramePr>
        <p:xfrm>
          <a:off xmlns:a="http://schemas.openxmlformats.org/drawingml/2006/main" x="6312568" y="2358866"/>
          <a:ext xmlns:a="http://schemas.openxmlformats.org/drawingml/2006/main" cx="4782553" cy="2714625"/>
        </p:xfrm>
        <a:graphic xmlns:a="http://schemas.openxmlformats.org/drawingml/2006/main">
          <a:graphicData uri="http://schemas.openxmlformats.org/drawingml/2006/chart">
            <c:chart xmlns:r="http://schemas.openxmlformats.org/officeDocument/2006/relationships" xmlns:c="http://schemas.openxmlformats.org/drawingml/2006/chart" r:id="R597b0d03e62a4de2"/>
          </a:graphicData>
        </a:graphic>
      </p:graphicFrame>
      <p:sp>
        <p:nvSpPr>
          <p:cNvPr id="9" name="">
            <a:extLst xmlns:a="http://schemas.openxmlformats.org/drawingml/2006/main">
              <a:ext uri="{FF2B5EF4-FFF2-40B4-BE49-F238E27FC236}">
                <a16:creationId xmlns:a16="http://schemas.microsoft.com/office/drawing/2014/main" id="{1DF67E6A-AC21-4C6C-8530-4D28E7A6D5C7}"/>
              </a:ext>
            </a:extLst>
          </p:cNvPr>
          <p:cNvSpPr>
            <a:spLocks xmlns:a="http://schemas.openxmlformats.org/drawingml/2006/main" noGrp="1"/>
          </p:cNvSpPr>
          <p:nvPr/>
        </p:nvSpPr>
        <p:spPr>
          <a:xfrm xmlns:a="http://schemas.openxmlformats.org/drawingml/2006/main">
            <a:off x="2432384" y="5154930"/>
            <a:ext cx="7670132" cy="389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81" b="0">
                <a:solidFill>
                  <a:srgbClr val="272729"/>
                </a:solidFill>
                <a:latin typeface="Arial"/>
                <a:ea typeface="Arial"/>
                <a:cs typeface="Arial"/>
              </a:defRPr>
            </a:pPr>
            <a:r>
              <a:rPr sz="1781" b="0">
                <a:solidFill>
                  <a:srgbClr val="272729"/>
                </a:solidFill>
                <a:latin typeface="Arial"/>
                <a:ea typeface="Arial"/>
                <a:cs typeface="Arial"/>
              </a:rPr>
              <a:t>Decision at threshold 0.5: Spam before and after</a:t>
            </a:r>
          </a:p>
        </p:txBody>
      </p:sp>
      <p:sp>
        <p:nvSpPr>
          <p:cNvPr id="9200" name="matched-title">
            <a:extLst xmlns:a="http://schemas.openxmlformats.org/drawingml/2006/main">
              <a:ext uri="{FF2B5EF4-FFF2-40B4-BE49-F238E27FC236}">
                <a16:creationId xmlns:a16="http://schemas.microsoft.com/office/drawing/2014/main" id="{C81A9BAC-5DF5-4420-9E46-2FEC51BD2B56}"/>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Loss can improve before the class changes</a:t>
            </a:r>
          </a:p>
        </p:txBody>
      </p:sp>
      <p:sp>
        <p:nvSpPr>
          <p:cNvPr id="9201" name="matched-subtitle">
            <a:extLst xmlns:a="http://schemas.openxmlformats.org/drawingml/2006/main">
              <a:ext uri="{FF2B5EF4-FFF2-40B4-BE49-F238E27FC236}">
                <a16:creationId xmlns:a16="http://schemas.microsoft.com/office/drawing/2014/main" id="{F750164D-9AA6-4CF6-9A72-E6D5836AD364}"/>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Both predictions classify this email as spam, while the loss still improves.</a:t>
            </a:r>
          </a:p>
        </p:txBody>
      </p:sp>
      <p:sp>
        <p:nvSpPr>
          <p:cNvPr id="9202" name="matched-footer">
            <a:extLst xmlns:a="http://schemas.openxmlformats.org/drawingml/2006/main">
              <a:ext uri="{FF2B5EF4-FFF2-40B4-BE49-F238E27FC236}">
                <a16:creationId xmlns:a16="http://schemas.microsoft.com/office/drawing/2014/main" id="{769A190C-DD8A-4EBA-B9D5-790D1B930649}"/>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The backward pass uses the probability and loss, before the hard classification threshold.</a:t>
            </a:r>
          </a:p>
        </p:txBody>
      </p:sp>
      <p:sp>
        <p:nvSpPr>
          <p:cNvPr id="9203" name="matched-page">
            <a:extLst xmlns:a="http://schemas.openxmlformats.org/drawingml/2006/main">
              <a:ext uri="{FF2B5EF4-FFF2-40B4-BE49-F238E27FC236}">
                <a16:creationId xmlns:a16="http://schemas.microsoft.com/office/drawing/2014/main" id="{F8CE4232-C0A7-486D-81EA-72224E90AB95}"/>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09</a:t>
            </a:r>
          </a:p>
        </p:txBody>
      </p:sp>
    </p:spTree>
    <p:extLst>
      <p:ext uri="{BB962C8B-B14F-4D97-AF65-F5344CB8AC3E}">
        <p14:creationId xmlns:p14="http://schemas.microsoft.com/office/powerpoint/2010/main" val="1458725818"/>
      </p:ext>
    </p:extLst>
  </p:cSld>
</p:sld>
</file>

<file path=ppt/slides/slide19.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graphicFrame>
        <p:nvGraphicFramePr>
          <p:cNvPr id="14" name="Chart"/>
          <p:cNvGraphicFramePr/>
          <p:nvPr/>
        </p:nvGraphicFramePr>
        <p:xfrm>
          <a:off xmlns:a="http://schemas.openxmlformats.org/drawingml/2006/main" x="835192" y="1987868"/>
          <a:ext xmlns:a="http://schemas.openxmlformats.org/drawingml/2006/main" cx="6542171" cy="3185160"/>
        </p:xfrm>
        <a:graphic xmlns:a="http://schemas.openxmlformats.org/drawingml/2006/main">
          <a:graphicData uri="http://schemas.openxmlformats.org/drawingml/2006/chart">
            <c:chart xmlns:r="http://schemas.openxmlformats.org/officeDocument/2006/relationships" xmlns:c="http://schemas.openxmlformats.org/drawingml/2006/chart" r:id="R8a5e9953957a473f"/>
          </a:graphicData>
        </a:graphic>
      </p:graphicFrame>
      <p:sp>
        <p:nvSpPr>
          <p:cNvPr id="6" name="">
            <a:extLst xmlns:a="http://schemas.openxmlformats.org/drawingml/2006/main">
              <a:ext uri="{FF2B5EF4-FFF2-40B4-BE49-F238E27FC236}">
                <a16:creationId xmlns:a16="http://schemas.microsoft.com/office/drawing/2014/main" id="{C0831D94-708E-4928-A879-FA43105DDDDB}"/>
              </a:ext>
            </a:extLst>
          </p:cNvPr>
          <p:cNvSpPr>
            <a:spLocks xmlns:a="http://schemas.openxmlformats.org/drawingml/2006/main" noGrp="1"/>
          </p:cNvSpPr>
          <p:nvPr/>
        </p:nvSpPr>
        <p:spPr>
          <a:xfrm xmlns:a="http://schemas.openxmlformats.org/drawingml/2006/main">
            <a:off x="7972926" y="1951672"/>
            <a:ext cx="3068053" cy="4343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95" b="1">
                <a:solidFill>
                  <a:srgbClr val="287B95"/>
                </a:solidFill>
                <a:latin typeface="Chalkboard"/>
                <a:ea typeface="Arial"/>
                <a:cs typeface="Arial"/>
              </a:defRPr>
            </a:pPr>
            <a:r>
              <a:rPr sz="1995" b="1">
                <a:solidFill>
                  <a:srgbClr val="287B95"/>
                </a:solidFill>
                <a:latin typeface="Chalkboard"/>
                <a:ea typeface="Arial"/>
                <a:cs typeface="Arial"/>
              </a:rPr>
              <a:t>Output layer</a:t>
            </a:r>
          </a:p>
        </p:txBody>
      </p:sp>
      <p:sp>
        <p:nvSpPr>
          <p:cNvPr id="7" name="">
            <a:extLst xmlns:a="http://schemas.openxmlformats.org/drawingml/2006/main">
              <a:ext uri="{FF2B5EF4-FFF2-40B4-BE49-F238E27FC236}">
                <a16:creationId xmlns:a16="http://schemas.microsoft.com/office/drawing/2014/main" id="{7D213951-D2F4-4171-B3F5-FC01303036E0}"/>
              </a:ext>
            </a:extLst>
          </p:cNvPr>
          <p:cNvSpPr>
            <a:spLocks xmlns:a="http://schemas.openxmlformats.org/drawingml/2006/main" noGrp="1"/>
          </p:cNvSpPr>
          <p:nvPr/>
        </p:nvSpPr>
        <p:spPr>
          <a:xfrm xmlns:a="http://schemas.openxmlformats.org/drawingml/2006/main">
            <a:off x="7972926" y="2458402"/>
            <a:ext cx="3086100" cy="1013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52" b="0">
                <a:solidFill>
                  <a:srgbClr val="272729"/>
                </a:solidFill>
                <a:latin typeface="Arial"/>
                <a:ea typeface="Arial"/>
                <a:cs typeface="Arial"/>
              </a:defRPr>
            </a:pPr>
            <a:r>
              <a:rPr sz="1852" b="0">
                <a:solidFill>
                  <a:srgbClr val="272729"/>
                </a:solidFill>
                <a:latin typeface="Arial"/>
                <a:ea typeface="Arial"/>
                <a:cs typeface="Arial"/>
              </a:rPr>
              <a:t>∂L/∂w₂ = δ₂h</a:t>
            </a:r>
          </a:p>
          <a:p xmlns:a="http://schemas.openxmlformats.org/drawingml/2006/main">
            <a:pPr>
              <a:defRPr sz="1852" b="0">
                <a:solidFill>
                  <a:srgbClr val="272729"/>
                </a:solidFill>
                <a:latin typeface="Arial"/>
                <a:ea typeface="Arial"/>
                <a:cs typeface="Arial"/>
              </a:defRPr>
            </a:pPr>
            <a:r>
              <a:rPr sz="1852" b="0">
                <a:solidFill>
                  <a:srgbClr val="272729"/>
                </a:solidFill>
                <a:latin typeface="Arial"/>
                <a:ea typeface="Arial"/>
                <a:cs typeface="Arial"/>
              </a:rPr>
              <a:t>∂L/∂b₂ = δ₂</a:t>
            </a:r>
          </a:p>
        </p:txBody>
      </p:sp>
      <p:sp>
        <p:nvSpPr>
          <p:cNvPr id="8" name="">
            <a:extLst xmlns:a="http://schemas.openxmlformats.org/drawingml/2006/main">
              <a:ext uri="{FF2B5EF4-FFF2-40B4-BE49-F238E27FC236}">
                <a16:creationId xmlns:a16="http://schemas.microsoft.com/office/drawing/2014/main" id="{F18A9356-6F37-4FD2-B8AB-FD8386A98FA0}"/>
              </a:ext>
            </a:extLst>
          </p:cNvPr>
          <p:cNvSpPr>
            <a:spLocks xmlns:a="http://schemas.openxmlformats.org/drawingml/2006/main" noGrp="1"/>
          </p:cNvSpPr>
          <p:nvPr/>
        </p:nvSpPr>
        <p:spPr>
          <a:xfrm xmlns:a="http://schemas.openxmlformats.org/drawingml/2006/main">
            <a:off x="7972926" y="3752374"/>
            <a:ext cx="3068053" cy="4343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95" b="1">
                <a:solidFill>
                  <a:srgbClr val="287B95"/>
                </a:solidFill>
                <a:latin typeface="Chalkboard"/>
                <a:ea typeface="Arial"/>
                <a:cs typeface="Arial"/>
              </a:defRPr>
            </a:pPr>
            <a:r>
              <a:rPr sz="1995" b="1">
                <a:solidFill>
                  <a:srgbClr val="287B95"/>
                </a:solidFill>
                <a:latin typeface="Chalkboard"/>
                <a:ea typeface="Arial"/>
                <a:cs typeface="Arial"/>
              </a:rPr>
              <a:t>Hidden layer</a:t>
            </a:r>
          </a:p>
        </p:txBody>
      </p:sp>
      <p:sp>
        <p:nvSpPr>
          <p:cNvPr id="9" name="">
            <a:extLst xmlns:a="http://schemas.openxmlformats.org/drawingml/2006/main">
              <a:ext uri="{FF2B5EF4-FFF2-40B4-BE49-F238E27FC236}">
                <a16:creationId xmlns:a16="http://schemas.microsoft.com/office/drawing/2014/main" id="{8FD3450C-4D57-4666-AAC5-7AB1A907E6EE}"/>
              </a:ext>
            </a:extLst>
          </p:cNvPr>
          <p:cNvSpPr>
            <a:spLocks xmlns:a="http://schemas.openxmlformats.org/drawingml/2006/main" noGrp="1"/>
          </p:cNvSpPr>
          <p:nvPr/>
        </p:nvSpPr>
        <p:spPr>
          <a:xfrm xmlns:a="http://schemas.openxmlformats.org/drawingml/2006/main">
            <a:off x="7972926" y="4268152"/>
            <a:ext cx="3086100" cy="12577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81" b="0">
                <a:solidFill>
                  <a:srgbClr val="272729"/>
                </a:solidFill>
                <a:latin typeface="Arial"/>
                <a:ea typeface="Arial"/>
                <a:cs typeface="Arial"/>
              </a:defRPr>
            </a:pPr>
            <a:r>
              <a:rPr sz="1781" b="0">
                <a:solidFill>
                  <a:srgbClr val="272729"/>
                </a:solidFill>
                <a:latin typeface="Arial"/>
                <a:ea typeface="Arial"/>
                <a:cs typeface="Arial"/>
              </a:rPr>
              <a:t>δ₁ = δ₂w₂ ReLU′(z₁)</a:t>
            </a:r>
          </a:p>
          <a:p xmlns:a="http://schemas.openxmlformats.org/drawingml/2006/main">
            <a:pPr>
              <a:defRPr sz="1781" b="0">
                <a:solidFill>
                  <a:srgbClr val="272729"/>
                </a:solidFill>
                <a:latin typeface="Arial"/>
                <a:ea typeface="Arial"/>
                <a:cs typeface="Arial"/>
              </a:defRPr>
            </a:pPr>
            <a:r>
              <a:rPr sz="1781" b="0">
                <a:solidFill>
                  <a:srgbClr val="272729"/>
                </a:solidFill>
                <a:latin typeface="Arial"/>
                <a:ea typeface="Arial"/>
                <a:cs typeface="Arial"/>
              </a:rPr>
              <a:t>∂L/∂w₁ = δ₁x</a:t>
            </a:r>
          </a:p>
          <a:p xmlns:a="http://schemas.openxmlformats.org/drawingml/2006/main">
            <a:pPr>
              <a:defRPr sz="1781" b="0">
                <a:solidFill>
                  <a:srgbClr val="272729"/>
                </a:solidFill>
                <a:latin typeface="Arial"/>
                <a:ea typeface="Arial"/>
                <a:cs typeface="Arial"/>
              </a:defRPr>
            </a:pPr>
            <a:r>
              <a:rPr sz="1781" b="0">
                <a:solidFill>
                  <a:srgbClr val="272729"/>
                </a:solidFill>
                <a:latin typeface="Arial"/>
                <a:ea typeface="Arial"/>
                <a:cs typeface="Arial"/>
              </a:rPr>
              <a:t>∂L/∂b₁ = δ₁</a:t>
            </a:r>
          </a:p>
        </p:txBody>
      </p:sp>
      <p:sp>
        <p:nvSpPr>
          <p:cNvPr id="9200" name="matched-title">
            <a:extLst xmlns:a="http://schemas.openxmlformats.org/drawingml/2006/main">
              <a:ext uri="{FF2B5EF4-FFF2-40B4-BE49-F238E27FC236}">
                <a16:creationId xmlns:a16="http://schemas.microsoft.com/office/drawing/2014/main" id="{E4E4843A-9816-4C81-9E13-BC4550010003}"/>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All four gradients in the example</a:t>
            </a:r>
          </a:p>
        </p:txBody>
      </p:sp>
      <p:sp>
        <p:nvSpPr>
          <p:cNvPr id="9201" name="matched-subtitle">
            <a:extLst xmlns:a="http://schemas.openxmlformats.org/drawingml/2006/main">
              <a:ext uri="{FF2B5EF4-FFF2-40B4-BE49-F238E27FC236}">
                <a16:creationId xmlns:a16="http://schemas.microsoft.com/office/drawing/2014/main" id="{B52DE037-E784-4343-8690-584E5ECAC75B}"/>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With y = 1, the output error is δ₂ = ŷ − y = −0.3775.</a:t>
            </a:r>
          </a:p>
        </p:txBody>
      </p:sp>
      <p:sp>
        <p:nvSpPr>
          <p:cNvPr id="9202" name="matched-footer">
            <a:extLst xmlns:a="http://schemas.openxmlformats.org/drawingml/2006/main">
              <a:ext uri="{FF2B5EF4-FFF2-40B4-BE49-F238E27FC236}">
                <a16:creationId xmlns:a16="http://schemas.microsoft.com/office/drawing/2014/main" id="{4C28D387-0BCB-4393-B400-280D5551E3CF}"/>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The bias gradient equals the neuron’s error signal because the derivative of “+ b” is 1.</a:t>
            </a:r>
          </a:p>
        </p:txBody>
      </p:sp>
      <p:sp>
        <p:nvSpPr>
          <p:cNvPr id="9203" name="matched-page">
            <a:extLst xmlns:a="http://schemas.openxmlformats.org/drawingml/2006/main">
              <a:ext uri="{FF2B5EF4-FFF2-40B4-BE49-F238E27FC236}">
                <a16:creationId xmlns:a16="http://schemas.microsoft.com/office/drawing/2014/main" id="{EEEEC518-5FEC-4AD0-81A0-557C8823565F}"/>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12</a:t>
            </a:r>
          </a:p>
        </p:txBody>
      </p:sp>
    </p:spTree>
    <p:extLst>
      <p:ext uri="{BB962C8B-B14F-4D97-AF65-F5344CB8AC3E}">
        <p14:creationId xmlns:p14="http://schemas.microsoft.com/office/powerpoint/2010/main" val="289336972"/>
      </p:ext>
    </p:extLst>
  </p:cSld>
</p:sld>
</file>

<file path=ppt/slides/slide20.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graphicFrame>
        <p:nvGraphicFramePr>
          <p:cNvPr id="14" name="Chart"/>
          <p:cNvGraphicFramePr/>
          <p:nvPr/>
        </p:nvGraphicFramePr>
        <p:xfrm>
          <a:off xmlns:a="http://schemas.openxmlformats.org/drawingml/2006/main" x="763003" y="1933575"/>
          <a:ext xmlns:a="http://schemas.openxmlformats.org/drawingml/2006/main" cx="6785811" cy="3438525"/>
        </p:xfrm>
        <a:graphic xmlns:a="http://schemas.openxmlformats.org/drawingml/2006/main">
          <a:graphicData uri="http://schemas.openxmlformats.org/drawingml/2006/chart">
            <c:chart xmlns:r="http://schemas.openxmlformats.org/officeDocument/2006/relationships" xmlns:c="http://schemas.openxmlformats.org/drawingml/2006/chart" r:id="R4a27f9c7ee834cd3"/>
          </a:graphicData>
        </a:graphic>
      </p:graphicFrame>
      <p:sp>
        <p:nvSpPr>
          <p:cNvPr id="6" name="">
            <a:extLst xmlns:a="http://schemas.openxmlformats.org/drawingml/2006/main">
              <a:ext uri="{FF2B5EF4-FFF2-40B4-BE49-F238E27FC236}">
                <a16:creationId xmlns:a16="http://schemas.microsoft.com/office/drawing/2014/main" id="{1007A192-627D-4153-B282-CC990BD635A2}"/>
              </a:ext>
            </a:extLst>
          </p:cNvPr>
          <p:cNvSpPr>
            <a:spLocks xmlns:a="http://schemas.openxmlformats.org/drawingml/2006/main" noGrp="1"/>
          </p:cNvSpPr>
          <p:nvPr/>
        </p:nvSpPr>
        <p:spPr>
          <a:xfrm xmlns:a="http://schemas.openxmlformats.org/drawingml/2006/main">
            <a:off x="7999997" y="2132648"/>
            <a:ext cx="2887579" cy="5157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09" b="1">
                <a:solidFill>
                  <a:srgbClr val="287B95"/>
                </a:solidFill>
                <a:latin typeface="Chalkboard"/>
                <a:ea typeface="Arial"/>
                <a:cs typeface="Arial"/>
              </a:defRPr>
            </a:pPr>
            <a:r>
              <a:rPr sz="2209" b="1">
                <a:solidFill>
                  <a:srgbClr val="287B95"/>
                </a:solidFill>
                <a:latin typeface="Chalkboard"/>
                <a:ea typeface="Arial"/>
                <a:cs typeface="Arial"/>
              </a:rPr>
              <a:t>h ≈ 0.5755</a:t>
            </a:r>
          </a:p>
        </p:txBody>
      </p:sp>
      <p:sp>
        <p:nvSpPr>
          <p:cNvPr id="7" name="">
            <a:extLst xmlns:a="http://schemas.openxmlformats.org/drawingml/2006/main">
              <a:ext uri="{FF2B5EF4-FFF2-40B4-BE49-F238E27FC236}">
                <a16:creationId xmlns:a16="http://schemas.microsoft.com/office/drawing/2014/main" id="{95726248-ABEC-4343-A2D4-86AA05FB622A}"/>
              </a:ext>
            </a:extLst>
          </p:cNvPr>
          <p:cNvSpPr>
            <a:spLocks xmlns:a="http://schemas.openxmlformats.org/drawingml/2006/main" noGrp="1"/>
          </p:cNvSpPr>
          <p:nvPr/>
        </p:nvSpPr>
        <p:spPr>
          <a:xfrm xmlns:a="http://schemas.openxmlformats.org/drawingml/2006/main">
            <a:off x="7999997" y="2856548"/>
            <a:ext cx="2887579" cy="5157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09" b="1">
                <a:solidFill>
                  <a:srgbClr val="287B95"/>
                </a:solidFill>
                <a:latin typeface="Chalkboard"/>
                <a:ea typeface="Arial"/>
                <a:cs typeface="Arial"/>
              </a:defRPr>
            </a:pPr>
            <a:r>
              <a:rPr sz="2209" b="1">
                <a:solidFill>
                  <a:srgbClr val="287B95"/>
                </a:solidFill>
                <a:latin typeface="Chalkboard"/>
                <a:ea typeface="Arial"/>
                <a:cs typeface="Arial"/>
              </a:rPr>
              <a:t>z₂ ≈ 0.6241</a:t>
            </a:r>
          </a:p>
        </p:txBody>
      </p:sp>
      <p:sp>
        <p:nvSpPr>
          <p:cNvPr id="8" name="">
            <a:extLst xmlns:a="http://schemas.openxmlformats.org/drawingml/2006/main">
              <a:ext uri="{FF2B5EF4-FFF2-40B4-BE49-F238E27FC236}">
                <a16:creationId xmlns:a16="http://schemas.microsoft.com/office/drawing/2014/main" id="{53B227E8-77E3-4E41-84B9-366FDEB29BD7}"/>
              </a:ext>
            </a:extLst>
          </p:cNvPr>
          <p:cNvSpPr>
            <a:spLocks xmlns:a="http://schemas.openxmlformats.org/drawingml/2006/main" noGrp="1"/>
          </p:cNvSpPr>
          <p:nvPr/>
        </p:nvSpPr>
        <p:spPr>
          <a:xfrm xmlns:a="http://schemas.openxmlformats.org/drawingml/2006/main">
            <a:off x="7999997" y="3580448"/>
            <a:ext cx="2887579" cy="5157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09" b="1">
                <a:solidFill>
                  <a:srgbClr val="287B95"/>
                </a:solidFill>
                <a:latin typeface="Chalkboard"/>
                <a:ea typeface="Arial"/>
                <a:cs typeface="Arial"/>
              </a:defRPr>
            </a:pPr>
            <a:r>
              <a:rPr sz="2209" b="1">
                <a:solidFill>
                  <a:srgbClr val="287B95"/>
                </a:solidFill>
                <a:latin typeface="Chalkboard"/>
                <a:ea typeface="Arial"/>
                <a:cs typeface="Arial"/>
              </a:rPr>
              <a:t>ŷ ≈ 0.6512</a:t>
            </a:r>
          </a:p>
        </p:txBody>
      </p:sp>
      <p:sp>
        <p:nvSpPr>
          <p:cNvPr id="9" name="">
            <a:extLst xmlns:a="http://schemas.openxmlformats.org/drawingml/2006/main">
              <a:ext uri="{FF2B5EF4-FFF2-40B4-BE49-F238E27FC236}">
                <a16:creationId xmlns:a16="http://schemas.microsoft.com/office/drawing/2014/main" id="{B611DA8B-F137-48C6-A3C2-E246EC23B07E}"/>
              </a:ext>
            </a:extLst>
          </p:cNvPr>
          <p:cNvSpPr>
            <a:spLocks xmlns:a="http://schemas.openxmlformats.org/drawingml/2006/main" noGrp="1"/>
          </p:cNvSpPr>
          <p:nvPr/>
        </p:nvSpPr>
        <p:spPr>
          <a:xfrm xmlns:a="http://schemas.openxmlformats.org/drawingml/2006/main">
            <a:off x="7999997" y="4612005"/>
            <a:ext cx="2887579" cy="5157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09" b="1">
                <a:solidFill>
                  <a:srgbClr val="A45F57"/>
                </a:solidFill>
                <a:latin typeface="Chalkboard"/>
                <a:ea typeface="Arial"/>
                <a:cs typeface="Arial"/>
              </a:defRPr>
            </a:pPr>
            <a:r>
              <a:rPr sz="2209" b="1">
                <a:solidFill>
                  <a:srgbClr val="A45F57"/>
                </a:solidFill>
                <a:latin typeface="Chalkboard"/>
                <a:ea typeface="Arial"/>
                <a:cs typeface="Arial"/>
              </a:rPr>
              <a:t>L ≈ 0.4290</a:t>
            </a:r>
          </a:p>
        </p:txBody>
      </p:sp>
      <p:sp>
        <p:nvSpPr>
          <p:cNvPr id="9200" name="matched-title">
            <a:extLst xmlns:a="http://schemas.openxmlformats.org/drawingml/2006/main">
              <a:ext uri="{FF2B5EF4-FFF2-40B4-BE49-F238E27FC236}">
                <a16:creationId xmlns:a16="http://schemas.microsoft.com/office/drawing/2014/main" id="{DB7AEBCE-8133-4A0F-A5C8-5BAC0E75BB27}"/>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Checking the next forward pass</a:t>
            </a:r>
          </a:p>
        </p:txBody>
      </p:sp>
      <p:sp>
        <p:nvSpPr>
          <p:cNvPr id="9201" name="matched-subtitle">
            <a:extLst xmlns:a="http://schemas.openxmlformats.org/drawingml/2006/main">
              <a:ext uri="{FF2B5EF4-FFF2-40B4-BE49-F238E27FC236}">
                <a16:creationId xmlns:a16="http://schemas.microsoft.com/office/drawing/2014/main" id="{FEE7183B-53E3-4C04-9C49-FE3EED68571B}"/>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Updated parameters change every downstream value in this example.</a:t>
            </a:r>
          </a:p>
        </p:txBody>
      </p:sp>
      <p:sp>
        <p:nvSpPr>
          <p:cNvPr id="9202" name="matched-footer">
            <a:extLst xmlns:a="http://schemas.openxmlformats.org/drawingml/2006/main">
              <a:ext uri="{FF2B5EF4-FFF2-40B4-BE49-F238E27FC236}">
                <a16:creationId xmlns:a16="http://schemas.microsoft.com/office/drawing/2014/main" id="{87C7E857-3E51-403A-AE9C-EE62868003BC}"/>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Use all updated parameters together. Calculations use unrounded values internally.</a:t>
            </a:r>
          </a:p>
        </p:txBody>
      </p:sp>
      <p:sp>
        <p:nvSpPr>
          <p:cNvPr id="9203" name="matched-page">
            <a:extLst xmlns:a="http://schemas.openxmlformats.org/drawingml/2006/main">
              <a:ext uri="{FF2B5EF4-FFF2-40B4-BE49-F238E27FC236}">
                <a16:creationId xmlns:a16="http://schemas.microsoft.com/office/drawing/2014/main" id="{C6CFF15E-863A-4B35-A3A3-79606FA11DC6}"/>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14</a:t>
            </a:r>
          </a:p>
        </p:txBody>
      </p:sp>
    </p:spTree>
    <p:extLst>
      <p:ext uri="{BB962C8B-B14F-4D97-AF65-F5344CB8AC3E}">
        <p14:creationId xmlns:p14="http://schemas.microsoft.com/office/powerpoint/2010/main" val="697802460"/>
      </p:ext>
    </p:extLst>
  </p:cSld>
</p:sld>
</file>

<file path=ppt/slides/slide21.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graphicFrame>
        <p:nvGraphicFramePr>
          <p:cNvPr id="16" name="Chart"/>
          <p:cNvGraphicFramePr/>
          <p:nvPr/>
        </p:nvGraphicFramePr>
        <p:xfrm>
          <a:off xmlns:a="http://schemas.openxmlformats.org/drawingml/2006/main" x="781050" y="1915478"/>
          <a:ext xmlns:a="http://schemas.openxmlformats.org/drawingml/2006/main" cx="7182853" cy="3574256"/>
        </p:xfrm>
        <a:graphic xmlns:a="http://schemas.openxmlformats.org/drawingml/2006/main">
          <a:graphicData uri="http://schemas.openxmlformats.org/drawingml/2006/chart">
            <c:chart xmlns:r="http://schemas.openxmlformats.org/officeDocument/2006/relationships" xmlns:c="http://schemas.openxmlformats.org/drawingml/2006/chart" r:id="Rcc7cdaf4c5cb4e74"/>
          </a:graphicData>
        </a:graphic>
      </p:graphicFrame>
      <p:sp>
        <p:nvSpPr>
          <p:cNvPr id="6" name="">
            <a:extLst xmlns:a="http://schemas.openxmlformats.org/drawingml/2006/main">
              <a:ext uri="{FF2B5EF4-FFF2-40B4-BE49-F238E27FC236}">
                <a16:creationId xmlns:a16="http://schemas.microsoft.com/office/drawing/2014/main" id="{4B4E0E33-8079-4A96-B374-32A522703746}"/>
              </a:ext>
            </a:extLst>
          </p:cNvPr>
          <p:cNvSpPr>
            <a:spLocks xmlns:a="http://schemas.openxmlformats.org/drawingml/2006/main" noGrp="1"/>
          </p:cNvSpPr>
          <p:nvPr/>
        </p:nvSpPr>
        <p:spPr>
          <a:xfrm xmlns:a="http://schemas.openxmlformats.org/drawingml/2006/main">
            <a:off x="8360945" y="2168842"/>
            <a:ext cx="2616868" cy="380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95" b="1">
                <a:solidFill>
                  <a:srgbClr val="287B95"/>
                </a:solidFill>
                <a:latin typeface="Chalkboard"/>
                <a:ea typeface="Arial"/>
                <a:cs typeface="Arial"/>
              </a:defRPr>
            </a:pPr>
            <a:r>
              <a:rPr sz="1995" b="1">
                <a:solidFill>
                  <a:srgbClr val="287B95"/>
                </a:solidFill>
                <a:latin typeface="Chalkboard"/>
                <a:ea typeface="Arial"/>
                <a:cs typeface="Arial"/>
              </a:rPr>
              <a:t>Small steps</a:t>
            </a:r>
          </a:p>
        </p:txBody>
      </p:sp>
      <p:sp>
        <p:nvSpPr>
          <p:cNvPr id="7" name="">
            <a:extLst xmlns:a="http://schemas.openxmlformats.org/drawingml/2006/main">
              <a:ext uri="{FF2B5EF4-FFF2-40B4-BE49-F238E27FC236}">
                <a16:creationId xmlns:a16="http://schemas.microsoft.com/office/drawing/2014/main" id="{EEDEB8B5-EC7F-4C62-A063-5F12FF1B5718}"/>
              </a:ext>
            </a:extLst>
          </p:cNvPr>
          <p:cNvSpPr>
            <a:spLocks xmlns:a="http://schemas.openxmlformats.org/drawingml/2006/main" noGrp="1"/>
          </p:cNvSpPr>
          <p:nvPr/>
        </p:nvSpPr>
        <p:spPr>
          <a:xfrm xmlns:a="http://schemas.openxmlformats.org/drawingml/2006/main">
            <a:off x="8360945" y="2594134"/>
            <a:ext cx="2689058" cy="669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39" b="0">
                <a:solidFill>
                  <a:srgbClr val="272729"/>
                </a:solidFill>
                <a:latin typeface="Arial"/>
                <a:ea typeface="Arial"/>
                <a:cs typeface="Arial"/>
              </a:defRPr>
            </a:pPr>
            <a:r>
              <a:rPr sz="1639" b="0">
                <a:solidFill>
                  <a:srgbClr val="272729"/>
                </a:solidFill>
                <a:latin typeface="Arial"/>
                <a:ea typeface="Arial"/>
                <a:cs typeface="Arial"/>
              </a:rPr>
              <a:t>Approach zero gradually.</a:t>
            </a:r>
          </a:p>
        </p:txBody>
      </p:sp>
      <p:sp>
        <p:nvSpPr>
          <p:cNvPr id="8" name="">
            <a:extLst xmlns:a="http://schemas.openxmlformats.org/drawingml/2006/main">
              <a:ext uri="{FF2B5EF4-FFF2-40B4-BE49-F238E27FC236}">
                <a16:creationId xmlns:a16="http://schemas.microsoft.com/office/drawing/2014/main" id="{1FDC2BDA-9E6E-472B-800A-08E759F2D4C4}"/>
              </a:ext>
            </a:extLst>
          </p:cNvPr>
          <p:cNvSpPr>
            <a:spLocks xmlns:a="http://schemas.openxmlformats.org/drawingml/2006/main" noGrp="1"/>
          </p:cNvSpPr>
          <p:nvPr/>
        </p:nvSpPr>
        <p:spPr>
          <a:xfrm xmlns:a="http://schemas.openxmlformats.org/drawingml/2006/main">
            <a:off x="8360945" y="3408521"/>
            <a:ext cx="2743200" cy="380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95" b="1">
                <a:solidFill>
                  <a:srgbClr val="478B79"/>
                </a:solidFill>
                <a:latin typeface="Chalkboard"/>
                <a:ea typeface="Arial"/>
                <a:cs typeface="Arial"/>
              </a:defRPr>
            </a:pPr>
            <a:r>
              <a:rPr sz="1995" b="1">
                <a:solidFill>
                  <a:srgbClr val="478B79"/>
                </a:solidFill>
                <a:latin typeface="Chalkboard"/>
                <a:ea typeface="Arial"/>
                <a:cs typeface="Arial"/>
              </a:rPr>
              <a:t>At the minimum</a:t>
            </a:r>
          </a:p>
        </p:txBody>
      </p:sp>
      <p:sp>
        <p:nvSpPr>
          <p:cNvPr id="9" name="">
            <a:extLst xmlns:a="http://schemas.openxmlformats.org/drawingml/2006/main">
              <a:ext uri="{FF2B5EF4-FFF2-40B4-BE49-F238E27FC236}">
                <a16:creationId xmlns:a16="http://schemas.microsoft.com/office/drawing/2014/main" id="{237C7EF2-B4D0-4645-97DC-C7275A9C645B}"/>
              </a:ext>
            </a:extLst>
          </p:cNvPr>
          <p:cNvSpPr>
            <a:spLocks xmlns:a="http://schemas.openxmlformats.org/drawingml/2006/main" noGrp="1"/>
          </p:cNvSpPr>
          <p:nvPr/>
        </p:nvSpPr>
        <p:spPr>
          <a:xfrm xmlns:a="http://schemas.openxmlformats.org/drawingml/2006/main">
            <a:off x="8360945" y="3833812"/>
            <a:ext cx="2680034" cy="669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39" b="0">
                <a:solidFill>
                  <a:srgbClr val="272729"/>
                </a:solidFill>
                <a:latin typeface="Arial"/>
                <a:ea typeface="Arial"/>
                <a:cs typeface="Arial"/>
              </a:defRPr>
            </a:pPr>
            <a:r>
              <a:rPr sz="1639" b="0">
                <a:solidFill>
                  <a:srgbClr val="272729"/>
                </a:solidFill>
                <a:latin typeface="Arial"/>
                <a:ea typeface="Arial"/>
                <a:cs typeface="Arial"/>
              </a:rPr>
              <a:t>Reach zero in one step.</a:t>
            </a:r>
          </a:p>
        </p:txBody>
      </p:sp>
      <p:sp>
        <p:nvSpPr>
          <p:cNvPr id="10" name="">
            <a:extLst xmlns:a="http://schemas.openxmlformats.org/drawingml/2006/main">
              <a:ext uri="{FF2B5EF4-FFF2-40B4-BE49-F238E27FC236}">
                <a16:creationId xmlns:a16="http://schemas.microsoft.com/office/drawing/2014/main" id="{8EAEC4EB-7100-4797-8790-F902D760C317}"/>
              </a:ext>
            </a:extLst>
          </p:cNvPr>
          <p:cNvSpPr>
            <a:spLocks xmlns:a="http://schemas.openxmlformats.org/drawingml/2006/main" noGrp="1"/>
          </p:cNvSpPr>
          <p:nvPr/>
        </p:nvSpPr>
        <p:spPr>
          <a:xfrm xmlns:a="http://schemas.openxmlformats.org/drawingml/2006/main">
            <a:off x="8360945" y="4657249"/>
            <a:ext cx="2616868" cy="380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95" b="1">
                <a:solidFill>
                  <a:srgbClr val="A45F57"/>
                </a:solidFill>
                <a:latin typeface="Chalkboard"/>
                <a:ea typeface="Arial"/>
                <a:cs typeface="Arial"/>
              </a:defRPr>
            </a:pPr>
            <a:r>
              <a:rPr sz="1995" b="1">
                <a:solidFill>
                  <a:srgbClr val="A45F57"/>
                </a:solidFill>
                <a:latin typeface="Chalkboard"/>
                <a:ea typeface="Arial"/>
                <a:cs typeface="Arial"/>
              </a:rPr>
              <a:t>Overshoot</a:t>
            </a:r>
          </a:p>
        </p:txBody>
      </p:sp>
      <p:sp>
        <p:nvSpPr>
          <p:cNvPr id="11" name="">
            <a:extLst xmlns:a="http://schemas.openxmlformats.org/drawingml/2006/main">
              <a:ext uri="{FF2B5EF4-FFF2-40B4-BE49-F238E27FC236}">
                <a16:creationId xmlns:a16="http://schemas.microsoft.com/office/drawing/2014/main" id="{BA61D52B-5778-4460-B09B-25E43D32ADE9}"/>
              </a:ext>
            </a:extLst>
          </p:cNvPr>
          <p:cNvSpPr>
            <a:spLocks xmlns:a="http://schemas.openxmlformats.org/drawingml/2006/main" noGrp="1"/>
          </p:cNvSpPr>
          <p:nvPr/>
        </p:nvSpPr>
        <p:spPr>
          <a:xfrm xmlns:a="http://schemas.openxmlformats.org/drawingml/2006/main">
            <a:off x="8360945" y="5091589"/>
            <a:ext cx="2752224" cy="4976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68" b="0">
                <a:solidFill>
                  <a:srgbClr val="272729"/>
                </a:solidFill>
                <a:latin typeface="Arial"/>
                <a:ea typeface="Arial"/>
                <a:cs typeface="Arial"/>
              </a:defRPr>
            </a:pPr>
            <a:r>
              <a:rPr sz="1568" b="0">
                <a:solidFill>
                  <a:srgbClr val="272729"/>
                </a:solidFill>
                <a:latin typeface="Arial"/>
                <a:ea typeface="Arial"/>
                <a:cs typeface="Arial"/>
              </a:rPr>
              <a:t>Alternate and move away.</a:t>
            </a:r>
          </a:p>
        </p:txBody>
      </p:sp>
      <p:sp>
        <p:nvSpPr>
          <p:cNvPr id="9200" name="matched-title">
            <a:extLst xmlns:a="http://schemas.openxmlformats.org/drawingml/2006/main">
              <a:ext uri="{FF2B5EF4-FFF2-40B4-BE49-F238E27FC236}">
                <a16:creationId xmlns:a16="http://schemas.microsoft.com/office/drawing/2014/main" id="{A9A66CDA-FAF2-462A-8477-2892A275DF44}"/>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Repeated steps on a quadratic loss</a:t>
            </a:r>
          </a:p>
        </p:txBody>
      </p:sp>
      <p:sp>
        <p:nvSpPr>
          <p:cNvPr id="9201" name="matched-subtitle">
            <a:extLst xmlns:a="http://schemas.openxmlformats.org/drawingml/2006/main">
              <a:ext uri="{FF2B5EF4-FFF2-40B4-BE49-F238E27FC236}">
                <a16:creationId xmlns:a16="http://schemas.microsoft.com/office/drawing/2014/main" id="{281456DF-B8CB-405D-B4D9-AD9517D871BE}"/>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L(w) = w² gives wₜ₊₁ = (1 − 2η)wₜ. Each run starts at w₀ = 1.</a:t>
            </a:r>
          </a:p>
        </p:txBody>
      </p:sp>
      <p:sp>
        <p:nvSpPr>
          <p:cNvPr id="9202" name="matched-footer">
            <a:extLst xmlns:a="http://schemas.openxmlformats.org/drawingml/2006/main">
              <a:ext uri="{FF2B5EF4-FFF2-40B4-BE49-F238E27FC236}">
                <a16:creationId xmlns:a16="http://schemas.microsoft.com/office/drawing/2014/main" id="{A5CF7FA0-B70D-474B-BAF8-47BCAFCF5CF7}"/>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For this quadratic, 0 &lt; η &lt; 1 converges. The suitable range differs for other losses.</a:t>
            </a:r>
          </a:p>
        </p:txBody>
      </p:sp>
      <p:sp>
        <p:nvSpPr>
          <p:cNvPr id="9203" name="matched-page">
            <a:extLst xmlns:a="http://schemas.openxmlformats.org/drawingml/2006/main">
              <a:ext uri="{FF2B5EF4-FFF2-40B4-BE49-F238E27FC236}">
                <a16:creationId xmlns:a16="http://schemas.microsoft.com/office/drawing/2014/main" id="{84DF37E1-5494-40EF-9379-15DA51A9CFF1}"/>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17</a:t>
            </a:r>
          </a:p>
        </p:txBody>
      </p:sp>
    </p:spTree>
    <p:extLst>
      <p:ext uri="{BB962C8B-B14F-4D97-AF65-F5344CB8AC3E}">
        <p14:creationId xmlns:p14="http://schemas.microsoft.com/office/powerpoint/2010/main" val="1896095634"/>
      </p:ext>
    </p:extLst>
  </p:cSld>
</p:sld>
</file>

<file path=ppt/slides/slide22.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fa2820f5a8f4c67"/>
          <a:stretch xmlns:a="http://schemas.openxmlformats.org/drawingml/2006/main"/>
        </p:blipFill>
        <p:spPr>
          <a:xfrm xmlns:a="http://schemas.openxmlformats.org/drawingml/2006/main">
            <a:off x="1151021" y="1752600"/>
            <a:ext cx="5684921" cy="38004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4DF8E60-1C37-4B24-8D20-E0ACC54FA72F}"/>
              </a:ext>
            </a:extLst>
          </p:cNvPr>
          <p:cNvSpPr>
            <a:spLocks xmlns:a="http://schemas.openxmlformats.org/drawingml/2006/main" noGrp="1"/>
          </p:cNvSpPr>
          <p:nvPr/>
        </p:nvSpPr>
        <p:spPr>
          <a:xfrm xmlns:a="http://schemas.openxmlformats.org/drawingml/2006/main">
            <a:off x="7855618" y="1915478"/>
            <a:ext cx="3158289" cy="389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95" b="1">
                <a:solidFill>
                  <a:srgbClr val="287B95"/>
                </a:solidFill>
                <a:latin typeface="Chalkboard"/>
                <a:ea typeface="Arial"/>
                <a:cs typeface="Arial"/>
              </a:defRPr>
            </a:pPr>
            <a:r>
              <a:rPr sz="1995" b="1">
                <a:solidFill>
                  <a:srgbClr val="287B95"/>
                </a:solidFill>
                <a:latin typeface="Chalkboard"/>
                <a:ea typeface="Arial"/>
                <a:cs typeface="Arial"/>
              </a:rPr>
              <a:t>Full batch</a:t>
            </a:r>
          </a:p>
        </p:txBody>
      </p:sp>
      <p:sp>
        <p:nvSpPr>
          <p:cNvPr id="7" name="">
            <a:extLst xmlns:a="http://schemas.openxmlformats.org/drawingml/2006/main">
              <a:ext uri="{FF2B5EF4-FFF2-40B4-BE49-F238E27FC236}">
                <a16:creationId xmlns:a16="http://schemas.microsoft.com/office/drawing/2014/main" id="{7DF05B7F-FC95-461F-BDB3-D770325D2567}"/>
              </a:ext>
            </a:extLst>
          </p:cNvPr>
          <p:cNvSpPr>
            <a:spLocks xmlns:a="http://schemas.openxmlformats.org/drawingml/2006/main" noGrp="1"/>
          </p:cNvSpPr>
          <p:nvPr/>
        </p:nvSpPr>
        <p:spPr>
          <a:xfrm xmlns:a="http://schemas.openxmlformats.org/drawingml/2006/main">
            <a:off x="7855618" y="2349818"/>
            <a:ext cx="3158289" cy="6605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10" b="0">
                <a:solidFill>
                  <a:srgbClr val="272729"/>
                </a:solidFill>
                <a:latin typeface="Arial"/>
                <a:ea typeface="Arial"/>
                <a:cs typeface="Arial"/>
              </a:defRPr>
            </a:pPr>
            <a:r>
              <a:rPr sz="1710" b="0">
                <a:solidFill>
                  <a:srgbClr val="272729"/>
                </a:solidFill>
                <a:latin typeface="Arial"/>
                <a:ea typeface="Arial"/>
                <a:cs typeface="Arial"/>
              </a:rPr>
              <a:t>Stable gradient estimate.</a:t>
            </a:r>
          </a:p>
          <a:p xmlns:a="http://schemas.openxmlformats.org/drawingml/2006/main">
            <a:pPr>
              <a:defRPr sz="1710" b="0">
                <a:solidFill>
                  <a:srgbClr val="272729"/>
                </a:solidFill>
                <a:latin typeface="Arial"/>
                <a:ea typeface="Arial"/>
                <a:cs typeface="Arial"/>
              </a:defRPr>
            </a:pPr>
            <a:r>
              <a:rPr sz="1710" b="0">
                <a:solidFill>
                  <a:srgbClr val="272729"/>
                </a:solidFill>
                <a:latin typeface="Arial"/>
                <a:ea typeface="Arial"/>
                <a:cs typeface="Arial"/>
              </a:rPr>
              <a:t>More work per update.</a:t>
            </a:r>
          </a:p>
        </p:txBody>
      </p:sp>
      <p:sp>
        <p:nvSpPr>
          <p:cNvPr id="8" name="">
            <a:extLst xmlns:a="http://schemas.openxmlformats.org/drawingml/2006/main">
              <a:ext uri="{FF2B5EF4-FFF2-40B4-BE49-F238E27FC236}">
                <a16:creationId xmlns:a16="http://schemas.microsoft.com/office/drawing/2014/main" id="{E7052819-BAFA-42EE-AFAC-A4EBD6713F13}"/>
              </a:ext>
            </a:extLst>
          </p:cNvPr>
          <p:cNvSpPr>
            <a:spLocks xmlns:a="http://schemas.openxmlformats.org/drawingml/2006/main" noGrp="1"/>
          </p:cNvSpPr>
          <p:nvPr/>
        </p:nvSpPr>
        <p:spPr>
          <a:xfrm xmlns:a="http://schemas.openxmlformats.org/drawingml/2006/main">
            <a:off x="7855618" y="3281839"/>
            <a:ext cx="3158289" cy="389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95" b="1">
                <a:solidFill>
                  <a:srgbClr val="287B95"/>
                </a:solidFill>
                <a:latin typeface="Chalkboard"/>
                <a:ea typeface="Arial"/>
                <a:cs typeface="Arial"/>
              </a:defRPr>
            </a:pPr>
            <a:r>
              <a:rPr sz="1995" b="1">
                <a:solidFill>
                  <a:srgbClr val="287B95"/>
                </a:solidFill>
                <a:latin typeface="Chalkboard"/>
                <a:ea typeface="Arial"/>
                <a:cs typeface="Arial"/>
              </a:rPr>
              <a:t>Stochastic</a:t>
            </a:r>
          </a:p>
        </p:txBody>
      </p:sp>
      <p:sp>
        <p:nvSpPr>
          <p:cNvPr id="9" name="">
            <a:extLst xmlns:a="http://schemas.openxmlformats.org/drawingml/2006/main">
              <a:ext uri="{FF2B5EF4-FFF2-40B4-BE49-F238E27FC236}">
                <a16:creationId xmlns:a16="http://schemas.microsoft.com/office/drawing/2014/main" id="{1A203718-F432-4F71-B2FA-97B3C6BBC9B9}"/>
              </a:ext>
            </a:extLst>
          </p:cNvPr>
          <p:cNvSpPr>
            <a:spLocks xmlns:a="http://schemas.openxmlformats.org/drawingml/2006/main" noGrp="1"/>
          </p:cNvSpPr>
          <p:nvPr/>
        </p:nvSpPr>
        <p:spPr>
          <a:xfrm xmlns:a="http://schemas.openxmlformats.org/drawingml/2006/main">
            <a:off x="7855618" y="3716179"/>
            <a:ext cx="3158289"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10" b="0">
                <a:solidFill>
                  <a:srgbClr val="272729"/>
                </a:solidFill>
                <a:latin typeface="Arial"/>
                <a:ea typeface="Arial"/>
                <a:cs typeface="Arial"/>
              </a:defRPr>
            </a:pPr>
            <a:r>
              <a:rPr sz="1710" b="0">
                <a:solidFill>
                  <a:srgbClr val="272729"/>
                </a:solidFill>
                <a:latin typeface="Arial"/>
                <a:ea typeface="Arial"/>
                <a:cs typeface="Arial"/>
              </a:rPr>
              <a:t>Frequent, noisy updates.</a:t>
            </a:r>
          </a:p>
        </p:txBody>
      </p:sp>
      <p:sp>
        <p:nvSpPr>
          <p:cNvPr id="10" name="">
            <a:extLst xmlns:a="http://schemas.openxmlformats.org/drawingml/2006/main">
              <a:ext uri="{FF2B5EF4-FFF2-40B4-BE49-F238E27FC236}">
                <a16:creationId xmlns:a16="http://schemas.microsoft.com/office/drawing/2014/main" id="{D228D1FA-9462-4E8E-9BBD-600F5B15898A}"/>
              </a:ext>
            </a:extLst>
          </p:cNvPr>
          <p:cNvSpPr>
            <a:spLocks xmlns:a="http://schemas.openxmlformats.org/drawingml/2006/main" noGrp="1"/>
          </p:cNvSpPr>
          <p:nvPr/>
        </p:nvSpPr>
        <p:spPr>
          <a:xfrm xmlns:a="http://schemas.openxmlformats.org/drawingml/2006/main">
            <a:off x="7855618" y="4449128"/>
            <a:ext cx="3158289" cy="389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95" b="1">
                <a:solidFill>
                  <a:srgbClr val="287B95"/>
                </a:solidFill>
                <a:latin typeface="Chalkboard"/>
                <a:ea typeface="Arial"/>
                <a:cs typeface="Arial"/>
              </a:defRPr>
            </a:pPr>
            <a:r>
              <a:rPr sz="1995" b="1">
                <a:solidFill>
                  <a:srgbClr val="287B95"/>
                </a:solidFill>
                <a:latin typeface="Chalkboard"/>
                <a:ea typeface="Arial"/>
                <a:cs typeface="Arial"/>
              </a:rPr>
              <a:t>Mini-batch</a:t>
            </a:r>
          </a:p>
        </p:txBody>
      </p:sp>
      <p:sp>
        <p:nvSpPr>
          <p:cNvPr id="11" name="">
            <a:extLst xmlns:a="http://schemas.openxmlformats.org/drawingml/2006/main">
              <a:ext uri="{FF2B5EF4-FFF2-40B4-BE49-F238E27FC236}">
                <a16:creationId xmlns:a16="http://schemas.microsoft.com/office/drawing/2014/main" id="{00EF78E9-9153-494D-8D66-0DF09CD2A25F}"/>
              </a:ext>
            </a:extLst>
          </p:cNvPr>
          <p:cNvSpPr>
            <a:spLocks xmlns:a="http://schemas.openxmlformats.org/drawingml/2006/main" noGrp="1"/>
          </p:cNvSpPr>
          <p:nvPr/>
        </p:nvSpPr>
        <p:spPr>
          <a:xfrm xmlns:a="http://schemas.openxmlformats.org/drawingml/2006/main">
            <a:off x="7855618" y="4910614"/>
            <a:ext cx="3158289" cy="6605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10" b="0">
                <a:solidFill>
                  <a:srgbClr val="272729"/>
                </a:solidFill>
                <a:latin typeface="Arial"/>
                <a:ea typeface="Arial"/>
                <a:cs typeface="Arial"/>
              </a:defRPr>
            </a:pPr>
            <a:r>
              <a:rPr sz="1710" b="0">
                <a:solidFill>
                  <a:srgbClr val="272729"/>
                </a:solidFill>
                <a:latin typeface="Arial"/>
                <a:ea typeface="Arial"/>
                <a:cs typeface="Arial"/>
              </a:rPr>
              <a:t>Balances frequency</a:t>
            </a:r>
          </a:p>
          <a:p xmlns:a="http://schemas.openxmlformats.org/drawingml/2006/main">
            <a:pPr>
              <a:defRPr sz="1710" b="0">
                <a:solidFill>
                  <a:srgbClr val="272729"/>
                </a:solidFill>
                <a:latin typeface="Arial"/>
                <a:ea typeface="Arial"/>
                <a:cs typeface="Arial"/>
              </a:defRPr>
            </a:pPr>
            <a:r>
              <a:rPr sz="1710" b="0">
                <a:solidFill>
                  <a:srgbClr val="272729"/>
                </a:solidFill>
                <a:latin typeface="Arial"/>
                <a:ea typeface="Arial"/>
                <a:cs typeface="Arial"/>
              </a:rPr>
              <a:t>and averaging.</a:t>
            </a:r>
          </a:p>
        </p:txBody>
      </p:sp>
      <p:sp>
        <p:nvSpPr>
          <p:cNvPr id="9200" name="matched-title">
            <a:extLst xmlns:a="http://schemas.openxmlformats.org/drawingml/2006/main">
              <a:ext uri="{FF2B5EF4-FFF2-40B4-BE49-F238E27FC236}">
                <a16:creationId xmlns:a16="http://schemas.microsoft.com/office/drawing/2014/main" id="{3DCF691A-770B-4934-A4D3-8DFC82F00439}"/>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Batch size and training progress</a:t>
            </a:r>
          </a:p>
        </p:txBody>
      </p:sp>
      <p:sp>
        <p:nvSpPr>
          <p:cNvPr id="9201" name="matched-subtitle">
            <a:extLst xmlns:a="http://schemas.openxmlformats.org/drawingml/2006/main">
              <a:ext uri="{FF2B5EF4-FFF2-40B4-BE49-F238E27FC236}">
                <a16:creationId xmlns:a16="http://schemas.microsoft.com/office/drawing/2014/main" id="{4ABF82D8-5F9E-41A4-A4C6-0FEEC5496156}"/>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The grouping of examples determines how often the parameters change.</a:t>
            </a:r>
          </a:p>
        </p:txBody>
      </p:sp>
      <p:sp>
        <p:nvSpPr>
          <p:cNvPr id="9202" name="matched-footer">
            <a:extLst xmlns:a="http://schemas.openxmlformats.org/drawingml/2006/main">
              <a:ext uri="{FF2B5EF4-FFF2-40B4-BE49-F238E27FC236}">
                <a16:creationId xmlns:a16="http://schemas.microsoft.com/office/drawing/2014/main" id="{508FCED2-61BF-4DEA-8ABC-C34B7BF218CE}"/>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1,000 emails with batch size 100 gives 10 updates per epoch. An epoch uses every email once.</a:t>
            </a:r>
          </a:p>
        </p:txBody>
      </p:sp>
      <p:sp>
        <p:nvSpPr>
          <p:cNvPr id="9203" name="matched-page">
            <a:extLst xmlns:a="http://schemas.openxmlformats.org/drawingml/2006/main">
              <a:ext uri="{FF2B5EF4-FFF2-40B4-BE49-F238E27FC236}">
                <a16:creationId xmlns:a16="http://schemas.microsoft.com/office/drawing/2014/main" id="{7EFCB2A8-1C1B-4378-BF93-5364698F98D0}"/>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19</a:t>
            </a:r>
          </a:p>
        </p:txBody>
      </p:sp>
    </p:spTree>
    <p:extLst>
      <p:ext uri="{BB962C8B-B14F-4D97-AF65-F5344CB8AC3E}">
        <p14:creationId xmlns:p14="http://schemas.microsoft.com/office/powerpoint/2010/main" val="693554147"/>
      </p:ext>
    </p:extLst>
  </p:cSld>
</p:sld>
</file>

<file path=ppt/slides/slide23.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5" name="">
            <a:extLst xmlns:a="http://schemas.openxmlformats.org/drawingml/2006/main">
              <a:ext uri="{FF2B5EF4-FFF2-40B4-BE49-F238E27FC236}">
                <a16:creationId xmlns:a16="http://schemas.microsoft.com/office/drawing/2014/main" id="{167B8D8C-8DA1-4476-A004-5AEDE4E162DE}"/>
              </a:ext>
            </a:extLst>
          </p:cNvPr>
          <p:cNvSpPr>
            <a:spLocks xmlns:a="http://schemas.openxmlformats.org/drawingml/2006/main" noGrp="1"/>
          </p:cNvSpPr>
          <p:nvPr/>
        </p:nvSpPr>
        <p:spPr>
          <a:xfrm xmlns:a="http://schemas.openxmlformats.org/drawingml/2006/main">
            <a:off x="862263" y="1870234"/>
            <a:ext cx="5053263" cy="5700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36" b="1">
                <a:solidFill>
                  <a:srgbClr val="287B95"/>
                </a:solidFill>
                <a:latin typeface="Chalkboard"/>
                <a:ea typeface="Arial"/>
                <a:cs typeface="Arial"/>
              </a:defRPr>
            </a:pPr>
            <a:r>
              <a:rPr sz="2636" b="1">
                <a:solidFill>
                  <a:srgbClr val="287B95"/>
                </a:solidFill>
                <a:latin typeface="Chalkboard"/>
                <a:ea typeface="Arial"/>
                <a:cs typeface="Arial"/>
              </a:rPr>
              <a:t>∂L/∂W = δ aᵀ</a:t>
            </a:r>
          </a:p>
        </p:txBody>
      </p:sp>
      <p:sp>
        <p:nvSpPr>
          <p:cNvPr id="6" name="">
            <a:extLst xmlns:a="http://schemas.openxmlformats.org/drawingml/2006/main">
              <a:ext uri="{FF2B5EF4-FFF2-40B4-BE49-F238E27FC236}">
                <a16:creationId xmlns:a16="http://schemas.microsoft.com/office/drawing/2014/main" id="{915BEEFA-3F2D-4EB8-A8C4-8404F80C726B}"/>
              </a:ext>
            </a:extLst>
          </p:cNvPr>
          <p:cNvSpPr>
            <a:spLocks xmlns:a="http://schemas.openxmlformats.org/drawingml/2006/main" noGrp="1"/>
          </p:cNvSpPr>
          <p:nvPr/>
        </p:nvSpPr>
        <p:spPr>
          <a:xfrm xmlns:a="http://schemas.openxmlformats.org/drawingml/2006/main">
            <a:off x="871287" y="2702719"/>
            <a:ext cx="4602079"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81" b="1">
                <a:solidFill>
                  <a:srgbClr val="616069"/>
                </a:solidFill>
                <a:latin typeface="Arial"/>
                <a:ea typeface="Arial"/>
                <a:cs typeface="Arial"/>
              </a:defRPr>
            </a:pPr>
            <a:r>
              <a:rPr sz="1781" b="1">
                <a:solidFill>
                  <a:srgbClr val="616069"/>
                </a:solidFill>
                <a:latin typeface="Arial"/>
                <a:ea typeface="Arial"/>
                <a:cs typeface="Arial"/>
              </a:rPr>
              <a:t>Illustrative example</a:t>
            </a:r>
          </a:p>
        </p:txBody>
      </p:sp>
      <p:sp>
        <p:nvSpPr>
          <p:cNvPr id="7" name="">
            <a:extLst xmlns:a="http://schemas.openxmlformats.org/drawingml/2006/main">
              <a:ext uri="{FF2B5EF4-FFF2-40B4-BE49-F238E27FC236}">
                <a16:creationId xmlns:a16="http://schemas.microsoft.com/office/drawing/2014/main" id="{56EB68B1-D9E5-452B-99D1-822D2DDB0ADB}"/>
              </a:ext>
            </a:extLst>
          </p:cNvPr>
          <p:cNvSpPr>
            <a:spLocks xmlns:a="http://schemas.openxmlformats.org/drawingml/2006/main" noGrp="1"/>
          </p:cNvSpPr>
          <p:nvPr/>
        </p:nvSpPr>
        <p:spPr>
          <a:xfrm xmlns:a="http://schemas.openxmlformats.org/drawingml/2006/main">
            <a:off x="871287" y="3227546"/>
            <a:ext cx="5008145" cy="1040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95" b="0">
                <a:solidFill>
                  <a:srgbClr val="272729"/>
                </a:solidFill>
                <a:latin typeface="Arial"/>
                <a:ea typeface="Arial"/>
                <a:cs typeface="Arial"/>
              </a:defRPr>
            </a:pPr>
            <a:r>
              <a:rPr sz="1995" b="0">
                <a:solidFill>
                  <a:srgbClr val="272729"/>
                </a:solidFill>
                <a:latin typeface="Arial"/>
                <a:ea typeface="Arial"/>
                <a:cs typeface="Arial"/>
              </a:rPr>
              <a:t>Input a = [1, 1, 1, 0]ᵀ</a:t>
            </a:r>
          </a:p>
          <a:p xmlns:a="http://schemas.openxmlformats.org/drawingml/2006/main">
            <a:pPr>
              <a:defRPr sz="1995" b="0">
                <a:solidFill>
                  <a:srgbClr val="272729"/>
                </a:solidFill>
                <a:latin typeface="Arial"/>
                <a:ea typeface="Arial"/>
                <a:cs typeface="Arial"/>
              </a:defRPr>
            </a:pPr>
            <a:r>
              <a:rPr sz="1995" b="0">
                <a:solidFill>
                  <a:srgbClr val="272729"/>
                </a:solidFill>
                <a:latin typeface="Arial"/>
                <a:ea typeface="Arial"/>
                <a:cs typeface="Arial"/>
              </a:rPr>
              <a:t>Error δ = [−0.2, 0.1, 0]ᵀ</a:t>
            </a:r>
          </a:p>
        </p:txBody>
      </p:sp>
      <p:sp>
        <p:nvSpPr>
          <p:cNvPr id="8" name="">
            <a:extLst xmlns:a="http://schemas.openxmlformats.org/drawingml/2006/main">
              <a:ext uri="{FF2B5EF4-FFF2-40B4-BE49-F238E27FC236}">
                <a16:creationId xmlns:a16="http://schemas.microsoft.com/office/drawing/2014/main" id="{E78B3643-6623-4997-86D1-B36A8F6A7124}"/>
              </a:ext>
            </a:extLst>
          </p:cNvPr>
          <p:cNvSpPr>
            <a:spLocks xmlns:a="http://schemas.openxmlformats.org/drawingml/2006/main" noGrp="1"/>
          </p:cNvSpPr>
          <p:nvPr/>
        </p:nvSpPr>
        <p:spPr>
          <a:xfrm xmlns:a="http://schemas.openxmlformats.org/drawingml/2006/main">
            <a:off x="871287" y="4584859"/>
            <a:ext cx="4511842" cy="7691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38" b="1">
                <a:solidFill>
                  <a:srgbClr val="287B95"/>
                </a:solidFill>
                <a:latin typeface="Chalkboard"/>
                <a:ea typeface="Arial"/>
                <a:cs typeface="Arial"/>
              </a:defRPr>
            </a:pPr>
            <a:r>
              <a:rPr sz="2138" b="1">
                <a:solidFill>
                  <a:srgbClr val="287B95"/>
                </a:solidFill>
                <a:latin typeface="Chalkboard"/>
                <a:ea typeface="Arial"/>
                <a:cs typeface="Arial"/>
              </a:rPr>
              <a:t>3 neurons × 4 inputs</a:t>
            </a:r>
          </a:p>
          <a:p xmlns:a="http://schemas.openxmlformats.org/drawingml/2006/main">
            <a:pPr>
              <a:defRPr sz="2138" b="1">
                <a:solidFill>
                  <a:srgbClr val="287B95"/>
                </a:solidFill>
                <a:latin typeface="Chalkboard"/>
                <a:ea typeface="Arial"/>
                <a:cs typeface="Arial"/>
              </a:defRPr>
            </a:pPr>
            <a:r>
              <a:rPr sz="2138" b="1">
                <a:solidFill>
                  <a:srgbClr val="287B95"/>
                </a:solidFill>
                <a:latin typeface="Chalkboard"/>
                <a:ea typeface="Arial"/>
                <a:cs typeface="Arial"/>
              </a:rPr>
              <a:t>= 12 weight gradients</a:t>
            </a:r>
          </a:p>
        </p:txBody>
      </p:sp>
      <p:graphicFrame>
        <p:nvGraphicFramePr>
          <p:cNvPr id="19" name=""/>
          <p:cNvGraphicFramePr/>
          <p:nvPr/>
        </p:nvGraphicFramePr>
        <p:xfrm>
          <a:off xmlns:a="http://schemas.openxmlformats.org/drawingml/2006/main" x="5987716" y="2340769"/>
          <a:ext xmlns:a="http://schemas.openxmlformats.org/drawingml/2006/main" cx="5053263" cy="2262188"/>
        </p:xfrm>
        <a:graphic xmlns:a="http://schemas.openxmlformats.org/drawingml/2006/main">
          <a:graphicData uri="http://schemas.openxmlformats.org/drawingml/2006/table">
            <a:tbl>
              <a:tblPr/>
              <a:tblGrid>
                <a:gridCol w="721895"/>
                <a:gridCol w="1082842"/>
                <a:gridCol w="1082842"/>
                <a:gridCol w="1082842"/>
                <a:gridCol w="1082842"/>
              </a:tblGrid>
              <a:tr h="565547">
                <a:tc>
                  <a:txBody>
                    <a:bodyPr/>
                    <a:lstStyle/>
                    <a:p>
                      <a:r>
                        <a:rPr sz="1639" b="1">
                          <a:solidFill>
                            <a:srgbClr val="287B95"/>
                          </a:solidFill>
                          <a:latin typeface="Arial"/>
                          <a:ea typeface="Arial"/>
                          <a:cs typeface="Arial"/>
                        </a:rPr>
                        <a:t/>
                      </a:r>
                    </a:p>
                  </a:txBody>
                  <a:tcPr marL="91440" marR="91440" marT="45720" marB="45720">
                    <a:solidFill>
                      <a:srgbClr val="E9EFEE"/>
                    </a:solidFill>
                  </a:tcPr>
                </a:tc>
                <a:tc>
                  <a:txBody>
                    <a:bodyPr/>
                    <a:lstStyle/>
                    <a:p>
                      <a:r>
                        <a:rPr sz="1639" b="1">
                          <a:solidFill>
                            <a:srgbClr val="287B95"/>
                          </a:solidFill>
                          <a:latin typeface="Arial"/>
                          <a:ea typeface="Arial"/>
                          <a:cs typeface="Arial"/>
                        </a:rPr>
                        <a:t>x₁ = 1</a:t>
                      </a:r>
                    </a:p>
                  </a:txBody>
                  <a:tcPr marL="91440" marR="91440" marT="45720" marB="45720">
                    <a:solidFill>
                      <a:srgbClr val="E9EFEE"/>
                    </a:solidFill>
                  </a:tcPr>
                </a:tc>
                <a:tc>
                  <a:txBody>
                    <a:bodyPr/>
                    <a:lstStyle/>
                    <a:p>
                      <a:r>
                        <a:rPr sz="1639" b="1">
                          <a:solidFill>
                            <a:srgbClr val="287B95"/>
                          </a:solidFill>
                          <a:latin typeface="Arial"/>
                          <a:ea typeface="Arial"/>
                          <a:cs typeface="Arial"/>
                        </a:rPr>
                        <a:t>x₂ = 1</a:t>
                      </a:r>
                    </a:p>
                  </a:txBody>
                  <a:tcPr marL="91440" marR="91440" marT="45720" marB="45720">
                    <a:solidFill>
                      <a:srgbClr val="E9EFEE"/>
                    </a:solidFill>
                  </a:tcPr>
                </a:tc>
                <a:tc>
                  <a:txBody>
                    <a:bodyPr/>
                    <a:lstStyle/>
                    <a:p>
                      <a:r>
                        <a:rPr sz="1639" b="1">
                          <a:solidFill>
                            <a:srgbClr val="287B95"/>
                          </a:solidFill>
                          <a:latin typeface="Arial"/>
                          <a:ea typeface="Arial"/>
                          <a:cs typeface="Arial"/>
                        </a:rPr>
                        <a:t>x₃ = 1</a:t>
                      </a:r>
                    </a:p>
                  </a:txBody>
                  <a:tcPr marL="91440" marR="91440" marT="45720" marB="45720">
                    <a:solidFill>
                      <a:srgbClr val="E9EFEE"/>
                    </a:solidFill>
                  </a:tcPr>
                </a:tc>
                <a:tc>
                  <a:txBody>
                    <a:bodyPr/>
                    <a:lstStyle/>
                    <a:p>
                      <a:r>
                        <a:rPr sz="1639" b="1">
                          <a:solidFill>
                            <a:srgbClr val="287B95"/>
                          </a:solidFill>
                          <a:latin typeface="Arial"/>
                          <a:ea typeface="Arial"/>
                          <a:cs typeface="Arial"/>
                        </a:rPr>
                        <a:t>x₄ = 0</a:t>
                      </a:r>
                    </a:p>
                  </a:txBody>
                  <a:tcPr marL="91440" marR="91440" marT="45720" marB="45720">
                    <a:solidFill>
                      <a:srgbClr val="E9EFEE"/>
                    </a:solidFill>
                  </a:tcPr>
                </a:tc>
              </a:tr>
              <a:tr h="565547">
                <a:tc>
                  <a:txBody>
                    <a:bodyPr/>
                    <a:lstStyle/>
                    <a:p>
                      <a:r>
                        <a:rPr sz="1639" b="0">
                          <a:solidFill>
                            <a:srgbClr val="272729"/>
                          </a:solidFill>
                          <a:latin typeface="Arial"/>
                          <a:ea typeface="Arial"/>
                          <a:cs typeface="Arial"/>
                        </a:rPr>
                        <a:t>δ₁</a:t>
                      </a:r>
                    </a:p>
                  </a:txBody>
                  <a:tcPr marL="91440" marR="91440" marT="45720" marB="45720">
                    <a:solidFill>
                      <a:srgbClr val="F8F6F2"/>
                    </a:solidFill>
                  </a:tcPr>
                </a:tc>
                <a:tc>
                  <a:txBody>
                    <a:bodyPr/>
                    <a:lstStyle/>
                    <a:p>
                      <a:r>
                        <a:rPr sz="1639" b="0">
                          <a:solidFill>
                            <a:srgbClr val="272729"/>
                          </a:solidFill>
                          <a:latin typeface="Arial"/>
                          <a:ea typeface="Arial"/>
                          <a:cs typeface="Arial"/>
                        </a:rPr>
                        <a:t>−0.2</a:t>
                      </a:r>
                    </a:p>
                  </a:txBody>
                  <a:tcPr marL="91440" marR="91440" marT="45720" marB="45720">
                    <a:solidFill>
                      <a:srgbClr val="F0D8D2"/>
                    </a:solidFill>
                  </a:tcPr>
                </a:tc>
                <a:tc>
                  <a:txBody>
                    <a:bodyPr/>
                    <a:lstStyle/>
                    <a:p>
                      <a:r>
                        <a:rPr sz="1639" b="0">
                          <a:solidFill>
                            <a:srgbClr val="272729"/>
                          </a:solidFill>
                          <a:latin typeface="Arial"/>
                          <a:ea typeface="Arial"/>
                          <a:cs typeface="Arial"/>
                        </a:rPr>
                        <a:t>−0.2</a:t>
                      </a:r>
                    </a:p>
                  </a:txBody>
                  <a:tcPr marL="91440" marR="91440" marT="45720" marB="45720">
                    <a:solidFill>
                      <a:srgbClr val="F0D8D2"/>
                    </a:solidFill>
                  </a:tcPr>
                </a:tc>
                <a:tc>
                  <a:txBody>
                    <a:bodyPr/>
                    <a:lstStyle/>
                    <a:p>
                      <a:r>
                        <a:rPr sz="1639" b="0">
                          <a:solidFill>
                            <a:srgbClr val="272729"/>
                          </a:solidFill>
                          <a:latin typeface="Arial"/>
                          <a:ea typeface="Arial"/>
                          <a:cs typeface="Arial"/>
                        </a:rPr>
                        <a:t>−0.2</a:t>
                      </a:r>
                    </a:p>
                  </a:txBody>
                  <a:tcPr marL="91440" marR="91440" marT="45720" marB="45720">
                    <a:solidFill>
                      <a:srgbClr val="F0D8D2"/>
                    </a:solidFill>
                  </a:tcPr>
                </a:tc>
                <a:tc>
                  <a:txBody>
                    <a:bodyPr/>
                    <a:lstStyle/>
                    <a:p>
                      <a:r>
                        <a:rPr sz="1639" b="0">
                          <a:solidFill>
                            <a:srgbClr val="272729"/>
                          </a:solidFill>
                          <a:latin typeface="Arial"/>
                          <a:ea typeface="Arial"/>
                          <a:cs typeface="Arial"/>
                        </a:rPr>
                        <a:t>0</a:t>
                      </a:r>
                    </a:p>
                  </a:txBody>
                  <a:tcPr marL="91440" marR="91440" marT="45720" marB="45720">
                    <a:solidFill>
                      <a:srgbClr val="EFEEEB"/>
                    </a:solidFill>
                  </a:tcPr>
                </a:tc>
              </a:tr>
              <a:tr h="565547">
                <a:tc>
                  <a:txBody>
                    <a:bodyPr/>
                    <a:lstStyle/>
                    <a:p>
                      <a:r>
                        <a:rPr sz="1639" b="0">
                          <a:solidFill>
                            <a:srgbClr val="272729"/>
                          </a:solidFill>
                          <a:latin typeface="Arial"/>
                          <a:ea typeface="Arial"/>
                          <a:cs typeface="Arial"/>
                        </a:rPr>
                        <a:t>δ₂</a:t>
                      </a:r>
                    </a:p>
                  </a:txBody>
                  <a:tcPr marL="91440" marR="91440" marT="45720" marB="45720">
                    <a:solidFill>
                      <a:srgbClr val="F8F6F2"/>
                    </a:solidFill>
                  </a:tcPr>
                </a:tc>
                <a:tc>
                  <a:txBody>
                    <a:bodyPr/>
                    <a:lstStyle/>
                    <a:p>
                      <a:r>
                        <a:rPr sz="1639" b="0">
                          <a:solidFill>
                            <a:srgbClr val="272729"/>
                          </a:solidFill>
                          <a:latin typeface="Arial"/>
                          <a:ea typeface="Arial"/>
                          <a:cs typeface="Arial"/>
                        </a:rPr>
                        <a:t>+0.1</a:t>
                      </a:r>
                    </a:p>
                  </a:txBody>
                  <a:tcPr marL="91440" marR="91440" marT="45720" marB="45720">
                    <a:solidFill>
                      <a:srgbClr val="D5E7E1"/>
                    </a:solidFill>
                  </a:tcPr>
                </a:tc>
                <a:tc>
                  <a:txBody>
                    <a:bodyPr/>
                    <a:lstStyle/>
                    <a:p>
                      <a:r>
                        <a:rPr sz="1639" b="0">
                          <a:solidFill>
                            <a:srgbClr val="272729"/>
                          </a:solidFill>
                          <a:latin typeface="Arial"/>
                          <a:ea typeface="Arial"/>
                          <a:cs typeface="Arial"/>
                        </a:rPr>
                        <a:t>+0.1</a:t>
                      </a:r>
                    </a:p>
                  </a:txBody>
                  <a:tcPr marL="91440" marR="91440" marT="45720" marB="45720">
                    <a:solidFill>
                      <a:srgbClr val="D5E7E1"/>
                    </a:solidFill>
                  </a:tcPr>
                </a:tc>
                <a:tc>
                  <a:txBody>
                    <a:bodyPr/>
                    <a:lstStyle/>
                    <a:p>
                      <a:r>
                        <a:rPr sz="1639" b="0">
                          <a:solidFill>
                            <a:srgbClr val="272729"/>
                          </a:solidFill>
                          <a:latin typeface="Arial"/>
                          <a:ea typeface="Arial"/>
                          <a:cs typeface="Arial"/>
                        </a:rPr>
                        <a:t>+0.1</a:t>
                      </a:r>
                    </a:p>
                  </a:txBody>
                  <a:tcPr marL="91440" marR="91440" marT="45720" marB="45720">
                    <a:solidFill>
                      <a:srgbClr val="D5E7E1"/>
                    </a:solidFill>
                  </a:tcPr>
                </a:tc>
                <a:tc>
                  <a:txBody>
                    <a:bodyPr/>
                    <a:lstStyle/>
                    <a:p>
                      <a:r>
                        <a:rPr sz="1639" b="0">
                          <a:solidFill>
                            <a:srgbClr val="272729"/>
                          </a:solidFill>
                          <a:latin typeface="Arial"/>
                          <a:ea typeface="Arial"/>
                          <a:cs typeface="Arial"/>
                        </a:rPr>
                        <a:t>0</a:t>
                      </a:r>
                    </a:p>
                  </a:txBody>
                  <a:tcPr marL="91440" marR="91440" marT="45720" marB="45720">
                    <a:solidFill>
                      <a:srgbClr val="EFEEEB"/>
                    </a:solidFill>
                  </a:tcPr>
                </a:tc>
              </a:tr>
              <a:tr h="565547">
                <a:tc>
                  <a:txBody>
                    <a:bodyPr/>
                    <a:lstStyle/>
                    <a:p>
                      <a:r>
                        <a:rPr sz="1639" b="0">
                          <a:solidFill>
                            <a:srgbClr val="272729"/>
                          </a:solidFill>
                          <a:latin typeface="Arial"/>
                          <a:ea typeface="Arial"/>
                          <a:cs typeface="Arial"/>
                        </a:rPr>
                        <a:t>δ₃</a:t>
                      </a:r>
                    </a:p>
                  </a:txBody>
                  <a:tcPr marL="91440" marR="91440" marT="45720" marB="45720">
                    <a:solidFill>
                      <a:srgbClr val="F8F6F2"/>
                    </a:solidFill>
                  </a:tcPr>
                </a:tc>
                <a:tc>
                  <a:txBody>
                    <a:bodyPr/>
                    <a:lstStyle/>
                    <a:p>
                      <a:r>
                        <a:rPr sz="1639" b="0">
                          <a:solidFill>
                            <a:srgbClr val="272729"/>
                          </a:solidFill>
                          <a:latin typeface="Arial"/>
                          <a:ea typeface="Arial"/>
                          <a:cs typeface="Arial"/>
                        </a:rPr>
                        <a:t>0</a:t>
                      </a:r>
                    </a:p>
                  </a:txBody>
                  <a:tcPr marL="91440" marR="91440" marT="45720" marB="45720">
                    <a:solidFill>
                      <a:srgbClr val="EFEEEB"/>
                    </a:solidFill>
                  </a:tcPr>
                </a:tc>
                <a:tc>
                  <a:txBody>
                    <a:bodyPr/>
                    <a:lstStyle/>
                    <a:p>
                      <a:r>
                        <a:rPr sz="1639" b="0">
                          <a:solidFill>
                            <a:srgbClr val="272729"/>
                          </a:solidFill>
                          <a:latin typeface="Arial"/>
                          <a:ea typeface="Arial"/>
                          <a:cs typeface="Arial"/>
                        </a:rPr>
                        <a:t>0</a:t>
                      </a:r>
                    </a:p>
                  </a:txBody>
                  <a:tcPr marL="91440" marR="91440" marT="45720" marB="45720">
                    <a:solidFill>
                      <a:srgbClr val="EFEEEB"/>
                    </a:solidFill>
                  </a:tcPr>
                </a:tc>
                <a:tc>
                  <a:txBody>
                    <a:bodyPr/>
                    <a:lstStyle/>
                    <a:p>
                      <a:r>
                        <a:rPr sz="1639" b="0">
                          <a:solidFill>
                            <a:srgbClr val="272729"/>
                          </a:solidFill>
                          <a:latin typeface="Arial"/>
                          <a:ea typeface="Arial"/>
                          <a:cs typeface="Arial"/>
                        </a:rPr>
                        <a:t>0</a:t>
                      </a:r>
                    </a:p>
                  </a:txBody>
                  <a:tcPr marL="91440" marR="91440" marT="45720" marB="45720">
                    <a:solidFill>
                      <a:srgbClr val="EFEEEB"/>
                    </a:solidFill>
                  </a:tcPr>
                </a:tc>
                <a:tc>
                  <a:txBody>
                    <a:bodyPr/>
                    <a:lstStyle/>
                    <a:p>
                      <a:r>
                        <a:rPr sz="1639" b="0">
                          <a:solidFill>
                            <a:srgbClr val="272729"/>
                          </a:solidFill>
                          <a:latin typeface="Arial"/>
                          <a:ea typeface="Arial"/>
                          <a:cs typeface="Arial"/>
                        </a:rPr>
                        <a:t>0</a:t>
                      </a:r>
                    </a:p>
                  </a:txBody>
                  <a:tcPr marL="91440" marR="91440" marT="45720" marB="45720">
                    <a:solidFill>
                      <a:srgbClr val="EFEEEB"/>
                    </a:solidFill>
                  </a:tcPr>
                </a:tc>
              </a:tr>
            </a:tbl>
          </a:graphicData>
        </a:graphic>
      </p:graphicFrame>
      <p:sp>
        <p:nvSpPr>
          <p:cNvPr id="10" name="">
            <a:extLst xmlns:a="http://schemas.openxmlformats.org/drawingml/2006/main">
              <a:ext uri="{FF2B5EF4-FFF2-40B4-BE49-F238E27FC236}">
                <a16:creationId xmlns:a16="http://schemas.microsoft.com/office/drawing/2014/main" id="{9A1CD29E-1487-4CC7-95EA-14E431CCFC6A}"/>
              </a:ext>
            </a:extLst>
          </p:cNvPr>
          <p:cNvSpPr>
            <a:spLocks xmlns:a="http://schemas.openxmlformats.org/drawingml/2006/main" noGrp="1"/>
          </p:cNvSpPr>
          <p:nvPr/>
        </p:nvSpPr>
        <p:spPr>
          <a:xfrm xmlns:a="http://schemas.openxmlformats.org/drawingml/2006/main">
            <a:off x="6023811" y="4838224"/>
            <a:ext cx="5062287" cy="678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68" b="0">
                <a:solidFill>
                  <a:srgbClr val="616069"/>
                </a:solidFill>
                <a:latin typeface="Arial"/>
                <a:ea typeface="Arial"/>
                <a:cs typeface="Arial"/>
              </a:defRPr>
            </a:pPr>
            <a:r>
              <a:rPr sz="1568" b="0">
                <a:solidFill>
                  <a:srgbClr val="616069"/>
                </a:solidFill>
                <a:latin typeface="Arial"/>
                <a:ea typeface="Arial"/>
                <a:cs typeface="Arial"/>
              </a:rPr>
              <a:t>A zero input gives a zero weight gradient</a:t>
            </a:r>
          </a:p>
          <a:p xmlns:a="http://schemas.openxmlformats.org/drawingml/2006/main">
            <a:pPr>
              <a:defRPr sz="1568" b="0">
                <a:solidFill>
                  <a:srgbClr val="616069"/>
                </a:solidFill>
                <a:latin typeface="Arial"/>
                <a:ea typeface="Arial"/>
                <a:cs typeface="Arial"/>
              </a:defRPr>
            </a:pPr>
            <a:r>
              <a:rPr sz="1568" b="0">
                <a:solidFill>
                  <a:srgbClr val="616069"/>
                </a:solidFill>
                <a:latin typeface="Arial"/>
                <a:ea typeface="Arial"/>
                <a:cs typeface="Arial"/>
              </a:rPr>
              <a:t>for this example, even when δ is nonzero.</a:t>
            </a:r>
          </a:p>
        </p:txBody>
      </p:sp>
      <p:sp>
        <p:nvSpPr>
          <p:cNvPr id="9200" name="matched-title">
            <a:extLst xmlns:a="http://schemas.openxmlformats.org/drawingml/2006/main">
              <a:ext uri="{FF2B5EF4-FFF2-40B4-BE49-F238E27FC236}">
                <a16:creationId xmlns:a16="http://schemas.microsoft.com/office/drawing/2014/main" id="{271BD192-67B4-4DFF-9773-1048E7DF5F6C}"/>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Backpropagation in larger layers</a:t>
            </a:r>
          </a:p>
        </p:txBody>
      </p:sp>
      <p:sp>
        <p:nvSpPr>
          <p:cNvPr id="9201" name="matched-subtitle">
            <a:extLst xmlns:a="http://schemas.openxmlformats.org/drawingml/2006/main">
              <a:ext uri="{FF2B5EF4-FFF2-40B4-BE49-F238E27FC236}">
                <a16:creationId xmlns:a16="http://schemas.microsoft.com/office/drawing/2014/main" id="{2D8904FF-CD5F-424D-A946-1049BE23B1E0}"/>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One neuron’s error signal contributes a whole row of weight gradients.</a:t>
            </a:r>
          </a:p>
        </p:txBody>
      </p:sp>
      <p:sp>
        <p:nvSpPr>
          <p:cNvPr id="9202" name="matched-footer">
            <a:extLst xmlns:a="http://schemas.openxmlformats.org/drawingml/2006/main">
              <a:ext uri="{FF2B5EF4-FFF2-40B4-BE49-F238E27FC236}">
                <a16:creationId xmlns:a16="http://schemas.microsoft.com/office/drawing/2014/main" id="{05E836F6-BC77-4A8D-8537-6083F00A33E0}"/>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For a mini-batch, average these per-example gradients before updating the weights.</a:t>
            </a:r>
          </a:p>
        </p:txBody>
      </p:sp>
      <p:sp>
        <p:nvSpPr>
          <p:cNvPr id="9203" name="matched-page">
            <a:extLst xmlns:a="http://schemas.openxmlformats.org/drawingml/2006/main">
              <a:ext uri="{FF2B5EF4-FFF2-40B4-BE49-F238E27FC236}">
                <a16:creationId xmlns:a16="http://schemas.microsoft.com/office/drawing/2014/main" id="{E7D08800-2E16-427C-B0AB-FC48D8DC1BE2}"/>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21</a:t>
            </a:r>
          </a:p>
        </p:txBody>
      </p:sp>
    </p:spTree>
    <p:extLst>
      <p:ext uri="{BB962C8B-B14F-4D97-AF65-F5344CB8AC3E}">
        <p14:creationId xmlns:p14="http://schemas.microsoft.com/office/powerpoint/2010/main" val="45047989"/>
      </p:ext>
    </p:extLst>
  </p:cSld>
</p:sld>
</file>

<file path=ppt/slides/slide24.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graphicFrame>
        <p:nvGraphicFramePr>
          <p:cNvPr id="14" name="Chart"/>
          <p:cNvGraphicFramePr/>
          <p:nvPr/>
        </p:nvGraphicFramePr>
        <p:xfrm>
          <a:off xmlns:a="http://schemas.openxmlformats.org/drawingml/2006/main" x="763003" y="1897380"/>
          <a:ext xmlns:a="http://schemas.openxmlformats.org/drawingml/2006/main" cx="7182853" cy="3619500"/>
        </p:xfrm>
        <a:graphic xmlns:a="http://schemas.openxmlformats.org/drawingml/2006/main">
          <a:graphicData uri="http://schemas.openxmlformats.org/drawingml/2006/chart">
            <c:chart xmlns:r="http://schemas.openxmlformats.org/officeDocument/2006/relationships" xmlns:c="http://schemas.openxmlformats.org/drawingml/2006/chart" r:id="R84d87bff59094d5a"/>
          </a:graphicData>
        </a:graphic>
      </p:graphicFrame>
      <p:sp>
        <p:nvSpPr>
          <p:cNvPr id="6" name="">
            <a:extLst xmlns:a="http://schemas.openxmlformats.org/drawingml/2006/main">
              <a:ext uri="{FF2B5EF4-FFF2-40B4-BE49-F238E27FC236}">
                <a16:creationId xmlns:a16="http://schemas.microsoft.com/office/drawing/2014/main" id="{6E265D78-785D-4295-9703-AC034058B521}"/>
              </a:ext>
            </a:extLst>
          </p:cNvPr>
          <p:cNvSpPr>
            <a:spLocks xmlns:a="http://schemas.openxmlformats.org/drawingml/2006/main" noGrp="1"/>
          </p:cNvSpPr>
          <p:nvPr/>
        </p:nvSpPr>
        <p:spPr>
          <a:xfrm xmlns:a="http://schemas.openxmlformats.org/drawingml/2006/main">
            <a:off x="8324850" y="2069306"/>
            <a:ext cx="2770271" cy="678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95" b="1">
                <a:solidFill>
                  <a:srgbClr val="A45F57"/>
                </a:solidFill>
                <a:latin typeface="Chalkboard"/>
                <a:ea typeface="Arial"/>
                <a:cs typeface="Arial"/>
              </a:defRPr>
            </a:pPr>
            <a:r>
              <a:rPr sz="1995" b="1">
                <a:solidFill>
                  <a:srgbClr val="A45F57"/>
                </a:solidFill>
                <a:latin typeface="Chalkboard"/>
                <a:ea typeface="Arial"/>
                <a:cs typeface="Arial"/>
              </a:rPr>
              <a:t>Best shown validation</a:t>
            </a:r>
          </a:p>
        </p:txBody>
      </p:sp>
      <p:sp>
        <p:nvSpPr>
          <p:cNvPr id="7" name="">
            <a:extLst xmlns:a="http://schemas.openxmlformats.org/drawingml/2006/main">
              <a:ext uri="{FF2B5EF4-FFF2-40B4-BE49-F238E27FC236}">
                <a16:creationId xmlns:a16="http://schemas.microsoft.com/office/drawing/2014/main" id="{21FBFBE1-B9E7-47BB-86FD-C3F6E25A35D5}"/>
              </a:ext>
            </a:extLst>
          </p:cNvPr>
          <p:cNvSpPr>
            <a:spLocks xmlns:a="http://schemas.openxmlformats.org/drawingml/2006/main" noGrp="1"/>
          </p:cNvSpPr>
          <p:nvPr/>
        </p:nvSpPr>
        <p:spPr>
          <a:xfrm xmlns:a="http://schemas.openxmlformats.org/drawingml/2006/main">
            <a:off x="8324850" y="2937986"/>
            <a:ext cx="2770271" cy="5519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94" b="1">
                <a:solidFill>
                  <a:srgbClr val="A45F57"/>
                </a:solidFill>
                <a:latin typeface="Chalkboard"/>
                <a:ea typeface="Arial"/>
                <a:cs typeface="Arial"/>
              </a:defRPr>
            </a:pPr>
            <a:r>
              <a:rPr sz="2494" b="1">
                <a:solidFill>
                  <a:srgbClr val="A45F57"/>
                </a:solidFill>
                <a:latin typeface="Chalkboard"/>
                <a:ea typeface="Arial"/>
                <a:cs typeface="Arial"/>
              </a:rPr>
              <a:t>Epoch 5</a:t>
            </a:r>
          </a:p>
        </p:txBody>
      </p:sp>
      <p:sp>
        <p:nvSpPr>
          <p:cNvPr id="8" name="">
            <a:extLst xmlns:a="http://schemas.openxmlformats.org/drawingml/2006/main">
              <a:ext uri="{FF2B5EF4-FFF2-40B4-BE49-F238E27FC236}">
                <a16:creationId xmlns:a16="http://schemas.microsoft.com/office/drawing/2014/main" id="{35472683-A9DE-483F-92C3-B66F0288C17D}"/>
              </a:ext>
            </a:extLst>
          </p:cNvPr>
          <p:cNvSpPr>
            <a:spLocks xmlns:a="http://schemas.openxmlformats.org/drawingml/2006/main" noGrp="1"/>
          </p:cNvSpPr>
          <p:nvPr/>
        </p:nvSpPr>
        <p:spPr>
          <a:xfrm xmlns:a="http://schemas.openxmlformats.org/drawingml/2006/main">
            <a:off x="8324850" y="3815715"/>
            <a:ext cx="2770271" cy="9139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10" b="0">
                <a:solidFill>
                  <a:srgbClr val="272729"/>
                </a:solidFill>
                <a:latin typeface="Arial"/>
                <a:ea typeface="Arial"/>
                <a:cs typeface="Arial"/>
              </a:defRPr>
            </a:pPr>
            <a:r>
              <a:rPr sz="1710" b="0">
                <a:solidFill>
                  <a:srgbClr val="272729"/>
                </a:solidFill>
                <a:latin typeface="Arial"/>
                <a:ea typeface="Arial"/>
                <a:cs typeface="Arial"/>
              </a:rPr>
              <a:t>Training loss keeps falling</a:t>
            </a:r>
          </a:p>
          <a:p xmlns:a="http://schemas.openxmlformats.org/drawingml/2006/main">
            <a:pPr>
              <a:defRPr sz="1710" b="0">
                <a:solidFill>
                  <a:srgbClr val="272729"/>
                </a:solidFill>
                <a:latin typeface="Arial"/>
                <a:ea typeface="Arial"/>
                <a:cs typeface="Arial"/>
              </a:defRPr>
            </a:pPr>
            <a:r>
              <a:rPr sz="1710" b="0">
                <a:solidFill>
                  <a:srgbClr val="272729"/>
                </a:solidFill>
                <a:latin typeface="Arial"/>
                <a:ea typeface="Arial"/>
                <a:cs typeface="Arial"/>
              </a:rPr>
              <a:t>as validation loss rises.</a:t>
            </a:r>
          </a:p>
        </p:txBody>
      </p:sp>
      <p:sp>
        <p:nvSpPr>
          <p:cNvPr id="9" name="">
            <a:extLst xmlns:a="http://schemas.openxmlformats.org/drawingml/2006/main">
              <a:ext uri="{FF2B5EF4-FFF2-40B4-BE49-F238E27FC236}">
                <a16:creationId xmlns:a16="http://schemas.microsoft.com/office/drawing/2014/main" id="{A10CB2B1-EA75-4811-A812-D07ED93DEAB6}"/>
              </a:ext>
            </a:extLst>
          </p:cNvPr>
          <p:cNvSpPr>
            <a:spLocks xmlns:a="http://schemas.openxmlformats.org/drawingml/2006/main" noGrp="1"/>
          </p:cNvSpPr>
          <p:nvPr/>
        </p:nvSpPr>
        <p:spPr>
          <a:xfrm xmlns:a="http://schemas.openxmlformats.org/drawingml/2006/main">
            <a:off x="8324850" y="5037296"/>
            <a:ext cx="2797342" cy="4524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10" b="1">
                <a:solidFill>
                  <a:srgbClr val="616069"/>
                </a:solidFill>
                <a:latin typeface="Arial"/>
                <a:ea typeface="Arial"/>
                <a:cs typeface="Arial"/>
              </a:defRPr>
            </a:pPr>
            <a:r>
              <a:rPr sz="1710" b="1">
                <a:solidFill>
                  <a:srgbClr val="616069"/>
                </a:solidFill>
                <a:latin typeface="Arial"/>
                <a:ea typeface="Arial"/>
                <a:cs typeface="Arial"/>
              </a:rPr>
              <a:t>Possible overfitting</a:t>
            </a:r>
          </a:p>
        </p:txBody>
      </p:sp>
      <p:sp>
        <p:nvSpPr>
          <p:cNvPr id="9200" name="matched-title">
            <a:extLst xmlns:a="http://schemas.openxmlformats.org/drawingml/2006/main">
              <a:ext uri="{FF2B5EF4-FFF2-40B4-BE49-F238E27FC236}">
                <a16:creationId xmlns:a16="http://schemas.microsoft.com/office/drawing/2014/main" id="{81005A64-6D4E-4749-9F05-A086869D02BB}"/>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Training progress and unseen examples</a:t>
            </a:r>
          </a:p>
        </p:txBody>
      </p:sp>
      <p:sp>
        <p:nvSpPr>
          <p:cNvPr id="9201" name="matched-subtitle">
            <a:extLst xmlns:a="http://schemas.openxmlformats.org/drawingml/2006/main">
              <a:ext uri="{FF2B5EF4-FFF2-40B4-BE49-F238E27FC236}">
                <a16:creationId xmlns:a16="http://schemas.microsoft.com/office/drawing/2014/main" id="{731D7855-45E5-4006-A939-15D3447B6D3D}"/>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An illustrative learning curve shows how overfitting can emerge.</a:t>
            </a:r>
          </a:p>
        </p:txBody>
      </p:sp>
      <p:sp>
        <p:nvSpPr>
          <p:cNvPr id="9202" name="matched-footer">
            <a:extLst xmlns:a="http://schemas.openxmlformats.org/drawingml/2006/main">
              <a:ext uri="{FF2B5EF4-FFF2-40B4-BE49-F238E27FC236}">
                <a16:creationId xmlns:a16="http://schemas.microsoft.com/office/drawing/2014/main" id="{72DF2B89-0EB1-4C59-98BC-91C73C9403F4}"/>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Validation guides tuning and stopping. A separate test set estimates final performance.</a:t>
            </a:r>
          </a:p>
        </p:txBody>
      </p:sp>
      <p:sp>
        <p:nvSpPr>
          <p:cNvPr id="9203" name="matched-page">
            <a:extLst xmlns:a="http://schemas.openxmlformats.org/drawingml/2006/main">
              <a:ext uri="{FF2B5EF4-FFF2-40B4-BE49-F238E27FC236}">
                <a16:creationId xmlns:a16="http://schemas.microsoft.com/office/drawing/2014/main" id="{D312A34F-D610-4E8C-8F11-9042E234739F}"/>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30</a:t>
            </a:r>
          </a:p>
        </p:txBody>
      </p:sp>
    </p:spTree>
    <p:extLst>
      <p:ext uri="{BB962C8B-B14F-4D97-AF65-F5344CB8AC3E}">
        <p14:creationId xmlns:p14="http://schemas.microsoft.com/office/powerpoint/2010/main" val="989013537"/>
      </p:ext>
    </p:extLst>
  </p:cSld>
</p:sld>
</file>

<file path=ppt/slides/slide25.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graphicFrame>
        <p:nvGraphicFramePr>
          <p:cNvPr id="13" name="Chart"/>
          <p:cNvGraphicFramePr/>
          <p:nvPr/>
        </p:nvGraphicFramePr>
        <p:xfrm>
          <a:off xmlns:a="http://schemas.openxmlformats.org/drawingml/2006/main" x="735932" y="2123599"/>
          <a:ext xmlns:a="http://schemas.openxmlformats.org/drawingml/2006/main" cx="5865395" cy="3049429"/>
        </p:xfrm>
        <a:graphic xmlns:a="http://schemas.openxmlformats.org/drawingml/2006/main">
          <a:graphicData uri="http://schemas.openxmlformats.org/drawingml/2006/chart">
            <c:chart xmlns:r="http://schemas.openxmlformats.org/officeDocument/2006/relationships" xmlns:c="http://schemas.openxmlformats.org/drawingml/2006/chart" r:id="Rb0fc684fbb294b1e"/>
          </a:graphicData>
        </a:graphic>
      </p:graphicFrame>
      <p:sp>
        <p:nvSpPr>
          <p:cNvPr id="6" name="">
            <a:extLst xmlns:a="http://schemas.openxmlformats.org/drawingml/2006/main">
              <a:ext uri="{FF2B5EF4-FFF2-40B4-BE49-F238E27FC236}">
                <a16:creationId xmlns:a16="http://schemas.microsoft.com/office/drawing/2014/main" id="{31E3564C-E056-45CA-97A9-5B5BCE731147}"/>
              </a:ext>
            </a:extLst>
          </p:cNvPr>
          <p:cNvSpPr>
            <a:spLocks xmlns:a="http://schemas.openxmlformats.org/drawingml/2006/main" noGrp="1"/>
          </p:cNvSpPr>
          <p:nvPr/>
        </p:nvSpPr>
        <p:spPr>
          <a:xfrm xmlns:a="http://schemas.openxmlformats.org/drawingml/2006/main">
            <a:off x="1719513" y="1852136"/>
            <a:ext cx="3338763" cy="4071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10" b="1">
                <a:solidFill>
                  <a:srgbClr val="A45F57"/>
                </a:solidFill>
                <a:latin typeface="Chalkboard"/>
                <a:ea typeface="Arial"/>
                <a:cs typeface="Arial"/>
              </a:defRPr>
            </a:pPr>
            <a:r>
              <a:rPr sz="1710" b="1">
                <a:solidFill>
                  <a:srgbClr val="A45F57"/>
                </a:solidFill>
                <a:latin typeface="Chalkboard"/>
                <a:ea typeface="Arial"/>
                <a:cs typeface="Arial"/>
              </a:rPr>
              <a:t>Current w = 0.8</a:t>
            </a:r>
          </a:p>
        </p:txBody>
      </p:sp>
      <p:sp>
        <p:nvSpPr>
          <p:cNvPr id="7" name="">
            <a:extLst xmlns:a="http://schemas.openxmlformats.org/drawingml/2006/main">
              <a:ext uri="{FF2B5EF4-FFF2-40B4-BE49-F238E27FC236}">
                <a16:creationId xmlns:a16="http://schemas.microsoft.com/office/drawing/2014/main" id="{0F023481-FFD8-404D-A638-4AF2FC04E371}"/>
              </a:ext>
            </a:extLst>
          </p:cNvPr>
          <p:cNvSpPr>
            <a:spLocks xmlns:a="http://schemas.openxmlformats.org/drawingml/2006/main" noGrp="1"/>
          </p:cNvSpPr>
          <p:nvPr/>
        </p:nvSpPr>
        <p:spPr>
          <a:xfrm xmlns:a="http://schemas.openxmlformats.org/drawingml/2006/main">
            <a:off x="7124700" y="2168842"/>
            <a:ext cx="4087729" cy="5248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38" b="1">
                <a:solidFill>
                  <a:srgbClr val="287B95"/>
                </a:solidFill>
                <a:latin typeface="Chalkboard"/>
                <a:ea typeface="Arial"/>
                <a:cs typeface="Arial"/>
              </a:defRPr>
            </a:pPr>
            <a:r>
              <a:rPr sz="2138" b="1">
                <a:solidFill>
                  <a:srgbClr val="287B95"/>
                </a:solidFill>
                <a:latin typeface="Chalkboard"/>
                <a:ea typeface="Arial"/>
                <a:cs typeface="Arial"/>
              </a:rPr>
              <a:t>w_new = w_old − ηg</a:t>
            </a:r>
          </a:p>
        </p:txBody>
      </p:sp>
      <p:sp>
        <p:nvSpPr>
          <p:cNvPr id="8" name="">
            <a:extLst xmlns:a="http://schemas.openxmlformats.org/drawingml/2006/main">
              <a:ext uri="{FF2B5EF4-FFF2-40B4-BE49-F238E27FC236}">
                <a16:creationId xmlns:a16="http://schemas.microsoft.com/office/drawing/2014/main" id="{F8F4CC56-0144-4751-AADF-738AAEEEFD82}"/>
              </a:ext>
            </a:extLst>
          </p:cNvPr>
          <p:cNvSpPr>
            <a:spLocks xmlns:a="http://schemas.openxmlformats.org/drawingml/2006/main" noGrp="1"/>
          </p:cNvSpPr>
          <p:nvPr/>
        </p:nvSpPr>
        <p:spPr>
          <a:xfrm xmlns:a="http://schemas.openxmlformats.org/drawingml/2006/main">
            <a:off x="7088605" y="3164205"/>
            <a:ext cx="4105776" cy="21988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52" b="0">
                <a:solidFill>
                  <a:srgbClr val="272729"/>
                </a:solidFill>
                <a:latin typeface="Arial"/>
                <a:ea typeface="Arial"/>
                <a:cs typeface="Arial"/>
              </a:defRPr>
            </a:pPr>
            <a:r>
              <a:rPr sz="1852" b="0">
                <a:solidFill>
                  <a:srgbClr val="272729"/>
                </a:solidFill>
                <a:latin typeface="Arial"/>
                <a:ea typeface="Arial"/>
                <a:cs typeface="Arial"/>
              </a:rPr>
              <a:t>1. What is the new weight?</a:t>
            </a:r>
          </a:p>
          <a:p xmlns:a="http://schemas.openxmlformats.org/drawingml/2006/main">
            <a:r>
              <a:t/>
            </a:r>
          </a:p>
          <a:p xmlns:a="http://schemas.openxmlformats.org/drawingml/2006/main">
            <a:pPr>
              <a:defRPr sz="1852" b="0">
                <a:solidFill>
                  <a:srgbClr val="272729"/>
                </a:solidFill>
                <a:latin typeface="Arial"/>
                <a:ea typeface="Arial"/>
                <a:cs typeface="Arial"/>
              </a:defRPr>
            </a:pPr>
            <a:r>
              <a:rPr sz="1852" b="0">
                <a:solidFill>
                  <a:srgbClr val="272729"/>
                </a:solidFill>
                <a:latin typeface="Arial"/>
                <a:ea typeface="Arial"/>
                <a:cs typeface="Arial"/>
              </a:rPr>
              <a:t>2. Which direction is downhill?</a:t>
            </a:r>
          </a:p>
          <a:p xmlns:a="http://schemas.openxmlformats.org/drawingml/2006/main">
            <a:r>
              <a:t/>
            </a:r>
          </a:p>
          <a:p xmlns:a="http://schemas.openxmlformats.org/drawingml/2006/main">
            <a:pPr>
              <a:defRPr sz="1852" b="0">
                <a:solidFill>
                  <a:srgbClr val="272729"/>
                </a:solidFill>
                <a:latin typeface="Arial"/>
                <a:ea typeface="Arial"/>
                <a:cs typeface="Arial"/>
              </a:defRPr>
            </a:pPr>
            <a:r>
              <a:rPr sz="1852" b="0">
                <a:solidFill>
                  <a:srgbClr val="272729"/>
                </a:solidFill>
                <a:latin typeface="Arial"/>
                <a:ea typeface="Arial"/>
                <a:cs typeface="Arial"/>
              </a:rPr>
              <a:t>3. What if g becomes +0.3?</a:t>
            </a:r>
          </a:p>
        </p:txBody>
      </p:sp>
      <p:sp>
        <p:nvSpPr>
          <p:cNvPr id="9200" name="matched-title">
            <a:extLst xmlns:a="http://schemas.openxmlformats.org/drawingml/2006/main">
              <a:ext uri="{FF2B5EF4-FFF2-40B4-BE49-F238E27FC236}">
                <a16:creationId xmlns:a16="http://schemas.microsoft.com/office/drawing/2014/main" id="{B6AC6C1A-3713-44C6-B7FE-6BE27ECD608D}"/>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Practice: one gradient descent step</a:t>
            </a:r>
          </a:p>
        </p:txBody>
      </p:sp>
      <p:sp>
        <p:nvSpPr>
          <p:cNvPr id="9201" name="matched-subtitle">
            <a:extLst xmlns:a="http://schemas.openxmlformats.org/drawingml/2006/main">
              <a:ext uri="{FF2B5EF4-FFF2-40B4-BE49-F238E27FC236}">
                <a16:creationId xmlns:a16="http://schemas.microsoft.com/office/drawing/2014/main" id="{0037ABAB-1354-4AC4-8FC1-3198300B95B0}"/>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Suppose w = 0.8, ∂L/∂w = −0.3, and the learning rate is η = 0.2.</a:t>
            </a:r>
          </a:p>
        </p:txBody>
      </p:sp>
      <p:sp>
        <p:nvSpPr>
          <p:cNvPr id="9202" name="matched-footer">
            <a:extLst xmlns:a="http://schemas.openxmlformats.org/drawingml/2006/main">
              <a:ext uri="{FF2B5EF4-FFF2-40B4-BE49-F238E27FC236}">
                <a16:creationId xmlns:a16="http://schemas.microsoft.com/office/drawing/2014/main" id="{6D8BDB5A-2C63-4823-9030-52D3D98D7BCE}"/>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A larger learning rate makes a larger step, but it does not guarantee a better result.</a:t>
            </a:r>
          </a:p>
        </p:txBody>
      </p:sp>
      <p:sp>
        <p:nvSpPr>
          <p:cNvPr id="9203" name="matched-page">
            <a:extLst xmlns:a="http://schemas.openxmlformats.org/drawingml/2006/main">
              <a:ext uri="{FF2B5EF4-FFF2-40B4-BE49-F238E27FC236}">
                <a16:creationId xmlns:a16="http://schemas.microsoft.com/office/drawing/2014/main" id="{8A17C2A0-7BD3-4AF2-AD4C-7DC0036FA63F}"/>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31</a:t>
            </a:r>
          </a:p>
        </p:txBody>
      </p:sp>
    </p:spTree>
    <p:extLst>
      <p:ext uri="{BB962C8B-B14F-4D97-AF65-F5344CB8AC3E}">
        <p14:creationId xmlns:p14="http://schemas.microsoft.com/office/powerpoint/2010/main" val="1496970178"/>
      </p:ext>
    </p:extLst>
  </p:cSld>
</p:sld>
</file>

<file path=ppt/slides/slide26.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12" name="">
            <a:extLst xmlns:a="http://schemas.openxmlformats.org/drawingml/2006/main">
              <a:ext uri="{FF2B5EF4-FFF2-40B4-BE49-F238E27FC236}">
                <a16:creationId xmlns:a16="http://schemas.microsoft.com/office/drawing/2014/main" id="{D96515C4-7B7D-4820-96D5-87D4C3D18885}"/>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Gradient flow through deep networks</a:t>
            </a:r>
          </a:p>
        </p:txBody>
      </p:sp>
      <p:sp>
        <p:nvSpPr>
          <p:cNvPr id="2" name="">
            <a:extLst xmlns:a="http://schemas.openxmlformats.org/drawingml/2006/main">
              <a:ext uri="{FF2B5EF4-FFF2-40B4-BE49-F238E27FC236}">
                <a16:creationId xmlns:a16="http://schemas.microsoft.com/office/drawing/2014/main" id="{3FA88157-057F-4EAB-805B-26CBA902E73F}"/>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The chain rule repeatedly multiplies local derivatives during the backward pass.</a:t>
            </a:r>
          </a:p>
        </p:txBody>
      </p:sp>
      <p:sp>
        <p:nvSpPr>
          <p:cNvPr id="3" name="">
            <a:extLst xmlns:a="http://schemas.openxmlformats.org/drawingml/2006/main">
              <a:ext uri="{FF2B5EF4-FFF2-40B4-BE49-F238E27FC236}">
                <a16:creationId xmlns:a16="http://schemas.microsoft.com/office/drawing/2014/main" id="{F01C47A9-959F-4CDA-BFDE-B0E09ADF83B4}"/>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The combined effect of weights and activation derivatives determines the gradient scale.</a:t>
            </a:r>
          </a:p>
        </p:txBody>
      </p:sp>
      <p:sp>
        <p:nvSpPr>
          <p:cNvPr id="4" name="">
            <a:extLst xmlns:a="http://schemas.openxmlformats.org/drawingml/2006/main">
              <a:ext uri="{FF2B5EF4-FFF2-40B4-BE49-F238E27FC236}">
                <a16:creationId xmlns:a16="http://schemas.microsoft.com/office/drawing/2014/main" id="{48120057-AC7A-4817-B16E-52E538C4F63B}"/>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22</a:t>
            </a:r>
          </a:p>
        </p:txBody>
      </p:sp>
      <p:sp>
        <p:nvSpPr>
          <p:cNvPr id="5" name="">
            <a:extLst xmlns:a="http://schemas.openxmlformats.org/drawingml/2006/main">
              <a:ext uri="{FF2B5EF4-FFF2-40B4-BE49-F238E27FC236}">
                <a16:creationId xmlns:a16="http://schemas.microsoft.com/office/drawing/2014/main" id="{9C8F1099-AD3C-4949-A45D-B5AFB0A76376}"/>
              </a:ext>
            </a:extLst>
          </p:cNvPr>
          <p:cNvSpPr>
            <a:spLocks xmlns:a="http://schemas.openxmlformats.org/drawingml/2006/main" noGrp="1"/>
          </p:cNvSpPr>
          <p:nvPr/>
        </p:nvSpPr>
        <p:spPr>
          <a:xfrm xmlns:a="http://schemas.openxmlformats.org/drawingml/2006/main">
            <a:off x="800100" y="1971675"/>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850" b="1">
                <a:solidFill>
                  <a:srgbClr val="287B95"/>
                </a:solidFill>
                <a:latin typeface="Chalkboard"/>
                <a:ea typeface="Chalkboard"/>
                <a:cs typeface="Chalkboard"/>
              </a:defRPr>
            </a:pPr>
            <a:r>
              <a:rPr sz="2850" b="1">
                <a:solidFill>
                  <a:srgbClr val="287B95"/>
                </a:solidFill>
                <a:latin typeface="Chalkboard"/>
                <a:ea typeface="Chalkboard"/>
                <a:cs typeface="Chalkboard"/>
              </a:rPr>
              <a:t>gₖ = g₀ × c₁ × c₂ × … × cₖ</a:t>
            </a:r>
          </a:p>
        </p:txBody>
      </p:sp>
      <p:sp>
        <p:nvSpPr>
          <p:cNvPr id="6" name="">
            <a:extLst xmlns:a="http://schemas.openxmlformats.org/drawingml/2006/main">
              <a:ext uri="{FF2B5EF4-FFF2-40B4-BE49-F238E27FC236}">
                <a16:creationId xmlns:a16="http://schemas.microsoft.com/office/drawing/2014/main" id="{B142AD0C-8516-4C75-935D-F8ABC3A4305C}"/>
              </a:ext>
            </a:extLst>
          </p:cNvPr>
          <p:cNvSpPr>
            <a:spLocks xmlns:a="http://schemas.openxmlformats.org/drawingml/2006/main" noGrp="1"/>
          </p:cNvSpPr>
          <p:nvPr/>
        </p:nvSpPr>
        <p:spPr>
          <a:xfrm xmlns:a="http://schemas.openxmlformats.org/drawingml/2006/main">
            <a:off x="809625" y="2733675"/>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272729"/>
                </a:solidFill>
                <a:latin typeface="Arial"/>
                <a:ea typeface="Arial"/>
                <a:cs typeface="Arial"/>
              </a:defRPr>
            </a:pPr>
            <a:r>
              <a:rPr sz="2025" b="0">
                <a:solidFill>
                  <a:srgbClr val="272729"/>
                </a:solidFill>
                <a:latin typeface="Arial"/>
                <a:ea typeface="Arial"/>
                <a:cs typeface="Arial"/>
              </a:rPr>
              <a:t>Each c is a local derivative along a simple chain.</a:t>
            </a:r>
          </a:p>
        </p:txBody>
      </p:sp>
      <p:sp>
        <p:nvSpPr>
          <p:cNvPr id="7" name="">
            <a:extLst xmlns:a="http://schemas.openxmlformats.org/drawingml/2006/main">
              <a:ext uri="{FF2B5EF4-FFF2-40B4-BE49-F238E27FC236}">
                <a16:creationId xmlns:a16="http://schemas.microsoft.com/office/drawing/2014/main" id="{DE8B3F52-FFED-4170-9ED1-BE88AF661255}"/>
              </a:ext>
            </a:extLst>
          </p:cNvPr>
          <p:cNvSpPr>
            <a:spLocks xmlns:a="http://schemas.openxmlformats.org/drawingml/2006/main" noGrp="1"/>
          </p:cNvSpPr>
          <p:nvPr/>
        </p:nvSpPr>
        <p:spPr>
          <a:xfrm xmlns:a="http://schemas.openxmlformats.org/drawingml/2006/main">
            <a:off x="809625" y="3514725"/>
            <a:ext cx="5000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250" b="1">
                <a:solidFill>
                  <a:srgbClr val="287B95"/>
                </a:solidFill>
                <a:latin typeface="Chalkboard"/>
                <a:ea typeface="Chalkboard"/>
                <a:cs typeface="Chalkboard"/>
              </a:defRPr>
            </a:pPr>
            <a:r>
              <a:rPr sz="2250" b="1">
                <a:solidFill>
                  <a:srgbClr val="287B95"/>
                </a:solidFill>
                <a:latin typeface="Chalkboard"/>
                <a:ea typeface="Chalkboard"/>
                <a:cs typeface="Chalkboard"/>
              </a:rPr>
              <a:t>Local magnitudes below 1</a:t>
            </a:r>
          </a:p>
        </p:txBody>
      </p:sp>
      <p:sp>
        <p:nvSpPr>
          <p:cNvPr id="8" name="">
            <a:extLst xmlns:a="http://schemas.openxmlformats.org/drawingml/2006/main">
              <a:ext uri="{FF2B5EF4-FFF2-40B4-BE49-F238E27FC236}">
                <a16:creationId xmlns:a16="http://schemas.microsoft.com/office/drawing/2014/main" id="{4B4AE214-701C-4A53-8595-0EE2FADB5078}"/>
              </a:ext>
            </a:extLst>
          </p:cNvPr>
          <p:cNvSpPr>
            <a:spLocks xmlns:a="http://schemas.openxmlformats.org/drawingml/2006/main" noGrp="1"/>
          </p:cNvSpPr>
          <p:nvPr/>
        </p:nvSpPr>
        <p:spPr>
          <a:xfrm xmlns:a="http://schemas.openxmlformats.org/drawingml/2006/main">
            <a:off x="809625" y="4162425"/>
            <a:ext cx="50006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272729"/>
                </a:solidFill>
                <a:latin typeface="Arial"/>
                <a:ea typeface="Arial"/>
                <a:cs typeface="Arial"/>
              </a:defRPr>
            </a:pPr>
            <a:r>
              <a:rPr sz="1875" b="0">
                <a:solidFill>
                  <a:srgbClr val="272729"/>
                </a:solidFill>
                <a:latin typeface="Arial"/>
                <a:ea typeface="Arial"/>
                <a:cs typeface="Arial"/>
              </a:rPr>
              <a:t>Gradient magnitude can shrink.</a:t>
            </a:r>
          </a:p>
          <a:p xmlns:a="http://schemas.openxmlformats.org/drawingml/2006/main">
            <a:pPr algn="l">
              <a:defRPr sz="1875" b="0">
                <a:solidFill>
                  <a:srgbClr val="272729"/>
                </a:solidFill>
                <a:latin typeface="Arial"/>
                <a:ea typeface="Arial"/>
                <a:cs typeface="Arial"/>
              </a:defRPr>
            </a:pPr>
            <a:r>
              <a:rPr sz="1875" b="0">
                <a:solidFill>
                  <a:srgbClr val="272729"/>
                </a:solidFill>
                <a:latin typeface="Arial"/>
                <a:ea typeface="Arial"/>
                <a:cs typeface="Arial"/>
              </a:rPr>
              <a:t>Earlier layers receive very small updates.</a:t>
            </a:r>
          </a:p>
        </p:txBody>
      </p:sp>
      <p:sp>
        <p:nvSpPr>
          <p:cNvPr id="9" name="">
            <a:extLst xmlns:a="http://schemas.openxmlformats.org/drawingml/2006/main">
              <a:ext uri="{FF2B5EF4-FFF2-40B4-BE49-F238E27FC236}">
                <a16:creationId xmlns:a16="http://schemas.microsoft.com/office/drawing/2014/main" id="{49B5B18B-7059-4AC4-8CAA-6C132263D6A4}"/>
              </a:ext>
            </a:extLst>
          </p:cNvPr>
          <p:cNvSpPr>
            <a:spLocks xmlns:a="http://schemas.openxmlformats.org/drawingml/2006/main" noGrp="1"/>
          </p:cNvSpPr>
          <p:nvPr/>
        </p:nvSpPr>
        <p:spPr>
          <a:xfrm xmlns:a="http://schemas.openxmlformats.org/drawingml/2006/main">
            <a:off x="6572250" y="35147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250" b="1">
                <a:solidFill>
                  <a:srgbClr val="A45F57"/>
                </a:solidFill>
                <a:latin typeface="Chalkboard"/>
                <a:ea typeface="Chalkboard"/>
                <a:cs typeface="Chalkboard"/>
              </a:defRPr>
            </a:pPr>
            <a:r>
              <a:rPr sz="2250" b="1">
                <a:solidFill>
                  <a:srgbClr val="A45F57"/>
                </a:solidFill>
                <a:latin typeface="Chalkboard"/>
                <a:ea typeface="Chalkboard"/>
                <a:cs typeface="Chalkboard"/>
              </a:rPr>
              <a:t>Local magnitudes above 1</a:t>
            </a:r>
          </a:p>
        </p:txBody>
      </p:sp>
      <p:sp>
        <p:nvSpPr>
          <p:cNvPr id="10" name="">
            <a:extLst xmlns:a="http://schemas.openxmlformats.org/drawingml/2006/main">
              <a:ext uri="{FF2B5EF4-FFF2-40B4-BE49-F238E27FC236}">
                <a16:creationId xmlns:a16="http://schemas.microsoft.com/office/drawing/2014/main" id="{532462F2-F58A-4125-9CCE-217D44E19C77}"/>
              </a:ext>
            </a:extLst>
          </p:cNvPr>
          <p:cNvSpPr>
            <a:spLocks xmlns:a="http://schemas.openxmlformats.org/drawingml/2006/main" noGrp="1"/>
          </p:cNvSpPr>
          <p:nvPr/>
        </p:nvSpPr>
        <p:spPr>
          <a:xfrm xmlns:a="http://schemas.openxmlformats.org/drawingml/2006/main">
            <a:off x="6572250" y="4162425"/>
            <a:ext cx="4857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272729"/>
                </a:solidFill>
                <a:latin typeface="Arial"/>
                <a:ea typeface="Arial"/>
                <a:cs typeface="Arial"/>
              </a:defRPr>
            </a:pPr>
            <a:r>
              <a:rPr sz="1875" b="0">
                <a:solidFill>
                  <a:srgbClr val="272729"/>
                </a:solidFill>
                <a:latin typeface="Arial"/>
                <a:ea typeface="Arial"/>
                <a:cs typeface="Arial"/>
              </a:rPr>
              <a:t>Gradient magnitude can grow.</a:t>
            </a:r>
          </a:p>
          <a:p xmlns:a="http://schemas.openxmlformats.org/drawingml/2006/main">
            <a:pPr algn="l">
              <a:defRPr sz="1875" b="0">
                <a:solidFill>
                  <a:srgbClr val="272729"/>
                </a:solidFill>
                <a:latin typeface="Arial"/>
                <a:ea typeface="Arial"/>
                <a:cs typeface="Arial"/>
              </a:defRPr>
            </a:pPr>
            <a:r>
              <a:rPr sz="1875" b="0">
                <a:solidFill>
                  <a:srgbClr val="272729"/>
                </a:solidFill>
                <a:latin typeface="Arial"/>
                <a:ea typeface="Arial"/>
                <a:cs typeface="Arial"/>
              </a:rPr>
              <a:t>Parameter updates can become unstable.</a:t>
            </a:r>
          </a:p>
        </p:txBody>
      </p:sp>
      <p:sp>
        <p:nvSpPr>
          <p:cNvPr id="11" name="">
            <a:extLst xmlns:a="http://schemas.openxmlformats.org/drawingml/2006/main">
              <a:ext uri="{FF2B5EF4-FFF2-40B4-BE49-F238E27FC236}">
                <a16:creationId xmlns:a16="http://schemas.microsoft.com/office/drawing/2014/main" id="{38FB7AE3-D879-4C39-A908-5A2FE8AE62ED}"/>
              </a:ext>
            </a:extLst>
          </p:cNvPr>
          <p:cNvSpPr>
            <a:spLocks xmlns:a="http://schemas.openxmlformats.org/drawingml/2006/main" noGrp="1"/>
          </p:cNvSpPr>
          <p:nvPr/>
        </p:nvSpPr>
        <p:spPr>
          <a:xfrm xmlns:a="http://schemas.openxmlformats.org/drawingml/2006/main">
            <a:off x="809625" y="52863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616069"/>
                </a:solidFill>
                <a:latin typeface="Arial"/>
                <a:ea typeface="Arial"/>
                <a:cs typeface="Arial"/>
              </a:defRPr>
            </a:pPr>
            <a:r>
              <a:rPr sz="1650" b="0">
                <a:solidFill>
                  <a:srgbClr val="616069"/>
                </a:solidFill>
                <a:latin typeface="Arial"/>
                <a:ea typeface="Arial"/>
                <a:cs typeface="Arial"/>
              </a:rPr>
              <a:t>Illustration: g₀ = 1 and the same factor c at every step gives gₖ = cᵏ.</a:t>
            </a:r>
          </a:p>
        </p:txBody>
      </p:sp>
    </p:spTree>
    <p:extLst>
      <p:ext uri="{BB962C8B-B14F-4D97-AF65-F5344CB8AC3E}">
        <p14:creationId xmlns:p14="http://schemas.microsoft.com/office/powerpoint/2010/main" val="485306310"/>
      </p:ext>
    </p:extLst>
  </p:cSld>
</p:sld>
</file>

<file path=ppt/slides/slide27.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10" name="">
            <a:extLst xmlns:a="http://schemas.openxmlformats.org/drawingml/2006/main">
              <a:ext uri="{FF2B5EF4-FFF2-40B4-BE49-F238E27FC236}">
                <a16:creationId xmlns:a16="http://schemas.microsoft.com/office/drawing/2014/main" id="{8983AC88-B36B-420D-A947-8E35DCFD96C8}"/>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Vanishing gradients</a:t>
            </a:r>
          </a:p>
        </p:txBody>
      </p:sp>
      <p:sp>
        <p:nvSpPr>
          <p:cNvPr id="2" name="">
            <a:extLst xmlns:a="http://schemas.openxmlformats.org/drawingml/2006/main">
              <a:ext uri="{FF2B5EF4-FFF2-40B4-BE49-F238E27FC236}">
                <a16:creationId xmlns:a16="http://schemas.microsoft.com/office/drawing/2014/main" id="{91ECF371-2EF1-471A-B30A-1DCB667237ED}"/>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Very small gradients can make the earlier layers learn slowly.</a:t>
            </a:r>
          </a:p>
        </p:txBody>
      </p:sp>
      <p:sp>
        <p:nvSpPr>
          <p:cNvPr id="3" name="">
            <a:extLst xmlns:a="http://schemas.openxmlformats.org/drawingml/2006/main">
              <a:ext uri="{FF2B5EF4-FFF2-40B4-BE49-F238E27FC236}">
                <a16:creationId xmlns:a16="http://schemas.microsoft.com/office/drawing/2014/main" id="{B76756AF-6FD7-4544-B1C7-88B7ECC18AEC}"/>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Six factors of 0.5 reduce a starting gradient of 1 to 0.015625.</a:t>
            </a:r>
          </a:p>
        </p:txBody>
      </p:sp>
      <p:sp>
        <p:nvSpPr>
          <p:cNvPr id="4" name="">
            <a:extLst xmlns:a="http://schemas.openxmlformats.org/drawingml/2006/main">
              <a:ext uri="{FF2B5EF4-FFF2-40B4-BE49-F238E27FC236}">
                <a16:creationId xmlns:a16="http://schemas.microsoft.com/office/drawing/2014/main" id="{D5461B57-DE13-4A6D-B7D4-5C3FB87D515B}"/>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23</a:t>
            </a:r>
          </a:p>
        </p:txBody>
      </p:sp>
      <p:graphicFrame>
        <p:nvGraphicFramePr>
          <p:cNvPr id="14" name="Chart"/>
          <p:cNvGraphicFramePr/>
          <p:nvPr/>
        </p:nvGraphicFramePr>
        <p:xfrm>
          <a:off xmlns:a="http://schemas.openxmlformats.org/drawingml/2006/main" x="742950" y="2009775"/>
          <a:ext xmlns:a="http://schemas.openxmlformats.org/drawingml/2006/main" cx="6896100" cy="3333750"/>
        </p:xfrm>
        <a:graphic xmlns:a="http://schemas.openxmlformats.org/drawingml/2006/main">
          <a:graphicData uri="http://schemas.openxmlformats.org/drawingml/2006/chart">
            <c:chart xmlns:r="http://schemas.openxmlformats.org/officeDocument/2006/relationships" xmlns:c="http://schemas.openxmlformats.org/drawingml/2006/chart" r:id="R86628965633a4a5e"/>
          </a:graphicData>
        </a:graphic>
      </p:graphicFrame>
      <p:sp>
        <p:nvSpPr>
          <p:cNvPr id="6" name="">
            <a:extLst xmlns:a="http://schemas.openxmlformats.org/drawingml/2006/main">
              <a:ext uri="{FF2B5EF4-FFF2-40B4-BE49-F238E27FC236}">
                <a16:creationId xmlns:a16="http://schemas.microsoft.com/office/drawing/2014/main" id="{FD6EE2E7-4023-4122-8CFC-20CE55A89EDF}"/>
              </a:ext>
            </a:extLst>
          </p:cNvPr>
          <p:cNvSpPr>
            <a:spLocks xmlns:a="http://schemas.openxmlformats.org/drawingml/2006/main" noGrp="1"/>
          </p:cNvSpPr>
          <p:nvPr/>
        </p:nvSpPr>
        <p:spPr>
          <a:xfrm xmlns:a="http://schemas.openxmlformats.org/drawingml/2006/main">
            <a:off x="8048625" y="2047875"/>
            <a:ext cx="3333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550" b="1">
                <a:solidFill>
                  <a:srgbClr val="287B95"/>
                </a:solidFill>
                <a:latin typeface="Chalkboard"/>
                <a:ea typeface="Chalkboard"/>
                <a:cs typeface="Chalkboard"/>
              </a:defRPr>
            </a:pPr>
            <a:r>
              <a:rPr sz="2550" b="1">
                <a:solidFill>
                  <a:srgbClr val="287B95"/>
                </a:solidFill>
                <a:latin typeface="Chalkboard"/>
                <a:ea typeface="Chalkboard"/>
                <a:cs typeface="Chalkboard"/>
              </a:rPr>
              <a:t>g₆ = 0.5⁶</a:t>
            </a:r>
          </a:p>
        </p:txBody>
      </p:sp>
      <p:sp>
        <p:nvSpPr>
          <p:cNvPr id="7" name="">
            <a:extLst xmlns:a="http://schemas.openxmlformats.org/drawingml/2006/main">
              <a:ext uri="{FF2B5EF4-FFF2-40B4-BE49-F238E27FC236}">
                <a16:creationId xmlns:a16="http://schemas.microsoft.com/office/drawing/2014/main" id="{5AD6A8F5-DBD5-49B1-A6EC-4883A7F04C30}"/>
              </a:ext>
            </a:extLst>
          </p:cNvPr>
          <p:cNvSpPr>
            <a:spLocks xmlns:a="http://schemas.openxmlformats.org/drawingml/2006/main" noGrp="1"/>
          </p:cNvSpPr>
          <p:nvPr/>
        </p:nvSpPr>
        <p:spPr>
          <a:xfrm xmlns:a="http://schemas.openxmlformats.org/drawingml/2006/main">
            <a:off x="8048625" y="2600325"/>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550" b="1">
                <a:solidFill>
                  <a:srgbClr val="287B95"/>
                </a:solidFill>
                <a:latin typeface="Chalkboard"/>
                <a:ea typeface="Chalkboard"/>
                <a:cs typeface="Chalkboard"/>
              </a:defRPr>
            </a:pPr>
            <a:r>
              <a:rPr sz="2550" b="1">
                <a:solidFill>
                  <a:srgbClr val="287B95"/>
                </a:solidFill>
                <a:latin typeface="Chalkboard"/>
                <a:ea typeface="Chalkboard"/>
                <a:cs typeface="Chalkboard"/>
              </a:rPr>
              <a:t>= 0.015625</a:t>
            </a:r>
          </a:p>
        </p:txBody>
      </p:sp>
      <p:sp>
        <p:nvSpPr>
          <p:cNvPr id="8" name="">
            <a:extLst xmlns:a="http://schemas.openxmlformats.org/drawingml/2006/main">
              <a:ext uri="{FF2B5EF4-FFF2-40B4-BE49-F238E27FC236}">
                <a16:creationId xmlns:a16="http://schemas.microsoft.com/office/drawing/2014/main" id="{3483CB81-1DA2-4353-A685-922F002CB256}"/>
              </a:ext>
            </a:extLst>
          </p:cNvPr>
          <p:cNvSpPr>
            <a:spLocks xmlns:a="http://schemas.openxmlformats.org/drawingml/2006/main" noGrp="1"/>
          </p:cNvSpPr>
          <p:nvPr/>
        </p:nvSpPr>
        <p:spPr>
          <a:xfrm xmlns:a="http://schemas.openxmlformats.org/drawingml/2006/main">
            <a:off x="8048625" y="3419475"/>
            <a:ext cx="33242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272729"/>
                </a:solidFill>
                <a:latin typeface="Arial"/>
                <a:ea typeface="Arial"/>
                <a:cs typeface="Arial"/>
              </a:defRPr>
            </a:pPr>
            <a:r>
              <a:rPr sz="1875" b="0">
                <a:solidFill>
                  <a:srgbClr val="272729"/>
                </a:solidFill>
                <a:latin typeface="Arial"/>
                <a:ea typeface="Arial"/>
                <a:cs typeface="Arial"/>
              </a:rPr>
              <a:t>Small gradients produce</a:t>
            </a:r>
          </a:p>
          <a:p xmlns:a="http://schemas.openxmlformats.org/drawingml/2006/main">
            <a:pPr algn="l">
              <a:defRPr sz="1875" b="0">
                <a:solidFill>
                  <a:srgbClr val="272729"/>
                </a:solidFill>
                <a:latin typeface="Arial"/>
                <a:ea typeface="Arial"/>
                <a:cs typeface="Arial"/>
              </a:defRPr>
            </a:pPr>
            <a:r>
              <a:rPr sz="1875" b="0">
                <a:solidFill>
                  <a:srgbClr val="272729"/>
                </a:solidFill>
                <a:latin typeface="Arial"/>
                <a:ea typeface="Arial"/>
                <a:cs typeface="Arial"/>
              </a:rPr>
              <a:t>small weight changes.</a:t>
            </a:r>
          </a:p>
        </p:txBody>
      </p:sp>
      <p:sp>
        <p:nvSpPr>
          <p:cNvPr id="9" name="">
            <a:extLst xmlns:a="http://schemas.openxmlformats.org/drawingml/2006/main">
              <a:ext uri="{FF2B5EF4-FFF2-40B4-BE49-F238E27FC236}">
                <a16:creationId xmlns:a16="http://schemas.microsoft.com/office/drawing/2014/main" id="{AC9B25E2-0BA1-4A05-82A6-D8700E369916}"/>
              </a:ext>
            </a:extLst>
          </p:cNvPr>
          <p:cNvSpPr>
            <a:spLocks xmlns:a="http://schemas.openxmlformats.org/drawingml/2006/main" noGrp="1"/>
          </p:cNvSpPr>
          <p:nvPr/>
        </p:nvSpPr>
        <p:spPr>
          <a:xfrm xmlns:a="http://schemas.openxmlformats.org/drawingml/2006/main">
            <a:off x="8048625" y="4495800"/>
            <a:ext cx="33242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272729"/>
                </a:solidFill>
                <a:latin typeface="Arial"/>
                <a:ea typeface="Arial"/>
                <a:cs typeface="Arial"/>
              </a:defRPr>
            </a:pPr>
            <a:r>
              <a:rPr sz="1800" b="0">
                <a:solidFill>
                  <a:srgbClr val="272729"/>
                </a:solidFill>
                <a:latin typeface="Arial"/>
                <a:ea typeface="Arial"/>
                <a:cs typeface="Arial"/>
              </a:rPr>
              <a:t>Saturated sigmoid or tanh</a:t>
            </a:r>
          </a:p>
          <a:p xmlns:a="http://schemas.openxmlformats.org/drawingml/2006/main">
            <a:pPr algn="l">
              <a:defRPr sz="1800" b="0">
                <a:solidFill>
                  <a:srgbClr val="272729"/>
                </a:solidFill>
                <a:latin typeface="Arial"/>
                <a:ea typeface="Arial"/>
                <a:cs typeface="Arial"/>
              </a:defRPr>
            </a:pPr>
            <a:r>
              <a:rPr sz="1800" b="0">
                <a:solidFill>
                  <a:srgbClr val="272729"/>
                </a:solidFill>
                <a:latin typeface="Arial"/>
                <a:ea typeface="Arial"/>
                <a:cs typeface="Arial"/>
              </a:rPr>
              <a:t>hidden units can make</a:t>
            </a:r>
          </a:p>
          <a:p xmlns:a="http://schemas.openxmlformats.org/drawingml/2006/main">
            <a:pPr algn="l">
              <a:defRPr sz="1800" b="0">
                <a:solidFill>
                  <a:srgbClr val="272729"/>
                </a:solidFill>
                <a:latin typeface="Arial"/>
                <a:ea typeface="Arial"/>
                <a:cs typeface="Arial"/>
              </a:defRPr>
            </a:pPr>
            <a:r>
              <a:rPr sz="1800" b="0">
                <a:solidFill>
                  <a:srgbClr val="272729"/>
                </a:solidFill>
                <a:latin typeface="Arial"/>
                <a:ea typeface="Arial"/>
                <a:cs typeface="Arial"/>
              </a:rPr>
              <a:t>this effect stronger.</a:t>
            </a:r>
          </a:p>
        </p:txBody>
      </p:sp>
    </p:spTree>
    <p:extLst>
      <p:ext uri="{BB962C8B-B14F-4D97-AF65-F5344CB8AC3E}">
        <p14:creationId xmlns:p14="http://schemas.microsoft.com/office/powerpoint/2010/main" val="2010561998"/>
      </p:ext>
    </p:extLst>
  </p:cSld>
</p:sld>
</file>

<file path=ppt/slides/slide28.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10" name="">
            <a:extLst xmlns:a="http://schemas.openxmlformats.org/drawingml/2006/main">
              <a:ext uri="{FF2B5EF4-FFF2-40B4-BE49-F238E27FC236}">
                <a16:creationId xmlns:a16="http://schemas.microsoft.com/office/drawing/2014/main" id="{657C9CBD-3DAC-4E26-8203-4CDCFEA192EA}"/>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Exploding gradients</a:t>
            </a:r>
          </a:p>
        </p:txBody>
      </p:sp>
      <p:sp>
        <p:nvSpPr>
          <p:cNvPr id="2" name="">
            <a:extLst xmlns:a="http://schemas.openxmlformats.org/drawingml/2006/main">
              <a:ext uri="{FF2B5EF4-FFF2-40B4-BE49-F238E27FC236}">
                <a16:creationId xmlns:a16="http://schemas.microsoft.com/office/drawing/2014/main" id="{6E12DB6A-C2CF-4526-84D7-CBA2B3D68DC0}"/>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Large gradients can create abrupt weight changes and unstable loss.</a:t>
            </a:r>
          </a:p>
        </p:txBody>
      </p:sp>
      <p:sp>
        <p:nvSpPr>
          <p:cNvPr id="3" name="">
            <a:extLst xmlns:a="http://schemas.openxmlformats.org/drawingml/2006/main">
              <a:ext uri="{FF2B5EF4-FFF2-40B4-BE49-F238E27FC236}">
                <a16:creationId xmlns:a16="http://schemas.microsoft.com/office/drawing/2014/main" id="{1FE0909F-D0AC-46E9-BBAA-8769FA1DBFC9}"/>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Six factors of 2 amplify a starting gradient of 1 to 64.</a:t>
            </a:r>
          </a:p>
        </p:txBody>
      </p:sp>
      <p:sp>
        <p:nvSpPr>
          <p:cNvPr id="4" name="">
            <a:extLst xmlns:a="http://schemas.openxmlformats.org/drawingml/2006/main">
              <a:ext uri="{FF2B5EF4-FFF2-40B4-BE49-F238E27FC236}">
                <a16:creationId xmlns:a16="http://schemas.microsoft.com/office/drawing/2014/main" id="{71DAF313-263D-4319-B896-748A2B5F7366}"/>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25</a:t>
            </a:r>
          </a:p>
        </p:txBody>
      </p:sp>
      <p:graphicFrame>
        <p:nvGraphicFramePr>
          <p:cNvPr id="14" name="Chart"/>
          <p:cNvGraphicFramePr/>
          <p:nvPr/>
        </p:nvGraphicFramePr>
        <p:xfrm>
          <a:off xmlns:a="http://schemas.openxmlformats.org/drawingml/2006/main" x="742950" y="2009775"/>
          <a:ext xmlns:a="http://schemas.openxmlformats.org/drawingml/2006/main" cx="6896100" cy="3333750"/>
        </p:xfrm>
        <a:graphic xmlns:a="http://schemas.openxmlformats.org/drawingml/2006/main">
          <a:graphicData uri="http://schemas.openxmlformats.org/drawingml/2006/chart">
            <c:chart xmlns:r="http://schemas.openxmlformats.org/officeDocument/2006/relationships" xmlns:c="http://schemas.openxmlformats.org/drawingml/2006/chart" r:id="R7ff6b9dbfa804e4d"/>
          </a:graphicData>
        </a:graphic>
      </p:graphicFrame>
      <p:sp>
        <p:nvSpPr>
          <p:cNvPr id="6" name="">
            <a:extLst xmlns:a="http://schemas.openxmlformats.org/drawingml/2006/main">
              <a:ext uri="{FF2B5EF4-FFF2-40B4-BE49-F238E27FC236}">
                <a16:creationId xmlns:a16="http://schemas.microsoft.com/office/drawing/2014/main" id="{796FF9D2-1953-4852-9E5F-672755693C09}"/>
              </a:ext>
            </a:extLst>
          </p:cNvPr>
          <p:cNvSpPr>
            <a:spLocks xmlns:a="http://schemas.openxmlformats.org/drawingml/2006/main" noGrp="1"/>
          </p:cNvSpPr>
          <p:nvPr/>
        </p:nvSpPr>
        <p:spPr>
          <a:xfrm xmlns:a="http://schemas.openxmlformats.org/drawingml/2006/main">
            <a:off x="8048625" y="20574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550" b="1">
                <a:solidFill>
                  <a:srgbClr val="A45F57"/>
                </a:solidFill>
                <a:latin typeface="Chalkboard"/>
                <a:ea typeface="Chalkboard"/>
                <a:cs typeface="Chalkboard"/>
              </a:defRPr>
            </a:pPr>
            <a:r>
              <a:rPr sz="2550" b="1">
                <a:solidFill>
                  <a:srgbClr val="A45F57"/>
                </a:solidFill>
                <a:latin typeface="Chalkboard"/>
                <a:ea typeface="Chalkboard"/>
                <a:cs typeface="Chalkboard"/>
              </a:rPr>
              <a:t>g₆ = 2⁶ = 64</a:t>
            </a:r>
          </a:p>
        </p:txBody>
      </p:sp>
      <p:sp>
        <p:nvSpPr>
          <p:cNvPr id="7" name="">
            <a:extLst xmlns:a="http://schemas.openxmlformats.org/drawingml/2006/main">
              <a:ext uri="{FF2B5EF4-FFF2-40B4-BE49-F238E27FC236}">
                <a16:creationId xmlns:a16="http://schemas.microsoft.com/office/drawing/2014/main" id="{269FAF39-B6A3-47C9-994F-96E52AC0ED31}"/>
              </a:ext>
            </a:extLst>
          </p:cNvPr>
          <p:cNvSpPr>
            <a:spLocks xmlns:a="http://schemas.openxmlformats.org/drawingml/2006/main" noGrp="1"/>
          </p:cNvSpPr>
          <p:nvPr/>
        </p:nvSpPr>
        <p:spPr>
          <a:xfrm xmlns:a="http://schemas.openxmlformats.org/drawingml/2006/main">
            <a:off x="8048625" y="30289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272729"/>
                </a:solidFill>
                <a:latin typeface="Arial"/>
                <a:ea typeface="Arial"/>
                <a:cs typeface="Arial"/>
              </a:defRPr>
            </a:pPr>
            <a:r>
              <a:rPr sz="1875" b="0">
                <a:solidFill>
                  <a:srgbClr val="272729"/>
                </a:solidFill>
                <a:latin typeface="Arial"/>
                <a:ea typeface="Arial"/>
                <a:cs typeface="Arial"/>
              </a:rPr>
              <a:t>At learning rate η = 0.1:</a:t>
            </a:r>
          </a:p>
        </p:txBody>
      </p:sp>
      <p:sp>
        <p:nvSpPr>
          <p:cNvPr id="8" name="">
            <a:extLst xmlns:a="http://schemas.openxmlformats.org/drawingml/2006/main">
              <a:ext uri="{FF2B5EF4-FFF2-40B4-BE49-F238E27FC236}">
                <a16:creationId xmlns:a16="http://schemas.microsoft.com/office/drawing/2014/main" id="{24506CD0-66AF-4A57-B507-B020A9D40E56}"/>
              </a:ext>
            </a:extLst>
          </p:cNvPr>
          <p:cNvSpPr>
            <a:spLocks xmlns:a="http://schemas.openxmlformats.org/drawingml/2006/main" noGrp="1"/>
          </p:cNvSpPr>
          <p:nvPr/>
        </p:nvSpPr>
        <p:spPr>
          <a:xfrm xmlns:a="http://schemas.openxmlformats.org/drawingml/2006/main">
            <a:off x="8048625" y="3619500"/>
            <a:ext cx="333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250" b="1">
                <a:solidFill>
                  <a:srgbClr val="A45F57"/>
                </a:solidFill>
                <a:latin typeface="Chalkboard"/>
                <a:ea typeface="Chalkboard"/>
                <a:cs typeface="Chalkboard"/>
              </a:defRPr>
            </a:pPr>
            <a:r>
              <a:rPr sz="2250" b="1">
                <a:solidFill>
                  <a:srgbClr val="A45F57"/>
                </a:solidFill>
                <a:latin typeface="Chalkboard"/>
                <a:ea typeface="Chalkboard"/>
                <a:cs typeface="Chalkboard"/>
              </a:rPr>
              <a:t>|Δw| = 0.1 × 64</a:t>
            </a:r>
          </a:p>
          <a:p xmlns:a="http://schemas.openxmlformats.org/drawingml/2006/main">
            <a:pPr algn="l">
              <a:defRPr sz="2250" b="1">
                <a:solidFill>
                  <a:srgbClr val="A45F57"/>
                </a:solidFill>
                <a:latin typeface="Chalkboard"/>
                <a:ea typeface="Chalkboard"/>
                <a:cs typeface="Chalkboard"/>
              </a:defRPr>
            </a:pPr>
            <a:r>
              <a:rPr sz="2250" b="1">
                <a:solidFill>
                  <a:srgbClr val="A45F57"/>
                </a:solidFill>
                <a:latin typeface="Chalkboard"/>
                <a:ea typeface="Chalkboard"/>
                <a:cs typeface="Chalkboard"/>
              </a:rPr>
              <a:t>       = 6.4</a:t>
            </a:r>
          </a:p>
        </p:txBody>
      </p:sp>
      <p:sp>
        <p:nvSpPr>
          <p:cNvPr id="9" name="">
            <a:extLst xmlns:a="http://schemas.openxmlformats.org/drawingml/2006/main">
              <a:ext uri="{FF2B5EF4-FFF2-40B4-BE49-F238E27FC236}">
                <a16:creationId xmlns:a16="http://schemas.microsoft.com/office/drawing/2014/main" id="{2896F836-9321-4D9D-A4BB-1EB2FF10EBB6}"/>
              </a:ext>
            </a:extLst>
          </p:cNvPr>
          <p:cNvSpPr>
            <a:spLocks xmlns:a="http://schemas.openxmlformats.org/drawingml/2006/main" noGrp="1"/>
          </p:cNvSpPr>
          <p:nvPr/>
        </p:nvSpPr>
        <p:spPr>
          <a:xfrm xmlns:a="http://schemas.openxmlformats.org/drawingml/2006/main">
            <a:off x="8048625" y="4924425"/>
            <a:ext cx="3333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272729"/>
                </a:solidFill>
                <a:latin typeface="Arial"/>
                <a:ea typeface="Arial"/>
                <a:cs typeface="Arial"/>
              </a:defRPr>
            </a:pPr>
            <a:r>
              <a:rPr sz="1800" b="0">
                <a:solidFill>
                  <a:srgbClr val="272729"/>
                </a:solidFill>
                <a:latin typeface="Arial"/>
                <a:ea typeface="Arial"/>
                <a:cs typeface="Arial"/>
              </a:rPr>
              <a:t>A large step can move</a:t>
            </a:r>
          </a:p>
          <a:p xmlns:a="http://schemas.openxmlformats.org/drawingml/2006/main">
            <a:pPr algn="l">
              <a:defRPr sz="1800" b="0">
                <a:solidFill>
                  <a:srgbClr val="272729"/>
                </a:solidFill>
                <a:latin typeface="Arial"/>
                <a:ea typeface="Arial"/>
                <a:cs typeface="Arial"/>
              </a:defRPr>
            </a:pPr>
            <a:r>
              <a:rPr sz="1800" b="0">
                <a:solidFill>
                  <a:srgbClr val="272729"/>
                </a:solidFill>
                <a:latin typeface="Arial"/>
                <a:ea typeface="Arial"/>
                <a:cs typeface="Arial"/>
              </a:rPr>
              <a:t>far beyond a useful region.</a:t>
            </a:r>
          </a:p>
        </p:txBody>
      </p:sp>
    </p:spTree>
    <p:extLst>
      <p:ext uri="{BB962C8B-B14F-4D97-AF65-F5344CB8AC3E}">
        <p14:creationId xmlns:p14="http://schemas.microsoft.com/office/powerpoint/2010/main" val="1178001497"/>
      </p:ext>
    </p:extLst>
  </p:cSld>
</p:sld>
</file>

<file path=ppt/slides/slide29.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10" name="">
            <a:extLst xmlns:a="http://schemas.openxmlformats.org/drawingml/2006/main">
              <a:ext uri="{FF2B5EF4-FFF2-40B4-BE49-F238E27FC236}">
                <a16:creationId xmlns:a16="http://schemas.microsoft.com/office/drawing/2014/main" id="{B1997FE3-39CF-4053-BB87-5452846A4395}"/>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Gradient clipping: a worked example</a:t>
            </a:r>
          </a:p>
        </p:txBody>
      </p:sp>
      <p:sp>
        <p:nvSpPr>
          <p:cNvPr id="2" name="">
            <a:extLst xmlns:a="http://schemas.openxmlformats.org/drawingml/2006/main">
              <a:ext uri="{FF2B5EF4-FFF2-40B4-BE49-F238E27FC236}">
                <a16:creationId xmlns:a16="http://schemas.microsoft.com/office/drawing/2014/main" id="{D4EDF93A-8CB4-49C3-81F8-AEE05D029788}"/>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Norm clipping limits the size of the gradient before the optimizer step.</a:t>
            </a:r>
          </a:p>
        </p:txBody>
      </p:sp>
      <p:sp>
        <p:nvSpPr>
          <p:cNvPr id="3" name="">
            <a:extLst xmlns:a="http://schemas.openxmlformats.org/drawingml/2006/main">
              <a:ext uri="{FF2B5EF4-FFF2-40B4-BE49-F238E27FC236}">
                <a16:creationId xmlns:a16="http://schemas.microsoft.com/office/drawing/2014/main" id="{303EF6D3-AA43-44ED-8837-08FEBD02832C}"/>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Clipping controls large gradients. It does not restore a vanishing gradient.</a:t>
            </a:r>
          </a:p>
        </p:txBody>
      </p:sp>
      <p:sp>
        <p:nvSpPr>
          <p:cNvPr id="4" name="">
            <a:extLst xmlns:a="http://schemas.openxmlformats.org/drawingml/2006/main">
              <a:ext uri="{FF2B5EF4-FFF2-40B4-BE49-F238E27FC236}">
                <a16:creationId xmlns:a16="http://schemas.microsoft.com/office/drawing/2014/main" id="{AF20B504-B5E8-497E-B2F9-E491951E7324}"/>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26</a:t>
            </a:r>
          </a:p>
        </p:txBody>
      </p:sp>
      <p:graphicFrame>
        <p:nvGraphicFramePr>
          <p:cNvPr id="14" name="Chart"/>
          <p:cNvGraphicFramePr/>
          <p:nvPr/>
        </p:nvGraphicFramePr>
        <p:xfrm>
          <a:off xmlns:a="http://schemas.openxmlformats.org/drawingml/2006/main" x="742950" y="2085975"/>
          <a:ext xmlns:a="http://schemas.openxmlformats.org/drawingml/2006/main" cx="6381750" cy="3324225"/>
        </p:xfrm>
        <a:graphic xmlns:a="http://schemas.openxmlformats.org/drawingml/2006/main">
          <a:graphicData uri="http://schemas.openxmlformats.org/drawingml/2006/chart">
            <c:chart xmlns:r="http://schemas.openxmlformats.org/officeDocument/2006/relationships" xmlns:c="http://schemas.openxmlformats.org/drawingml/2006/chart" r:id="R80e7b3c059434101"/>
          </a:graphicData>
        </a:graphic>
      </p:graphicFrame>
      <p:sp>
        <p:nvSpPr>
          <p:cNvPr id="6" name="">
            <a:extLst xmlns:a="http://schemas.openxmlformats.org/drawingml/2006/main">
              <a:ext uri="{FF2B5EF4-FFF2-40B4-BE49-F238E27FC236}">
                <a16:creationId xmlns:a16="http://schemas.microsoft.com/office/drawing/2014/main" id="{B3583B0B-C1D2-47BE-811E-8B6FBD69FE5A}"/>
              </a:ext>
            </a:extLst>
          </p:cNvPr>
          <p:cNvSpPr>
            <a:spLocks xmlns:a="http://schemas.openxmlformats.org/drawingml/2006/main" noGrp="1"/>
          </p:cNvSpPr>
          <p:nvPr/>
        </p:nvSpPr>
        <p:spPr>
          <a:xfrm xmlns:a="http://schemas.openxmlformats.org/drawingml/2006/main">
            <a:off x="7715250" y="1981200"/>
            <a:ext cx="371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75" b="1">
                <a:solidFill>
                  <a:srgbClr val="A45F57"/>
                </a:solidFill>
                <a:latin typeface="Chalkboard"/>
                <a:ea typeface="Chalkboard"/>
                <a:cs typeface="Chalkboard"/>
              </a:defRPr>
            </a:pPr>
            <a:r>
              <a:rPr sz="2175" b="1">
                <a:solidFill>
                  <a:srgbClr val="A45F57"/>
                </a:solidFill>
                <a:latin typeface="Chalkboard"/>
                <a:ea typeface="Chalkboard"/>
                <a:cs typeface="Chalkboard"/>
              </a:rPr>
              <a:t>g = [6, 8],  ‖g‖ = 10</a:t>
            </a:r>
          </a:p>
        </p:txBody>
      </p:sp>
      <p:sp>
        <p:nvSpPr>
          <p:cNvPr id="7" name="">
            <a:extLst xmlns:a="http://schemas.openxmlformats.org/drawingml/2006/main">
              <a:ext uri="{FF2B5EF4-FFF2-40B4-BE49-F238E27FC236}">
                <a16:creationId xmlns:a16="http://schemas.microsoft.com/office/drawing/2014/main" id="{D225B8B5-5BA7-42CB-AEDF-7B91556712D2}"/>
              </a:ext>
            </a:extLst>
          </p:cNvPr>
          <p:cNvSpPr>
            <a:spLocks xmlns:a="http://schemas.openxmlformats.org/drawingml/2006/main" noGrp="1"/>
          </p:cNvSpPr>
          <p:nvPr/>
        </p:nvSpPr>
        <p:spPr>
          <a:xfrm xmlns:a="http://schemas.openxmlformats.org/drawingml/2006/main">
            <a:off x="7715250" y="2800350"/>
            <a:ext cx="3714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272729"/>
                </a:solidFill>
                <a:latin typeface="Arial"/>
                <a:ea typeface="Arial"/>
                <a:cs typeface="Arial"/>
              </a:defRPr>
            </a:pPr>
            <a:r>
              <a:rPr sz="1875" b="0">
                <a:solidFill>
                  <a:srgbClr val="272729"/>
                </a:solidFill>
                <a:latin typeface="Arial"/>
                <a:ea typeface="Arial"/>
                <a:cs typeface="Arial"/>
              </a:rPr>
              <a:t>Choose maximum norm 5.</a:t>
            </a:r>
          </a:p>
        </p:txBody>
      </p:sp>
      <p:sp>
        <p:nvSpPr>
          <p:cNvPr id="8" name="">
            <a:extLst xmlns:a="http://schemas.openxmlformats.org/drawingml/2006/main">
              <a:ext uri="{FF2B5EF4-FFF2-40B4-BE49-F238E27FC236}">
                <a16:creationId xmlns:a16="http://schemas.microsoft.com/office/drawing/2014/main" id="{08479A50-F9A2-4D39-A0C6-22F6A40A26DC}"/>
              </a:ext>
            </a:extLst>
          </p:cNvPr>
          <p:cNvSpPr>
            <a:spLocks xmlns:a="http://schemas.openxmlformats.org/drawingml/2006/main" noGrp="1"/>
          </p:cNvSpPr>
          <p:nvPr/>
        </p:nvSpPr>
        <p:spPr>
          <a:xfrm xmlns:a="http://schemas.openxmlformats.org/drawingml/2006/main">
            <a:off x="7715250" y="3419475"/>
            <a:ext cx="3714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400" b="1">
                <a:solidFill>
                  <a:srgbClr val="287B95"/>
                </a:solidFill>
                <a:latin typeface="Chalkboard"/>
                <a:ea typeface="Chalkboard"/>
                <a:cs typeface="Chalkboard"/>
              </a:defRPr>
            </a:pPr>
            <a:r>
              <a:rPr sz="2400" b="1">
                <a:solidFill>
                  <a:srgbClr val="287B95"/>
                </a:solidFill>
                <a:latin typeface="Chalkboard"/>
                <a:ea typeface="Chalkboard"/>
                <a:cs typeface="Chalkboard"/>
              </a:rPr>
              <a:t>g′ = (5 / 10)g</a:t>
            </a:r>
          </a:p>
          <a:p xmlns:a="http://schemas.openxmlformats.org/drawingml/2006/main">
            <a:pPr algn="l">
              <a:defRPr sz="2400" b="1">
                <a:solidFill>
                  <a:srgbClr val="287B95"/>
                </a:solidFill>
                <a:latin typeface="Chalkboard"/>
                <a:ea typeface="Chalkboard"/>
                <a:cs typeface="Chalkboard"/>
              </a:defRPr>
            </a:pPr>
            <a:r>
              <a:rPr sz="2400" b="1">
                <a:solidFill>
                  <a:srgbClr val="287B95"/>
                </a:solidFill>
                <a:latin typeface="Chalkboard"/>
                <a:ea typeface="Chalkboard"/>
                <a:cs typeface="Chalkboard"/>
              </a:rPr>
              <a:t>    = [3, 4]</a:t>
            </a:r>
          </a:p>
        </p:txBody>
      </p:sp>
      <p:sp>
        <p:nvSpPr>
          <p:cNvPr id="9" name="">
            <a:extLst xmlns:a="http://schemas.openxmlformats.org/drawingml/2006/main">
              <a:ext uri="{FF2B5EF4-FFF2-40B4-BE49-F238E27FC236}">
                <a16:creationId xmlns:a16="http://schemas.microsoft.com/office/drawing/2014/main" id="{5014E86C-1A6B-41E2-B97C-DF420E12509C}"/>
              </a:ext>
            </a:extLst>
          </p:cNvPr>
          <p:cNvSpPr>
            <a:spLocks xmlns:a="http://schemas.openxmlformats.org/drawingml/2006/main" noGrp="1"/>
          </p:cNvSpPr>
          <p:nvPr/>
        </p:nvSpPr>
        <p:spPr>
          <a:xfrm xmlns:a="http://schemas.openxmlformats.org/drawingml/2006/main">
            <a:off x="7715250" y="4876800"/>
            <a:ext cx="3714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272729"/>
                </a:solidFill>
                <a:latin typeface="Arial"/>
                <a:ea typeface="Arial"/>
                <a:cs typeface="Arial"/>
              </a:defRPr>
            </a:pPr>
            <a:r>
              <a:rPr sz="1875" b="0">
                <a:solidFill>
                  <a:srgbClr val="272729"/>
                </a:solidFill>
                <a:latin typeface="Arial"/>
                <a:ea typeface="Arial"/>
                <a:cs typeface="Arial"/>
              </a:rPr>
              <a:t>The new norm is 5.</a:t>
            </a:r>
          </a:p>
          <a:p xmlns:a="http://schemas.openxmlformats.org/drawingml/2006/main">
            <a:pPr algn="l">
              <a:defRPr sz="1875" b="0">
                <a:solidFill>
                  <a:srgbClr val="272729"/>
                </a:solidFill>
                <a:latin typeface="Arial"/>
                <a:ea typeface="Arial"/>
                <a:cs typeface="Arial"/>
              </a:defRPr>
            </a:pPr>
            <a:r>
              <a:rPr sz="1875" b="0">
                <a:solidFill>
                  <a:srgbClr val="272729"/>
                </a:solidFill>
                <a:latin typeface="Arial"/>
                <a:ea typeface="Arial"/>
                <a:cs typeface="Arial"/>
              </a:rPr>
              <a:t>The direction stays the same.</a:t>
            </a:r>
          </a:p>
        </p:txBody>
      </p:sp>
    </p:spTree>
    <p:extLst>
      <p:ext uri="{BB962C8B-B14F-4D97-AF65-F5344CB8AC3E}">
        <p14:creationId xmlns:p14="http://schemas.microsoft.com/office/powerpoint/2010/main" val="866295300"/>
      </p:ext>
    </p:extLst>
  </p:cSld>
</p:sld>
</file>

<file path=ppt/slides/slide30.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13" name="">
            <a:extLst xmlns:a="http://schemas.openxmlformats.org/drawingml/2006/main">
              <a:ext uri="{FF2B5EF4-FFF2-40B4-BE49-F238E27FC236}">
                <a16:creationId xmlns:a16="http://schemas.microsoft.com/office/drawing/2014/main" id="{E3C5E391-6337-4740-8936-0C3FE0E68F83}"/>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Healthier gradient flow</a:t>
            </a:r>
          </a:p>
        </p:txBody>
      </p:sp>
      <p:sp>
        <p:nvSpPr>
          <p:cNvPr id="2" name="">
            <a:extLst xmlns:a="http://schemas.openxmlformats.org/drawingml/2006/main">
              <a:ext uri="{FF2B5EF4-FFF2-40B4-BE49-F238E27FC236}">
                <a16:creationId xmlns:a16="http://schemas.microsoft.com/office/drawing/2014/main" id="{E6378310-F409-4167-A17B-AEDD57B5EE3F}"/>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The remedy depends on whether gradients shrink, grow, or stop at specific layers.</a:t>
            </a:r>
          </a:p>
        </p:txBody>
      </p:sp>
      <p:sp>
        <p:nvSpPr>
          <p:cNvPr id="3" name="">
            <a:extLst xmlns:a="http://schemas.openxmlformats.org/drawingml/2006/main">
              <a:ext uri="{FF2B5EF4-FFF2-40B4-BE49-F238E27FC236}">
                <a16:creationId xmlns:a16="http://schemas.microsoft.com/office/drawing/2014/main" id="{42FD56B1-7CEC-420A-ABCE-6136C04DD13F}"/>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Gradient norms by layer help reveal where the backward signal weakens or grows.</a:t>
            </a:r>
          </a:p>
        </p:txBody>
      </p:sp>
      <p:sp>
        <p:nvSpPr>
          <p:cNvPr id="4" name="">
            <a:extLst xmlns:a="http://schemas.openxmlformats.org/drawingml/2006/main">
              <a:ext uri="{FF2B5EF4-FFF2-40B4-BE49-F238E27FC236}">
                <a16:creationId xmlns:a16="http://schemas.microsoft.com/office/drawing/2014/main" id="{F774ACDB-33AA-443A-BD8E-00DC07FF1474}"/>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27</a:t>
            </a:r>
          </a:p>
        </p:txBody>
      </p:sp>
      <p:sp>
        <p:nvSpPr>
          <p:cNvPr id="5" name="">
            <a:extLst xmlns:a="http://schemas.openxmlformats.org/drawingml/2006/main">
              <a:ext uri="{FF2B5EF4-FFF2-40B4-BE49-F238E27FC236}">
                <a16:creationId xmlns:a16="http://schemas.microsoft.com/office/drawing/2014/main" id="{C30B72AB-3369-4F84-A8F4-6E5EADAF3C1D}"/>
              </a:ext>
            </a:extLst>
          </p:cNvPr>
          <p:cNvSpPr>
            <a:spLocks xmlns:a="http://schemas.openxmlformats.org/drawingml/2006/main" noGrp="1"/>
          </p:cNvSpPr>
          <p:nvPr/>
        </p:nvSpPr>
        <p:spPr>
          <a:xfrm xmlns:a="http://schemas.openxmlformats.org/drawingml/2006/main">
            <a:off x="809625" y="1952625"/>
            <a:ext cx="5000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287B95"/>
                </a:solidFill>
                <a:latin typeface="Chalkboard"/>
                <a:ea typeface="Chalkboard"/>
                <a:cs typeface="Chalkboard"/>
              </a:defRPr>
            </a:pPr>
            <a:r>
              <a:rPr sz="2325" b="1">
                <a:solidFill>
                  <a:srgbClr val="287B95"/>
                </a:solidFill>
                <a:latin typeface="Chalkboard"/>
                <a:ea typeface="Chalkboard"/>
                <a:cs typeface="Chalkboard"/>
              </a:rPr>
              <a:t>When gradients vanish</a:t>
            </a:r>
          </a:p>
        </p:txBody>
      </p:sp>
      <p:sp>
        <p:nvSpPr>
          <p:cNvPr id="6" name="">
            <a:extLst xmlns:a="http://schemas.openxmlformats.org/drawingml/2006/main">
              <a:ext uri="{FF2B5EF4-FFF2-40B4-BE49-F238E27FC236}">
                <a16:creationId xmlns:a16="http://schemas.microsoft.com/office/drawing/2014/main" id="{E59C3F35-BD33-4EF5-B08A-5AD35B0EBAF0}"/>
              </a:ext>
            </a:extLst>
          </p:cNvPr>
          <p:cNvSpPr>
            <a:spLocks xmlns:a="http://schemas.openxmlformats.org/drawingml/2006/main" noGrp="1"/>
          </p:cNvSpPr>
          <p:nvPr/>
        </p:nvSpPr>
        <p:spPr>
          <a:xfrm xmlns:a="http://schemas.openxmlformats.org/drawingml/2006/main">
            <a:off x="809625" y="2676525"/>
            <a:ext cx="5048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272729"/>
                </a:solidFill>
                <a:latin typeface="Arial"/>
                <a:ea typeface="Arial"/>
                <a:cs typeface="Arial"/>
              </a:defRPr>
            </a:pPr>
            <a:r>
              <a:rPr sz="1875" b="0">
                <a:solidFill>
                  <a:srgbClr val="272729"/>
                </a:solidFill>
                <a:latin typeface="Arial"/>
                <a:ea typeface="Arial"/>
                <a:cs typeface="Arial"/>
              </a:rPr>
              <a:t>ReLU has derivative 1 for positive inputs.</a:t>
            </a:r>
          </a:p>
          <a:p xmlns:a="http://schemas.openxmlformats.org/drawingml/2006/main">
            <a:pPr algn="l">
              <a:defRPr sz="1875" b="0">
                <a:solidFill>
                  <a:srgbClr val="272729"/>
                </a:solidFill>
                <a:latin typeface="Arial"/>
                <a:ea typeface="Arial"/>
                <a:cs typeface="Arial"/>
              </a:defRPr>
            </a:pPr>
            <a:r>
              <a:rPr sz="1875" b="0">
                <a:solidFill>
                  <a:srgbClr val="272729"/>
                </a:solidFill>
                <a:latin typeface="Arial"/>
                <a:ea typeface="Arial"/>
                <a:cs typeface="Arial"/>
              </a:rPr>
              <a:t>Inactive ReLU units still have zero gradient.</a:t>
            </a:r>
          </a:p>
        </p:txBody>
      </p:sp>
      <p:sp>
        <p:nvSpPr>
          <p:cNvPr id="7" name="">
            <a:extLst xmlns:a="http://schemas.openxmlformats.org/drawingml/2006/main">
              <a:ext uri="{FF2B5EF4-FFF2-40B4-BE49-F238E27FC236}">
                <a16:creationId xmlns:a16="http://schemas.microsoft.com/office/drawing/2014/main" id="{2D67B244-FBF7-4EC6-867F-F74AD9B18468}"/>
              </a:ext>
            </a:extLst>
          </p:cNvPr>
          <p:cNvSpPr>
            <a:spLocks xmlns:a="http://schemas.openxmlformats.org/drawingml/2006/main" noGrp="1"/>
          </p:cNvSpPr>
          <p:nvPr/>
        </p:nvSpPr>
        <p:spPr>
          <a:xfrm xmlns:a="http://schemas.openxmlformats.org/drawingml/2006/main">
            <a:off x="809625" y="3781425"/>
            <a:ext cx="5048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272729"/>
                </a:solidFill>
                <a:latin typeface="Arial"/>
                <a:ea typeface="Arial"/>
                <a:cs typeface="Arial"/>
              </a:defRPr>
            </a:pPr>
            <a:r>
              <a:rPr sz="1875" b="0">
                <a:solidFill>
                  <a:srgbClr val="272729"/>
                </a:solidFill>
                <a:latin typeface="Arial"/>
                <a:ea typeface="Arial"/>
                <a:cs typeface="Arial"/>
              </a:rPr>
              <a:t>Suitable initialization helps preserve scale:</a:t>
            </a:r>
          </a:p>
          <a:p xmlns:a="http://schemas.openxmlformats.org/drawingml/2006/main">
            <a:pPr algn="l">
              <a:defRPr sz="1875" b="0">
                <a:solidFill>
                  <a:srgbClr val="272729"/>
                </a:solidFill>
                <a:latin typeface="Arial"/>
                <a:ea typeface="Arial"/>
                <a:cs typeface="Arial"/>
              </a:defRPr>
            </a:pPr>
            <a:r>
              <a:rPr sz="1875" b="0">
                <a:solidFill>
                  <a:srgbClr val="272729"/>
                </a:solidFill>
                <a:latin typeface="Arial"/>
                <a:ea typeface="Arial"/>
                <a:cs typeface="Arial"/>
              </a:rPr>
              <a:t>He for ReLU, Xavier for tanh.</a:t>
            </a:r>
          </a:p>
        </p:txBody>
      </p:sp>
      <p:sp>
        <p:nvSpPr>
          <p:cNvPr id="8" name="">
            <a:extLst xmlns:a="http://schemas.openxmlformats.org/drawingml/2006/main">
              <a:ext uri="{FF2B5EF4-FFF2-40B4-BE49-F238E27FC236}">
                <a16:creationId xmlns:a16="http://schemas.microsoft.com/office/drawing/2014/main" id="{7907AD02-0A2F-471A-9857-785CAD24BD82}"/>
              </a:ext>
            </a:extLst>
          </p:cNvPr>
          <p:cNvSpPr>
            <a:spLocks xmlns:a="http://schemas.openxmlformats.org/drawingml/2006/main" noGrp="1"/>
          </p:cNvSpPr>
          <p:nvPr/>
        </p:nvSpPr>
        <p:spPr>
          <a:xfrm xmlns:a="http://schemas.openxmlformats.org/drawingml/2006/main">
            <a:off x="809625" y="4914900"/>
            <a:ext cx="5048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272729"/>
                </a:solidFill>
                <a:latin typeface="Arial"/>
                <a:ea typeface="Arial"/>
                <a:cs typeface="Arial"/>
              </a:defRPr>
            </a:pPr>
            <a:r>
              <a:rPr sz="1875" b="0">
                <a:solidFill>
                  <a:srgbClr val="272729"/>
                </a:solidFill>
                <a:latin typeface="Arial"/>
                <a:ea typeface="Arial"/>
                <a:cs typeface="Arial"/>
              </a:rPr>
              <a:t>Residual connections provide</a:t>
            </a:r>
          </a:p>
          <a:p xmlns:a="http://schemas.openxmlformats.org/drawingml/2006/main">
            <a:pPr algn="l">
              <a:defRPr sz="1875" b="0">
                <a:solidFill>
                  <a:srgbClr val="272729"/>
                </a:solidFill>
                <a:latin typeface="Arial"/>
                <a:ea typeface="Arial"/>
                <a:cs typeface="Arial"/>
              </a:defRPr>
            </a:pPr>
            <a:r>
              <a:rPr sz="1875" b="0">
                <a:solidFill>
                  <a:srgbClr val="272729"/>
                </a:solidFill>
                <a:latin typeface="Arial"/>
                <a:ea typeface="Arial"/>
                <a:cs typeface="Arial"/>
              </a:rPr>
              <a:t>shorter paths for the backward signal.</a:t>
            </a:r>
          </a:p>
        </p:txBody>
      </p:sp>
      <p:sp>
        <p:nvSpPr>
          <p:cNvPr id="9" name="">
            <a:extLst xmlns:a="http://schemas.openxmlformats.org/drawingml/2006/main">
              <a:ext uri="{FF2B5EF4-FFF2-40B4-BE49-F238E27FC236}">
                <a16:creationId xmlns:a16="http://schemas.microsoft.com/office/drawing/2014/main" id="{813E594D-C777-4B5E-ADC6-9284CC15B105}"/>
              </a:ext>
            </a:extLst>
          </p:cNvPr>
          <p:cNvSpPr>
            <a:spLocks xmlns:a="http://schemas.openxmlformats.org/drawingml/2006/main" noGrp="1"/>
          </p:cNvSpPr>
          <p:nvPr/>
        </p:nvSpPr>
        <p:spPr>
          <a:xfrm xmlns:a="http://schemas.openxmlformats.org/drawingml/2006/main">
            <a:off x="6572250" y="1952625"/>
            <a:ext cx="4857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A45F57"/>
                </a:solidFill>
                <a:latin typeface="Chalkboard"/>
                <a:ea typeface="Chalkboard"/>
                <a:cs typeface="Chalkboard"/>
              </a:defRPr>
            </a:pPr>
            <a:r>
              <a:rPr sz="2325" b="1">
                <a:solidFill>
                  <a:srgbClr val="A45F57"/>
                </a:solidFill>
                <a:latin typeface="Chalkboard"/>
                <a:ea typeface="Chalkboard"/>
                <a:cs typeface="Chalkboard"/>
              </a:rPr>
              <a:t>When gradients explode</a:t>
            </a:r>
          </a:p>
        </p:txBody>
      </p:sp>
      <p:sp>
        <p:nvSpPr>
          <p:cNvPr id="10" name="">
            <a:extLst xmlns:a="http://schemas.openxmlformats.org/drawingml/2006/main">
              <a:ext uri="{FF2B5EF4-FFF2-40B4-BE49-F238E27FC236}">
                <a16:creationId xmlns:a16="http://schemas.microsoft.com/office/drawing/2014/main" id="{CE9A60AB-9643-4164-92BC-A6C13697E01A}"/>
              </a:ext>
            </a:extLst>
          </p:cNvPr>
          <p:cNvSpPr>
            <a:spLocks xmlns:a="http://schemas.openxmlformats.org/drawingml/2006/main" noGrp="1"/>
          </p:cNvSpPr>
          <p:nvPr/>
        </p:nvSpPr>
        <p:spPr>
          <a:xfrm xmlns:a="http://schemas.openxmlformats.org/drawingml/2006/main">
            <a:off x="6572250" y="2676525"/>
            <a:ext cx="4857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272729"/>
                </a:solidFill>
                <a:latin typeface="Arial"/>
                <a:ea typeface="Arial"/>
                <a:cs typeface="Arial"/>
              </a:defRPr>
            </a:pPr>
            <a:r>
              <a:rPr sz="1875" b="0">
                <a:solidFill>
                  <a:srgbClr val="272729"/>
                </a:solidFill>
                <a:latin typeface="Arial"/>
                <a:ea typeface="Arial"/>
                <a:cs typeface="Arial"/>
              </a:rPr>
              <a:t>Gradient clipping limits large gradients</a:t>
            </a:r>
          </a:p>
          <a:p xmlns:a="http://schemas.openxmlformats.org/drawingml/2006/main">
            <a:pPr algn="l">
              <a:defRPr sz="1875" b="0">
                <a:solidFill>
                  <a:srgbClr val="272729"/>
                </a:solidFill>
                <a:latin typeface="Arial"/>
                <a:ea typeface="Arial"/>
                <a:cs typeface="Arial"/>
              </a:defRPr>
            </a:pPr>
            <a:r>
              <a:rPr sz="1875" b="0">
                <a:solidFill>
                  <a:srgbClr val="272729"/>
                </a:solidFill>
                <a:latin typeface="Arial"/>
                <a:ea typeface="Arial"/>
                <a:cs typeface="Arial"/>
              </a:rPr>
              <a:t>before the update.</a:t>
            </a:r>
          </a:p>
        </p:txBody>
      </p:sp>
      <p:sp>
        <p:nvSpPr>
          <p:cNvPr id="11" name="">
            <a:extLst xmlns:a="http://schemas.openxmlformats.org/drawingml/2006/main">
              <a:ext uri="{FF2B5EF4-FFF2-40B4-BE49-F238E27FC236}">
                <a16:creationId xmlns:a16="http://schemas.microsoft.com/office/drawing/2014/main" id="{6838A375-1724-49B3-98FE-E0E3DD437356}"/>
              </a:ext>
            </a:extLst>
          </p:cNvPr>
          <p:cNvSpPr>
            <a:spLocks xmlns:a="http://schemas.openxmlformats.org/drawingml/2006/main" noGrp="1"/>
          </p:cNvSpPr>
          <p:nvPr/>
        </p:nvSpPr>
        <p:spPr>
          <a:xfrm xmlns:a="http://schemas.openxmlformats.org/drawingml/2006/main">
            <a:off x="6572250" y="3781425"/>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272729"/>
                </a:solidFill>
                <a:latin typeface="Arial"/>
                <a:ea typeface="Arial"/>
                <a:cs typeface="Arial"/>
              </a:defRPr>
            </a:pPr>
            <a:r>
              <a:rPr sz="1875" b="0">
                <a:solidFill>
                  <a:srgbClr val="272729"/>
                </a:solidFill>
                <a:latin typeface="Arial"/>
                <a:ea typeface="Arial"/>
                <a:cs typeface="Arial"/>
              </a:rPr>
              <a:t>A smaller learning rate reduces step size.</a:t>
            </a:r>
          </a:p>
          <a:p xmlns:a="http://schemas.openxmlformats.org/drawingml/2006/main">
            <a:pPr algn="l">
              <a:defRPr sz="1875" b="0">
                <a:solidFill>
                  <a:srgbClr val="272729"/>
                </a:solidFill>
                <a:latin typeface="Arial"/>
                <a:ea typeface="Arial"/>
                <a:cs typeface="Arial"/>
              </a:defRPr>
            </a:pPr>
            <a:r>
              <a:rPr sz="1875" b="0">
                <a:solidFill>
                  <a:srgbClr val="272729"/>
                </a:solidFill>
                <a:latin typeface="Arial"/>
                <a:ea typeface="Arial"/>
                <a:cs typeface="Arial"/>
              </a:rPr>
              <a:t>Check initialization and activation scale.</a:t>
            </a:r>
          </a:p>
        </p:txBody>
      </p:sp>
      <p:sp>
        <p:nvSpPr>
          <p:cNvPr id="12" name="">
            <a:extLst xmlns:a="http://schemas.openxmlformats.org/drawingml/2006/main">
              <a:ext uri="{FF2B5EF4-FFF2-40B4-BE49-F238E27FC236}">
                <a16:creationId xmlns:a16="http://schemas.microsoft.com/office/drawing/2014/main" id="{68C1F5A3-C1E9-4274-B9A6-3B1FFB5733E7}"/>
              </a:ext>
            </a:extLst>
          </p:cNvPr>
          <p:cNvSpPr>
            <a:spLocks xmlns:a="http://schemas.openxmlformats.org/drawingml/2006/main" noGrp="1"/>
          </p:cNvSpPr>
          <p:nvPr/>
        </p:nvSpPr>
        <p:spPr>
          <a:xfrm xmlns:a="http://schemas.openxmlformats.org/drawingml/2006/main">
            <a:off x="6572250" y="4914900"/>
            <a:ext cx="4857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272729"/>
                </a:solidFill>
                <a:latin typeface="Arial"/>
                <a:ea typeface="Arial"/>
                <a:cs typeface="Arial"/>
              </a:defRPr>
            </a:pPr>
            <a:r>
              <a:rPr sz="1800" b="0">
                <a:solidFill>
                  <a:srgbClr val="272729"/>
                </a:solidFill>
                <a:latin typeface="Arial"/>
                <a:ea typeface="Arial"/>
                <a:cs typeface="Arial"/>
              </a:rPr>
              <a:t>Track gradient norms and loss together.</a:t>
            </a:r>
          </a:p>
          <a:p xmlns:a="http://schemas.openxmlformats.org/drawingml/2006/main">
            <a:pPr algn="l">
              <a:defRPr sz="1800" b="0">
                <a:solidFill>
                  <a:srgbClr val="272729"/>
                </a:solidFill>
                <a:latin typeface="Arial"/>
                <a:ea typeface="Arial"/>
                <a:cs typeface="Arial"/>
              </a:defRPr>
            </a:pPr>
            <a:r>
              <a:rPr sz="1800" b="0">
                <a:solidFill>
                  <a:srgbClr val="272729"/>
                </a:solidFill>
                <a:latin typeface="Arial"/>
                <a:ea typeface="Arial"/>
                <a:cs typeface="Arial"/>
              </a:rPr>
              <a:t>Loss spikes alone do not identify the cause.</a:t>
            </a:r>
          </a:p>
        </p:txBody>
      </p:sp>
    </p:spTree>
    <p:extLst>
      <p:ext uri="{BB962C8B-B14F-4D97-AF65-F5344CB8AC3E}">
        <p14:creationId xmlns:p14="http://schemas.microsoft.com/office/powerpoint/2010/main" val="43797998"/>
      </p:ext>
    </p:extLst>
  </p:cSld>
</p:sld>
</file>

<file path=ppt/slides/slide31.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10" name="">
            <a:extLst xmlns:a="http://schemas.openxmlformats.org/drawingml/2006/main">
              <a:ext uri="{FF2B5EF4-FFF2-40B4-BE49-F238E27FC236}">
                <a16:creationId xmlns:a16="http://schemas.microsoft.com/office/drawing/2014/main" id="{EC2CDFCD-D222-4CF3-8E02-7886AC3442E2}"/>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Why sigmoid saturation weakens gradients</a:t>
            </a:r>
          </a:p>
        </p:txBody>
      </p:sp>
      <p:sp>
        <p:nvSpPr>
          <p:cNvPr id="2" name="">
            <a:extLst xmlns:a="http://schemas.openxmlformats.org/drawingml/2006/main">
              <a:ext uri="{FF2B5EF4-FFF2-40B4-BE49-F238E27FC236}">
                <a16:creationId xmlns:a16="http://schemas.microsoft.com/office/drawing/2014/main" id="{052A607E-0F53-4177-8A0D-E95A3865B48F}"/>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A sigmoid hidden unit becomes less sensitive when its input is far from zero.</a:t>
            </a:r>
          </a:p>
        </p:txBody>
      </p:sp>
      <p:sp>
        <p:nvSpPr>
          <p:cNvPr id="3" name="">
            <a:extLst xmlns:a="http://schemas.openxmlformats.org/drawingml/2006/main">
              <a:ext uri="{FF2B5EF4-FFF2-40B4-BE49-F238E27FC236}">
                <a16:creationId xmlns:a16="http://schemas.microsoft.com/office/drawing/2014/main" id="{7BAF56FB-8F3A-4F81-8EB6-DE5ABB4E2E8E}"/>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σ′(z) = σ(z)[1 − σ(z)] reaches 0.25 at z = 0 and approaches zero at either end.</a:t>
            </a:r>
          </a:p>
        </p:txBody>
      </p:sp>
      <p:sp>
        <p:nvSpPr>
          <p:cNvPr id="4" name="">
            <a:extLst xmlns:a="http://schemas.openxmlformats.org/drawingml/2006/main">
              <a:ext uri="{FF2B5EF4-FFF2-40B4-BE49-F238E27FC236}">
                <a16:creationId xmlns:a16="http://schemas.microsoft.com/office/drawing/2014/main" id="{2682EFA9-0D58-4216-A002-8F860FEC0D56}"/>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24</a:t>
            </a:r>
          </a:p>
        </p:txBody>
      </p:sp>
      <p:graphicFrame>
        <p:nvGraphicFramePr>
          <p:cNvPr id="14" name="Chart"/>
          <p:cNvGraphicFramePr/>
          <p:nvPr/>
        </p:nvGraphicFramePr>
        <p:xfrm>
          <a:off xmlns:a="http://schemas.openxmlformats.org/drawingml/2006/main" x="714375" y="2047875"/>
          <a:ext xmlns:a="http://schemas.openxmlformats.org/drawingml/2006/main" cx="6924675" cy="3333750"/>
        </p:xfrm>
        <a:graphic xmlns:a="http://schemas.openxmlformats.org/drawingml/2006/main">
          <a:graphicData uri="http://schemas.openxmlformats.org/drawingml/2006/chart">
            <c:chart xmlns:r="http://schemas.openxmlformats.org/officeDocument/2006/relationships" xmlns:c="http://schemas.openxmlformats.org/drawingml/2006/chart" r:id="R6c2a69b4ef114b14"/>
          </a:graphicData>
        </a:graphic>
      </p:graphicFrame>
      <p:sp>
        <p:nvSpPr>
          <p:cNvPr id="6" name="">
            <a:extLst xmlns:a="http://schemas.openxmlformats.org/drawingml/2006/main">
              <a:ext uri="{FF2B5EF4-FFF2-40B4-BE49-F238E27FC236}">
                <a16:creationId xmlns:a16="http://schemas.microsoft.com/office/drawing/2014/main" id="{5DC65FC4-0ED6-47B6-8720-09C654E079A3}"/>
              </a:ext>
            </a:extLst>
          </p:cNvPr>
          <p:cNvSpPr>
            <a:spLocks xmlns:a="http://schemas.openxmlformats.org/drawingml/2006/main" noGrp="1"/>
          </p:cNvSpPr>
          <p:nvPr/>
        </p:nvSpPr>
        <p:spPr>
          <a:xfrm xmlns:a="http://schemas.openxmlformats.org/drawingml/2006/main">
            <a:off x="8086725" y="2085975"/>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250" b="1">
                <a:solidFill>
                  <a:srgbClr val="287B95"/>
                </a:solidFill>
                <a:latin typeface="Chalkboard"/>
                <a:ea typeface="Chalkboard"/>
                <a:cs typeface="Chalkboard"/>
              </a:defRPr>
            </a:pPr>
            <a:r>
              <a:rPr sz="2250" b="1">
                <a:solidFill>
                  <a:srgbClr val="287B95"/>
                </a:solidFill>
                <a:latin typeface="Chalkboard"/>
                <a:ea typeface="Chalkboard"/>
                <a:cs typeface="Chalkboard"/>
              </a:rPr>
              <a:t>At z = 0</a:t>
            </a:r>
          </a:p>
        </p:txBody>
      </p:sp>
      <p:sp>
        <p:nvSpPr>
          <p:cNvPr id="7" name="">
            <a:extLst xmlns:a="http://schemas.openxmlformats.org/drawingml/2006/main">
              <a:ext uri="{FF2B5EF4-FFF2-40B4-BE49-F238E27FC236}">
                <a16:creationId xmlns:a16="http://schemas.microsoft.com/office/drawing/2014/main" id="{E9D5130C-D793-47FB-913C-9AC734CB28C3}"/>
              </a:ext>
            </a:extLst>
          </p:cNvPr>
          <p:cNvSpPr>
            <a:spLocks xmlns:a="http://schemas.openxmlformats.org/drawingml/2006/main" noGrp="1"/>
          </p:cNvSpPr>
          <p:nvPr/>
        </p:nvSpPr>
        <p:spPr>
          <a:xfrm xmlns:a="http://schemas.openxmlformats.org/drawingml/2006/main">
            <a:off x="8086725" y="2676525"/>
            <a:ext cx="323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272729"/>
                </a:solidFill>
                <a:latin typeface="Arial"/>
                <a:ea typeface="Arial"/>
                <a:cs typeface="Arial"/>
              </a:defRPr>
            </a:pPr>
            <a:r>
              <a:rPr sz="2025" b="0">
                <a:solidFill>
                  <a:srgbClr val="272729"/>
                </a:solidFill>
                <a:latin typeface="Arial"/>
                <a:ea typeface="Arial"/>
                <a:cs typeface="Arial"/>
              </a:rPr>
              <a:t>σ = 0.5</a:t>
            </a:r>
          </a:p>
          <a:p xmlns:a="http://schemas.openxmlformats.org/drawingml/2006/main">
            <a:pPr algn="l">
              <a:defRPr sz="2025" b="0">
                <a:solidFill>
                  <a:srgbClr val="272729"/>
                </a:solidFill>
                <a:latin typeface="Arial"/>
                <a:ea typeface="Arial"/>
                <a:cs typeface="Arial"/>
              </a:defRPr>
            </a:pPr>
            <a:r>
              <a:rPr sz="2025" b="0">
                <a:solidFill>
                  <a:srgbClr val="272729"/>
                </a:solidFill>
                <a:latin typeface="Arial"/>
                <a:ea typeface="Arial"/>
                <a:cs typeface="Arial"/>
              </a:rPr>
              <a:t>σ′ = 0.25</a:t>
            </a:r>
          </a:p>
        </p:txBody>
      </p:sp>
      <p:sp>
        <p:nvSpPr>
          <p:cNvPr id="8" name="">
            <a:extLst xmlns:a="http://schemas.openxmlformats.org/drawingml/2006/main">
              <a:ext uri="{FF2B5EF4-FFF2-40B4-BE49-F238E27FC236}">
                <a16:creationId xmlns:a16="http://schemas.microsoft.com/office/drawing/2014/main" id="{1E3856BF-8E89-40F6-83E5-A75719CC735E}"/>
              </a:ext>
            </a:extLst>
          </p:cNvPr>
          <p:cNvSpPr>
            <a:spLocks xmlns:a="http://schemas.openxmlformats.org/drawingml/2006/main" noGrp="1"/>
          </p:cNvSpPr>
          <p:nvPr/>
        </p:nvSpPr>
        <p:spPr>
          <a:xfrm xmlns:a="http://schemas.openxmlformats.org/drawingml/2006/main">
            <a:off x="8086725" y="3781425"/>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250" b="1">
                <a:solidFill>
                  <a:srgbClr val="A45F57"/>
                </a:solidFill>
                <a:latin typeface="Chalkboard"/>
                <a:ea typeface="Chalkboard"/>
                <a:cs typeface="Chalkboard"/>
              </a:defRPr>
            </a:pPr>
            <a:r>
              <a:rPr sz="2250" b="1">
                <a:solidFill>
                  <a:srgbClr val="A45F57"/>
                </a:solidFill>
                <a:latin typeface="Chalkboard"/>
                <a:ea typeface="Chalkboard"/>
                <a:cs typeface="Chalkboard"/>
              </a:rPr>
              <a:t>At z = 5</a:t>
            </a:r>
          </a:p>
        </p:txBody>
      </p:sp>
      <p:sp>
        <p:nvSpPr>
          <p:cNvPr id="9" name="">
            <a:extLst xmlns:a="http://schemas.openxmlformats.org/drawingml/2006/main">
              <a:ext uri="{FF2B5EF4-FFF2-40B4-BE49-F238E27FC236}">
                <a16:creationId xmlns:a16="http://schemas.microsoft.com/office/drawing/2014/main" id="{75A9674A-B02B-49F9-9856-D38439C9C3D8}"/>
              </a:ext>
            </a:extLst>
          </p:cNvPr>
          <p:cNvSpPr>
            <a:spLocks xmlns:a="http://schemas.openxmlformats.org/drawingml/2006/main" noGrp="1"/>
          </p:cNvSpPr>
          <p:nvPr/>
        </p:nvSpPr>
        <p:spPr>
          <a:xfrm xmlns:a="http://schemas.openxmlformats.org/drawingml/2006/main">
            <a:off x="8086725" y="4371975"/>
            <a:ext cx="323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272729"/>
                </a:solidFill>
                <a:latin typeface="Arial"/>
                <a:ea typeface="Arial"/>
                <a:cs typeface="Arial"/>
              </a:defRPr>
            </a:pPr>
            <a:r>
              <a:rPr sz="2025" b="0">
                <a:solidFill>
                  <a:srgbClr val="272729"/>
                </a:solidFill>
                <a:latin typeface="Arial"/>
                <a:ea typeface="Arial"/>
                <a:cs typeface="Arial"/>
              </a:rPr>
              <a:t>σ ≈ 0.9933</a:t>
            </a:r>
          </a:p>
          <a:p xmlns:a="http://schemas.openxmlformats.org/drawingml/2006/main">
            <a:pPr algn="l">
              <a:defRPr sz="2025" b="0">
                <a:solidFill>
                  <a:srgbClr val="272729"/>
                </a:solidFill>
                <a:latin typeface="Arial"/>
                <a:ea typeface="Arial"/>
                <a:cs typeface="Arial"/>
              </a:defRPr>
            </a:pPr>
            <a:r>
              <a:rPr sz="2025" b="0">
                <a:solidFill>
                  <a:srgbClr val="272729"/>
                </a:solidFill>
                <a:latin typeface="Arial"/>
                <a:ea typeface="Arial"/>
                <a:cs typeface="Arial"/>
              </a:rPr>
              <a:t>σ′ ≈ 0.0066</a:t>
            </a:r>
          </a:p>
        </p:txBody>
      </p:sp>
    </p:spTree>
    <p:extLst>
      <p:ext uri="{BB962C8B-B14F-4D97-AF65-F5344CB8AC3E}">
        <p14:creationId xmlns:p14="http://schemas.microsoft.com/office/powerpoint/2010/main" val="291784697"/>
      </p:ext>
    </p:extLst>
  </p:cSld>
</p:sld>
</file>

<file path=ppt/slides/slide32.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13" name="">
            <a:extLst xmlns:a="http://schemas.openxmlformats.org/drawingml/2006/main">
              <a:ext uri="{FF2B5EF4-FFF2-40B4-BE49-F238E27FC236}">
                <a16:creationId xmlns:a16="http://schemas.microsoft.com/office/drawing/2014/main" id="{68F925D7-FE41-450A-B568-5E6AF9BE8D73}"/>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Residual connections and gradient flow</a:t>
            </a:r>
          </a:p>
        </p:txBody>
      </p:sp>
      <p:sp>
        <p:nvSpPr>
          <p:cNvPr id="2" name="">
            <a:extLst xmlns:a="http://schemas.openxmlformats.org/drawingml/2006/main">
              <a:ext uri="{FF2B5EF4-FFF2-40B4-BE49-F238E27FC236}">
                <a16:creationId xmlns:a16="http://schemas.microsoft.com/office/drawing/2014/main" id="{59B9EFBB-2991-4883-B273-7DF5DC7DC480}"/>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An identity shortcut adds the input directly to a learned transformation.</a:t>
            </a:r>
          </a:p>
        </p:txBody>
      </p:sp>
      <p:sp>
        <p:nvSpPr>
          <p:cNvPr id="3" name="">
            <a:extLst xmlns:a="http://schemas.openxmlformats.org/drawingml/2006/main">
              <a:ext uri="{FF2B5EF4-FFF2-40B4-BE49-F238E27FC236}">
                <a16:creationId xmlns:a16="http://schemas.microsoft.com/office/drawing/2014/main" id="{5DDDB8B8-0585-4ED4-B5F7-D6AA9A71A532}"/>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The identity path adds a gradient route, but it does not guarantee stable training.</a:t>
            </a:r>
          </a:p>
        </p:txBody>
      </p:sp>
      <p:sp>
        <p:nvSpPr>
          <p:cNvPr id="4" name="">
            <a:extLst xmlns:a="http://schemas.openxmlformats.org/drawingml/2006/main">
              <a:ext uri="{FF2B5EF4-FFF2-40B4-BE49-F238E27FC236}">
                <a16:creationId xmlns:a16="http://schemas.microsoft.com/office/drawing/2014/main" id="{4C03B699-4FB3-46C9-8EBF-84E607C95324}"/>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28</a:t>
            </a:r>
          </a:p>
        </p:txBody>
      </p:sp>
      <p:sp>
        <p:nvSpPr>
          <p:cNvPr id="5" name="">
            <a:extLst xmlns:a="http://schemas.openxmlformats.org/drawingml/2006/main">
              <a:ext uri="{FF2B5EF4-FFF2-40B4-BE49-F238E27FC236}">
                <a16:creationId xmlns:a16="http://schemas.microsoft.com/office/drawing/2014/main" id="{2D75E536-6C48-40ED-B3D6-8F590729D46E}"/>
              </a:ext>
            </a:extLst>
          </p:cNvPr>
          <p:cNvSpPr>
            <a:spLocks xmlns:a="http://schemas.openxmlformats.org/drawingml/2006/main" noGrp="1"/>
          </p:cNvSpPr>
          <p:nvPr/>
        </p:nvSpPr>
        <p:spPr>
          <a:xfrm xmlns:a="http://schemas.openxmlformats.org/drawingml/2006/main">
            <a:off x="809625" y="1971675"/>
            <a:ext cx="4953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400" b="1">
                <a:solidFill>
                  <a:srgbClr val="A45F57"/>
                </a:solidFill>
                <a:latin typeface="Chalkboard"/>
                <a:ea typeface="Chalkboard"/>
                <a:cs typeface="Chalkboard"/>
              </a:defRPr>
            </a:pPr>
            <a:r>
              <a:rPr sz="2400" b="1">
                <a:solidFill>
                  <a:srgbClr val="A45F57"/>
                </a:solidFill>
                <a:latin typeface="Chalkboard"/>
                <a:ea typeface="Chalkboard"/>
                <a:cs typeface="Chalkboard"/>
              </a:rPr>
              <a:t>Plain transformation</a:t>
            </a:r>
          </a:p>
        </p:txBody>
      </p:sp>
      <p:sp>
        <p:nvSpPr>
          <p:cNvPr id="6" name="">
            <a:extLst xmlns:a="http://schemas.openxmlformats.org/drawingml/2006/main">
              <a:ext uri="{FF2B5EF4-FFF2-40B4-BE49-F238E27FC236}">
                <a16:creationId xmlns:a16="http://schemas.microsoft.com/office/drawing/2014/main" id="{94D5AAD2-4DC0-470F-A4FC-42A26B7605E9}"/>
              </a:ext>
            </a:extLst>
          </p:cNvPr>
          <p:cNvSpPr>
            <a:spLocks xmlns:a="http://schemas.openxmlformats.org/drawingml/2006/main" noGrp="1"/>
          </p:cNvSpPr>
          <p:nvPr/>
        </p:nvSpPr>
        <p:spPr>
          <a:xfrm xmlns:a="http://schemas.openxmlformats.org/drawingml/2006/main">
            <a:off x="809625" y="2790825"/>
            <a:ext cx="4953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A45F57"/>
                </a:solidFill>
                <a:latin typeface="Chalkboard"/>
                <a:ea typeface="Chalkboard"/>
                <a:cs typeface="Chalkboard"/>
              </a:defRPr>
            </a:pPr>
            <a:r>
              <a:rPr sz="2700" b="1">
                <a:solidFill>
                  <a:srgbClr val="A45F57"/>
                </a:solidFill>
                <a:latin typeface="Chalkboard"/>
                <a:ea typeface="Chalkboard"/>
                <a:cs typeface="Chalkboard"/>
              </a:rPr>
              <a:t>y = F(x)</a:t>
            </a:r>
          </a:p>
        </p:txBody>
      </p:sp>
      <p:sp>
        <p:nvSpPr>
          <p:cNvPr id="7" name="">
            <a:extLst xmlns:a="http://schemas.openxmlformats.org/drawingml/2006/main">
              <a:ext uri="{FF2B5EF4-FFF2-40B4-BE49-F238E27FC236}">
                <a16:creationId xmlns:a16="http://schemas.microsoft.com/office/drawing/2014/main" id="{D4F5B1E0-97BE-4660-B7D9-9583F774059D}"/>
              </a:ext>
            </a:extLst>
          </p:cNvPr>
          <p:cNvSpPr>
            <a:spLocks xmlns:a="http://schemas.openxmlformats.org/drawingml/2006/main" noGrp="1"/>
          </p:cNvSpPr>
          <p:nvPr/>
        </p:nvSpPr>
        <p:spPr>
          <a:xfrm xmlns:a="http://schemas.openxmlformats.org/drawingml/2006/main">
            <a:off x="809625" y="3705225"/>
            <a:ext cx="4953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272729"/>
                </a:solidFill>
                <a:latin typeface="Arial"/>
                <a:ea typeface="Arial"/>
                <a:cs typeface="Arial"/>
              </a:defRPr>
            </a:pPr>
            <a:r>
              <a:rPr sz="2025" b="0">
                <a:solidFill>
                  <a:srgbClr val="272729"/>
                </a:solidFill>
                <a:latin typeface="Arial"/>
                <a:ea typeface="Arial"/>
                <a:cs typeface="Arial"/>
              </a:rPr>
              <a:t>Local derivative: F′(x)</a:t>
            </a:r>
          </a:p>
        </p:txBody>
      </p:sp>
      <p:sp>
        <p:nvSpPr>
          <p:cNvPr id="8" name="">
            <a:extLst xmlns:a="http://schemas.openxmlformats.org/drawingml/2006/main">
              <a:ext uri="{FF2B5EF4-FFF2-40B4-BE49-F238E27FC236}">
                <a16:creationId xmlns:a16="http://schemas.microsoft.com/office/drawing/2014/main" id="{2A08060B-28A8-49BB-B758-BC79D4103BBF}"/>
              </a:ext>
            </a:extLst>
          </p:cNvPr>
          <p:cNvSpPr>
            <a:spLocks xmlns:a="http://schemas.openxmlformats.org/drawingml/2006/main" noGrp="1"/>
          </p:cNvSpPr>
          <p:nvPr/>
        </p:nvSpPr>
        <p:spPr>
          <a:xfrm xmlns:a="http://schemas.openxmlformats.org/drawingml/2006/main">
            <a:off x="809625" y="4676775"/>
            <a:ext cx="4953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272729"/>
                </a:solidFill>
                <a:latin typeface="Arial"/>
                <a:ea typeface="Arial"/>
                <a:cs typeface="Arial"/>
              </a:defRPr>
            </a:pPr>
            <a:r>
              <a:rPr sz="1875" b="0">
                <a:solidFill>
                  <a:srgbClr val="272729"/>
                </a:solidFill>
                <a:latin typeface="Arial"/>
                <a:ea typeface="Arial"/>
                <a:cs typeface="Arial"/>
              </a:rPr>
              <a:t>Example: F′(x) = 0.01</a:t>
            </a:r>
          </a:p>
          <a:p xmlns:a="http://schemas.openxmlformats.org/drawingml/2006/main">
            <a:pPr algn="l">
              <a:defRPr sz="1875" b="0">
                <a:solidFill>
                  <a:srgbClr val="272729"/>
                </a:solidFill>
                <a:latin typeface="Arial"/>
                <a:ea typeface="Arial"/>
                <a:cs typeface="Arial"/>
              </a:defRPr>
            </a:pPr>
            <a:r>
              <a:rPr sz="1875" b="0">
                <a:solidFill>
                  <a:srgbClr val="272729"/>
                </a:solidFill>
                <a:latin typeface="Arial"/>
                <a:ea typeface="Arial"/>
                <a:cs typeface="Arial"/>
              </a:rPr>
              <a:t>The backward signal shrinks.</a:t>
            </a:r>
          </a:p>
        </p:txBody>
      </p:sp>
      <p:sp>
        <p:nvSpPr>
          <p:cNvPr id="9" name="">
            <a:extLst xmlns:a="http://schemas.openxmlformats.org/drawingml/2006/main">
              <a:ext uri="{FF2B5EF4-FFF2-40B4-BE49-F238E27FC236}">
                <a16:creationId xmlns:a16="http://schemas.microsoft.com/office/drawing/2014/main" id="{5DCF4FAB-7141-4AFD-A6D1-FFD2A0303C20}"/>
              </a:ext>
            </a:extLst>
          </p:cNvPr>
          <p:cNvSpPr>
            <a:spLocks xmlns:a="http://schemas.openxmlformats.org/drawingml/2006/main" noGrp="1"/>
          </p:cNvSpPr>
          <p:nvPr/>
        </p:nvSpPr>
        <p:spPr>
          <a:xfrm xmlns:a="http://schemas.openxmlformats.org/drawingml/2006/main">
            <a:off x="6572250" y="1971675"/>
            <a:ext cx="4857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287B95"/>
                </a:solidFill>
                <a:latin typeface="Chalkboard"/>
                <a:ea typeface="Chalkboard"/>
                <a:cs typeface="Chalkboard"/>
              </a:defRPr>
            </a:pPr>
            <a:r>
              <a:rPr sz="2325" b="1">
                <a:solidFill>
                  <a:srgbClr val="287B95"/>
                </a:solidFill>
                <a:latin typeface="Chalkboard"/>
                <a:ea typeface="Chalkboard"/>
                <a:cs typeface="Chalkboard"/>
              </a:rPr>
              <a:t>With an identity shortcut</a:t>
            </a:r>
          </a:p>
        </p:txBody>
      </p:sp>
      <p:sp>
        <p:nvSpPr>
          <p:cNvPr id="10" name="">
            <a:extLst xmlns:a="http://schemas.openxmlformats.org/drawingml/2006/main">
              <a:ext uri="{FF2B5EF4-FFF2-40B4-BE49-F238E27FC236}">
                <a16:creationId xmlns:a16="http://schemas.microsoft.com/office/drawing/2014/main" id="{23F38531-042C-4680-A71C-9F95C2E56B9F}"/>
              </a:ext>
            </a:extLst>
          </p:cNvPr>
          <p:cNvSpPr>
            <a:spLocks xmlns:a="http://schemas.openxmlformats.org/drawingml/2006/main" noGrp="1"/>
          </p:cNvSpPr>
          <p:nvPr/>
        </p:nvSpPr>
        <p:spPr>
          <a:xfrm xmlns:a="http://schemas.openxmlformats.org/drawingml/2006/main">
            <a:off x="6572250" y="2790825"/>
            <a:ext cx="4857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287B95"/>
                </a:solidFill>
                <a:latin typeface="Chalkboard"/>
                <a:ea typeface="Chalkboard"/>
                <a:cs typeface="Chalkboard"/>
              </a:defRPr>
            </a:pPr>
            <a:r>
              <a:rPr sz="2700" b="1">
                <a:solidFill>
                  <a:srgbClr val="287B95"/>
                </a:solidFill>
                <a:latin typeface="Chalkboard"/>
                <a:ea typeface="Chalkboard"/>
                <a:cs typeface="Chalkboard"/>
              </a:rPr>
              <a:t>y = x + F(x)</a:t>
            </a:r>
          </a:p>
        </p:txBody>
      </p:sp>
      <p:sp>
        <p:nvSpPr>
          <p:cNvPr id="11" name="">
            <a:extLst xmlns:a="http://schemas.openxmlformats.org/drawingml/2006/main">
              <a:ext uri="{FF2B5EF4-FFF2-40B4-BE49-F238E27FC236}">
                <a16:creationId xmlns:a16="http://schemas.microsoft.com/office/drawing/2014/main" id="{101A1A57-C565-4F90-BA91-261C89FBDFC9}"/>
              </a:ext>
            </a:extLst>
          </p:cNvPr>
          <p:cNvSpPr>
            <a:spLocks xmlns:a="http://schemas.openxmlformats.org/drawingml/2006/main" noGrp="1"/>
          </p:cNvSpPr>
          <p:nvPr/>
        </p:nvSpPr>
        <p:spPr>
          <a:xfrm xmlns:a="http://schemas.openxmlformats.org/drawingml/2006/main">
            <a:off x="6572250" y="3705225"/>
            <a:ext cx="4857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272729"/>
                </a:solidFill>
                <a:latin typeface="Arial"/>
                <a:ea typeface="Arial"/>
                <a:cs typeface="Arial"/>
              </a:defRPr>
            </a:pPr>
            <a:r>
              <a:rPr sz="2025" b="0">
                <a:solidFill>
                  <a:srgbClr val="272729"/>
                </a:solidFill>
                <a:latin typeface="Arial"/>
                <a:ea typeface="Arial"/>
                <a:cs typeface="Arial"/>
              </a:rPr>
              <a:t>Local derivative: 1 + F′(x)</a:t>
            </a:r>
          </a:p>
        </p:txBody>
      </p:sp>
      <p:sp>
        <p:nvSpPr>
          <p:cNvPr id="12" name="">
            <a:extLst xmlns:a="http://schemas.openxmlformats.org/drawingml/2006/main">
              <a:ext uri="{FF2B5EF4-FFF2-40B4-BE49-F238E27FC236}">
                <a16:creationId xmlns:a16="http://schemas.microsoft.com/office/drawing/2014/main" id="{338FB17F-8B3A-44D1-B7ED-8780CC17CAA8}"/>
              </a:ext>
            </a:extLst>
          </p:cNvPr>
          <p:cNvSpPr>
            <a:spLocks xmlns:a="http://schemas.openxmlformats.org/drawingml/2006/main" noGrp="1"/>
          </p:cNvSpPr>
          <p:nvPr/>
        </p:nvSpPr>
        <p:spPr>
          <a:xfrm xmlns:a="http://schemas.openxmlformats.org/drawingml/2006/main">
            <a:off x="6572250" y="4676775"/>
            <a:ext cx="4857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272729"/>
                </a:solidFill>
                <a:latin typeface="Arial"/>
                <a:ea typeface="Arial"/>
                <a:cs typeface="Arial"/>
              </a:defRPr>
            </a:pPr>
            <a:r>
              <a:rPr sz="1875" b="0">
                <a:solidFill>
                  <a:srgbClr val="272729"/>
                </a:solidFill>
                <a:latin typeface="Arial"/>
                <a:ea typeface="Arial"/>
                <a:cs typeface="Arial"/>
              </a:rPr>
              <a:t>Same example: 1 + 0.01 = 1.01</a:t>
            </a:r>
          </a:p>
          <a:p xmlns:a="http://schemas.openxmlformats.org/drawingml/2006/main">
            <a:pPr algn="l">
              <a:defRPr sz="1875" b="0">
                <a:solidFill>
                  <a:srgbClr val="272729"/>
                </a:solidFill>
                <a:latin typeface="Arial"/>
                <a:ea typeface="Arial"/>
                <a:cs typeface="Arial"/>
              </a:defRPr>
            </a:pPr>
            <a:r>
              <a:rPr sz="1875" b="0">
                <a:solidFill>
                  <a:srgbClr val="272729"/>
                </a:solidFill>
                <a:latin typeface="Arial"/>
                <a:ea typeface="Arial"/>
                <a:cs typeface="Arial"/>
              </a:rPr>
              <a:t>An additional path carries the gradient.</a:t>
            </a:r>
          </a:p>
        </p:txBody>
      </p:sp>
    </p:spTree>
    <p:extLst>
      <p:ext uri="{BB962C8B-B14F-4D97-AF65-F5344CB8AC3E}">
        <p14:creationId xmlns:p14="http://schemas.microsoft.com/office/powerpoint/2010/main" val="1649858293"/>
      </p:ext>
    </p:extLst>
  </p:cSld>
</p:sld>
</file>

<file path=ppt/slides/slide33.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7" name="">
            <a:extLst xmlns:a="http://schemas.openxmlformats.org/drawingml/2006/main">
              <a:ext uri="{FF2B5EF4-FFF2-40B4-BE49-F238E27FC236}">
                <a16:creationId xmlns:a16="http://schemas.microsoft.com/office/drawing/2014/main" id="{87102979-2058-4A8E-8C1A-BBD467CA1476}"/>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Diagnosing training problems</a:t>
            </a:r>
          </a:p>
        </p:txBody>
      </p:sp>
      <p:sp>
        <p:nvSpPr>
          <p:cNvPr id="2" name="">
            <a:extLst xmlns:a="http://schemas.openxmlformats.org/drawingml/2006/main">
              <a:ext uri="{FF2B5EF4-FFF2-40B4-BE49-F238E27FC236}">
                <a16:creationId xmlns:a16="http://schemas.microsoft.com/office/drawing/2014/main" id="{BB7ECFD8-7F52-47FA-B69F-6C5C2B4747D6}"/>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Compare the loss curve with gradient measurements before choosing a remedy.</a:t>
            </a:r>
          </a:p>
        </p:txBody>
      </p:sp>
      <p:sp>
        <p:nvSpPr>
          <p:cNvPr id="3" name="">
            <a:extLst xmlns:a="http://schemas.openxmlformats.org/drawingml/2006/main">
              <a:ext uri="{FF2B5EF4-FFF2-40B4-BE49-F238E27FC236}">
                <a16:creationId xmlns:a16="http://schemas.microsoft.com/office/drawing/2014/main" id="{D3876756-FCED-4631-9D71-F50178C8DB8C}"/>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Change one setting at a time and compare runs using the same validation procedure.</a:t>
            </a:r>
          </a:p>
        </p:txBody>
      </p:sp>
      <p:sp>
        <p:nvSpPr>
          <p:cNvPr id="4" name="">
            <a:extLst xmlns:a="http://schemas.openxmlformats.org/drawingml/2006/main">
              <a:ext uri="{FF2B5EF4-FFF2-40B4-BE49-F238E27FC236}">
                <a16:creationId xmlns:a16="http://schemas.microsoft.com/office/drawing/2014/main" id="{05DCC203-E882-4063-AF71-8D3C3DF817DC}"/>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29</a:t>
            </a:r>
          </a:p>
        </p:txBody>
      </p:sp>
      <p:graphicFrame>
        <p:nvGraphicFramePr>
          <p:cNvPr id="11" name=""/>
          <p:cNvGraphicFramePr/>
          <p:nvPr/>
        </p:nvGraphicFramePr>
        <p:xfrm>
          <a:off xmlns:a="http://schemas.openxmlformats.org/drawingml/2006/main" x="762000" y="2028825"/>
          <a:ext xmlns:a="http://schemas.openxmlformats.org/drawingml/2006/main" cx="10668000" cy="3219450"/>
        </p:xfrm>
        <a:graphic xmlns:a="http://schemas.openxmlformats.org/drawingml/2006/main">
          <a:graphicData uri="http://schemas.openxmlformats.org/drawingml/2006/table">
            <a:tbl>
              <a:tblPr/>
              <a:tblGrid>
                <a:gridCol w="3429000"/>
                <a:gridCol w="3238500"/>
                <a:gridCol w="4000500"/>
              </a:tblGrid>
              <a:tr h="804863">
                <a:tc>
                  <a:txBody>
                    <a:bodyPr/>
                    <a:lstStyle/>
                    <a:p>
                      <a:r>
                        <a:rPr sz="1875" b="1">
                          <a:solidFill>
                            <a:srgbClr val="287B95"/>
                          </a:solidFill>
                          <a:latin typeface="Arial"/>
                          <a:ea typeface="Arial"/>
                          <a:cs typeface="Arial"/>
                        </a:rPr>
                        <a:t>Observation</a:t>
                      </a:r>
                    </a:p>
                  </a:txBody>
                  <a:tcPr marL="91440" marR="91440" marT="45720" marB="45720">
                    <a:solidFill>
                      <a:srgbClr val="E9EFEE"/>
                    </a:solidFill>
                  </a:tcPr>
                </a:tc>
                <a:tc>
                  <a:txBody>
                    <a:bodyPr/>
                    <a:lstStyle/>
                    <a:p>
                      <a:r>
                        <a:rPr sz="1875" b="1">
                          <a:solidFill>
                            <a:srgbClr val="287B95"/>
                          </a:solidFill>
                          <a:latin typeface="Arial"/>
                          <a:ea typeface="Arial"/>
                          <a:cs typeface="Arial"/>
                        </a:rPr>
                        <a:t>What to inspect</a:t>
                      </a:r>
                    </a:p>
                  </a:txBody>
                  <a:tcPr marL="91440" marR="91440" marT="45720" marB="45720">
                    <a:solidFill>
                      <a:srgbClr val="E9EFEE"/>
                    </a:solidFill>
                  </a:tcPr>
                </a:tc>
                <a:tc>
                  <a:txBody>
                    <a:bodyPr/>
                    <a:lstStyle/>
                    <a:p>
                      <a:r>
                        <a:rPr sz="1875" b="1">
                          <a:solidFill>
                            <a:srgbClr val="287B95"/>
                          </a:solidFill>
                          <a:latin typeface="Arial"/>
                          <a:ea typeface="Arial"/>
                          <a:cs typeface="Arial"/>
                        </a:rPr>
                        <a:t>Possible response</a:t>
                      </a:r>
                    </a:p>
                  </a:txBody>
                  <a:tcPr marL="91440" marR="91440" marT="45720" marB="45720">
                    <a:solidFill>
                      <a:srgbClr val="E9EFEE"/>
                    </a:solidFill>
                  </a:tcPr>
                </a:tc>
              </a:tr>
              <a:tr h="804863">
                <a:tc>
                  <a:txBody>
                    <a:bodyPr/>
                    <a:lstStyle/>
                    <a:p>
                      <a:r>
                        <a:rPr sz="1725" b="0">
                          <a:solidFill>
                            <a:srgbClr val="272729"/>
                          </a:solidFill>
                          <a:latin typeface="Arial"/>
                          <a:ea typeface="Arial"/>
                          <a:cs typeface="Arial"/>
                        </a:rPr>
                        <a:t>Tiny early-layer gradients</a:t>
                      </a:r>
                    </a:p>
                    <a:p>
                      <a:r>
                        <a:rPr sz="1725" b="0">
                          <a:solidFill>
                            <a:srgbClr val="272729"/>
                          </a:solidFill>
                          <a:latin typeface="Arial"/>
                          <a:ea typeface="Arial"/>
                          <a:cs typeface="Arial"/>
                        </a:rPr>
                        <a:t>and stalled training</a:t>
                      </a:r>
                    </a:p>
                  </a:txBody>
                  <a:tcPr marL="91440" marR="91440" marT="45720" marB="45720">
                    <a:solidFill>
                      <a:srgbClr val="FCFBF8"/>
                    </a:solidFill>
                  </a:tcPr>
                </a:tc>
                <a:tc>
                  <a:txBody>
                    <a:bodyPr/>
                    <a:lstStyle/>
                    <a:p>
                      <a:r>
                        <a:rPr sz="1725" b="0">
                          <a:solidFill>
                            <a:srgbClr val="272729"/>
                          </a:solidFill>
                          <a:latin typeface="Arial"/>
                          <a:ea typeface="Arial"/>
                          <a:cs typeface="Arial"/>
                        </a:rPr>
                        <a:t>Activation saturation</a:t>
                      </a:r>
                    </a:p>
                    <a:p>
                      <a:r>
                        <a:rPr sz="1725" b="0">
                          <a:solidFill>
                            <a:srgbClr val="272729"/>
                          </a:solidFill>
                          <a:latin typeface="Arial"/>
                          <a:ea typeface="Arial"/>
                          <a:cs typeface="Arial"/>
                        </a:rPr>
                        <a:t>and initialization</a:t>
                      </a:r>
                    </a:p>
                  </a:txBody>
                  <a:tcPr marL="91440" marR="91440" marT="45720" marB="45720">
                    <a:solidFill>
                      <a:srgbClr val="FCFBF8"/>
                    </a:solidFill>
                  </a:tcPr>
                </a:tc>
                <a:tc>
                  <a:txBody>
                    <a:bodyPr/>
                    <a:lstStyle/>
                    <a:p>
                      <a:r>
                        <a:rPr sz="1725" b="0">
                          <a:solidFill>
                            <a:srgbClr val="272729"/>
                          </a:solidFill>
                          <a:latin typeface="Arial"/>
                          <a:ea typeface="Arial"/>
                          <a:cs typeface="Arial"/>
                        </a:rPr>
                        <a:t>ReLU / suitable initialization</a:t>
                      </a:r>
                    </a:p>
                    <a:p>
                      <a:r>
                        <a:rPr sz="1725" b="0">
                          <a:solidFill>
                            <a:srgbClr val="272729"/>
                          </a:solidFill>
                          <a:latin typeface="Arial"/>
                          <a:ea typeface="Arial"/>
                          <a:cs typeface="Arial"/>
                        </a:rPr>
                        <a:t>Residual connections</a:t>
                      </a:r>
                    </a:p>
                  </a:txBody>
                  <a:tcPr marL="91440" marR="91440" marT="45720" marB="45720">
                    <a:solidFill>
                      <a:srgbClr val="FCFBF8"/>
                    </a:solidFill>
                  </a:tcPr>
                </a:tc>
              </a:tr>
              <a:tr h="804863">
                <a:tc>
                  <a:txBody>
                    <a:bodyPr/>
                    <a:lstStyle/>
                    <a:p>
                      <a:r>
                        <a:rPr sz="1725" b="0">
                          <a:solidFill>
                            <a:srgbClr val="272729"/>
                          </a:solidFill>
                          <a:latin typeface="Arial"/>
                          <a:ea typeface="Arial"/>
                          <a:cs typeface="Arial"/>
                        </a:rPr>
                        <a:t>Large gradients</a:t>
                      </a:r>
                    </a:p>
                    <a:p>
                      <a:r>
                        <a:rPr sz="1725" b="0">
                          <a:solidFill>
                            <a:srgbClr val="272729"/>
                          </a:solidFill>
                          <a:latin typeface="Arial"/>
                          <a:ea typeface="Arial"/>
                          <a:cs typeface="Arial"/>
                        </a:rPr>
                        <a:t>and loss spikes</a:t>
                      </a:r>
                    </a:p>
                  </a:txBody>
                  <a:tcPr marL="91440" marR="91440" marT="45720" marB="45720">
                    <a:solidFill>
                      <a:srgbClr val="FCFBF8"/>
                    </a:solidFill>
                  </a:tcPr>
                </a:tc>
                <a:tc>
                  <a:txBody>
                    <a:bodyPr/>
                    <a:lstStyle/>
                    <a:p>
                      <a:r>
                        <a:rPr sz="1725" b="0">
                          <a:solidFill>
                            <a:srgbClr val="272729"/>
                          </a:solidFill>
                          <a:latin typeface="Arial"/>
                          <a:ea typeface="Arial"/>
                          <a:cs typeface="Arial"/>
                        </a:rPr>
                        <a:t>Gradient norms</a:t>
                      </a:r>
                    </a:p>
                    <a:p>
                      <a:r>
                        <a:rPr sz="1725" b="0">
                          <a:solidFill>
                            <a:srgbClr val="272729"/>
                          </a:solidFill>
                          <a:latin typeface="Arial"/>
                          <a:ea typeface="Arial"/>
                          <a:cs typeface="Arial"/>
                        </a:rPr>
                        <a:t>and update size</a:t>
                      </a:r>
                    </a:p>
                  </a:txBody>
                  <a:tcPr marL="91440" marR="91440" marT="45720" marB="45720">
                    <a:solidFill>
                      <a:srgbClr val="FCFBF8"/>
                    </a:solidFill>
                  </a:tcPr>
                </a:tc>
                <a:tc>
                  <a:txBody>
                    <a:bodyPr/>
                    <a:lstStyle/>
                    <a:p>
                      <a:r>
                        <a:rPr sz="1725" b="0">
                          <a:solidFill>
                            <a:srgbClr val="272729"/>
                          </a:solidFill>
                          <a:latin typeface="Arial"/>
                          <a:ea typeface="Arial"/>
                          <a:cs typeface="Arial"/>
                        </a:rPr>
                        <a:t>Gradient clipping</a:t>
                      </a:r>
                    </a:p>
                    <a:p>
                      <a:r>
                        <a:rPr sz="1725" b="0">
                          <a:solidFill>
                            <a:srgbClr val="272729"/>
                          </a:solidFill>
                          <a:latin typeface="Arial"/>
                          <a:ea typeface="Arial"/>
                          <a:cs typeface="Arial"/>
                        </a:rPr>
                        <a:t>A smaller learning rate</a:t>
                      </a:r>
                    </a:p>
                  </a:txBody>
                  <a:tcPr marL="91440" marR="91440" marT="45720" marB="45720">
                    <a:solidFill>
                      <a:srgbClr val="FCFBF8"/>
                    </a:solidFill>
                  </a:tcPr>
                </a:tc>
              </a:tr>
              <a:tr h="804863">
                <a:tc>
                  <a:txBody>
                    <a:bodyPr/>
                    <a:lstStyle/>
                    <a:p>
                      <a:r>
                        <a:rPr sz="1725" b="0">
                          <a:solidFill>
                            <a:srgbClr val="272729"/>
                          </a:solidFill>
                          <a:latin typeface="Arial"/>
                          <a:ea typeface="Arial"/>
                          <a:cs typeface="Arial"/>
                        </a:rPr>
                        <a:t>Training loss falls,</a:t>
                      </a:r>
                    </a:p>
                    <a:p>
                      <a:r>
                        <a:rPr sz="1725" b="0">
                          <a:solidFill>
                            <a:srgbClr val="272729"/>
                          </a:solidFill>
                          <a:latin typeface="Arial"/>
                          <a:ea typeface="Arial"/>
                          <a:cs typeface="Arial"/>
                        </a:rPr>
                        <a:t>validation loss rises</a:t>
                      </a:r>
                    </a:p>
                  </a:txBody>
                  <a:tcPr marL="91440" marR="91440" marT="45720" marB="45720">
                    <a:solidFill>
                      <a:srgbClr val="FCFBF8"/>
                    </a:solidFill>
                  </a:tcPr>
                </a:tc>
                <a:tc>
                  <a:txBody>
                    <a:bodyPr/>
                    <a:lstStyle/>
                    <a:p>
                      <a:r>
                        <a:rPr sz="1725" b="0">
                          <a:solidFill>
                            <a:srgbClr val="272729"/>
                          </a:solidFill>
                          <a:latin typeface="Arial"/>
                          <a:ea typeface="Arial"/>
                          <a:cs typeface="Arial"/>
                        </a:rPr>
                        <a:t>Generalization</a:t>
                      </a:r>
                    </a:p>
                    <a:p>
                      <a:r>
                        <a:rPr sz="1725" b="0">
                          <a:solidFill>
                            <a:srgbClr val="272729"/>
                          </a:solidFill>
                          <a:latin typeface="Arial"/>
                          <a:ea typeface="Arial"/>
                          <a:cs typeface="Arial"/>
                        </a:rPr>
                        <a:t>and data split</a:t>
                      </a:r>
                    </a:p>
                  </a:txBody>
                  <a:tcPr marL="91440" marR="91440" marT="45720" marB="45720">
                    <a:solidFill>
                      <a:srgbClr val="FCFBF8"/>
                    </a:solidFill>
                  </a:tcPr>
                </a:tc>
                <a:tc>
                  <a:txBody>
                    <a:bodyPr/>
                    <a:lstStyle/>
                    <a:p>
                      <a:r>
                        <a:rPr sz="1725" b="0">
                          <a:solidFill>
                            <a:srgbClr val="272729"/>
                          </a:solidFill>
                          <a:latin typeface="Arial"/>
                          <a:ea typeface="Arial"/>
                          <a:cs typeface="Arial"/>
                        </a:rPr>
                        <a:t>Early stopping</a:t>
                      </a:r>
                    </a:p>
                    <a:p>
                      <a:r>
                        <a:rPr sz="1725" b="0">
                          <a:solidFill>
                            <a:srgbClr val="272729"/>
                          </a:solidFill>
                          <a:latin typeface="Arial"/>
                          <a:ea typeface="Arial"/>
                          <a:cs typeface="Arial"/>
                        </a:rPr>
                        <a:t>Review model capacity</a:t>
                      </a:r>
                    </a:p>
                  </a:txBody>
                  <a:tcPr marL="91440" marR="91440" marT="45720" marB="45720">
                    <a:solidFill>
                      <a:srgbClr val="FCFBF8"/>
                    </a:solidFill>
                  </a:tcPr>
                </a:tc>
              </a:tr>
            </a:tbl>
          </a:graphicData>
        </a:graphic>
      </p:graphicFrame>
      <p:sp>
        <p:nvSpPr>
          <p:cNvPr id="6" name="">
            <a:extLst xmlns:a="http://schemas.openxmlformats.org/drawingml/2006/main">
              <a:ext uri="{FF2B5EF4-FFF2-40B4-BE49-F238E27FC236}">
                <a16:creationId xmlns:a16="http://schemas.microsoft.com/office/drawing/2014/main" id="{5823C43F-3111-418A-923B-049FCE2CF146}"/>
              </a:ext>
            </a:extLst>
          </p:cNvPr>
          <p:cNvSpPr>
            <a:spLocks xmlns:a="http://schemas.openxmlformats.org/drawingml/2006/main" noGrp="1"/>
          </p:cNvSpPr>
          <p:nvPr/>
        </p:nvSpPr>
        <p:spPr>
          <a:xfrm xmlns:a="http://schemas.openxmlformats.org/drawingml/2006/main">
            <a:off x="800100" y="53530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616069"/>
                </a:solidFill>
                <a:latin typeface="Arial"/>
                <a:ea typeface="Arial"/>
                <a:cs typeface="Arial"/>
              </a:defRPr>
            </a:pPr>
            <a:r>
              <a:rPr sz="1650" b="0">
                <a:solidFill>
                  <a:srgbClr val="616069"/>
                </a:solidFill>
                <a:latin typeface="Arial"/>
                <a:ea typeface="Arial"/>
                <a:cs typeface="Arial"/>
              </a:rPr>
              <a:t>A small gradient near convergence can be expected. Context matters.</a:t>
            </a:r>
          </a:p>
        </p:txBody>
      </p:sp>
    </p:spTree>
    <p:extLst>
      <p:ext uri="{BB962C8B-B14F-4D97-AF65-F5344CB8AC3E}">
        <p14:creationId xmlns:p14="http://schemas.microsoft.com/office/powerpoint/2010/main" val="443492306"/>
      </p:ext>
    </p:extLst>
  </p:cSld>
</p:sld>
</file>

<file path=ppt/slides/slide34.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xmlns:a="http://schemas.openxmlformats.org/drawingml/2006/main">
        <p:nvSpPr>
          <p:cNvPr id="91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xmlns:a="http://schemas.openxmlformats.org/drawingml/2006/main">
        <p:nvSpPr>
          <p:cNvPr id="91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xmlns:a="http://schemas.openxmlformats.org/drawingml/2006/main">
        <p:nvSpPr>
          <p:cNvPr id="910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xmlns:a="http://schemas.openxmlformats.org/drawingml/2006/main">
        <p:nvSpPr>
          <p:cNvPr id="910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13" name="">
            <a:extLst xmlns:a="http://schemas.openxmlformats.org/drawingml/2006/main">
              <a:ext uri="{FF2B5EF4-FFF2-40B4-BE49-F238E27FC236}">
                <a16:creationId xmlns:a16="http://schemas.microsoft.com/office/drawing/2014/main" id="{71230789-2BFE-4A29-BAC8-4BF1C0CB9CFC}"/>
              </a:ext>
            </a:extLst>
          </p:cNvPr>
          <p:cNvSpPr>
            <a:spLocks xmlns:a="http://schemas.openxmlformats.org/drawingml/2006/main" noGrp="1"/>
          </p:cNvSpPr>
          <p:nvPr/>
        </p:nvSpPr>
        <p:spPr>
          <a:xfrm xmlns:a="http://schemas.openxmlformats.org/drawingml/2006/main">
            <a:off x="609600" y="485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3100" b="1">
                <a:solidFill>
                  <a:srgbClr val="272729"/>
                </a:solidFill>
                <a:latin typeface="Arial"/>
                <a:ea typeface="Arial"/>
                <a:cs typeface="Arial"/>
              </a:defRPr>
            </a:pPr>
            <a:r>
              <a:rPr sz="3100" b="1">
                <a:solidFill>
                  <a:srgbClr val="272729"/>
                </a:solidFill>
                <a:latin typeface="Arial"/>
                <a:ea typeface="Arial"/>
                <a:cs typeface="Arial"/>
              </a:rPr>
              <a:t>Practice: clipping before an update</a:t>
            </a:r>
          </a:p>
        </p:txBody>
      </p:sp>
      <p:sp>
        <p:nvSpPr>
          <p:cNvPr id="2" name="">
            <a:extLst xmlns:a="http://schemas.openxmlformats.org/drawingml/2006/main">
              <a:ext uri="{FF2B5EF4-FFF2-40B4-BE49-F238E27FC236}">
                <a16:creationId xmlns:a16="http://schemas.microsoft.com/office/drawing/2014/main" id="{9861D8E1-2945-4E08-BC87-63BF5621F947}"/>
              </a:ext>
            </a:extLst>
          </p:cNvPr>
          <p:cNvSpPr>
            <a:spLocks xmlns:a="http://schemas.openxmlformats.org/drawingml/2006/main" noGrp="1"/>
          </p:cNvSpPr>
          <p:nvPr/>
        </p:nvSpPr>
        <p:spPr>
          <a:xfrm xmlns:a="http://schemas.openxmlformats.org/drawingml/2006/main">
            <a:off x="628650" y="115252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616069"/>
                </a:solidFill>
                <a:latin typeface="Arial"/>
                <a:ea typeface="Arial"/>
                <a:cs typeface="Arial"/>
              </a:defRPr>
            </a:pPr>
            <a:r>
              <a:rPr sz="1500" b="0">
                <a:solidFill>
                  <a:srgbClr val="616069"/>
                </a:solidFill>
                <a:latin typeface="Arial"/>
                <a:ea typeface="Arial"/>
                <a:cs typeface="Arial"/>
              </a:rPr>
              <a:t>Let g = [6, 8], maximum norm = 5, learning rate η = 0.1, and w = [1, 1].</a:t>
            </a:r>
          </a:p>
        </p:txBody>
      </p:sp>
      <p:sp>
        <p:nvSpPr>
          <p:cNvPr id="3" name="">
            <a:extLst xmlns:a="http://schemas.openxmlformats.org/drawingml/2006/main">
              <a:ext uri="{FF2B5EF4-FFF2-40B4-BE49-F238E27FC236}">
                <a16:creationId xmlns:a16="http://schemas.microsoft.com/office/drawing/2014/main" id="{252CCE51-47DD-4C1B-BD09-65F482F5F3B8}"/>
              </a:ext>
            </a:extLst>
          </p:cNvPr>
          <p:cNvSpPr>
            <a:spLocks xmlns:a="http://schemas.openxmlformats.org/drawingml/2006/main" noGrp="1"/>
          </p:cNvSpPr>
          <p:nvPr/>
        </p:nvSpPr>
        <p:spPr>
          <a:xfrm xmlns:a="http://schemas.openxmlformats.org/drawingml/2006/main">
            <a:off x="666750" y="58483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616069"/>
                </a:solidFill>
                <a:latin typeface="Arial"/>
                <a:ea typeface="Arial"/>
                <a:cs typeface="Arial"/>
              </a:defRPr>
            </a:pPr>
            <a:r>
              <a:rPr sz="1500" b="0">
                <a:solidFill>
                  <a:srgbClr val="616069"/>
                </a:solidFill>
                <a:latin typeface="Arial"/>
                <a:ea typeface="Arial"/>
                <a:cs typeface="Arial"/>
              </a:rPr>
              <a:t>For plain gradient descent, clipping changes the update size while preserving its direction.</a:t>
            </a:r>
          </a:p>
        </p:txBody>
      </p:sp>
      <p:sp>
        <p:nvSpPr>
          <p:cNvPr id="4" name="">
            <a:extLst xmlns:a="http://schemas.openxmlformats.org/drawingml/2006/main">
              <a:ext uri="{FF2B5EF4-FFF2-40B4-BE49-F238E27FC236}">
                <a16:creationId xmlns:a16="http://schemas.microsoft.com/office/drawing/2014/main" id="{3A078DC6-97E7-4EC0-BDCE-8F82B00D7846}"/>
              </a:ext>
            </a:extLst>
          </p:cNvPr>
          <p:cNvSpPr>
            <a:spLocks xmlns:a="http://schemas.openxmlformats.org/drawingml/2006/main" noGrp="1"/>
          </p:cNvSpPr>
          <p:nvPr/>
        </p:nvSpPr>
        <p:spPr>
          <a:xfrm xmlns:a="http://schemas.openxmlformats.org/drawingml/2006/main">
            <a:off x="57150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100" b="0">
                <a:solidFill>
                  <a:srgbClr val="616069"/>
                </a:solidFill>
                <a:latin typeface="Arial"/>
                <a:ea typeface="Arial"/>
                <a:cs typeface="Arial"/>
              </a:defRPr>
            </a:pPr>
            <a:r>
              <a:rPr sz="1100" b="0">
                <a:solidFill>
                  <a:srgbClr val="616069"/>
                </a:solidFill>
                <a:latin typeface="Arial"/>
                <a:ea typeface="Arial"/>
                <a:cs typeface="Arial"/>
              </a:rPr>
              <a:t>32</a:t>
            </a:r>
          </a:p>
        </p:txBody>
      </p:sp>
      <p:sp>
        <p:nvSpPr>
          <p:cNvPr id="5" name="">
            <a:extLst xmlns:a="http://schemas.openxmlformats.org/drawingml/2006/main">
              <a:ext uri="{FF2B5EF4-FFF2-40B4-BE49-F238E27FC236}">
                <a16:creationId xmlns:a16="http://schemas.microsoft.com/office/drawing/2014/main" id="{84F20FF5-D622-4A7F-896D-21E27CD19640}"/>
              </a:ext>
            </a:extLst>
          </p:cNvPr>
          <p:cNvSpPr>
            <a:spLocks xmlns:a="http://schemas.openxmlformats.org/drawingml/2006/main" noGrp="1"/>
          </p:cNvSpPr>
          <p:nvPr/>
        </p:nvSpPr>
        <p:spPr>
          <a:xfrm xmlns:a="http://schemas.openxmlformats.org/drawingml/2006/main">
            <a:off x="809625" y="1971675"/>
            <a:ext cx="5048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287B95"/>
                </a:solidFill>
                <a:latin typeface="Chalkboard"/>
                <a:ea typeface="Chalkboard"/>
                <a:cs typeface="Chalkboard"/>
              </a:defRPr>
            </a:pPr>
            <a:r>
              <a:rPr sz="2325" b="1">
                <a:solidFill>
                  <a:srgbClr val="287B95"/>
                </a:solidFill>
                <a:latin typeface="Chalkboard"/>
                <a:ea typeface="Chalkboard"/>
                <a:cs typeface="Chalkboard"/>
              </a:rPr>
              <a:t>1. Gradient norm</a:t>
            </a:r>
          </a:p>
        </p:txBody>
      </p:sp>
      <p:sp>
        <p:nvSpPr>
          <p:cNvPr id="6" name="">
            <a:extLst xmlns:a="http://schemas.openxmlformats.org/drawingml/2006/main">
              <a:ext uri="{FF2B5EF4-FFF2-40B4-BE49-F238E27FC236}">
                <a16:creationId xmlns:a16="http://schemas.microsoft.com/office/drawing/2014/main" id="{F6B3BE46-8293-4122-99C8-835A86C1080C}"/>
              </a:ext>
            </a:extLst>
          </p:cNvPr>
          <p:cNvSpPr>
            <a:spLocks xmlns:a="http://schemas.openxmlformats.org/drawingml/2006/main" noGrp="1"/>
          </p:cNvSpPr>
          <p:nvPr/>
        </p:nvSpPr>
        <p:spPr>
          <a:xfrm xmlns:a="http://schemas.openxmlformats.org/drawingml/2006/main">
            <a:off x="809625" y="2619375"/>
            <a:ext cx="5048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75" b="0">
                <a:solidFill>
                  <a:srgbClr val="272729"/>
                </a:solidFill>
                <a:latin typeface="Arial"/>
                <a:ea typeface="Arial"/>
                <a:cs typeface="Arial"/>
              </a:defRPr>
            </a:pPr>
            <a:r>
              <a:rPr sz="2175" b="0">
                <a:solidFill>
                  <a:srgbClr val="272729"/>
                </a:solidFill>
                <a:latin typeface="Arial"/>
                <a:ea typeface="Arial"/>
                <a:cs typeface="Arial"/>
              </a:rPr>
              <a:t>‖g‖ = √(6² + 8²) = ?</a:t>
            </a:r>
          </a:p>
        </p:txBody>
      </p:sp>
      <p:sp>
        <p:nvSpPr>
          <p:cNvPr id="7" name="">
            <a:extLst xmlns:a="http://schemas.openxmlformats.org/drawingml/2006/main">
              <a:ext uri="{FF2B5EF4-FFF2-40B4-BE49-F238E27FC236}">
                <a16:creationId xmlns:a16="http://schemas.microsoft.com/office/drawing/2014/main" id="{46A011A2-6C2F-49A3-9903-8D26CB86466C}"/>
              </a:ext>
            </a:extLst>
          </p:cNvPr>
          <p:cNvSpPr>
            <a:spLocks xmlns:a="http://schemas.openxmlformats.org/drawingml/2006/main" noGrp="1"/>
          </p:cNvSpPr>
          <p:nvPr/>
        </p:nvSpPr>
        <p:spPr>
          <a:xfrm xmlns:a="http://schemas.openxmlformats.org/drawingml/2006/main">
            <a:off x="809625" y="3486150"/>
            <a:ext cx="5048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287B95"/>
                </a:solidFill>
                <a:latin typeface="Chalkboard"/>
                <a:ea typeface="Chalkboard"/>
                <a:cs typeface="Chalkboard"/>
              </a:defRPr>
            </a:pPr>
            <a:r>
              <a:rPr sz="2325" b="1">
                <a:solidFill>
                  <a:srgbClr val="287B95"/>
                </a:solidFill>
                <a:latin typeface="Chalkboard"/>
                <a:ea typeface="Chalkboard"/>
                <a:cs typeface="Chalkboard"/>
              </a:rPr>
              <a:t>2. Clipped gradient</a:t>
            </a:r>
          </a:p>
        </p:txBody>
      </p:sp>
      <p:sp>
        <p:nvSpPr>
          <p:cNvPr id="8" name="">
            <a:extLst xmlns:a="http://schemas.openxmlformats.org/drawingml/2006/main">
              <a:ext uri="{FF2B5EF4-FFF2-40B4-BE49-F238E27FC236}">
                <a16:creationId xmlns:a16="http://schemas.microsoft.com/office/drawing/2014/main" id="{0B2993DC-F9AA-4AF1-B0C1-AE2CCE5BF03D}"/>
              </a:ext>
            </a:extLst>
          </p:cNvPr>
          <p:cNvSpPr>
            <a:spLocks xmlns:a="http://schemas.openxmlformats.org/drawingml/2006/main" noGrp="1"/>
          </p:cNvSpPr>
          <p:nvPr/>
        </p:nvSpPr>
        <p:spPr>
          <a:xfrm xmlns:a="http://schemas.openxmlformats.org/drawingml/2006/main">
            <a:off x="809625" y="4143375"/>
            <a:ext cx="5048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272729"/>
                </a:solidFill>
                <a:latin typeface="Arial"/>
                <a:ea typeface="Arial"/>
                <a:cs typeface="Arial"/>
              </a:defRPr>
            </a:pPr>
            <a:r>
              <a:rPr sz="2100" b="0">
                <a:solidFill>
                  <a:srgbClr val="272729"/>
                </a:solidFill>
                <a:latin typeface="Arial"/>
                <a:ea typeface="Arial"/>
                <a:cs typeface="Arial"/>
              </a:rPr>
              <a:t>Scale = 5 / ‖g‖</a:t>
            </a:r>
          </a:p>
          <a:p xmlns:a="http://schemas.openxmlformats.org/drawingml/2006/main">
            <a:pPr algn="l">
              <a:defRPr sz="2100" b="0">
                <a:solidFill>
                  <a:srgbClr val="272729"/>
                </a:solidFill>
                <a:latin typeface="Arial"/>
                <a:ea typeface="Arial"/>
                <a:cs typeface="Arial"/>
              </a:defRPr>
            </a:pPr>
            <a:r>
              <a:rPr sz="2100" b="0">
                <a:solidFill>
                  <a:srgbClr val="272729"/>
                </a:solidFill>
                <a:latin typeface="Arial"/>
                <a:ea typeface="Arial"/>
                <a:cs typeface="Arial"/>
              </a:rPr>
              <a:t>g′ = scale × [6, 8]</a:t>
            </a:r>
          </a:p>
        </p:txBody>
      </p:sp>
      <p:sp>
        <p:nvSpPr>
          <p:cNvPr id="9" name="">
            <a:extLst xmlns:a="http://schemas.openxmlformats.org/drawingml/2006/main">
              <a:ext uri="{FF2B5EF4-FFF2-40B4-BE49-F238E27FC236}">
                <a16:creationId xmlns:a16="http://schemas.microsoft.com/office/drawing/2014/main" id="{3CBD1121-88ED-4E36-B658-0B4C6C0299DA}"/>
              </a:ext>
            </a:extLst>
          </p:cNvPr>
          <p:cNvSpPr>
            <a:spLocks xmlns:a="http://schemas.openxmlformats.org/drawingml/2006/main" noGrp="1"/>
          </p:cNvSpPr>
          <p:nvPr/>
        </p:nvSpPr>
        <p:spPr>
          <a:xfrm xmlns:a="http://schemas.openxmlformats.org/drawingml/2006/main">
            <a:off x="6581775" y="1971675"/>
            <a:ext cx="4857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A45F57"/>
                </a:solidFill>
                <a:latin typeface="Chalkboard"/>
                <a:ea typeface="Chalkboard"/>
                <a:cs typeface="Chalkboard"/>
              </a:defRPr>
            </a:pPr>
            <a:r>
              <a:rPr sz="2325" b="1">
                <a:solidFill>
                  <a:srgbClr val="A45F57"/>
                </a:solidFill>
                <a:latin typeface="Chalkboard"/>
                <a:ea typeface="Chalkboard"/>
                <a:cs typeface="Chalkboard"/>
              </a:rPr>
              <a:t>3. Updated parameters</a:t>
            </a:r>
          </a:p>
        </p:txBody>
      </p:sp>
      <p:sp>
        <p:nvSpPr>
          <p:cNvPr id="10" name="">
            <a:extLst xmlns:a="http://schemas.openxmlformats.org/drawingml/2006/main">
              <a:ext uri="{FF2B5EF4-FFF2-40B4-BE49-F238E27FC236}">
                <a16:creationId xmlns:a16="http://schemas.microsoft.com/office/drawing/2014/main" id="{735B1232-02A5-4458-95C8-B8E198870C1B}"/>
              </a:ext>
            </a:extLst>
          </p:cNvPr>
          <p:cNvSpPr>
            <a:spLocks xmlns:a="http://schemas.openxmlformats.org/drawingml/2006/main" noGrp="1"/>
          </p:cNvSpPr>
          <p:nvPr/>
        </p:nvSpPr>
        <p:spPr>
          <a:xfrm xmlns:a="http://schemas.openxmlformats.org/drawingml/2006/main">
            <a:off x="6581775" y="2619375"/>
            <a:ext cx="4857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75" b="0">
                <a:solidFill>
                  <a:srgbClr val="272729"/>
                </a:solidFill>
                <a:latin typeface="Arial"/>
                <a:ea typeface="Arial"/>
                <a:cs typeface="Arial"/>
              </a:defRPr>
            </a:pPr>
            <a:r>
              <a:rPr sz="2175" b="0">
                <a:solidFill>
                  <a:srgbClr val="272729"/>
                </a:solidFill>
                <a:latin typeface="Arial"/>
                <a:ea typeface="Arial"/>
                <a:cs typeface="Arial"/>
              </a:rPr>
              <a:t>w_new = [1, 1] − 0.1g′</a:t>
            </a:r>
          </a:p>
        </p:txBody>
      </p:sp>
      <p:sp>
        <p:nvSpPr>
          <p:cNvPr id="11" name="">
            <a:extLst xmlns:a="http://schemas.openxmlformats.org/drawingml/2006/main">
              <a:ext uri="{FF2B5EF4-FFF2-40B4-BE49-F238E27FC236}">
                <a16:creationId xmlns:a16="http://schemas.microsoft.com/office/drawing/2014/main" id="{075EA379-8CB2-4536-9624-F7191C521CEC}"/>
              </a:ext>
            </a:extLst>
          </p:cNvPr>
          <p:cNvSpPr>
            <a:spLocks xmlns:a="http://schemas.openxmlformats.org/drawingml/2006/main" noGrp="1"/>
          </p:cNvSpPr>
          <p:nvPr/>
        </p:nvSpPr>
        <p:spPr>
          <a:xfrm xmlns:a="http://schemas.openxmlformats.org/drawingml/2006/main">
            <a:off x="6581775" y="3486150"/>
            <a:ext cx="4857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A45F57"/>
                </a:solidFill>
                <a:latin typeface="Chalkboard"/>
                <a:ea typeface="Chalkboard"/>
                <a:cs typeface="Chalkboard"/>
              </a:defRPr>
            </a:pPr>
            <a:r>
              <a:rPr sz="2325" b="1">
                <a:solidFill>
                  <a:srgbClr val="A45F57"/>
                </a:solidFill>
                <a:latin typeface="Chalkboard"/>
                <a:ea typeface="Chalkboard"/>
                <a:cs typeface="Chalkboard"/>
              </a:rPr>
              <a:t>Discussion</a:t>
            </a:r>
          </a:p>
        </p:txBody>
      </p:sp>
      <p:sp>
        <p:nvSpPr>
          <p:cNvPr id="12" name="">
            <a:extLst xmlns:a="http://schemas.openxmlformats.org/drawingml/2006/main">
              <a:ext uri="{FF2B5EF4-FFF2-40B4-BE49-F238E27FC236}">
                <a16:creationId xmlns:a16="http://schemas.microsoft.com/office/drawing/2014/main" id="{05C98655-BB01-4B00-B755-0EF82E12AD44}"/>
              </a:ext>
            </a:extLst>
          </p:cNvPr>
          <p:cNvSpPr>
            <a:spLocks xmlns:a="http://schemas.openxmlformats.org/drawingml/2006/main" noGrp="1"/>
          </p:cNvSpPr>
          <p:nvPr/>
        </p:nvSpPr>
        <p:spPr>
          <a:xfrm xmlns:a="http://schemas.openxmlformats.org/drawingml/2006/main">
            <a:off x="6581775" y="4143375"/>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950" b="0">
                <a:solidFill>
                  <a:srgbClr val="272729"/>
                </a:solidFill>
                <a:latin typeface="Arial"/>
                <a:ea typeface="Arial"/>
                <a:cs typeface="Arial"/>
              </a:defRPr>
            </a:pPr>
            <a:r>
              <a:rPr sz="1950" b="0">
                <a:solidFill>
                  <a:srgbClr val="272729"/>
                </a:solidFill>
                <a:latin typeface="Arial"/>
                <a:ea typeface="Arial"/>
                <a:cs typeface="Arial"/>
              </a:rPr>
              <a:t>How does clipping change the step?</a:t>
            </a:r>
          </a:p>
          <a:p xmlns:a="http://schemas.openxmlformats.org/drawingml/2006/main">
            <a:pPr algn="l">
              <a:defRPr sz="1950" b="0">
                <a:solidFill>
                  <a:srgbClr val="272729"/>
                </a:solidFill>
                <a:latin typeface="Arial"/>
                <a:ea typeface="Arial"/>
                <a:cs typeface="Arial"/>
              </a:defRPr>
            </a:pPr>
            <a:r>
              <a:rPr sz="1950" b="0">
                <a:solidFill>
                  <a:srgbClr val="272729"/>
                </a:solidFill>
                <a:latin typeface="Arial"/>
                <a:ea typeface="Arial"/>
                <a:cs typeface="Arial"/>
              </a:rPr>
              <a:t>What if g = [0.06, 0.08]?</a:t>
            </a:r>
          </a:p>
        </p:txBody>
      </p:sp>
    </p:spTree>
    <p:extLst>
      <p:ext uri="{BB962C8B-B14F-4D97-AF65-F5344CB8AC3E}">
        <p14:creationId xmlns:p14="http://schemas.microsoft.com/office/powerpoint/2010/main" val="1487931712"/>
      </p:ext>
    </p:extLst>
  </p:cSld>
</p:sld>
</file>

<file path=ppt/theme/theme1.xml><?xml version="1.0" encoding="utf-8"?>
<a:theme xmlns:a="http://schemas.openxmlformats.org/drawingml/2006/main" name="ChatGPT">
  <a:themeElements>
    <a:clrScheme name="Neural Networks Visual Notes">
      <a:dk1>
        <a:srgbClr val="000000"/>
      </a:dk1>
      <a:lt1>
        <a:srgbClr val="FFFFFF"/>
      </a:lt1>
      <a:dk2>
        <a:srgbClr val="414447"/>
      </a:dk2>
      <a:lt2>
        <a:srgbClr val="F8F6F2"/>
      </a:lt2>
      <a:accent1>
        <a:srgbClr val="277A95"/>
      </a:accent1>
      <a:accent2>
        <a:srgbClr val="A45E56"/>
      </a:accent2>
      <a:accent3>
        <a:srgbClr val="8E6F51"/>
      </a:accent3>
      <a:accent4>
        <a:srgbClr val="9A54B3"/>
      </a:accent4>
      <a:accent5>
        <a:srgbClr val="228778"/>
      </a:accent5>
      <a:accent6>
        <a:srgbClr val="C99C00"/>
      </a:accent6>
      <a:hlink>
        <a:srgbClr val="277A95"/>
      </a:hlink>
      <a:folHlink>
        <a:srgbClr val="9A54B3"/>
      </a:folHlink>
    </a:clrScheme>
    <a:fontScheme name="Office">
      <a:majorFont>
        <a:latin typeface="Calibri Light"/>
        <a:ea typeface="Calibri Light"/>
        <a:cs typeface="Calibri Light"/>
      </a:majorFont>
      <a:minorFont>
        <a:latin typeface="Calibri"/>
        <a:ea typeface="Calibri"/>
        <a:cs typeface="Calibri"/>
      </a:minorFont>
    </a:fontScheme>
    <a:fmtScheme name="Neural Networks Visual Note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2026-09-20T07:18:30.0320000Z</dcterms:created>
  <dcterms:modified xsi:type="dcterms:W3CDTF">2026-09-20T07:18:30.0320000Z</dcterms:modified>
</coreProperties>
</file>